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7"/>
  </p:notesMasterIdLst>
  <p:sldIdLst>
    <p:sldId id="256" r:id="rId2"/>
    <p:sldId id="257" r:id="rId3"/>
    <p:sldId id="274" r:id="rId4"/>
    <p:sldId id="315" r:id="rId5"/>
    <p:sldId id="275" r:id="rId6"/>
    <p:sldId id="276" r:id="rId7"/>
    <p:sldId id="277" r:id="rId8"/>
    <p:sldId id="278" r:id="rId9"/>
    <p:sldId id="312" r:id="rId10"/>
    <p:sldId id="313" r:id="rId11"/>
    <p:sldId id="314" r:id="rId12"/>
    <p:sldId id="279" r:id="rId13"/>
    <p:sldId id="317" r:id="rId14"/>
    <p:sldId id="318" r:id="rId15"/>
    <p:sldId id="319" r:id="rId16"/>
    <p:sldId id="316" r:id="rId17"/>
    <p:sldId id="281" r:id="rId18"/>
    <p:sldId id="320" r:id="rId19"/>
    <p:sldId id="321" r:id="rId20"/>
    <p:sldId id="282" r:id="rId21"/>
    <p:sldId id="324" r:id="rId22"/>
    <p:sldId id="284" r:id="rId23"/>
    <p:sldId id="285" r:id="rId24"/>
    <p:sldId id="286" r:id="rId25"/>
    <p:sldId id="287" r:id="rId26"/>
    <p:sldId id="288" r:id="rId27"/>
    <p:sldId id="289" r:id="rId28"/>
    <p:sldId id="290" r:id="rId29"/>
    <p:sldId id="291" r:id="rId30"/>
    <p:sldId id="327" r:id="rId31"/>
    <p:sldId id="325" r:id="rId32"/>
    <p:sldId id="328" r:id="rId33"/>
    <p:sldId id="326" r:id="rId34"/>
    <p:sldId id="292" r:id="rId35"/>
    <p:sldId id="294" r:id="rId36"/>
    <p:sldId id="295" r:id="rId37"/>
    <p:sldId id="296" r:id="rId38"/>
    <p:sldId id="297" r:id="rId39"/>
    <p:sldId id="298" r:id="rId40"/>
    <p:sldId id="299" r:id="rId41"/>
    <p:sldId id="300" r:id="rId42"/>
    <p:sldId id="329" r:id="rId43"/>
    <p:sldId id="330" r:id="rId44"/>
    <p:sldId id="331" r:id="rId45"/>
    <p:sldId id="301" r:id="rId46"/>
    <p:sldId id="302" r:id="rId47"/>
    <p:sldId id="303" r:id="rId48"/>
    <p:sldId id="304" r:id="rId49"/>
    <p:sldId id="305" r:id="rId50"/>
    <p:sldId id="306" r:id="rId51"/>
    <p:sldId id="307" r:id="rId52"/>
    <p:sldId id="308" r:id="rId53"/>
    <p:sldId id="309" r:id="rId54"/>
    <p:sldId id="310" r:id="rId55"/>
    <p:sldId id="311" r:id="rId5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Comic Sans MS" pitchFamily="66" charset="0"/>
        <a:ea typeface="+mn-ea"/>
        <a:cs typeface="+mn-cs"/>
      </a:defRPr>
    </a:lvl1pPr>
    <a:lvl2pPr marL="457200" algn="l" rtl="0" fontAlgn="base">
      <a:spcBef>
        <a:spcPct val="0"/>
      </a:spcBef>
      <a:spcAft>
        <a:spcPct val="0"/>
      </a:spcAft>
      <a:defRPr kern="1200">
        <a:solidFill>
          <a:schemeClr val="tx1"/>
        </a:solidFill>
        <a:latin typeface="Comic Sans MS" pitchFamily="66" charset="0"/>
        <a:ea typeface="+mn-ea"/>
        <a:cs typeface="+mn-cs"/>
      </a:defRPr>
    </a:lvl2pPr>
    <a:lvl3pPr marL="914400" algn="l" rtl="0" fontAlgn="base">
      <a:spcBef>
        <a:spcPct val="0"/>
      </a:spcBef>
      <a:spcAft>
        <a:spcPct val="0"/>
      </a:spcAft>
      <a:defRPr kern="1200">
        <a:solidFill>
          <a:schemeClr val="tx1"/>
        </a:solidFill>
        <a:latin typeface="Comic Sans MS" pitchFamily="66" charset="0"/>
        <a:ea typeface="+mn-ea"/>
        <a:cs typeface="+mn-cs"/>
      </a:defRPr>
    </a:lvl3pPr>
    <a:lvl4pPr marL="1371600" algn="l" rtl="0" fontAlgn="base">
      <a:spcBef>
        <a:spcPct val="0"/>
      </a:spcBef>
      <a:spcAft>
        <a:spcPct val="0"/>
      </a:spcAft>
      <a:defRPr kern="1200">
        <a:solidFill>
          <a:schemeClr val="tx1"/>
        </a:solidFill>
        <a:latin typeface="Comic Sans MS" pitchFamily="66" charset="0"/>
        <a:ea typeface="+mn-ea"/>
        <a:cs typeface="+mn-cs"/>
      </a:defRPr>
    </a:lvl4pPr>
    <a:lvl5pPr marL="1828800" algn="l" rtl="0" fontAlgn="base">
      <a:spcBef>
        <a:spcPct val="0"/>
      </a:spcBef>
      <a:spcAft>
        <a:spcPct val="0"/>
      </a:spcAft>
      <a:defRPr kern="1200">
        <a:solidFill>
          <a:schemeClr val="tx1"/>
        </a:solidFill>
        <a:latin typeface="Comic Sans MS" pitchFamily="66" charset="0"/>
        <a:ea typeface="+mn-ea"/>
        <a:cs typeface="+mn-cs"/>
      </a:defRPr>
    </a:lvl5pPr>
    <a:lvl6pPr marL="2286000" algn="l" defTabSz="914400" rtl="0" eaLnBrk="1" latinLnBrk="0" hangingPunct="1">
      <a:defRPr kern="1200">
        <a:solidFill>
          <a:schemeClr val="tx1"/>
        </a:solidFill>
        <a:latin typeface="Comic Sans MS" pitchFamily="66" charset="0"/>
        <a:ea typeface="+mn-ea"/>
        <a:cs typeface="+mn-cs"/>
      </a:defRPr>
    </a:lvl6pPr>
    <a:lvl7pPr marL="2743200" algn="l" defTabSz="914400" rtl="0" eaLnBrk="1" latinLnBrk="0" hangingPunct="1">
      <a:defRPr kern="1200">
        <a:solidFill>
          <a:schemeClr val="tx1"/>
        </a:solidFill>
        <a:latin typeface="Comic Sans MS" pitchFamily="66" charset="0"/>
        <a:ea typeface="+mn-ea"/>
        <a:cs typeface="+mn-cs"/>
      </a:defRPr>
    </a:lvl7pPr>
    <a:lvl8pPr marL="3200400" algn="l" defTabSz="914400" rtl="0" eaLnBrk="1" latinLnBrk="0" hangingPunct="1">
      <a:defRPr kern="1200">
        <a:solidFill>
          <a:schemeClr val="tx1"/>
        </a:solidFill>
        <a:latin typeface="Comic Sans MS" pitchFamily="66" charset="0"/>
        <a:ea typeface="+mn-ea"/>
        <a:cs typeface="+mn-cs"/>
      </a:defRPr>
    </a:lvl8pPr>
    <a:lvl9pPr marL="3657600" algn="l" defTabSz="914400" rtl="0" eaLnBrk="1" latinLnBrk="0" hangingPunct="1">
      <a:defRPr kern="1200">
        <a:solidFill>
          <a:schemeClr val="tx1"/>
        </a:solidFill>
        <a:latin typeface="Comic Sans MS" pitchFamily="66"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33"/>
    <a:srgbClr val="00CC99"/>
    <a:srgbClr val="FF00FF"/>
    <a:srgbClr val="FF99CC"/>
    <a:srgbClr val="CC0099"/>
    <a:srgbClr val="0000FF"/>
    <a:srgbClr val="003399"/>
    <a:srgbClr val="EAEAEA"/>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inimized" horzBarState="maximized">
    <p:restoredLeft sz="6179" autoAdjust="0"/>
    <p:restoredTop sz="90929"/>
  </p:normalViewPr>
  <p:slideViewPr>
    <p:cSldViewPr>
      <p:cViewPr>
        <p:scale>
          <a:sx n="50" d="100"/>
          <a:sy n="50" d="100"/>
        </p:scale>
        <p:origin x="-2250" y="-630"/>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defRPr>
            </a:lvl1pPr>
          </a:lstStyle>
          <a:p>
            <a:endParaRPr lang="en-US"/>
          </a:p>
        </p:txBody>
      </p:sp>
      <p:sp>
        <p:nvSpPr>
          <p:cNvPr id="2457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defRPr>
            </a:lvl1pPr>
          </a:lstStyle>
          <a:p>
            <a:endParaRPr lang="en-US"/>
          </a:p>
        </p:txBody>
      </p:sp>
      <p:sp>
        <p:nvSpPr>
          <p:cNvPr id="24580" name="Rectangle 4"/>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2458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458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defRPr>
            </a:lvl1pPr>
          </a:lstStyle>
          <a:p>
            <a:endParaRPr lang="en-US"/>
          </a:p>
        </p:txBody>
      </p:sp>
      <p:sp>
        <p:nvSpPr>
          <p:cNvPr id="2458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defRPr>
            </a:lvl1pPr>
          </a:lstStyle>
          <a:p>
            <a:fld id="{6FAD948B-F9BA-4262-B4F5-7F1FC8CE4D5F}" type="slidenum">
              <a:rPr lang="en-US"/>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itchFamily="18" charset="0"/>
        <a:ea typeface="+mn-ea"/>
        <a:cs typeface="+mn-cs"/>
      </a:defRPr>
    </a:lvl1pPr>
    <a:lvl2pPr marL="457200" algn="l" rtl="0" fontAlgn="base">
      <a:spcBef>
        <a:spcPct val="30000"/>
      </a:spcBef>
      <a:spcAft>
        <a:spcPct val="0"/>
      </a:spcAft>
      <a:defRPr kumimoji="1" sz="1200" kern="1200">
        <a:solidFill>
          <a:schemeClr val="tx1"/>
        </a:solidFill>
        <a:latin typeface="Times New Roman" pitchFamily="18" charset="0"/>
        <a:ea typeface="+mn-ea"/>
        <a:cs typeface="+mn-cs"/>
      </a:defRPr>
    </a:lvl2pPr>
    <a:lvl3pPr marL="914400" algn="l" rtl="0" fontAlgn="base">
      <a:spcBef>
        <a:spcPct val="30000"/>
      </a:spcBef>
      <a:spcAft>
        <a:spcPct val="0"/>
      </a:spcAft>
      <a:defRPr kumimoji="1" sz="1200" kern="1200">
        <a:solidFill>
          <a:schemeClr val="tx1"/>
        </a:solidFill>
        <a:latin typeface="Times New Roman" pitchFamily="18" charset="0"/>
        <a:ea typeface="+mn-ea"/>
        <a:cs typeface="+mn-cs"/>
      </a:defRPr>
    </a:lvl3pPr>
    <a:lvl4pPr marL="1371600" algn="l" rtl="0" fontAlgn="base">
      <a:spcBef>
        <a:spcPct val="30000"/>
      </a:spcBef>
      <a:spcAft>
        <a:spcPct val="0"/>
      </a:spcAft>
      <a:defRPr kumimoji="1" sz="1200" kern="1200">
        <a:solidFill>
          <a:schemeClr val="tx1"/>
        </a:solidFill>
        <a:latin typeface="Times New Roman" pitchFamily="18" charset="0"/>
        <a:ea typeface="+mn-ea"/>
        <a:cs typeface="+mn-cs"/>
      </a:defRPr>
    </a:lvl4pPr>
    <a:lvl5pPr marL="1828800" algn="l" rtl="0" fontAlgn="base">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447800" y="1339850"/>
            <a:ext cx="6248400" cy="1250950"/>
          </a:xfrm>
          <a:noFill/>
          <a:ln w="9525">
            <a:noFill/>
          </a:ln>
        </p:spPr>
        <p:txBody>
          <a:bodyPr/>
          <a:lstStyle>
            <a:lvl1pPr>
              <a:defRPr/>
            </a:lvl1pPr>
          </a:lstStyle>
          <a:p>
            <a:r>
              <a:rPr lang="en-US"/>
              <a:t>Click to edit Master title style</a:t>
            </a:r>
          </a:p>
        </p:txBody>
      </p:sp>
      <p:sp>
        <p:nvSpPr>
          <p:cNvPr id="2051" name="Rectangle 3"/>
          <p:cNvSpPr>
            <a:spLocks noGrp="1" noChangeArrowheads="1"/>
          </p:cNvSpPr>
          <p:nvPr>
            <p:ph type="subTitle" idx="1"/>
          </p:nvPr>
        </p:nvSpPr>
        <p:spPr>
          <a:xfrm>
            <a:off x="1562100" y="3429000"/>
            <a:ext cx="6019800" cy="1752600"/>
          </a:xfrm>
          <a:ln w="9525">
            <a:noFill/>
          </a:ln>
        </p:spPr>
        <p:txBody>
          <a:bodyPr/>
          <a:lstStyle>
            <a:lvl1pPr marL="0" indent="0" algn="ctr">
              <a:buFont typeface="Monotype Sorts"/>
              <a:buNone/>
              <a:defRPr/>
            </a:lvl1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81200"/>
            <a:ext cx="4114800"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24400" y="1981200"/>
            <a:ext cx="4114800"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1042988"/>
            <a:ext cx="2095500" cy="5281612"/>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042988"/>
            <a:ext cx="6134100" cy="528161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32" name="Rectangle 8"/>
          <p:cNvSpPr>
            <a:spLocks noGrp="1" noChangeArrowheads="1"/>
          </p:cNvSpPr>
          <p:nvPr>
            <p:ph type="title"/>
          </p:nvPr>
        </p:nvSpPr>
        <p:spPr bwMode="auto">
          <a:xfrm>
            <a:off x="533400" y="1042988"/>
            <a:ext cx="8305800" cy="709612"/>
          </a:xfrm>
          <a:prstGeom prst="rect">
            <a:avLst/>
          </a:prstGeom>
          <a:solidFill>
            <a:srgbClr val="333399"/>
          </a:solidFill>
          <a:ln w="38100">
            <a:solidFill>
              <a:schemeClr val="bg1"/>
            </a:solidFill>
            <a:miter lim="800000"/>
            <a:headEnd/>
            <a:tailEnd/>
          </a:ln>
          <a:effectLst/>
        </p:spPr>
        <p:txBody>
          <a:bodyPr vert="horz" wrap="square" lIns="91440" tIns="45720" rIns="91440" bIns="45720" numCol="1" anchor="b" anchorCtr="0" compatLnSpc="1">
            <a:prstTxWarp prst="textNoShape">
              <a:avLst/>
            </a:prstTxWarp>
            <a:spAutoFit/>
          </a:bodyPr>
          <a:lstStyle/>
          <a:p>
            <a:pPr lvl="0"/>
            <a:r>
              <a:rPr lang="en-US" smtClean="0"/>
              <a:t>Click to edit Master title style</a:t>
            </a:r>
          </a:p>
        </p:txBody>
      </p:sp>
      <p:sp>
        <p:nvSpPr>
          <p:cNvPr id="1033" name="Rectangle 9"/>
          <p:cNvSpPr>
            <a:spLocks noGrp="1" noChangeArrowheads="1"/>
          </p:cNvSpPr>
          <p:nvPr>
            <p:ph type="body" idx="1"/>
          </p:nvPr>
        </p:nvSpPr>
        <p:spPr bwMode="auto">
          <a:xfrm>
            <a:off x="457200" y="1981200"/>
            <a:ext cx="8382000" cy="4343400"/>
          </a:xfrm>
          <a:prstGeom prst="rect">
            <a:avLst/>
          </a:prstGeom>
          <a:noFill/>
          <a:ln w="38100">
            <a:solidFill>
              <a:srgbClr val="333399"/>
            </a:solid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grpSp>
        <p:nvGrpSpPr>
          <p:cNvPr id="1037" name="Group 13"/>
          <p:cNvGrpSpPr>
            <a:grpSpLocks/>
          </p:cNvGrpSpPr>
          <p:nvPr userDrawn="1"/>
        </p:nvGrpSpPr>
        <p:grpSpPr bwMode="auto">
          <a:xfrm>
            <a:off x="142875" y="6553200"/>
            <a:ext cx="9001125" cy="280988"/>
            <a:chOff x="90" y="4128"/>
            <a:chExt cx="6102" cy="161"/>
          </a:xfrm>
        </p:grpSpPr>
        <p:sp>
          <p:nvSpPr>
            <p:cNvPr id="1038" name="Rectangle 14"/>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1039" name="Text Box 15"/>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
        <p:nvSpPr>
          <p:cNvPr id="1040" name="Rectangle 16"/>
          <p:cNvSpPr>
            <a:spLocks noChangeArrowheads="1"/>
          </p:cNvSpPr>
          <p:nvPr userDrawn="1"/>
        </p:nvSpPr>
        <p:spPr bwMode="auto">
          <a:xfrm>
            <a:off x="8153400" y="0"/>
            <a:ext cx="762000" cy="381000"/>
          </a:xfrm>
          <a:prstGeom prst="rect">
            <a:avLst/>
          </a:prstGeom>
          <a:noFill/>
          <a:ln w="9525">
            <a:noFill/>
            <a:miter lim="800000"/>
            <a:headEnd/>
            <a:tailEnd/>
          </a:ln>
          <a:effectLst/>
        </p:spPr>
        <p:txBody>
          <a:bodyPr/>
          <a:lstStyle/>
          <a:p>
            <a:pPr algn="r" eaLnBrk="0" hangingPunct="0"/>
            <a:r>
              <a:rPr lang="en-US" sz="1400">
                <a:solidFill>
                  <a:schemeClr val="bg1"/>
                </a:solidFill>
                <a:latin typeface="Times New Roman" pitchFamily="18" charset="0"/>
              </a:rPr>
              <a:t>4-</a:t>
            </a:r>
            <a:fld id="{70EE3038-FE66-4CF4-B141-8CCC27F5B36F}" type="slidenum">
              <a:rPr lang="en-US" sz="1400">
                <a:solidFill>
                  <a:schemeClr val="bg1"/>
                </a:solidFill>
                <a:latin typeface="Times New Roman" pitchFamily="18" charset="0"/>
              </a:rPr>
              <a:pPr algn="r" eaLnBrk="0" hangingPunct="0"/>
              <a:t>‹#›</a:t>
            </a:fld>
            <a:endParaRPr lang="en-US" sz="1400">
              <a:solidFill>
                <a:schemeClr val="bg1"/>
              </a:solidFill>
              <a:latin typeface="Times New Roman"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3800">
          <a:solidFill>
            <a:schemeClr val="bg1"/>
          </a:solidFill>
          <a:latin typeface="+mj-lt"/>
          <a:ea typeface="+mj-ea"/>
          <a:cs typeface="+mj-cs"/>
        </a:defRPr>
      </a:lvl1pPr>
      <a:lvl2pPr algn="ctr" rtl="0" fontAlgn="base">
        <a:spcBef>
          <a:spcPct val="0"/>
        </a:spcBef>
        <a:spcAft>
          <a:spcPct val="0"/>
        </a:spcAft>
        <a:defRPr sz="3800">
          <a:solidFill>
            <a:schemeClr val="bg1"/>
          </a:solidFill>
          <a:latin typeface="Comic Sans MS" pitchFamily="66" charset="0"/>
        </a:defRPr>
      </a:lvl2pPr>
      <a:lvl3pPr algn="ctr" rtl="0" fontAlgn="base">
        <a:spcBef>
          <a:spcPct val="0"/>
        </a:spcBef>
        <a:spcAft>
          <a:spcPct val="0"/>
        </a:spcAft>
        <a:defRPr sz="3800">
          <a:solidFill>
            <a:schemeClr val="bg1"/>
          </a:solidFill>
          <a:latin typeface="Comic Sans MS" pitchFamily="66" charset="0"/>
        </a:defRPr>
      </a:lvl3pPr>
      <a:lvl4pPr algn="ctr" rtl="0" fontAlgn="base">
        <a:spcBef>
          <a:spcPct val="0"/>
        </a:spcBef>
        <a:spcAft>
          <a:spcPct val="0"/>
        </a:spcAft>
        <a:defRPr sz="3800">
          <a:solidFill>
            <a:schemeClr val="bg1"/>
          </a:solidFill>
          <a:latin typeface="Comic Sans MS" pitchFamily="66" charset="0"/>
        </a:defRPr>
      </a:lvl4pPr>
      <a:lvl5pPr algn="ctr" rtl="0" fontAlgn="base">
        <a:spcBef>
          <a:spcPct val="0"/>
        </a:spcBef>
        <a:spcAft>
          <a:spcPct val="0"/>
        </a:spcAft>
        <a:defRPr sz="3800">
          <a:solidFill>
            <a:schemeClr val="bg1"/>
          </a:solidFill>
          <a:latin typeface="Comic Sans MS" pitchFamily="66" charset="0"/>
        </a:defRPr>
      </a:lvl5pPr>
      <a:lvl6pPr marL="457200" algn="ctr" rtl="0" fontAlgn="base">
        <a:spcBef>
          <a:spcPct val="0"/>
        </a:spcBef>
        <a:spcAft>
          <a:spcPct val="0"/>
        </a:spcAft>
        <a:defRPr sz="3800">
          <a:solidFill>
            <a:schemeClr val="bg1"/>
          </a:solidFill>
          <a:latin typeface="Comic Sans MS" pitchFamily="66" charset="0"/>
        </a:defRPr>
      </a:lvl6pPr>
      <a:lvl7pPr marL="914400" algn="ctr" rtl="0" fontAlgn="base">
        <a:spcBef>
          <a:spcPct val="0"/>
        </a:spcBef>
        <a:spcAft>
          <a:spcPct val="0"/>
        </a:spcAft>
        <a:defRPr sz="3800">
          <a:solidFill>
            <a:schemeClr val="bg1"/>
          </a:solidFill>
          <a:latin typeface="Comic Sans MS" pitchFamily="66" charset="0"/>
        </a:defRPr>
      </a:lvl7pPr>
      <a:lvl8pPr marL="1371600" algn="ctr" rtl="0" fontAlgn="base">
        <a:spcBef>
          <a:spcPct val="0"/>
        </a:spcBef>
        <a:spcAft>
          <a:spcPct val="0"/>
        </a:spcAft>
        <a:defRPr sz="3800">
          <a:solidFill>
            <a:schemeClr val="bg1"/>
          </a:solidFill>
          <a:latin typeface="Comic Sans MS" pitchFamily="66" charset="0"/>
        </a:defRPr>
      </a:lvl8pPr>
      <a:lvl9pPr marL="1828800" algn="ctr" rtl="0" fontAlgn="base">
        <a:spcBef>
          <a:spcPct val="0"/>
        </a:spcBef>
        <a:spcAft>
          <a:spcPct val="0"/>
        </a:spcAft>
        <a:defRPr sz="3800">
          <a:solidFill>
            <a:schemeClr val="bg1"/>
          </a:solidFill>
          <a:latin typeface="Comic Sans MS" pitchFamily="66" charset="0"/>
        </a:defRPr>
      </a:lvl9pPr>
    </p:titleStyle>
    <p:bodyStyle>
      <a:lvl1pPr marL="342900" indent="-342900" algn="l" rtl="0" fontAlgn="base">
        <a:spcBef>
          <a:spcPct val="20000"/>
        </a:spcBef>
        <a:spcAft>
          <a:spcPct val="0"/>
        </a:spcAft>
        <a:buClr>
          <a:schemeClr val="bg2"/>
        </a:buClr>
        <a:buFont typeface="Monotype Sorts"/>
        <a:buBlip>
          <a:blip r:embed="rId14"/>
        </a:buBlip>
        <a:defRPr sz="2600">
          <a:solidFill>
            <a:schemeClr val="bg1"/>
          </a:solidFill>
          <a:latin typeface="+mn-lt"/>
          <a:ea typeface="+mn-ea"/>
          <a:cs typeface="+mn-cs"/>
        </a:defRPr>
      </a:lvl1pPr>
      <a:lvl2pPr marL="742950" indent="-285750" algn="l" rtl="0" fontAlgn="base">
        <a:spcBef>
          <a:spcPct val="20000"/>
        </a:spcBef>
        <a:spcAft>
          <a:spcPct val="0"/>
        </a:spcAft>
        <a:buClr>
          <a:schemeClr val="bg2"/>
        </a:buClr>
        <a:buFont typeface="Monotype Sorts"/>
        <a:buBlip>
          <a:blip r:embed="rId14"/>
        </a:buBlip>
        <a:defRPr sz="2400">
          <a:solidFill>
            <a:schemeClr val="bg1"/>
          </a:solidFill>
          <a:latin typeface="+mn-lt"/>
        </a:defRPr>
      </a:lvl2pPr>
      <a:lvl3pPr marL="1143000" indent="-228600" algn="l" rtl="0" fontAlgn="base">
        <a:spcBef>
          <a:spcPct val="20000"/>
        </a:spcBef>
        <a:spcAft>
          <a:spcPct val="0"/>
        </a:spcAft>
        <a:buClr>
          <a:schemeClr val="bg2"/>
        </a:buClr>
        <a:buFont typeface="Monotype Sorts"/>
        <a:buBlip>
          <a:blip r:embed="rId14"/>
        </a:buBlip>
        <a:defRPr sz="2200">
          <a:solidFill>
            <a:schemeClr val="bg1"/>
          </a:solidFill>
          <a:latin typeface="+mn-lt"/>
        </a:defRPr>
      </a:lvl3pPr>
      <a:lvl4pPr marL="1600200" indent="-228600" algn="l" rtl="0" fontAlgn="base">
        <a:spcBef>
          <a:spcPct val="20000"/>
        </a:spcBef>
        <a:spcAft>
          <a:spcPct val="0"/>
        </a:spcAft>
        <a:buClr>
          <a:schemeClr val="bg2"/>
        </a:buClr>
        <a:buFont typeface="Monotype Sorts"/>
        <a:buBlip>
          <a:blip r:embed="rId14"/>
        </a:buBlip>
        <a:defRPr sz="2000">
          <a:solidFill>
            <a:schemeClr val="bg1"/>
          </a:solidFill>
          <a:latin typeface="+mn-lt"/>
        </a:defRPr>
      </a:lvl4pPr>
      <a:lvl5pPr marL="2057400" indent="-228600" algn="l" rtl="0" fontAlgn="base">
        <a:spcBef>
          <a:spcPct val="20000"/>
        </a:spcBef>
        <a:spcAft>
          <a:spcPct val="0"/>
        </a:spcAft>
        <a:buClr>
          <a:schemeClr val="bg2"/>
        </a:buClr>
        <a:buFont typeface="Monotype Sorts"/>
        <a:buBlip>
          <a:blip r:embed="rId14"/>
        </a:buBlip>
        <a:defRPr>
          <a:solidFill>
            <a:schemeClr val="bg1"/>
          </a:solidFill>
          <a:latin typeface="+mn-lt"/>
        </a:defRPr>
      </a:lvl5pPr>
      <a:lvl6pPr marL="2514600" indent="-228600" algn="l" rtl="0" fontAlgn="base">
        <a:spcBef>
          <a:spcPct val="20000"/>
        </a:spcBef>
        <a:spcAft>
          <a:spcPct val="0"/>
        </a:spcAft>
        <a:buClr>
          <a:schemeClr val="bg2"/>
        </a:buClr>
        <a:buFont typeface="Monotype Sorts"/>
        <a:buBlip>
          <a:blip r:embed="rId14"/>
        </a:buBlip>
        <a:defRPr>
          <a:solidFill>
            <a:schemeClr val="bg1"/>
          </a:solidFill>
          <a:latin typeface="+mn-lt"/>
        </a:defRPr>
      </a:lvl6pPr>
      <a:lvl7pPr marL="2971800" indent="-228600" algn="l" rtl="0" fontAlgn="base">
        <a:spcBef>
          <a:spcPct val="20000"/>
        </a:spcBef>
        <a:spcAft>
          <a:spcPct val="0"/>
        </a:spcAft>
        <a:buClr>
          <a:schemeClr val="bg2"/>
        </a:buClr>
        <a:buFont typeface="Monotype Sorts"/>
        <a:buBlip>
          <a:blip r:embed="rId14"/>
        </a:buBlip>
        <a:defRPr>
          <a:solidFill>
            <a:schemeClr val="bg1"/>
          </a:solidFill>
          <a:latin typeface="+mn-lt"/>
        </a:defRPr>
      </a:lvl7pPr>
      <a:lvl8pPr marL="3429000" indent="-228600" algn="l" rtl="0" fontAlgn="base">
        <a:spcBef>
          <a:spcPct val="20000"/>
        </a:spcBef>
        <a:spcAft>
          <a:spcPct val="0"/>
        </a:spcAft>
        <a:buClr>
          <a:schemeClr val="bg2"/>
        </a:buClr>
        <a:buFont typeface="Monotype Sorts"/>
        <a:buBlip>
          <a:blip r:embed="rId14"/>
        </a:buBlip>
        <a:defRPr>
          <a:solidFill>
            <a:schemeClr val="bg1"/>
          </a:solidFill>
          <a:latin typeface="+mn-lt"/>
        </a:defRPr>
      </a:lvl8pPr>
      <a:lvl9pPr marL="3886200" indent="-228600" algn="l" rtl="0" fontAlgn="base">
        <a:spcBef>
          <a:spcPct val="20000"/>
        </a:spcBef>
        <a:spcAft>
          <a:spcPct val="0"/>
        </a:spcAft>
        <a:buClr>
          <a:schemeClr val="bg2"/>
        </a:buClr>
        <a:buFont typeface="Monotype Sorts"/>
        <a:buBlip>
          <a:blip r:embed="rId14"/>
        </a:buBlip>
        <a:defRPr>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oleObject" Target="../embeddings/oleObject2.bin"/></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10" name="Picture 6" descr="C:\Documents and Settings\sue_lombardi\Desktop\beckys ppt\Hill4e03jm_nm.jpg"/>
          <p:cNvPicPr>
            <a:picLocks noChangeAspect="1" noChangeArrowheads="1"/>
          </p:cNvPicPr>
          <p:nvPr/>
        </p:nvPicPr>
        <p:blipFill>
          <a:blip r:embed="rId2"/>
          <a:srcRect/>
          <a:stretch>
            <a:fillRect/>
          </a:stretch>
        </p:blipFill>
        <p:spPr bwMode="auto">
          <a:xfrm>
            <a:off x="4495800" y="2057400"/>
            <a:ext cx="3290888" cy="4267200"/>
          </a:xfrm>
          <a:prstGeom prst="rect">
            <a:avLst/>
          </a:prstGeom>
          <a:gradFill rotWithShape="0">
            <a:gsLst>
              <a:gs pos="0">
                <a:srgbClr val="336699"/>
              </a:gs>
              <a:gs pos="100000">
                <a:schemeClr val="bg2"/>
              </a:gs>
            </a:gsLst>
            <a:lin ang="2700000" scaled="1"/>
          </a:gradFill>
          <a:ln w="76200">
            <a:solidFill>
              <a:srgbClr val="336699"/>
            </a:solidFill>
            <a:miter lim="800000"/>
            <a:headEnd/>
            <a:tailEnd/>
          </a:ln>
        </p:spPr>
      </p:pic>
      <p:sp>
        <p:nvSpPr>
          <p:cNvPr id="21541" name="Text Box 37"/>
          <p:cNvSpPr txBox="1">
            <a:spLocks noChangeArrowheads="1"/>
          </p:cNvSpPr>
          <p:nvPr/>
        </p:nvSpPr>
        <p:spPr bwMode="auto">
          <a:xfrm>
            <a:off x="228600" y="3810000"/>
            <a:ext cx="3962400" cy="457200"/>
          </a:xfrm>
          <a:prstGeom prst="rect">
            <a:avLst/>
          </a:prstGeom>
          <a:noFill/>
          <a:ln w="9525">
            <a:noFill/>
            <a:miter lim="800000"/>
            <a:headEnd/>
            <a:tailEnd/>
          </a:ln>
          <a:effectLst/>
        </p:spPr>
        <p:txBody>
          <a:bodyPr>
            <a:spAutoFit/>
          </a:bodyPr>
          <a:lstStyle/>
          <a:p>
            <a:pPr algn="ctr">
              <a:spcBef>
                <a:spcPct val="50000"/>
              </a:spcBef>
            </a:pPr>
            <a:r>
              <a:rPr lang="en-US" sz="2400" b="1">
                <a:solidFill>
                  <a:schemeClr val="bg1"/>
                </a:solidFill>
                <a:latin typeface="Square721 BT" pitchFamily="34" charset="0"/>
              </a:rPr>
              <a:t>Fourth Edition</a:t>
            </a:r>
          </a:p>
        </p:txBody>
      </p:sp>
      <p:sp>
        <p:nvSpPr>
          <p:cNvPr id="21544" name="Text Box 40"/>
          <p:cNvSpPr txBox="1">
            <a:spLocks noChangeArrowheads="1"/>
          </p:cNvSpPr>
          <p:nvPr/>
        </p:nvSpPr>
        <p:spPr bwMode="auto">
          <a:xfrm>
            <a:off x="228600" y="2133600"/>
            <a:ext cx="4114800" cy="1338263"/>
          </a:xfrm>
          <a:prstGeom prst="rect">
            <a:avLst/>
          </a:prstGeom>
          <a:noFill/>
          <a:ln w="9525">
            <a:noFill/>
            <a:miter lim="800000"/>
            <a:headEnd/>
            <a:tailEnd/>
          </a:ln>
          <a:effectLst/>
        </p:spPr>
        <p:txBody>
          <a:bodyPr>
            <a:spAutoFit/>
          </a:bodyPr>
          <a:lstStyle/>
          <a:p>
            <a:pPr algn="ctr">
              <a:lnSpc>
                <a:spcPct val="60000"/>
              </a:lnSpc>
              <a:spcBef>
                <a:spcPct val="50000"/>
              </a:spcBef>
            </a:pPr>
            <a:r>
              <a:rPr lang="en-US" sz="4800">
                <a:solidFill>
                  <a:schemeClr val="bg1"/>
                </a:solidFill>
                <a:latin typeface="Square721 BT" pitchFamily="34" charset="0"/>
              </a:rPr>
              <a:t>International</a:t>
            </a:r>
          </a:p>
          <a:p>
            <a:pPr algn="ctr">
              <a:lnSpc>
                <a:spcPct val="60000"/>
              </a:lnSpc>
              <a:spcBef>
                <a:spcPct val="50000"/>
              </a:spcBef>
            </a:pPr>
            <a:r>
              <a:rPr lang="en-US" sz="4800">
                <a:solidFill>
                  <a:schemeClr val="bg1"/>
                </a:solidFill>
                <a:latin typeface="Square721 BT" pitchFamily="34" charset="0"/>
              </a:rPr>
              <a:t>Business</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ctrTitle"/>
          </p:nvPr>
        </p:nvSpPr>
        <p:spPr>
          <a:xfrm>
            <a:off x="381000" y="1508125"/>
            <a:ext cx="5334000" cy="869950"/>
          </a:xfrm>
        </p:spPr>
        <p:txBody>
          <a:bodyPr/>
          <a:lstStyle/>
          <a:p>
            <a:r>
              <a:rPr lang="en-US" sz="5100"/>
              <a:t>CHAPTER 4</a:t>
            </a:r>
          </a:p>
        </p:txBody>
      </p:sp>
      <p:sp>
        <p:nvSpPr>
          <p:cNvPr id="22531" name="Rectangle 3"/>
          <p:cNvSpPr>
            <a:spLocks noGrp="1" noChangeArrowheads="1"/>
          </p:cNvSpPr>
          <p:nvPr>
            <p:ph type="subTitle" idx="1"/>
          </p:nvPr>
        </p:nvSpPr>
        <p:spPr>
          <a:xfrm>
            <a:off x="2286000" y="3581400"/>
            <a:ext cx="6019800" cy="1752600"/>
          </a:xfrm>
        </p:spPr>
        <p:txBody>
          <a:bodyPr/>
          <a:lstStyle/>
          <a:p>
            <a:r>
              <a:rPr lang="en-US" b="1"/>
              <a:t>International Trade Theory</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533400" y="1143000"/>
            <a:ext cx="8305800" cy="709613"/>
          </a:xfrm>
          <a:ln/>
        </p:spPr>
        <p:txBody>
          <a:bodyPr/>
          <a:lstStyle/>
          <a:p>
            <a:r>
              <a:rPr lang="en-US"/>
              <a:t>Chapter Focus</a:t>
            </a:r>
          </a:p>
        </p:txBody>
      </p:sp>
      <p:sp>
        <p:nvSpPr>
          <p:cNvPr id="40963" name="Rectangle 3"/>
          <p:cNvSpPr>
            <a:spLocks noGrp="1" noChangeArrowheads="1"/>
          </p:cNvSpPr>
          <p:nvPr>
            <p:ph type="body" idx="1"/>
          </p:nvPr>
        </p:nvSpPr>
        <p:spPr>
          <a:xfrm>
            <a:off x="457200" y="2590800"/>
            <a:ext cx="8382000" cy="2286000"/>
          </a:xfrm>
          <a:solidFill>
            <a:srgbClr val="EAEAEA"/>
          </a:solidFill>
          <a:ln/>
        </p:spPr>
        <p:txBody>
          <a:bodyPr/>
          <a:lstStyle/>
          <a:p>
            <a:r>
              <a:rPr lang="en-US">
                <a:solidFill>
                  <a:srgbClr val="003399"/>
                </a:solidFill>
              </a:rPr>
              <a:t>Explain why it is beneficial for a country to engage in international trade.</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533400" y="1143000"/>
            <a:ext cx="8305800" cy="709613"/>
          </a:xfrm>
          <a:ln/>
        </p:spPr>
        <p:txBody>
          <a:bodyPr/>
          <a:lstStyle/>
          <a:p>
            <a:r>
              <a:rPr lang="en-US"/>
              <a:t>Chapter Focus</a:t>
            </a:r>
          </a:p>
        </p:txBody>
      </p:sp>
      <p:sp>
        <p:nvSpPr>
          <p:cNvPr id="82947" name="Rectangle 3"/>
          <p:cNvSpPr>
            <a:spLocks noGrp="1" noChangeArrowheads="1"/>
          </p:cNvSpPr>
          <p:nvPr>
            <p:ph type="body" idx="1"/>
          </p:nvPr>
        </p:nvSpPr>
        <p:spPr>
          <a:xfrm>
            <a:off x="457200" y="2590800"/>
            <a:ext cx="8382000" cy="2286000"/>
          </a:xfrm>
          <a:solidFill>
            <a:srgbClr val="EAEAEA"/>
          </a:solidFill>
          <a:ln/>
        </p:spPr>
        <p:txBody>
          <a:bodyPr/>
          <a:lstStyle/>
          <a:p>
            <a:r>
              <a:rPr lang="en-US">
                <a:solidFill>
                  <a:srgbClr val="003399"/>
                </a:solidFill>
              </a:rPr>
              <a:t>Explain why it is beneficial for a country to engage in international trade.</a:t>
            </a:r>
          </a:p>
          <a:p>
            <a:r>
              <a:rPr lang="en-US">
                <a:solidFill>
                  <a:srgbClr val="003399"/>
                </a:solidFill>
              </a:rPr>
              <a:t>Explain the pattern of international trade observed in the world economy.</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2"/>
          <a:srcRect/>
          <a:stretch>
            <a:fillRect/>
          </a:stretch>
        </p:blipFill>
        <p:spPr bwMode="auto">
          <a:xfrm>
            <a:off x="1066800" y="381000"/>
            <a:ext cx="7086600" cy="2362200"/>
          </a:xfrm>
          <a:prstGeom prst="rect">
            <a:avLst/>
          </a:prstGeom>
          <a:noFill/>
          <a:ln w="9525">
            <a:solidFill>
              <a:schemeClr val="tx1"/>
            </a:solidFill>
            <a:miter lim="800000"/>
            <a:headEnd/>
            <a:tailEnd/>
          </a:ln>
          <a:effectLst>
            <a:outerShdw dist="143684" dir="2700000" algn="ctr" rotWithShape="0">
              <a:srgbClr val="333399"/>
            </a:outerShdw>
          </a:effectLst>
        </p:spPr>
      </p:pic>
      <p:sp>
        <p:nvSpPr>
          <p:cNvPr id="41987" name="Rectangle 3"/>
          <p:cNvSpPr>
            <a:spLocks noChangeArrowheads="1"/>
          </p:cNvSpPr>
          <p:nvPr/>
        </p:nvSpPr>
        <p:spPr bwMode="auto">
          <a:xfrm>
            <a:off x="304800" y="3276600"/>
            <a:ext cx="8610600" cy="2514600"/>
          </a:xfrm>
          <a:prstGeom prst="rect">
            <a:avLst/>
          </a:prstGeom>
          <a:solidFill>
            <a:srgbClr val="EAEAEA"/>
          </a:solidFill>
          <a:ln w="38100">
            <a:solidFill>
              <a:srgbClr val="333399"/>
            </a:solidFill>
            <a:miter lim="800000"/>
            <a:headEnd/>
            <a:tailEnd/>
          </a:ln>
          <a:effectLst/>
        </p:spPr>
        <p:txBody>
          <a:bodyPr lIns="90488" tIns="44450" rIns="90488" bIns="44450"/>
          <a:lstStyle/>
          <a:p>
            <a:pPr marL="342900" indent="-342900">
              <a:spcBef>
                <a:spcPct val="20000"/>
              </a:spcBef>
              <a:buClr>
                <a:schemeClr val="bg2"/>
              </a:buClr>
              <a:buFont typeface="Monotype Sorts"/>
              <a:buBlip>
                <a:blip r:embed="rId3"/>
              </a:buBlip>
            </a:pPr>
            <a:r>
              <a:rPr lang="en-US" sz="2300">
                <a:solidFill>
                  <a:srgbClr val="003399"/>
                </a:solidFill>
              </a:rPr>
              <a:t>1st British African colony to win independence (1957).</a:t>
            </a:r>
          </a:p>
          <a:p>
            <a:pPr marL="342900" indent="-342900">
              <a:spcBef>
                <a:spcPct val="20000"/>
              </a:spcBef>
              <a:buClr>
                <a:schemeClr val="bg2"/>
              </a:buClr>
              <a:buFont typeface="Monotype Sorts"/>
              <a:buBlip>
                <a:blip r:embed="rId3"/>
              </a:buBlip>
            </a:pPr>
            <a:r>
              <a:rPr lang="en-US" sz="2300">
                <a:solidFill>
                  <a:srgbClr val="003399"/>
                </a:solidFill>
              </a:rPr>
              <a:t>Nkrumah espoused pan African socialism.</a:t>
            </a:r>
          </a:p>
          <a:p>
            <a:pPr marL="342900" indent="-342900">
              <a:spcBef>
                <a:spcPct val="20000"/>
              </a:spcBef>
              <a:buClr>
                <a:schemeClr val="bg2"/>
              </a:buClr>
              <a:buFont typeface="Monotype Sorts"/>
              <a:buBlip>
                <a:blip r:embed="rId3"/>
              </a:buBlip>
            </a:pPr>
            <a:r>
              <a:rPr lang="en-US" sz="2300">
                <a:solidFill>
                  <a:srgbClr val="003399"/>
                </a:solidFill>
              </a:rPr>
              <a:t>High tariffs.</a:t>
            </a:r>
          </a:p>
          <a:p>
            <a:pPr marL="342900" indent="-342900">
              <a:spcBef>
                <a:spcPct val="20000"/>
              </a:spcBef>
              <a:buClr>
                <a:schemeClr val="bg2"/>
              </a:buClr>
              <a:buFont typeface="Monotype Sorts"/>
              <a:buBlip>
                <a:blip r:embed="rId3"/>
              </a:buBlip>
            </a:pPr>
            <a:r>
              <a:rPr lang="en-US" sz="2300">
                <a:solidFill>
                  <a:srgbClr val="003399"/>
                </a:solidFill>
              </a:rPr>
              <a:t>Anti export (trade) policy.</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anim calcmode="lin" valueType="num">
                                      <p:cBhvr additive="base">
                                        <p:cTn id="7" dur="500" fill="hold"/>
                                        <p:tgtEl>
                                          <p:spTgt spid="4198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19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1987">
                                            <p:txEl>
                                              <p:pRg st="1" end="1"/>
                                            </p:txEl>
                                          </p:spTgt>
                                        </p:tgtEl>
                                        <p:attrNameLst>
                                          <p:attrName>style.visibility</p:attrName>
                                        </p:attrNameLst>
                                      </p:cBhvr>
                                      <p:to>
                                        <p:strVal val="visible"/>
                                      </p:to>
                                    </p:set>
                                    <p:anim calcmode="lin" valueType="num">
                                      <p:cBhvr additive="base">
                                        <p:cTn id="13" dur="500" fill="hold"/>
                                        <p:tgtEl>
                                          <p:spTgt spid="4198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19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1987">
                                            <p:txEl>
                                              <p:pRg st="2" end="2"/>
                                            </p:txEl>
                                          </p:spTgt>
                                        </p:tgtEl>
                                        <p:attrNameLst>
                                          <p:attrName>style.visibility</p:attrName>
                                        </p:attrNameLst>
                                      </p:cBhvr>
                                      <p:to>
                                        <p:strVal val="visible"/>
                                      </p:to>
                                    </p:set>
                                    <p:anim calcmode="lin" valueType="num">
                                      <p:cBhvr additive="base">
                                        <p:cTn id="19" dur="500" fill="hold"/>
                                        <p:tgtEl>
                                          <p:spTgt spid="4198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198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1987">
                                            <p:txEl>
                                              <p:pRg st="3" end="3"/>
                                            </p:txEl>
                                          </p:spTgt>
                                        </p:tgtEl>
                                        <p:attrNameLst>
                                          <p:attrName>style.visibility</p:attrName>
                                        </p:attrNameLst>
                                      </p:cBhvr>
                                      <p:to>
                                        <p:strVal val="visible"/>
                                      </p:to>
                                    </p:set>
                                    <p:anim calcmode="lin" valueType="num">
                                      <p:cBhvr additive="base">
                                        <p:cTn id="25" dur="500" fill="hold"/>
                                        <p:tgtEl>
                                          <p:spTgt spid="4198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1987">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noChangeArrowheads="1"/>
          </p:cNvPicPr>
          <p:nvPr/>
        </p:nvPicPr>
        <p:blipFill>
          <a:blip r:embed="rId2">
            <a:lum bright="-24000" contrast="12000"/>
          </a:blip>
          <a:srcRect/>
          <a:stretch>
            <a:fillRect/>
          </a:stretch>
        </p:blipFill>
        <p:spPr bwMode="auto">
          <a:xfrm>
            <a:off x="990600" y="533400"/>
            <a:ext cx="7010400" cy="1905000"/>
          </a:xfrm>
          <a:prstGeom prst="rect">
            <a:avLst/>
          </a:prstGeom>
          <a:noFill/>
          <a:ln w="9525">
            <a:solidFill>
              <a:schemeClr val="tx1"/>
            </a:solidFill>
            <a:miter lim="800000"/>
            <a:headEnd/>
            <a:tailEnd/>
          </a:ln>
          <a:effectLst>
            <a:outerShdw dist="198380" dir="3011666" algn="ctr" rotWithShape="0">
              <a:srgbClr val="333399"/>
            </a:outerShdw>
          </a:effectLst>
        </p:spPr>
      </p:pic>
      <p:sp>
        <p:nvSpPr>
          <p:cNvPr id="43011" name="Rectangle 3"/>
          <p:cNvSpPr>
            <a:spLocks noChangeArrowheads="1"/>
          </p:cNvSpPr>
          <p:nvPr/>
        </p:nvSpPr>
        <p:spPr bwMode="auto">
          <a:xfrm>
            <a:off x="762000" y="2895600"/>
            <a:ext cx="7772400" cy="2743200"/>
          </a:xfrm>
          <a:prstGeom prst="rect">
            <a:avLst/>
          </a:prstGeom>
          <a:solidFill>
            <a:srgbClr val="EAEAEA"/>
          </a:solidFill>
          <a:ln w="38100">
            <a:solidFill>
              <a:srgbClr val="333399"/>
            </a:solidFill>
            <a:miter lim="800000"/>
            <a:headEnd/>
            <a:tailEnd/>
          </a:ln>
          <a:effectLst/>
        </p:spPr>
        <p:txBody>
          <a:bodyPr lIns="90488" tIns="44450" rIns="90488" bIns="44450"/>
          <a:lstStyle/>
          <a:p>
            <a:pPr marL="342900" indent="-342900">
              <a:spcBef>
                <a:spcPct val="20000"/>
              </a:spcBef>
              <a:buClr>
                <a:schemeClr val="bg2"/>
              </a:buClr>
              <a:buFont typeface="Monotype Sorts"/>
              <a:buBlip>
                <a:blip r:embed="rId3"/>
              </a:buBlip>
            </a:pPr>
            <a:r>
              <a:rPr lang="en-US" sz="2200">
                <a:solidFill>
                  <a:srgbClr val="003399"/>
                </a:solidFill>
              </a:rPr>
              <a:t>Kept lowering tariffs on manufactured goods.</a:t>
            </a:r>
          </a:p>
          <a:p>
            <a:pPr marL="342900" indent="-342900">
              <a:spcBef>
                <a:spcPct val="20000"/>
              </a:spcBef>
              <a:buClr>
                <a:schemeClr val="bg2"/>
              </a:buClr>
              <a:buFont typeface="Monotype Sorts"/>
              <a:buBlip>
                <a:blip r:embed="rId3"/>
              </a:buBlip>
            </a:pPr>
            <a:r>
              <a:rPr lang="en-US" sz="2200">
                <a:solidFill>
                  <a:srgbClr val="003399"/>
                </a:solidFill>
              </a:rPr>
              <a:t>Created incentives to export (trade).</a:t>
            </a:r>
          </a:p>
          <a:p>
            <a:pPr marL="342900" indent="-342900">
              <a:spcBef>
                <a:spcPct val="20000"/>
              </a:spcBef>
              <a:buClr>
                <a:schemeClr val="bg2"/>
              </a:buClr>
              <a:buFont typeface="Monotype Sorts"/>
              <a:buBlip>
                <a:blip r:embed="rId3"/>
              </a:buBlip>
            </a:pPr>
            <a:r>
              <a:rPr lang="en-US" sz="2200">
                <a:solidFill>
                  <a:srgbClr val="003399"/>
                </a:solidFill>
              </a:rPr>
              <a:t>Reduced quotas.</a:t>
            </a:r>
          </a:p>
          <a:p>
            <a:pPr marL="342900" indent="-342900">
              <a:spcBef>
                <a:spcPct val="20000"/>
              </a:spcBef>
              <a:buClr>
                <a:schemeClr val="bg2"/>
              </a:buClr>
              <a:buFont typeface="Monotype Sorts"/>
              <a:buBlip>
                <a:blip r:embed="rId3"/>
              </a:buBlip>
            </a:pPr>
            <a:r>
              <a:rPr lang="en-US" sz="2200">
                <a:solidFill>
                  <a:srgbClr val="003399"/>
                </a:solidFill>
              </a:rPr>
              <a:t>Reduced subsidies.</a:t>
            </a:r>
          </a:p>
          <a:p>
            <a:pPr marL="342900" indent="-342900">
              <a:spcBef>
                <a:spcPct val="20000"/>
              </a:spcBef>
              <a:buClr>
                <a:schemeClr val="bg2"/>
              </a:buClr>
              <a:buFont typeface="Monotype Sorts"/>
              <a:buBlip>
                <a:blip r:embed="rId3"/>
              </a:buBlip>
            </a:pPr>
            <a:r>
              <a:rPr lang="en-US" sz="2200">
                <a:solidFill>
                  <a:srgbClr val="003399"/>
                </a:solidFill>
              </a:rPr>
              <a:t>1950s: 77% of employment in agriculture. Now 20%.</a:t>
            </a:r>
          </a:p>
          <a:p>
            <a:pPr marL="342900" indent="-342900">
              <a:spcBef>
                <a:spcPct val="20000"/>
              </a:spcBef>
              <a:buClr>
                <a:schemeClr val="bg2"/>
              </a:buClr>
              <a:buFont typeface="Monotype Sorts"/>
              <a:buBlip>
                <a:blip r:embed="rId3"/>
              </a:buBlip>
            </a:pPr>
            <a:r>
              <a:rPr lang="en-US" sz="2200">
                <a:solidFill>
                  <a:srgbClr val="003399"/>
                </a:solidFill>
              </a:rPr>
              <a:t>Manufacturing GNP went from 10% to over 30%.</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 calcmode="lin" valueType="num">
                                      <p:cBhvr additive="base">
                                        <p:cTn id="7" dur="500" fill="hold"/>
                                        <p:tgtEl>
                                          <p:spTgt spid="430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30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3011">
                                            <p:txEl>
                                              <p:pRg st="1" end="1"/>
                                            </p:txEl>
                                          </p:spTgt>
                                        </p:tgtEl>
                                        <p:attrNameLst>
                                          <p:attrName>style.visibility</p:attrName>
                                        </p:attrNameLst>
                                      </p:cBhvr>
                                      <p:to>
                                        <p:strVal val="visible"/>
                                      </p:to>
                                    </p:set>
                                    <p:anim calcmode="lin" valueType="num">
                                      <p:cBhvr additive="base">
                                        <p:cTn id="13" dur="500" fill="hold"/>
                                        <p:tgtEl>
                                          <p:spTgt spid="4301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30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3011">
                                            <p:txEl>
                                              <p:pRg st="2" end="2"/>
                                            </p:txEl>
                                          </p:spTgt>
                                        </p:tgtEl>
                                        <p:attrNameLst>
                                          <p:attrName>style.visibility</p:attrName>
                                        </p:attrNameLst>
                                      </p:cBhvr>
                                      <p:to>
                                        <p:strVal val="visible"/>
                                      </p:to>
                                    </p:set>
                                    <p:anim calcmode="lin" valueType="num">
                                      <p:cBhvr additive="base">
                                        <p:cTn id="19" dur="500" fill="hold"/>
                                        <p:tgtEl>
                                          <p:spTgt spid="4301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4301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3011">
                                            <p:txEl>
                                              <p:pRg st="3" end="3"/>
                                            </p:txEl>
                                          </p:spTgt>
                                        </p:tgtEl>
                                        <p:attrNameLst>
                                          <p:attrName>style.visibility</p:attrName>
                                        </p:attrNameLst>
                                      </p:cBhvr>
                                      <p:to>
                                        <p:strVal val="visible"/>
                                      </p:to>
                                    </p:set>
                                    <p:anim calcmode="lin" valueType="num">
                                      <p:cBhvr additive="base">
                                        <p:cTn id="25" dur="500" fill="hold"/>
                                        <p:tgtEl>
                                          <p:spTgt spid="4301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4301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43011">
                                            <p:txEl>
                                              <p:pRg st="4" end="4"/>
                                            </p:txEl>
                                          </p:spTgt>
                                        </p:tgtEl>
                                        <p:attrNameLst>
                                          <p:attrName>style.visibility</p:attrName>
                                        </p:attrNameLst>
                                      </p:cBhvr>
                                      <p:to>
                                        <p:strVal val="visible"/>
                                      </p:to>
                                    </p:set>
                                    <p:anim calcmode="lin" valueType="num">
                                      <p:cBhvr additive="base">
                                        <p:cTn id="31" dur="500" fill="hold"/>
                                        <p:tgtEl>
                                          <p:spTgt spid="4301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4301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43011">
                                            <p:txEl>
                                              <p:pRg st="5" end="5"/>
                                            </p:txEl>
                                          </p:spTgt>
                                        </p:tgtEl>
                                        <p:attrNameLst>
                                          <p:attrName>style.visibility</p:attrName>
                                        </p:attrNameLst>
                                      </p:cBhvr>
                                      <p:to>
                                        <p:strVal val="visible"/>
                                      </p:to>
                                    </p:set>
                                    <p:anim calcmode="lin" valueType="num">
                                      <p:cBhvr additive="base">
                                        <p:cTn id="37" dur="500" fill="hold"/>
                                        <p:tgtEl>
                                          <p:spTgt spid="4301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43011">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685800" y="609600"/>
            <a:ext cx="7772400" cy="709613"/>
          </a:xfrm>
          <a:ln/>
        </p:spPr>
        <p:txBody>
          <a:bodyPr/>
          <a:lstStyle/>
          <a:p>
            <a:r>
              <a:rPr lang="en-US"/>
              <a:t>The Impact of Trade Policies</a:t>
            </a:r>
          </a:p>
        </p:txBody>
      </p:sp>
      <p:sp>
        <p:nvSpPr>
          <p:cNvPr id="44035" name="Rectangle 3"/>
          <p:cNvSpPr>
            <a:spLocks noGrp="1" noChangeArrowheads="1"/>
          </p:cNvSpPr>
          <p:nvPr>
            <p:ph type="body" sz="half" idx="1"/>
          </p:nvPr>
        </p:nvSpPr>
        <p:spPr>
          <a:xfrm>
            <a:off x="0" y="1524000"/>
            <a:ext cx="4343400" cy="4876800"/>
          </a:xfrm>
          <a:solidFill>
            <a:srgbClr val="EAEAEA"/>
          </a:solidFill>
          <a:ln/>
        </p:spPr>
        <p:txBody>
          <a:bodyPr/>
          <a:lstStyle/>
          <a:p>
            <a:r>
              <a:rPr lang="en-US" sz="2400">
                <a:solidFill>
                  <a:srgbClr val="009999"/>
                </a:solidFill>
              </a:rPr>
              <a:t>Ghana</a:t>
            </a:r>
          </a:p>
          <a:p>
            <a:r>
              <a:rPr lang="en-US" sz="2400">
                <a:solidFill>
                  <a:srgbClr val="003399"/>
                </a:solidFill>
              </a:rPr>
              <a:t>1970</a:t>
            </a:r>
          </a:p>
          <a:p>
            <a:pPr lvl="1"/>
            <a:r>
              <a:rPr lang="en-US" sz="2000">
                <a:solidFill>
                  <a:srgbClr val="003399"/>
                </a:solidFill>
              </a:rPr>
              <a:t>GNP/capita </a:t>
            </a:r>
          </a:p>
          <a:p>
            <a:pPr lvl="2"/>
            <a:r>
              <a:rPr lang="en-US">
                <a:solidFill>
                  <a:srgbClr val="003399"/>
                </a:solidFill>
              </a:rPr>
              <a:t>$250</a:t>
            </a:r>
          </a:p>
          <a:p>
            <a:r>
              <a:rPr lang="en-US" sz="2400">
                <a:solidFill>
                  <a:srgbClr val="003399"/>
                </a:solidFill>
              </a:rPr>
              <a:t>1992</a:t>
            </a:r>
          </a:p>
          <a:p>
            <a:pPr lvl="1"/>
            <a:r>
              <a:rPr lang="en-US" sz="2000">
                <a:solidFill>
                  <a:srgbClr val="003399"/>
                </a:solidFill>
              </a:rPr>
              <a:t>GNP/per capita </a:t>
            </a:r>
          </a:p>
          <a:p>
            <a:pPr lvl="2"/>
            <a:r>
              <a:rPr lang="en-US">
                <a:solidFill>
                  <a:srgbClr val="003399"/>
                </a:solidFill>
              </a:rPr>
              <a:t>$450</a:t>
            </a:r>
          </a:p>
          <a:p>
            <a:pPr lvl="1"/>
            <a:r>
              <a:rPr lang="en-US" sz="2000">
                <a:solidFill>
                  <a:srgbClr val="003399"/>
                </a:solidFill>
              </a:rPr>
              <a:t>GNP Growth/year </a:t>
            </a:r>
          </a:p>
          <a:p>
            <a:pPr lvl="2"/>
            <a:r>
              <a:rPr lang="en-US">
                <a:solidFill>
                  <a:srgbClr val="003399"/>
                </a:solidFill>
              </a:rPr>
              <a:t>1.5%</a:t>
            </a:r>
          </a:p>
          <a:p>
            <a:r>
              <a:rPr lang="en-US" sz="2000">
                <a:solidFill>
                  <a:srgbClr val="003399"/>
                </a:solidFill>
              </a:rPr>
              <a:t>Shift from productive uses (cocoa) to unproductive uses                        (subsistence agriculture).</a:t>
            </a:r>
          </a:p>
        </p:txBody>
      </p:sp>
      <p:sp>
        <p:nvSpPr>
          <p:cNvPr id="44036" name="Rectangle 4"/>
          <p:cNvSpPr>
            <a:spLocks noGrp="1" noChangeArrowheads="1"/>
          </p:cNvSpPr>
          <p:nvPr>
            <p:ph type="body" sz="half" idx="2"/>
          </p:nvPr>
        </p:nvSpPr>
        <p:spPr>
          <a:xfrm>
            <a:off x="4876800" y="1524000"/>
            <a:ext cx="4267200" cy="4876800"/>
          </a:xfrm>
          <a:solidFill>
            <a:srgbClr val="EAEAEA"/>
          </a:solidFill>
          <a:ln/>
        </p:spPr>
        <p:txBody>
          <a:bodyPr/>
          <a:lstStyle/>
          <a:p>
            <a:r>
              <a:rPr lang="en-US" sz="2400">
                <a:solidFill>
                  <a:srgbClr val="66FF66"/>
                </a:solidFill>
              </a:rPr>
              <a:t>Korea</a:t>
            </a:r>
          </a:p>
          <a:p>
            <a:r>
              <a:rPr lang="en-US" sz="1900">
                <a:solidFill>
                  <a:srgbClr val="003399"/>
                </a:solidFill>
              </a:rPr>
              <a:t>1970</a:t>
            </a:r>
          </a:p>
          <a:p>
            <a:pPr lvl="1"/>
            <a:r>
              <a:rPr lang="en-US" sz="1900">
                <a:solidFill>
                  <a:srgbClr val="003399"/>
                </a:solidFill>
              </a:rPr>
              <a:t>GNP/per capita </a:t>
            </a:r>
          </a:p>
          <a:p>
            <a:pPr lvl="2"/>
            <a:r>
              <a:rPr lang="en-US" sz="2100">
                <a:solidFill>
                  <a:srgbClr val="003399"/>
                </a:solidFill>
              </a:rPr>
              <a:t> $260</a:t>
            </a:r>
          </a:p>
          <a:p>
            <a:r>
              <a:rPr lang="en-US" sz="1900">
                <a:solidFill>
                  <a:srgbClr val="003399"/>
                </a:solidFill>
              </a:rPr>
              <a:t>1992</a:t>
            </a:r>
          </a:p>
          <a:p>
            <a:pPr lvl="1"/>
            <a:r>
              <a:rPr lang="en-US" sz="1900">
                <a:solidFill>
                  <a:srgbClr val="003399"/>
                </a:solidFill>
              </a:rPr>
              <a:t>GNP/per capita </a:t>
            </a:r>
          </a:p>
          <a:p>
            <a:pPr lvl="2"/>
            <a:r>
              <a:rPr lang="en-US" sz="2100">
                <a:solidFill>
                  <a:srgbClr val="003399"/>
                </a:solidFill>
              </a:rPr>
              <a:t> $6790</a:t>
            </a:r>
          </a:p>
          <a:p>
            <a:pPr lvl="1"/>
            <a:r>
              <a:rPr lang="en-US" sz="1900">
                <a:solidFill>
                  <a:srgbClr val="003399"/>
                </a:solidFill>
              </a:rPr>
              <a:t>GNP Growth/year</a:t>
            </a:r>
          </a:p>
          <a:p>
            <a:pPr lvl="2"/>
            <a:r>
              <a:rPr lang="en-US" sz="2100">
                <a:solidFill>
                  <a:srgbClr val="003399"/>
                </a:solidFill>
              </a:rPr>
              <a:t>9%</a:t>
            </a:r>
          </a:p>
          <a:p>
            <a:r>
              <a:rPr lang="en-US" sz="1900">
                <a:solidFill>
                  <a:srgbClr val="003399"/>
                </a:solidFill>
              </a:rPr>
              <a:t>Shift from non-comparative advantage uses (agriculture) to productive uses (labor-intensive manufacturing).</a:t>
            </a:r>
          </a:p>
        </p:txBody>
      </p:sp>
      <p:sp>
        <p:nvSpPr>
          <p:cNvPr id="44039" name="Text Box 7"/>
          <p:cNvSpPr txBox="1">
            <a:spLocks noChangeArrowheads="1"/>
          </p:cNvSpPr>
          <p:nvPr/>
        </p:nvSpPr>
        <p:spPr bwMode="auto">
          <a:xfrm>
            <a:off x="8305800" y="152400"/>
            <a:ext cx="609600" cy="290513"/>
          </a:xfrm>
          <a:prstGeom prst="rect">
            <a:avLst/>
          </a:prstGeom>
          <a:noFill/>
          <a:ln w="9525">
            <a:noFill/>
            <a:miter lim="800000"/>
            <a:headEnd/>
            <a:tailEnd/>
          </a:ln>
          <a:effectLst/>
        </p:spPr>
        <p:txBody>
          <a:bodyPr>
            <a:spAutoFit/>
          </a:bodyPr>
          <a:lstStyle/>
          <a:p>
            <a:pPr>
              <a:spcBef>
                <a:spcPct val="50000"/>
              </a:spcBef>
            </a:pPr>
            <a:r>
              <a:rPr lang="en-US" sz="1300">
                <a:solidFill>
                  <a:schemeClr val="bg1"/>
                </a:solidFill>
              </a:rPr>
              <a:t>4-6</a:t>
            </a:r>
          </a:p>
        </p:txBody>
      </p:sp>
      <p:grpSp>
        <p:nvGrpSpPr>
          <p:cNvPr id="44040" name="Group 8"/>
          <p:cNvGrpSpPr>
            <a:grpSpLocks/>
          </p:cNvGrpSpPr>
          <p:nvPr/>
        </p:nvGrpSpPr>
        <p:grpSpPr bwMode="auto">
          <a:xfrm>
            <a:off x="142875" y="6553200"/>
            <a:ext cx="9001125" cy="280988"/>
            <a:chOff x="90" y="4128"/>
            <a:chExt cx="6102" cy="161"/>
          </a:xfrm>
        </p:grpSpPr>
        <p:sp>
          <p:nvSpPr>
            <p:cNvPr id="44041" name="Rectangle 9"/>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44042" name="Text Box 10"/>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609600" y="609600"/>
            <a:ext cx="7772400" cy="914400"/>
          </a:xfrm>
          <a:ln/>
        </p:spPr>
        <p:txBody>
          <a:bodyPr lIns="90488" tIns="44450" rIns="90488" bIns="44450" anchor="ctr"/>
          <a:lstStyle/>
          <a:p>
            <a:r>
              <a:rPr lang="en-US" sz="3400"/>
              <a:t>An Overview of Trade Theory</a:t>
            </a:r>
          </a:p>
        </p:txBody>
      </p:sp>
      <p:sp>
        <p:nvSpPr>
          <p:cNvPr id="45059" name="Rectangle 3"/>
          <p:cNvSpPr>
            <a:spLocks noGrp="1" noChangeArrowheads="1"/>
          </p:cNvSpPr>
          <p:nvPr>
            <p:ph type="body" idx="1"/>
          </p:nvPr>
        </p:nvSpPr>
        <p:spPr>
          <a:xfrm>
            <a:off x="533400" y="1828800"/>
            <a:ext cx="7772400" cy="4267200"/>
          </a:xfrm>
          <a:solidFill>
            <a:srgbClr val="EAEAEA"/>
          </a:solidFill>
          <a:ln/>
        </p:spPr>
        <p:txBody>
          <a:bodyPr lIns="90488" tIns="44450" rIns="90488" bIns="44450"/>
          <a:lstStyle/>
          <a:p>
            <a:r>
              <a:rPr lang="en-US" sz="2400">
                <a:solidFill>
                  <a:srgbClr val="003399"/>
                </a:solidFill>
              </a:rPr>
              <a:t>Free Trade occurs when a </a:t>
            </a:r>
            <a:r>
              <a:rPr lang="en-US" sz="2400" b="1">
                <a:solidFill>
                  <a:srgbClr val="00CC99"/>
                </a:solidFill>
              </a:rPr>
              <a:t>government does not attempt to influence,</a:t>
            </a:r>
            <a:r>
              <a:rPr lang="en-US" sz="2400">
                <a:solidFill>
                  <a:srgbClr val="003399"/>
                </a:solidFill>
              </a:rPr>
              <a:t> through quotas or duties, what its citizens can buy from another country or what they can produce and sell to another country.</a:t>
            </a:r>
          </a:p>
        </p:txBody>
      </p:sp>
      <p:sp>
        <p:nvSpPr>
          <p:cNvPr id="45066" name="Text Box 10"/>
          <p:cNvSpPr txBox="1">
            <a:spLocks noChangeArrowheads="1"/>
          </p:cNvSpPr>
          <p:nvPr/>
        </p:nvSpPr>
        <p:spPr bwMode="auto">
          <a:xfrm>
            <a:off x="8305800" y="152400"/>
            <a:ext cx="609600" cy="304800"/>
          </a:xfrm>
          <a:prstGeom prst="rect">
            <a:avLst/>
          </a:prstGeom>
          <a:noFill/>
          <a:ln w="9525">
            <a:noFill/>
            <a:miter lim="800000"/>
            <a:headEnd/>
            <a:tailEnd/>
          </a:ln>
          <a:effectLst/>
        </p:spPr>
        <p:txBody>
          <a:bodyPr>
            <a:spAutoFit/>
          </a:bodyPr>
          <a:lstStyle/>
          <a:p>
            <a:pPr>
              <a:spcBef>
                <a:spcPct val="50000"/>
              </a:spcBef>
            </a:pPr>
            <a:r>
              <a:rPr lang="en-US" sz="1400">
                <a:solidFill>
                  <a:schemeClr val="bg1"/>
                </a:solidFill>
              </a:rPr>
              <a:t>4-7</a:t>
            </a:r>
          </a:p>
        </p:txBody>
      </p:sp>
      <p:grpSp>
        <p:nvGrpSpPr>
          <p:cNvPr id="45067" name="Group 11"/>
          <p:cNvGrpSpPr>
            <a:grpSpLocks/>
          </p:cNvGrpSpPr>
          <p:nvPr/>
        </p:nvGrpSpPr>
        <p:grpSpPr bwMode="auto">
          <a:xfrm>
            <a:off x="142875" y="6553200"/>
            <a:ext cx="9001125" cy="280988"/>
            <a:chOff x="90" y="4128"/>
            <a:chExt cx="6102" cy="161"/>
          </a:xfrm>
        </p:grpSpPr>
        <p:sp>
          <p:nvSpPr>
            <p:cNvPr id="45068" name="Rectangle 12"/>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45069" name="Text Box 13"/>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609600" y="609600"/>
            <a:ext cx="7772400" cy="914400"/>
          </a:xfrm>
          <a:ln/>
        </p:spPr>
        <p:txBody>
          <a:bodyPr lIns="90488" tIns="44450" rIns="90488" bIns="44450" anchor="ctr"/>
          <a:lstStyle/>
          <a:p>
            <a:r>
              <a:rPr lang="en-US" sz="3400"/>
              <a:t>An Overview of Trade Theory</a:t>
            </a:r>
          </a:p>
        </p:txBody>
      </p:sp>
      <p:sp>
        <p:nvSpPr>
          <p:cNvPr id="79875" name="Rectangle 3"/>
          <p:cNvSpPr>
            <a:spLocks noGrp="1" noChangeArrowheads="1"/>
          </p:cNvSpPr>
          <p:nvPr>
            <p:ph type="body" idx="1"/>
          </p:nvPr>
        </p:nvSpPr>
        <p:spPr>
          <a:xfrm>
            <a:off x="533400" y="1828800"/>
            <a:ext cx="7772400" cy="4267200"/>
          </a:xfrm>
          <a:solidFill>
            <a:srgbClr val="EAEAEA"/>
          </a:solidFill>
          <a:ln/>
        </p:spPr>
        <p:txBody>
          <a:bodyPr lIns="90488" tIns="44450" rIns="90488" bIns="44450"/>
          <a:lstStyle/>
          <a:p>
            <a:r>
              <a:rPr lang="en-US" sz="1400">
                <a:solidFill>
                  <a:srgbClr val="003399"/>
                </a:solidFill>
              </a:rPr>
              <a:t>Free Trade occurs when a government does not attempt to influence, through quotas or duties, what its citizens can buy from another country or what they can produce and sell to another country.</a:t>
            </a:r>
          </a:p>
          <a:p>
            <a:r>
              <a:rPr lang="en-US" sz="2400">
                <a:solidFill>
                  <a:srgbClr val="003399"/>
                </a:solidFill>
              </a:rPr>
              <a:t>The Benefits of Trade allow a country to </a:t>
            </a:r>
            <a:r>
              <a:rPr lang="en-US" sz="2400">
                <a:solidFill>
                  <a:srgbClr val="00CC99"/>
                </a:solidFill>
              </a:rPr>
              <a:t>specialize in the manufacture and export of products</a:t>
            </a:r>
            <a:r>
              <a:rPr lang="en-US" sz="2400">
                <a:solidFill>
                  <a:srgbClr val="003399"/>
                </a:solidFill>
              </a:rPr>
              <a:t> that can be produced </a:t>
            </a:r>
            <a:r>
              <a:rPr lang="en-US" sz="2400">
                <a:solidFill>
                  <a:srgbClr val="00CC99"/>
                </a:solidFill>
              </a:rPr>
              <a:t>most efficiently</a:t>
            </a:r>
            <a:r>
              <a:rPr lang="en-US" sz="2400">
                <a:solidFill>
                  <a:srgbClr val="003399"/>
                </a:solidFill>
              </a:rPr>
              <a:t> in that country.</a:t>
            </a:r>
          </a:p>
          <a:p>
            <a:endParaRPr lang="en-US" sz="2400">
              <a:solidFill>
                <a:srgbClr val="003399"/>
              </a:solidFill>
            </a:endParaRPr>
          </a:p>
        </p:txBody>
      </p:sp>
      <p:sp>
        <p:nvSpPr>
          <p:cNvPr id="79876" name="Text Box 4"/>
          <p:cNvSpPr txBox="1">
            <a:spLocks noChangeArrowheads="1"/>
          </p:cNvSpPr>
          <p:nvPr/>
        </p:nvSpPr>
        <p:spPr bwMode="auto">
          <a:xfrm>
            <a:off x="8305800" y="152400"/>
            <a:ext cx="609600" cy="304800"/>
          </a:xfrm>
          <a:prstGeom prst="rect">
            <a:avLst/>
          </a:prstGeom>
          <a:noFill/>
          <a:ln w="9525">
            <a:noFill/>
            <a:miter lim="800000"/>
            <a:headEnd/>
            <a:tailEnd/>
          </a:ln>
          <a:effectLst/>
        </p:spPr>
        <p:txBody>
          <a:bodyPr>
            <a:spAutoFit/>
          </a:bodyPr>
          <a:lstStyle/>
          <a:p>
            <a:pPr>
              <a:spcBef>
                <a:spcPct val="50000"/>
              </a:spcBef>
            </a:pPr>
            <a:r>
              <a:rPr lang="en-US" sz="1400">
                <a:solidFill>
                  <a:schemeClr val="bg1"/>
                </a:solidFill>
              </a:rPr>
              <a:t>4-7</a:t>
            </a:r>
          </a:p>
        </p:txBody>
      </p:sp>
      <p:grpSp>
        <p:nvGrpSpPr>
          <p:cNvPr id="79877" name="Group 5"/>
          <p:cNvGrpSpPr>
            <a:grpSpLocks/>
          </p:cNvGrpSpPr>
          <p:nvPr/>
        </p:nvGrpSpPr>
        <p:grpSpPr bwMode="auto">
          <a:xfrm>
            <a:off x="142875" y="6553200"/>
            <a:ext cx="9001125" cy="280988"/>
            <a:chOff x="90" y="4128"/>
            <a:chExt cx="6102" cy="161"/>
          </a:xfrm>
        </p:grpSpPr>
        <p:sp>
          <p:nvSpPr>
            <p:cNvPr id="79878" name="Rectangle 6"/>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79879" name="Text Box 7"/>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609600" y="609600"/>
            <a:ext cx="7772400" cy="914400"/>
          </a:xfrm>
          <a:ln/>
        </p:spPr>
        <p:txBody>
          <a:bodyPr lIns="90488" tIns="44450" rIns="90488" bIns="44450" anchor="ctr"/>
          <a:lstStyle/>
          <a:p>
            <a:r>
              <a:rPr lang="en-US" sz="3400"/>
              <a:t>An Overview of Trade Theory</a:t>
            </a:r>
          </a:p>
        </p:txBody>
      </p:sp>
      <p:sp>
        <p:nvSpPr>
          <p:cNvPr id="80899" name="Rectangle 3"/>
          <p:cNvSpPr>
            <a:spLocks noGrp="1" noChangeArrowheads="1"/>
          </p:cNvSpPr>
          <p:nvPr>
            <p:ph type="body" idx="1"/>
          </p:nvPr>
        </p:nvSpPr>
        <p:spPr>
          <a:xfrm>
            <a:off x="533400" y="1828800"/>
            <a:ext cx="7772400" cy="4267200"/>
          </a:xfrm>
          <a:solidFill>
            <a:srgbClr val="EAEAEA"/>
          </a:solidFill>
          <a:ln/>
        </p:spPr>
        <p:txBody>
          <a:bodyPr lIns="90488" tIns="44450" rIns="90488" bIns="44450"/>
          <a:lstStyle/>
          <a:p>
            <a:r>
              <a:rPr lang="en-US" sz="1400">
                <a:solidFill>
                  <a:srgbClr val="003399"/>
                </a:solidFill>
              </a:rPr>
              <a:t>Free Trade occurs when a government does not attempt to influence, through quotas or duties, what its citizens can buy from another country or what they can produce and sell to another country.</a:t>
            </a:r>
          </a:p>
          <a:p>
            <a:r>
              <a:rPr lang="en-US" sz="1400">
                <a:solidFill>
                  <a:srgbClr val="003399"/>
                </a:solidFill>
              </a:rPr>
              <a:t>The Benefits of Trade allow a country to specialize in the manufacture and export of products that can be produced most efficiently in that country.</a:t>
            </a:r>
          </a:p>
          <a:p>
            <a:r>
              <a:rPr lang="en-US" sz="2400">
                <a:solidFill>
                  <a:srgbClr val="003399"/>
                </a:solidFill>
              </a:rPr>
              <a:t>The Pattern of International Trade displays patterns that are easy to understand (Saudi Arabia/oil or China/crawfish). Others are not so easy to understand (Japan and cars).</a:t>
            </a:r>
          </a:p>
        </p:txBody>
      </p:sp>
      <p:sp>
        <p:nvSpPr>
          <p:cNvPr id="80900" name="Text Box 4"/>
          <p:cNvSpPr txBox="1">
            <a:spLocks noChangeArrowheads="1"/>
          </p:cNvSpPr>
          <p:nvPr/>
        </p:nvSpPr>
        <p:spPr bwMode="auto">
          <a:xfrm>
            <a:off x="8305800" y="152400"/>
            <a:ext cx="609600" cy="304800"/>
          </a:xfrm>
          <a:prstGeom prst="rect">
            <a:avLst/>
          </a:prstGeom>
          <a:noFill/>
          <a:ln w="9525">
            <a:noFill/>
            <a:miter lim="800000"/>
            <a:headEnd/>
            <a:tailEnd/>
          </a:ln>
          <a:effectLst/>
        </p:spPr>
        <p:txBody>
          <a:bodyPr>
            <a:spAutoFit/>
          </a:bodyPr>
          <a:lstStyle/>
          <a:p>
            <a:pPr>
              <a:spcBef>
                <a:spcPct val="50000"/>
              </a:spcBef>
            </a:pPr>
            <a:r>
              <a:rPr lang="en-US" sz="1400">
                <a:solidFill>
                  <a:schemeClr val="bg1"/>
                </a:solidFill>
              </a:rPr>
              <a:t>4-7</a:t>
            </a:r>
          </a:p>
        </p:txBody>
      </p:sp>
      <p:grpSp>
        <p:nvGrpSpPr>
          <p:cNvPr id="80901" name="Group 5"/>
          <p:cNvGrpSpPr>
            <a:grpSpLocks/>
          </p:cNvGrpSpPr>
          <p:nvPr/>
        </p:nvGrpSpPr>
        <p:grpSpPr bwMode="auto">
          <a:xfrm>
            <a:off x="142875" y="6553200"/>
            <a:ext cx="9001125" cy="280988"/>
            <a:chOff x="90" y="4128"/>
            <a:chExt cx="6102" cy="161"/>
          </a:xfrm>
        </p:grpSpPr>
        <p:sp>
          <p:nvSpPr>
            <p:cNvPr id="80902" name="Rectangle 6"/>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80903" name="Text Box 7"/>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609600" y="609600"/>
            <a:ext cx="7772400" cy="914400"/>
          </a:xfrm>
          <a:ln/>
        </p:spPr>
        <p:txBody>
          <a:bodyPr lIns="90488" tIns="44450" rIns="90488" bIns="44450" anchor="ctr"/>
          <a:lstStyle/>
          <a:p>
            <a:r>
              <a:rPr lang="en-US" sz="3400"/>
              <a:t>An Overview of Trade Theory</a:t>
            </a:r>
          </a:p>
        </p:txBody>
      </p:sp>
      <p:sp>
        <p:nvSpPr>
          <p:cNvPr id="81923" name="Rectangle 3"/>
          <p:cNvSpPr>
            <a:spLocks noGrp="1" noChangeArrowheads="1"/>
          </p:cNvSpPr>
          <p:nvPr>
            <p:ph type="body" idx="1"/>
          </p:nvPr>
        </p:nvSpPr>
        <p:spPr>
          <a:xfrm>
            <a:off x="533400" y="1828800"/>
            <a:ext cx="7772400" cy="4267200"/>
          </a:xfrm>
          <a:solidFill>
            <a:srgbClr val="EAEAEA"/>
          </a:solidFill>
          <a:ln/>
        </p:spPr>
        <p:txBody>
          <a:bodyPr lIns="90488" tIns="44450" rIns="90488" bIns="44450"/>
          <a:lstStyle/>
          <a:p>
            <a:r>
              <a:rPr lang="en-US" sz="1400">
                <a:solidFill>
                  <a:srgbClr val="003399"/>
                </a:solidFill>
              </a:rPr>
              <a:t>Free Trade occurs when a government does not attempt to influence, through quotas or duties, what its citizens can buy from another country or what they can produce and sell to another country.</a:t>
            </a:r>
          </a:p>
          <a:p>
            <a:r>
              <a:rPr lang="en-US" sz="1400">
                <a:solidFill>
                  <a:srgbClr val="003399"/>
                </a:solidFill>
              </a:rPr>
              <a:t>The Benefits of Trade allow a country to specialize in the manufacture and export of products that can be produced most efficiently in that country.</a:t>
            </a:r>
          </a:p>
          <a:p>
            <a:r>
              <a:rPr lang="en-US" sz="1400">
                <a:solidFill>
                  <a:srgbClr val="003399"/>
                </a:solidFill>
              </a:rPr>
              <a:t>The Pattern of International Trade displays patterns that are easy to understand (Saudi Arabia/oil or China/crawfish). Others are not so easy to understand (Japan and cars).</a:t>
            </a:r>
          </a:p>
          <a:p>
            <a:r>
              <a:rPr lang="en-US" sz="2400">
                <a:solidFill>
                  <a:srgbClr val="003399"/>
                </a:solidFill>
              </a:rPr>
              <a:t>The history of Trade Theory and Government Involvement presents a mixed case for the role of government in promoting exports and limiting imports.  Later theories appear to make a case for limited involvement.</a:t>
            </a:r>
          </a:p>
        </p:txBody>
      </p:sp>
      <p:sp>
        <p:nvSpPr>
          <p:cNvPr id="81924" name="Text Box 4"/>
          <p:cNvSpPr txBox="1">
            <a:spLocks noChangeArrowheads="1"/>
          </p:cNvSpPr>
          <p:nvPr/>
        </p:nvSpPr>
        <p:spPr bwMode="auto">
          <a:xfrm>
            <a:off x="8305800" y="152400"/>
            <a:ext cx="609600" cy="304800"/>
          </a:xfrm>
          <a:prstGeom prst="rect">
            <a:avLst/>
          </a:prstGeom>
          <a:noFill/>
          <a:ln w="9525">
            <a:noFill/>
            <a:miter lim="800000"/>
            <a:headEnd/>
            <a:tailEnd/>
          </a:ln>
          <a:effectLst/>
        </p:spPr>
        <p:txBody>
          <a:bodyPr>
            <a:spAutoFit/>
          </a:bodyPr>
          <a:lstStyle/>
          <a:p>
            <a:pPr>
              <a:spcBef>
                <a:spcPct val="50000"/>
              </a:spcBef>
            </a:pPr>
            <a:r>
              <a:rPr lang="en-US" sz="1400">
                <a:solidFill>
                  <a:schemeClr val="bg1"/>
                </a:solidFill>
              </a:rPr>
              <a:t>4-7</a:t>
            </a:r>
          </a:p>
        </p:txBody>
      </p:sp>
      <p:grpSp>
        <p:nvGrpSpPr>
          <p:cNvPr id="81925" name="Group 5"/>
          <p:cNvGrpSpPr>
            <a:grpSpLocks/>
          </p:cNvGrpSpPr>
          <p:nvPr/>
        </p:nvGrpSpPr>
        <p:grpSpPr bwMode="auto">
          <a:xfrm>
            <a:off x="142875" y="6553200"/>
            <a:ext cx="9001125" cy="280988"/>
            <a:chOff x="90" y="4128"/>
            <a:chExt cx="6102" cy="161"/>
          </a:xfrm>
        </p:grpSpPr>
        <p:sp>
          <p:nvSpPr>
            <p:cNvPr id="81926" name="Rectangle 6"/>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81927" name="Text Box 7"/>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85800" y="381000"/>
            <a:ext cx="7772400" cy="838200"/>
          </a:xfrm>
          <a:ln/>
        </p:spPr>
        <p:txBody>
          <a:bodyPr lIns="90488" tIns="44450" rIns="90488" bIns="44450" anchor="ctr"/>
          <a:lstStyle/>
          <a:p>
            <a:r>
              <a:rPr lang="en-US"/>
              <a:t>Mercantilism: mid-16</a:t>
            </a:r>
            <a:r>
              <a:rPr lang="en-US" sz="1900"/>
              <a:t>th</a:t>
            </a:r>
            <a:r>
              <a:rPr lang="en-US"/>
              <a:t> century</a:t>
            </a:r>
          </a:p>
        </p:txBody>
      </p:sp>
      <p:sp>
        <p:nvSpPr>
          <p:cNvPr id="46083" name="Rectangle 3"/>
          <p:cNvSpPr>
            <a:spLocks noGrp="1" noChangeArrowheads="1"/>
          </p:cNvSpPr>
          <p:nvPr>
            <p:ph type="body" idx="1"/>
          </p:nvPr>
        </p:nvSpPr>
        <p:spPr>
          <a:xfrm>
            <a:off x="609600" y="1600200"/>
            <a:ext cx="7772400" cy="4343400"/>
          </a:xfrm>
          <a:solidFill>
            <a:srgbClr val="EAEAEA"/>
          </a:solidFill>
          <a:ln/>
        </p:spPr>
        <p:txBody>
          <a:bodyPr lIns="90488" tIns="44450" rIns="90488" bIns="44450"/>
          <a:lstStyle/>
          <a:p>
            <a:r>
              <a:rPr lang="en-US" sz="2300">
                <a:solidFill>
                  <a:srgbClr val="003399"/>
                </a:solidFill>
              </a:rPr>
              <a:t>A nation’s wealth depends on accumulated treasure</a:t>
            </a:r>
          </a:p>
        </p:txBody>
      </p:sp>
      <p:sp>
        <p:nvSpPr>
          <p:cNvPr id="46088" name="Text Box 8"/>
          <p:cNvSpPr txBox="1">
            <a:spLocks noChangeArrowheads="1"/>
          </p:cNvSpPr>
          <p:nvPr/>
        </p:nvSpPr>
        <p:spPr bwMode="auto">
          <a:xfrm>
            <a:off x="8305800" y="152400"/>
            <a:ext cx="609600" cy="290513"/>
          </a:xfrm>
          <a:prstGeom prst="rect">
            <a:avLst/>
          </a:prstGeom>
          <a:noFill/>
          <a:ln w="9525">
            <a:noFill/>
            <a:miter lim="800000"/>
            <a:headEnd/>
            <a:tailEnd/>
          </a:ln>
          <a:effectLst/>
        </p:spPr>
        <p:txBody>
          <a:bodyPr>
            <a:spAutoFit/>
          </a:bodyPr>
          <a:lstStyle/>
          <a:p>
            <a:pPr>
              <a:spcBef>
                <a:spcPct val="50000"/>
              </a:spcBef>
            </a:pPr>
            <a:r>
              <a:rPr lang="en-US" sz="1300">
                <a:solidFill>
                  <a:schemeClr val="bg1"/>
                </a:solidFill>
              </a:rPr>
              <a:t>4-8</a:t>
            </a:r>
          </a:p>
        </p:txBody>
      </p:sp>
      <p:grpSp>
        <p:nvGrpSpPr>
          <p:cNvPr id="46089" name="Group 9"/>
          <p:cNvGrpSpPr>
            <a:grpSpLocks/>
          </p:cNvGrpSpPr>
          <p:nvPr/>
        </p:nvGrpSpPr>
        <p:grpSpPr bwMode="auto">
          <a:xfrm>
            <a:off x="142875" y="6553200"/>
            <a:ext cx="9001125" cy="280988"/>
            <a:chOff x="90" y="4128"/>
            <a:chExt cx="6102" cy="161"/>
          </a:xfrm>
        </p:grpSpPr>
        <p:sp>
          <p:nvSpPr>
            <p:cNvPr id="46090" name="Rectangle 10"/>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46091" name="Text Box 11"/>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685800" y="381000"/>
            <a:ext cx="7772400" cy="838200"/>
          </a:xfrm>
          <a:ln/>
        </p:spPr>
        <p:txBody>
          <a:bodyPr lIns="90488" tIns="44450" rIns="90488" bIns="44450" anchor="ctr"/>
          <a:lstStyle/>
          <a:p>
            <a:r>
              <a:rPr lang="en-US"/>
              <a:t>Mercantilism: mid-16</a:t>
            </a:r>
            <a:r>
              <a:rPr lang="en-US" sz="1900"/>
              <a:t>th</a:t>
            </a:r>
            <a:r>
              <a:rPr lang="en-US"/>
              <a:t> century</a:t>
            </a:r>
          </a:p>
        </p:txBody>
      </p:sp>
      <p:sp>
        <p:nvSpPr>
          <p:cNvPr id="91139" name="Rectangle 3"/>
          <p:cNvSpPr>
            <a:spLocks noGrp="1" noChangeArrowheads="1"/>
          </p:cNvSpPr>
          <p:nvPr>
            <p:ph type="body" idx="1"/>
          </p:nvPr>
        </p:nvSpPr>
        <p:spPr>
          <a:xfrm>
            <a:off x="609600" y="1600200"/>
            <a:ext cx="7772400" cy="4343400"/>
          </a:xfrm>
          <a:solidFill>
            <a:srgbClr val="EAEAEA"/>
          </a:solidFill>
          <a:ln/>
        </p:spPr>
        <p:txBody>
          <a:bodyPr lIns="90488" tIns="44450" rIns="90488" bIns="44450"/>
          <a:lstStyle/>
          <a:p>
            <a:r>
              <a:rPr lang="en-US" sz="2300">
                <a:solidFill>
                  <a:srgbClr val="003399"/>
                </a:solidFill>
              </a:rPr>
              <a:t>A nation’s wealth depends on accumulated treasure</a:t>
            </a:r>
          </a:p>
          <a:p>
            <a:r>
              <a:rPr lang="en-US" sz="2300">
                <a:solidFill>
                  <a:srgbClr val="003399"/>
                </a:solidFill>
              </a:rPr>
              <a:t>Gold and silver are the currency                              of trade.</a:t>
            </a:r>
          </a:p>
        </p:txBody>
      </p:sp>
      <p:sp>
        <p:nvSpPr>
          <p:cNvPr id="91140" name="Text Box 4"/>
          <p:cNvSpPr txBox="1">
            <a:spLocks noChangeArrowheads="1"/>
          </p:cNvSpPr>
          <p:nvPr/>
        </p:nvSpPr>
        <p:spPr bwMode="auto">
          <a:xfrm>
            <a:off x="8305800" y="152400"/>
            <a:ext cx="609600" cy="290513"/>
          </a:xfrm>
          <a:prstGeom prst="rect">
            <a:avLst/>
          </a:prstGeom>
          <a:noFill/>
          <a:ln w="9525">
            <a:noFill/>
            <a:miter lim="800000"/>
            <a:headEnd/>
            <a:tailEnd/>
          </a:ln>
          <a:effectLst/>
        </p:spPr>
        <p:txBody>
          <a:bodyPr>
            <a:spAutoFit/>
          </a:bodyPr>
          <a:lstStyle/>
          <a:p>
            <a:pPr>
              <a:spcBef>
                <a:spcPct val="50000"/>
              </a:spcBef>
            </a:pPr>
            <a:r>
              <a:rPr lang="en-US" sz="1300">
                <a:solidFill>
                  <a:schemeClr val="bg1"/>
                </a:solidFill>
              </a:rPr>
              <a:t>4-8</a:t>
            </a:r>
          </a:p>
        </p:txBody>
      </p:sp>
      <p:grpSp>
        <p:nvGrpSpPr>
          <p:cNvPr id="91141" name="Group 5"/>
          <p:cNvGrpSpPr>
            <a:grpSpLocks/>
          </p:cNvGrpSpPr>
          <p:nvPr/>
        </p:nvGrpSpPr>
        <p:grpSpPr bwMode="auto">
          <a:xfrm>
            <a:off x="142875" y="6553200"/>
            <a:ext cx="9001125" cy="280988"/>
            <a:chOff x="90" y="4128"/>
            <a:chExt cx="6102" cy="161"/>
          </a:xfrm>
        </p:grpSpPr>
        <p:sp>
          <p:nvSpPr>
            <p:cNvPr id="91142" name="Rectangle 6"/>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91143" name="Text Box 7"/>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685800" y="381000"/>
            <a:ext cx="7772400" cy="838200"/>
          </a:xfrm>
          <a:ln/>
        </p:spPr>
        <p:txBody>
          <a:bodyPr lIns="90488" tIns="44450" rIns="90488" bIns="44450" anchor="ctr"/>
          <a:lstStyle/>
          <a:p>
            <a:r>
              <a:rPr lang="en-US"/>
              <a:t>Mercantilism: mid-16</a:t>
            </a:r>
            <a:r>
              <a:rPr lang="en-US" sz="1900"/>
              <a:t>th</a:t>
            </a:r>
            <a:r>
              <a:rPr lang="en-US"/>
              <a:t> century</a:t>
            </a:r>
          </a:p>
        </p:txBody>
      </p:sp>
      <p:sp>
        <p:nvSpPr>
          <p:cNvPr id="92163" name="Rectangle 3"/>
          <p:cNvSpPr>
            <a:spLocks noGrp="1" noChangeArrowheads="1"/>
          </p:cNvSpPr>
          <p:nvPr>
            <p:ph type="body" idx="1"/>
          </p:nvPr>
        </p:nvSpPr>
        <p:spPr>
          <a:xfrm>
            <a:off x="609600" y="1600200"/>
            <a:ext cx="7772400" cy="4343400"/>
          </a:xfrm>
          <a:solidFill>
            <a:srgbClr val="EAEAEA"/>
          </a:solidFill>
          <a:ln/>
        </p:spPr>
        <p:txBody>
          <a:bodyPr lIns="90488" tIns="44450" rIns="90488" bIns="44450"/>
          <a:lstStyle/>
          <a:p>
            <a:r>
              <a:rPr lang="en-US" sz="2300">
                <a:solidFill>
                  <a:srgbClr val="003399"/>
                </a:solidFill>
              </a:rPr>
              <a:t>A nation’s wealth depends on accumulated treasure</a:t>
            </a:r>
          </a:p>
          <a:p>
            <a:r>
              <a:rPr lang="en-US" sz="2300">
                <a:solidFill>
                  <a:srgbClr val="003399"/>
                </a:solidFill>
              </a:rPr>
              <a:t>Gold and silver are the currency                              of trade.</a:t>
            </a:r>
          </a:p>
          <a:p>
            <a:r>
              <a:rPr lang="en-US" sz="2300">
                <a:solidFill>
                  <a:srgbClr val="003399"/>
                </a:solidFill>
              </a:rPr>
              <a:t>Theory says you should have                                      a trade surplus. </a:t>
            </a:r>
          </a:p>
          <a:p>
            <a:pPr lvl="1">
              <a:buFont typeface="Monotype Sorts"/>
              <a:buNone/>
            </a:pPr>
            <a:endParaRPr lang="en-US" sz="2100">
              <a:solidFill>
                <a:srgbClr val="003399"/>
              </a:solidFill>
            </a:endParaRPr>
          </a:p>
        </p:txBody>
      </p:sp>
      <p:sp>
        <p:nvSpPr>
          <p:cNvPr id="92164" name="Text Box 4"/>
          <p:cNvSpPr txBox="1">
            <a:spLocks noChangeArrowheads="1"/>
          </p:cNvSpPr>
          <p:nvPr/>
        </p:nvSpPr>
        <p:spPr bwMode="auto">
          <a:xfrm>
            <a:off x="8305800" y="152400"/>
            <a:ext cx="609600" cy="290513"/>
          </a:xfrm>
          <a:prstGeom prst="rect">
            <a:avLst/>
          </a:prstGeom>
          <a:noFill/>
          <a:ln w="9525">
            <a:noFill/>
            <a:miter lim="800000"/>
            <a:headEnd/>
            <a:tailEnd/>
          </a:ln>
          <a:effectLst/>
        </p:spPr>
        <p:txBody>
          <a:bodyPr>
            <a:spAutoFit/>
          </a:bodyPr>
          <a:lstStyle/>
          <a:p>
            <a:pPr>
              <a:spcBef>
                <a:spcPct val="50000"/>
              </a:spcBef>
            </a:pPr>
            <a:r>
              <a:rPr lang="en-US" sz="1300">
                <a:solidFill>
                  <a:schemeClr val="bg1"/>
                </a:solidFill>
              </a:rPr>
              <a:t>4-8</a:t>
            </a:r>
          </a:p>
        </p:txBody>
      </p:sp>
      <p:grpSp>
        <p:nvGrpSpPr>
          <p:cNvPr id="92165" name="Group 5"/>
          <p:cNvGrpSpPr>
            <a:grpSpLocks/>
          </p:cNvGrpSpPr>
          <p:nvPr/>
        </p:nvGrpSpPr>
        <p:grpSpPr bwMode="auto">
          <a:xfrm>
            <a:off x="142875" y="6553200"/>
            <a:ext cx="9001125" cy="280988"/>
            <a:chOff x="90" y="4128"/>
            <a:chExt cx="6102" cy="161"/>
          </a:xfrm>
        </p:grpSpPr>
        <p:sp>
          <p:nvSpPr>
            <p:cNvPr id="92166" name="Rectangle 6"/>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92167" name="Text Box 7"/>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xfrm>
            <a:off x="685800" y="381000"/>
            <a:ext cx="7772400" cy="838200"/>
          </a:xfrm>
          <a:ln/>
        </p:spPr>
        <p:txBody>
          <a:bodyPr lIns="90488" tIns="44450" rIns="90488" bIns="44450" anchor="ctr"/>
          <a:lstStyle/>
          <a:p>
            <a:r>
              <a:rPr lang="en-US"/>
              <a:t>Mercantilism: mid-16</a:t>
            </a:r>
            <a:r>
              <a:rPr lang="en-US" sz="1900"/>
              <a:t>th</a:t>
            </a:r>
            <a:r>
              <a:rPr lang="en-US"/>
              <a:t> century</a:t>
            </a:r>
          </a:p>
        </p:txBody>
      </p:sp>
      <p:sp>
        <p:nvSpPr>
          <p:cNvPr id="93187" name="Rectangle 3"/>
          <p:cNvSpPr>
            <a:spLocks noGrp="1" noChangeArrowheads="1"/>
          </p:cNvSpPr>
          <p:nvPr>
            <p:ph type="body" idx="1"/>
          </p:nvPr>
        </p:nvSpPr>
        <p:spPr>
          <a:xfrm>
            <a:off x="609600" y="1600200"/>
            <a:ext cx="7772400" cy="4343400"/>
          </a:xfrm>
          <a:solidFill>
            <a:srgbClr val="EAEAEA"/>
          </a:solidFill>
          <a:ln/>
        </p:spPr>
        <p:txBody>
          <a:bodyPr lIns="90488" tIns="44450" rIns="90488" bIns="44450"/>
          <a:lstStyle/>
          <a:p>
            <a:r>
              <a:rPr lang="en-US" sz="2300">
                <a:solidFill>
                  <a:srgbClr val="003399"/>
                </a:solidFill>
              </a:rPr>
              <a:t>A nation’s wealth depends on accumulated treasure</a:t>
            </a:r>
          </a:p>
          <a:p>
            <a:r>
              <a:rPr lang="en-US" sz="2300">
                <a:solidFill>
                  <a:srgbClr val="003399"/>
                </a:solidFill>
              </a:rPr>
              <a:t>Gold and silver are the currency                              of trade.</a:t>
            </a:r>
          </a:p>
          <a:p>
            <a:r>
              <a:rPr lang="en-US" sz="2300">
                <a:solidFill>
                  <a:srgbClr val="003399"/>
                </a:solidFill>
              </a:rPr>
              <a:t>Theory says you should have                                      a trade surplus. </a:t>
            </a:r>
          </a:p>
          <a:p>
            <a:pPr lvl="1"/>
            <a:r>
              <a:rPr lang="en-US" sz="2300" u="sng">
                <a:solidFill>
                  <a:srgbClr val="003399"/>
                </a:solidFill>
              </a:rPr>
              <a:t>Maximize</a:t>
            </a:r>
            <a:r>
              <a:rPr lang="en-US" sz="2300">
                <a:solidFill>
                  <a:srgbClr val="003399"/>
                </a:solidFill>
              </a:rPr>
              <a:t> exports                                       through subsidies.</a:t>
            </a:r>
          </a:p>
          <a:p>
            <a:pPr lvl="1"/>
            <a:r>
              <a:rPr lang="en-US" sz="2300" u="sng">
                <a:solidFill>
                  <a:srgbClr val="003399"/>
                </a:solidFill>
              </a:rPr>
              <a:t>Minimize</a:t>
            </a:r>
            <a:r>
              <a:rPr lang="en-US" sz="2300">
                <a:solidFill>
                  <a:srgbClr val="003399"/>
                </a:solidFill>
              </a:rPr>
              <a:t> imports through</a:t>
            </a:r>
            <a:r>
              <a:rPr lang="en-US" sz="2600">
                <a:solidFill>
                  <a:srgbClr val="003399"/>
                </a:solidFill>
              </a:rPr>
              <a:t> </a:t>
            </a:r>
            <a:r>
              <a:rPr lang="en-US" sz="2300">
                <a:solidFill>
                  <a:srgbClr val="003399"/>
                </a:solidFill>
              </a:rPr>
              <a:t>tariffs                         and quotas.</a:t>
            </a:r>
          </a:p>
        </p:txBody>
      </p:sp>
      <p:sp>
        <p:nvSpPr>
          <p:cNvPr id="93188" name="Text Box 4"/>
          <p:cNvSpPr txBox="1">
            <a:spLocks noChangeArrowheads="1"/>
          </p:cNvSpPr>
          <p:nvPr/>
        </p:nvSpPr>
        <p:spPr bwMode="auto">
          <a:xfrm>
            <a:off x="8305800" y="152400"/>
            <a:ext cx="609600" cy="290513"/>
          </a:xfrm>
          <a:prstGeom prst="rect">
            <a:avLst/>
          </a:prstGeom>
          <a:noFill/>
          <a:ln w="9525">
            <a:noFill/>
            <a:miter lim="800000"/>
            <a:headEnd/>
            <a:tailEnd/>
          </a:ln>
          <a:effectLst/>
        </p:spPr>
        <p:txBody>
          <a:bodyPr>
            <a:spAutoFit/>
          </a:bodyPr>
          <a:lstStyle/>
          <a:p>
            <a:pPr>
              <a:spcBef>
                <a:spcPct val="50000"/>
              </a:spcBef>
            </a:pPr>
            <a:r>
              <a:rPr lang="en-US" sz="1300">
                <a:solidFill>
                  <a:schemeClr val="bg1"/>
                </a:solidFill>
              </a:rPr>
              <a:t>4-8</a:t>
            </a:r>
          </a:p>
        </p:txBody>
      </p:sp>
      <p:grpSp>
        <p:nvGrpSpPr>
          <p:cNvPr id="93189" name="Group 5"/>
          <p:cNvGrpSpPr>
            <a:grpSpLocks/>
          </p:cNvGrpSpPr>
          <p:nvPr/>
        </p:nvGrpSpPr>
        <p:grpSpPr bwMode="auto">
          <a:xfrm>
            <a:off x="142875" y="6553200"/>
            <a:ext cx="9001125" cy="280988"/>
            <a:chOff x="90" y="4128"/>
            <a:chExt cx="6102" cy="161"/>
          </a:xfrm>
        </p:grpSpPr>
        <p:sp>
          <p:nvSpPr>
            <p:cNvPr id="93190" name="Rectangle 6"/>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93191" name="Text Box 7"/>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685800" y="381000"/>
            <a:ext cx="7772400" cy="838200"/>
          </a:xfrm>
          <a:ln/>
        </p:spPr>
        <p:txBody>
          <a:bodyPr lIns="90488" tIns="44450" rIns="90488" bIns="44450" anchor="ctr"/>
          <a:lstStyle/>
          <a:p>
            <a:r>
              <a:rPr lang="en-US"/>
              <a:t>Mercantilism: mid-16</a:t>
            </a:r>
            <a:r>
              <a:rPr lang="en-US" sz="1900"/>
              <a:t>th</a:t>
            </a:r>
            <a:r>
              <a:rPr lang="en-US"/>
              <a:t> century</a:t>
            </a:r>
          </a:p>
        </p:txBody>
      </p:sp>
      <p:sp>
        <p:nvSpPr>
          <p:cNvPr id="90115" name="Rectangle 3"/>
          <p:cNvSpPr>
            <a:spLocks noGrp="1" noChangeArrowheads="1"/>
          </p:cNvSpPr>
          <p:nvPr>
            <p:ph type="body" idx="1"/>
          </p:nvPr>
        </p:nvSpPr>
        <p:spPr>
          <a:xfrm>
            <a:off x="609600" y="1600200"/>
            <a:ext cx="7772400" cy="4343400"/>
          </a:xfrm>
          <a:solidFill>
            <a:srgbClr val="EAEAEA"/>
          </a:solidFill>
          <a:ln/>
        </p:spPr>
        <p:txBody>
          <a:bodyPr lIns="90488" tIns="44450" rIns="90488" bIns="44450"/>
          <a:lstStyle/>
          <a:p>
            <a:r>
              <a:rPr lang="en-US" sz="2300">
                <a:solidFill>
                  <a:srgbClr val="003399"/>
                </a:solidFill>
              </a:rPr>
              <a:t>A nation’s wealth depends on accumulated treasure</a:t>
            </a:r>
          </a:p>
          <a:p>
            <a:r>
              <a:rPr lang="en-US" sz="2300">
                <a:solidFill>
                  <a:srgbClr val="003399"/>
                </a:solidFill>
              </a:rPr>
              <a:t>Gold and silver are the currency                              of trade.</a:t>
            </a:r>
          </a:p>
          <a:p>
            <a:r>
              <a:rPr lang="en-US" sz="2300">
                <a:solidFill>
                  <a:srgbClr val="003399"/>
                </a:solidFill>
              </a:rPr>
              <a:t>Theory says you should have                                      a trade surplus. </a:t>
            </a:r>
          </a:p>
          <a:p>
            <a:pPr lvl="1"/>
            <a:r>
              <a:rPr lang="en-US" sz="2300" u="sng">
                <a:solidFill>
                  <a:srgbClr val="003399"/>
                </a:solidFill>
              </a:rPr>
              <a:t>Maximize</a:t>
            </a:r>
            <a:r>
              <a:rPr lang="en-US" sz="2300">
                <a:solidFill>
                  <a:srgbClr val="003399"/>
                </a:solidFill>
              </a:rPr>
              <a:t> exports                                       through subsidies.</a:t>
            </a:r>
          </a:p>
          <a:p>
            <a:pPr lvl="1"/>
            <a:r>
              <a:rPr lang="en-US" sz="2300" u="sng">
                <a:solidFill>
                  <a:srgbClr val="003399"/>
                </a:solidFill>
              </a:rPr>
              <a:t>Minimize</a:t>
            </a:r>
            <a:r>
              <a:rPr lang="en-US" sz="2300">
                <a:solidFill>
                  <a:srgbClr val="003399"/>
                </a:solidFill>
              </a:rPr>
              <a:t> imports through</a:t>
            </a:r>
            <a:r>
              <a:rPr lang="en-US" sz="2600">
                <a:solidFill>
                  <a:srgbClr val="003399"/>
                </a:solidFill>
              </a:rPr>
              <a:t> </a:t>
            </a:r>
            <a:r>
              <a:rPr lang="en-US" sz="2300">
                <a:solidFill>
                  <a:srgbClr val="003399"/>
                </a:solidFill>
              </a:rPr>
              <a:t>tariffs                         and quotas.</a:t>
            </a:r>
          </a:p>
          <a:p>
            <a:r>
              <a:rPr lang="en-US" sz="2300">
                <a:solidFill>
                  <a:srgbClr val="003399"/>
                </a:solidFill>
              </a:rPr>
              <a:t>Flaw: “zero-sum game”.</a:t>
            </a:r>
          </a:p>
        </p:txBody>
      </p:sp>
      <p:sp>
        <p:nvSpPr>
          <p:cNvPr id="90117" name="Text Box 5"/>
          <p:cNvSpPr txBox="1">
            <a:spLocks noChangeArrowheads="1"/>
          </p:cNvSpPr>
          <p:nvPr/>
        </p:nvSpPr>
        <p:spPr bwMode="auto">
          <a:xfrm>
            <a:off x="8305800" y="152400"/>
            <a:ext cx="609600" cy="290513"/>
          </a:xfrm>
          <a:prstGeom prst="rect">
            <a:avLst/>
          </a:prstGeom>
          <a:noFill/>
          <a:ln w="9525">
            <a:noFill/>
            <a:miter lim="800000"/>
            <a:headEnd/>
            <a:tailEnd/>
          </a:ln>
          <a:effectLst/>
        </p:spPr>
        <p:txBody>
          <a:bodyPr>
            <a:spAutoFit/>
          </a:bodyPr>
          <a:lstStyle/>
          <a:p>
            <a:pPr>
              <a:spcBef>
                <a:spcPct val="50000"/>
              </a:spcBef>
            </a:pPr>
            <a:r>
              <a:rPr lang="en-US" sz="1300">
                <a:solidFill>
                  <a:schemeClr val="bg1"/>
                </a:solidFill>
              </a:rPr>
              <a:t>4-8</a:t>
            </a:r>
          </a:p>
        </p:txBody>
      </p:sp>
      <p:grpSp>
        <p:nvGrpSpPr>
          <p:cNvPr id="90118" name="Group 6"/>
          <p:cNvGrpSpPr>
            <a:grpSpLocks/>
          </p:cNvGrpSpPr>
          <p:nvPr/>
        </p:nvGrpSpPr>
        <p:grpSpPr bwMode="auto">
          <a:xfrm>
            <a:off x="142875" y="6553200"/>
            <a:ext cx="9001125" cy="280988"/>
            <a:chOff x="90" y="4128"/>
            <a:chExt cx="6102" cy="161"/>
          </a:xfrm>
        </p:grpSpPr>
        <p:sp>
          <p:nvSpPr>
            <p:cNvPr id="90119" name="Rectangle 7"/>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90120" name="Text Box 8"/>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609600" y="457200"/>
            <a:ext cx="7772400" cy="990600"/>
          </a:xfrm>
          <a:ln/>
        </p:spPr>
        <p:txBody>
          <a:bodyPr lIns="90488" tIns="44450" rIns="90488" bIns="44450" anchor="ctr"/>
          <a:lstStyle/>
          <a:p>
            <a:r>
              <a:rPr lang="en-US" sz="2400"/>
              <a:t>Theory of Absolute Advantage</a:t>
            </a:r>
            <a:br>
              <a:rPr lang="en-US" sz="2400"/>
            </a:br>
            <a:r>
              <a:rPr lang="en-US" sz="2400"/>
              <a:t>Adam Smith: </a:t>
            </a:r>
            <a:r>
              <a:rPr lang="en-US" sz="2400" i="1"/>
              <a:t>Wealth of Nations (</a:t>
            </a:r>
            <a:r>
              <a:rPr lang="en-US" sz="2400"/>
              <a:t>1776).</a:t>
            </a:r>
          </a:p>
        </p:txBody>
      </p:sp>
      <p:sp>
        <p:nvSpPr>
          <p:cNvPr id="48131" name="Rectangle 3"/>
          <p:cNvSpPr>
            <a:spLocks noGrp="1" noChangeArrowheads="1"/>
          </p:cNvSpPr>
          <p:nvPr>
            <p:ph type="body" idx="1"/>
          </p:nvPr>
        </p:nvSpPr>
        <p:spPr>
          <a:xfrm>
            <a:off x="381000" y="1828800"/>
            <a:ext cx="8382000" cy="4267200"/>
          </a:xfrm>
          <a:solidFill>
            <a:srgbClr val="EAEAEA"/>
          </a:solidFill>
          <a:ln/>
        </p:spPr>
        <p:txBody>
          <a:bodyPr lIns="90488" tIns="44450" rIns="90488" bIns="44450"/>
          <a:lstStyle/>
          <a:p>
            <a:r>
              <a:rPr lang="en-US">
                <a:solidFill>
                  <a:srgbClr val="003399"/>
                </a:solidFill>
              </a:rPr>
              <a:t>Capability of one country to produce </a:t>
            </a:r>
            <a:r>
              <a:rPr lang="en-US" b="1">
                <a:solidFill>
                  <a:srgbClr val="CC0099"/>
                </a:solidFill>
              </a:rPr>
              <a:t>more </a:t>
            </a:r>
            <a:r>
              <a:rPr lang="en-US">
                <a:solidFill>
                  <a:srgbClr val="003399"/>
                </a:solidFill>
              </a:rPr>
              <a:t>of a product with the </a:t>
            </a:r>
            <a:r>
              <a:rPr lang="en-US">
                <a:solidFill>
                  <a:srgbClr val="CC0099"/>
                </a:solidFill>
              </a:rPr>
              <a:t>same amount of input</a:t>
            </a:r>
            <a:r>
              <a:rPr lang="en-US">
                <a:solidFill>
                  <a:srgbClr val="003399"/>
                </a:solidFill>
              </a:rPr>
              <a:t> than another country.</a:t>
            </a:r>
          </a:p>
        </p:txBody>
      </p:sp>
      <p:sp>
        <p:nvSpPr>
          <p:cNvPr id="48135" name="Text Box 7"/>
          <p:cNvSpPr txBox="1">
            <a:spLocks noChangeArrowheads="1"/>
          </p:cNvSpPr>
          <p:nvPr/>
        </p:nvSpPr>
        <p:spPr bwMode="auto">
          <a:xfrm>
            <a:off x="8305800" y="152400"/>
            <a:ext cx="609600" cy="304800"/>
          </a:xfrm>
          <a:prstGeom prst="rect">
            <a:avLst/>
          </a:prstGeom>
          <a:noFill/>
          <a:ln w="9525">
            <a:noFill/>
            <a:miter lim="800000"/>
            <a:headEnd/>
            <a:tailEnd/>
          </a:ln>
          <a:effectLst/>
        </p:spPr>
        <p:txBody>
          <a:bodyPr>
            <a:spAutoFit/>
          </a:bodyPr>
          <a:lstStyle/>
          <a:p>
            <a:pPr>
              <a:spcBef>
                <a:spcPct val="50000"/>
              </a:spcBef>
            </a:pPr>
            <a:r>
              <a:rPr lang="en-US" sz="1400">
                <a:solidFill>
                  <a:schemeClr val="bg1"/>
                </a:solidFill>
              </a:rPr>
              <a:t>4-10</a:t>
            </a:r>
          </a:p>
        </p:txBody>
      </p:sp>
      <p:grpSp>
        <p:nvGrpSpPr>
          <p:cNvPr id="48136" name="Group 8"/>
          <p:cNvGrpSpPr>
            <a:grpSpLocks/>
          </p:cNvGrpSpPr>
          <p:nvPr/>
        </p:nvGrpSpPr>
        <p:grpSpPr bwMode="auto">
          <a:xfrm>
            <a:off x="142875" y="6553200"/>
            <a:ext cx="9001125" cy="280988"/>
            <a:chOff x="90" y="4128"/>
            <a:chExt cx="6102" cy="161"/>
          </a:xfrm>
        </p:grpSpPr>
        <p:sp>
          <p:nvSpPr>
            <p:cNvPr id="48137" name="Rectangle 9"/>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48138" name="Text Box 10"/>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a:xfrm>
            <a:off x="609600" y="457200"/>
            <a:ext cx="7772400" cy="990600"/>
          </a:xfrm>
          <a:ln/>
        </p:spPr>
        <p:txBody>
          <a:bodyPr lIns="90488" tIns="44450" rIns="90488" bIns="44450" anchor="ctr"/>
          <a:lstStyle/>
          <a:p>
            <a:r>
              <a:rPr lang="en-US" sz="2400"/>
              <a:t>Theory of Absolute Advantage</a:t>
            </a:r>
            <a:br>
              <a:rPr lang="en-US" sz="2400"/>
            </a:br>
            <a:r>
              <a:rPr lang="en-US" sz="2400"/>
              <a:t>Adam Smith: </a:t>
            </a:r>
            <a:r>
              <a:rPr lang="en-US" sz="2400" i="1"/>
              <a:t>Wealth of Nations (</a:t>
            </a:r>
            <a:r>
              <a:rPr lang="en-US" sz="2400"/>
              <a:t>1776).</a:t>
            </a:r>
          </a:p>
        </p:txBody>
      </p:sp>
      <p:sp>
        <p:nvSpPr>
          <p:cNvPr id="94211" name="Rectangle 3"/>
          <p:cNvSpPr>
            <a:spLocks noGrp="1" noChangeArrowheads="1"/>
          </p:cNvSpPr>
          <p:nvPr>
            <p:ph type="body" idx="1"/>
          </p:nvPr>
        </p:nvSpPr>
        <p:spPr>
          <a:xfrm>
            <a:off x="381000" y="1828800"/>
            <a:ext cx="8382000" cy="4267200"/>
          </a:xfrm>
          <a:solidFill>
            <a:srgbClr val="EAEAEA"/>
          </a:solidFill>
          <a:ln/>
        </p:spPr>
        <p:txBody>
          <a:bodyPr lIns="90488" tIns="44450" rIns="90488" bIns="44450"/>
          <a:lstStyle/>
          <a:p>
            <a:r>
              <a:rPr lang="en-US">
                <a:solidFill>
                  <a:srgbClr val="003399"/>
                </a:solidFill>
              </a:rPr>
              <a:t>Capability of one country to produce </a:t>
            </a:r>
            <a:r>
              <a:rPr lang="en-US" b="1">
                <a:solidFill>
                  <a:srgbClr val="CC0099"/>
                </a:solidFill>
              </a:rPr>
              <a:t>more </a:t>
            </a:r>
            <a:r>
              <a:rPr lang="en-US">
                <a:solidFill>
                  <a:srgbClr val="003399"/>
                </a:solidFill>
              </a:rPr>
              <a:t>of a product with the </a:t>
            </a:r>
            <a:r>
              <a:rPr lang="en-US">
                <a:solidFill>
                  <a:srgbClr val="CC0099"/>
                </a:solidFill>
              </a:rPr>
              <a:t>same amount of input</a:t>
            </a:r>
            <a:r>
              <a:rPr lang="en-US">
                <a:solidFill>
                  <a:srgbClr val="003399"/>
                </a:solidFill>
              </a:rPr>
              <a:t> than another country.</a:t>
            </a:r>
          </a:p>
          <a:p>
            <a:r>
              <a:rPr lang="en-US">
                <a:solidFill>
                  <a:srgbClr val="003399"/>
                </a:solidFill>
              </a:rPr>
              <a:t>Produce only goods where you are </a:t>
            </a:r>
            <a:r>
              <a:rPr lang="en-US" b="1" u="sng">
                <a:solidFill>
                  <a:srgbClr val="CC0099"/>
                </a:solidFill>
              </a:rPr>
              <a:t>most</a:t>
            </a:r>
            <a:r>
              <a:rPr lang="en-US" b="1">
                <a:solidFill>
                  <a:srgbClr val="CC0099"/>
                </a:solidFill>
              </a:rPr>
              <a:t> efficient</a:t>
            </a:r>
            <a:r>
              <a:rPr lang="en-US">
                <a:solidFill>
                  <a:srgbClr val="003399"/>
                </a:solidFill>
              </a:rPr>
              <a:t>,  trade </a:t>
            </a:r>
            <a:r>
              <a:rPr lang="en-US">
                <a:solidFill>
                  <a:schemeClr val="accent1"/>
                </a:solidFill>
              </a:rPr>
              <a:t>for </a:t>
            </a:r>
            <a:r>
              <a:rPr lang="en-US">
                <a:solidFill>
                  <a:srgbClr val="003399"/>
                </a:solidFill>
              </a:rPr>
              <a:t>those where you are not efficient.</a:t>
            </a:r>
          </a:p>
        </p:txBody>
      </p:sp>
      <p:sp>
        <p:nvSpPr>
          <p:cNvPr id="94212" name="Text Box 4"/>
          <p:cNvSpPr txBox="1">
            <a:spLocks noChangeArrowheads="1"/>
          </p:cNvSpPr>
          <p:nvPr/>
        </p:nvSpPr>
        <p:spPr bwMode="auto">
          <a:xfrm>
            <a:off x="8305800" y="152400"/>
            <a:ext cx="609600" cy="304800"/>
          </a:xfrm>
          <a:prstGeom prst="rect">
            <a:avLst/>
          </a:prstGeom>
          <a:noFill/>
          <a:ln w="9525">
            <a:noFill/>
            <a:miter lim="800000"/>
            <a:headEnd/>
            <a:tailEnd/>
          </a:ln>
          <a:effectLst/>
        </p:spPr>
        <p:txBody>
          <a:bodyPr>
            <a:spAutoFit/>
          </a:bodyPr>
          <a:lstStyle/>
          <a:p>
            <a:pPr>
              <a:spcBef>
                <a:spcPct val="50000"/>
              </a:spcBef>
            </a:pPr>
            <a:r>
              <a:rPr lang="en-US" sz="1400">
                <a:solidFill>
                  <a:schemeClr val="bg1"/>
                </a:solidFill>
              </a:rPr>
              <a:t>4-10</a:t>
            </a:r>
          </a:p>
        </p:txBody>
      </p:sp>
      <p:grpSp>
        <p:nvGrpSpPr>
          <p:cNvPr id="94213" name="Group 5"/>
          <p:cNvGrpSpPr>
            <a:grpSpLocks/>
          </p:cNvGrpSpPr>
          <p:nvPr/>
        </p:nvGrpSpPr>
        <p:grpSpPr bwMode="auto">
          <a:xfrm>
            <a:off x="142875" y="6553200"/>
            <a:ext cx="9001125" cy="280988"/>
            <a:chOff x="90" y="4128"/>
            <a:chExt cx="6102" cy="161"/>
          </a:xfrm>
        </p:grpSpPr>
        <p:sp>
          <p:nvSpPr>
            <p:cNvPr id="94214" name="Rectangle 6"/>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94215" name="Text Box 7"/>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a:xfrm>
            <a:off x="609600" y="457200"/>
            <a:ext cx="7772400" cy="990600"/>
          </a:xfrm>
          <a:ln/>
        </p:spPr>
        <p:txBody>
          <a:bodyPr lIns="90488" tIns="44450" rIns="90488" bIns="44450" anchor="ctr"/>
          <a:lstStyle/>
          <a:p>
            <a:r>
              <a:rPr lang="en-US" sz="2400"/>
              <a:t>Theory of Absolute Advantage</a:t>
            </a:r>
            <a:br>
              <a:rPr lang="en-US" sz="2400"/>
            </a:br>
            <a:r>
              <a:rPr lang="en-US" sz="2400"/>
              <a:t>Adam Smith: </a:t>
            </a:r>
            <a:r>
              <a:rPr lang="en-US" sz="2400" i="1"/>
              <a:t>Wealth of Nations (</a:t>
            </a:r>
            <a:r>
              <a:rPr lang="en-US" sz="2400"/>
              <a:t>1776).</a:t>
            </a:r>
          </a:p>
        </p:txBody>
      </p:sp>
      <p:sp>
        <p:nvSpPr>
          <p:cNvPr id="95235" name="Rectangle 3"/>
          <p:cNvSpPr>
            <a:spLocks noGrp="1" noChangeArrowheads="1"/>
          </p:cNvSpPr>
          <p:nvPr>
            <p:ph type="body" idx="1"/>
          </p:nvPr>
        </p:nvSpPr>
        <p:spPr>
          <a:xfrm>
            <a:off x="381000" y="1828800"/>
            <a:ext cx="8382000" cy="4267200"/>
          </a:xfrm>
          <a:solidFill>
            <a:srgbClr val="EAEAEA"/>
          </a:solidFill>
          <a:ln/>
        </p:spPr>
        <p:txBody>
          <a:bodyPr lIns="90488" tIns="44450" rIns="90488" bIns="44450"/>
          <a:lstStyle/>
          <a:p>
            <a:r>
              <a:rPr lang="en-US">
                <a:solidFill>
                  <a:srgbClr val="003399"/>
                </a:solidFill>
              </a:rPr>
              <a:t>Capability of one country to produce </a:t>
            </a:r>
            <a:r>
              <a:rPr lang="en-US" b="1">
                <a:solidFill>
                  <a:srgbClr val="CC0099"/>
                </a:solidFill>
              </a:rPr>
              <a:t>more </a:t>
            </a:r>
            <a:r>
              <a:rPr lang="en-US">
                <a:solidFill>
                  <a:srgbClr val="003399"/>
                </a:solidFill>
              </a:rPr>
              <a:t>of a product with the </a:t>
            </a:r>
            <a:r>
              <a:rPr lang="en-US">
                <a:solidFill>
                  <a:srgbClr val="CC0099"/>
                </a:solidFill>
              </a:rPr>
              <a:t>same amount of input</a:t>
            </a:r>
            <a:r>
              <a:rPr lang="en-US">
                <a:solidFill>
                  <a:srgbClr val="003399"/>
                </a:solidFill>
              </a:rPr>
              <a:t> than another country.</a:t>
            </a:r>
          </a:p>
          <a:p>
            <a:r>
              <a:rPr lang="en-US">
                <a:solidFill>
                  <a:srgbClr val="003399"/>
                </a:solidFill>
              </a:rPr>
              <a:t>Produce only goods where you are </a:t>
            </a:r>
            <a:r>
              <a:rPr lang="en-US" b="1" u="sng">
                <a:solidFill>
                  <a:srgbClr val="CC0099"/>
                </a:solidFill>
              </a:rPr>
              <a:t>most</a:t>
            </a:r>
            <a:r>
              <a:rPr lang="en-US" b="1">
                <a:solidFill>
                  <a:srgbClr val="CC0099"/>
                </a:solidFill>
              </a:rPr>
              <a:t> efficient</a:t>
            </a:r>
            <a:r>
              <a:rPr lang="en-US">
                <a:solidFill>
                  <a:srgbClr val="003399"/>
                </a:solidFill>
              </a:rPr>
              <a:t>,  trade </a:t>
            </a:r>
            <a:r>
              <a:rPr lang="en-US">
                <a:solidFill>
                  <a:schemeClr val="accent1"/>
                </a:solidFill>
              </a:rPr>
              <a:t>for </a:t>
            </a:r>
            <a:r>
              <a:rPr lang="en-US">
                <a:solidFill>
                  <a:srgbClr val="003399"/>
                </a:solidFill>
              </a:rPr>
              <a:t>those where you are not efficient.</a:t>
            </a:r>
          </a:p>
          <a:p>
            <a:r>
              <a:rPr lang="en-US">
                <a:solidFill>
                  <a:srgbClr val="003399"/>
                </a:solidFill>
              </a:rPr>
              <a:t>Assumes there is an</a:t>
            </a:r>
            <a:r>
              <a:rPr lang="en-US"/>
              <a:t>                                                         </a:t>
            </a:r>
            <a:r>
              <a:rPr lang="en-US" i="1">
                <a:solidFill>
                  <a:schemeClr val="hlink"/>
                </a:solidFill>
              </a:rPr>
              <a:t>absolute advantage</a:t>
            </a:r>
            <a:r>
              <a:rPr lang="en-US" i="1"/>
              <a:t> </a:t>
            </a:r>
            <a:r>
              <a:rPr lang="en-US">
                <a:solidFill>
                  <a:srgbClr val="003399"/>
                </a:solidFill>
              </a:rPr>
              <a:t>balance among</a:t>
            </a:r>
            <a:r>
              <a:rPr lang="en-US"/>
              <a:t> </a:t>
            </a:r>
            <a:r>
              <a:rPr lang="en-US">
                <a:solidFill>
                  <a:srgbClr val="003399"/>
                </a:solidFill>
              </a:rPr>
              <a:t>nations, e.g., Ghana/cocoa.</a:t>
            </a:r>
          </a:p>
        </p:txBody>
      </p:sp>
      <p:sp>
        <p:nvSpPr>
          <p:cNvPr id="95236" name="Text Box 4"/>
          <p:cNvSpPr txBox="1">
            <a:spLocks noChangeArrowheads="1"/>
          </p:cNvSpPr>
          <p:nvPr/>
        </p:nvSpPr>
        <p:spPr bwMode="auto">
          <a:xfrm>
            <a:off x="8305800" y="152400"/>
            <a:ext cx="609600" cy="304800"/>
          </a:xfrm>
          <a:prstGeom prst="rect">
            <a:avLst/>
          </a:prstGeom>
          <a:noFill/>
          <a:ln w="9525">
            <a:noFill/>
            <a:miter lim="800000"/>
            <a:headEnd/>
            <a:tailEnd/>
          </a:ln>
          <a:effectLst/>
        </p:spPr>
        <p:txBody>
          <a:bodyPr>
            <a:spAutoFit/>
          </a:bodyPr>
          <a:lstStyle/>
          <a:p>
            <a:pPr>
              <a:spcBef>
                <a:spcPct val="50000"/>
              </a:spcBef>
            </a:pPr>
            <a:r>
              <a:rPr lang="en-US" sz="1400">
                <a:solidFill>
                  <a:schemeClr val="bg1"/>
                </a:solidFill>
              </a:rPr>
              <a:t>4-10</a:t>
            </a:r>
          </a:p>
        </p:txBody>
      </p:sp>
      <p:grpSp>
        <p:nvGrpSpPr>
          <p:cNvPr id="95237" name="Group 5"/>
          <p:cNvGrpSpPr>
            <a:grpSpLocks/>
          </p:cNvGrpSpPr>
          <p:nvPr/>
        </p:nvGrpSpPr>
        <p:grpSpPr bwMode="auto">
          <a:xfrm>
            <a:off x="142875" y="6553200"/>
            <a:ext cx="9001125" cy="280988"/>
            <a:chOff x="90" y="4128"/>
            <a:chExt cx="6102" cy="161"/>
          </a:xfrm>
        </p:grpSpPr>
        <p:sp>
          <p:nvSpPr>
            <p:cNvPr id="95238" name="Rectangle 6"/>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95239" name="Text Box 7"/>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609600" y="533400"/>
            <a:ext cx="8305800" cy="709613"/>
          </a:xfrm>
          <a:ln/>
        </p:spPr>
        <p:txBody>
          <a:bodyPr/>
          <a:lstStyle/>
          <a:p>
            <a:r>
              <a:rPr lang="en-US"/>
              <a:t>The Theory of Absolute Advantage</a:t>
            </a:r>
          </a:p>
        </p:txBody>
      </p:sp>
      <p:sp>
        <p:nvSpPr>
          <p:cNvPr id="49158" name="Line 6"/>
          <p:cNvSpPr>
            <a:spLocks noChangeShapeType="1"/>
          </p:cNvSpPr>
          <p:nvPr/>
        </p:nvSpPr>
        <p:spPr bwMode="auto">
          <a:xfrm flipV="1">
            <a:off x="4495800" y="5194300"/>
            <a:ext cx="0" cy="457200"/>
          </a:xfrm>
          <a:prstGeom prst="line">
            <a:avLst/>
          </a:prstGeom>
          <a:noFill/>
          <a:ln w="38100">
            <a:solidFill>
              <a:srgbClr val="99FFCC"/>
            </a:solidFill>
            <a:prstDash val="sysDot"/>
            <a:round/>
            <a:headEnd/>
            <a:tailEnd/>
          </a:ln>
          <a:effectLst/>
        </p:spPr>
        <p:txBody>
          <a:bodyPr wrap="none" anchor="ctr"/>
          <a:lstStyle/>
          <a:p>
            <a:endParaRPr lang="en-US"/>
          </a:p>
        </p:txBody>
      </p:sp>
      <p:sp>
        <p:nvSpPr>
          <p:cNvPr id="49162" name="Text Box 10"/>
          <p:cNvSpPr txBox="1">
            <a:spLocks noChangeArrowheads="1"/>
          </p:cNvSpPr>
          <p:nvPr/>
        </p:nvSpPr>
        <p:spPr bwMode="auto">
          <a:xfrm>
            <a:off x="4114800" y="5956300"/>
            <a:ext cx="1676400" cy="427038"/>
          </a:xfrm>
          <a:prstGeom prst="rect">
            <a:avLst/>
          </a:prstGeom>
          <a:noFill/>
          <a:ln w="9525">
            <a:noFill/>
            <a:miter lim="800000"/>
            <a:headEnd/>
            <a:tailEnd/>
          </a:ln>
          <a:effectLst/>
        </p:spPr>
        <p:txBody>
          <a:bodyPr>
            <a:spAutoFit/>
          </a:bodyPr>
          <a:lstStyle/>
          <a:p>
            <a:pPr eaLnBrk="0" hangingPunct="0">
              <a:spcBef>
                <a:spcPct val="50000"/>
              </a:spcBef>
            </a:pPr>
            <a:r>
              <a:rPr lang="en-US" sz="2200">
                <a:solidFill>
                  <a:srgbClr val="FFFF00"/>
                </a:solidFill>
              </a:rPr>
              <a:t>Rice</a:t>
            </a:r>
            <a:endParaRPr lang="en-US" sz="2200"/>
          </a:p>
        </p:txBody>
      </p:sp>
      <p:sp>
        <p:nvSpPr>
          <p:cNvPr id="49174" name="Text Box 22"/>
          <p:cNvSpPr txBox="1">
            <a:spLocks noChangeArrowheads="1"/>
          </p:cNvSpPr>
          <p:nvPr/>
        </p:nvSpPr>
        <p:spPr bwMode="auto">
          <a:xfrm rot="-5400000">
            <a:off x="563562" y="3487738"/>
            <a:ext cx="1281113" cy="427038"/>
          </a:xfrm>
          <a:prstGeom prst="rect">
            <a:avLst/>
          </a:prstGeom>
          <a:noFill/>
          <a:ln w="9525">
            <a:noFill/>
            <a:miter lim="800000"/>
            <a:headEnd/>
            <a:tailEnd/>
          </a:ln>
          <a:effectLst/>
        </p:spPr>
        <p:txBody>
          <a:bodyPr>
            <a:spAutoFit/>
          </a:bodyPr>
          <a:lstStyle/>
          <a:p>
            <a:pPr eaLnBrk="0" hangingPunct="0">
              <a:spcBef>
                <a:spcPct val="50000"/>
              </a:spcBef>
            </a:pPr>
            <a:r>
              <a:rPr lang="en-US" sz="2200">
                <a:solidFill>
                  <a:srgbClr val="FFFF00"/>
                </a:solidFill>
              </a:rPr>
              <a:t>Cocoa</a:t>
            </a:r>
            <a:endParaRPr lang="en-US" sz="2200"/>
          </a:p>
        </p:txBody>
      </p:sp>
      <p:sp>
        <p:nvSpPr>
          <p:cNvPr id="49175" name="Text Box 23"/>
          <p:cNvSpPr txBox="1">
            <a:spLocks noChangeArrowheads="1"/>
          </p:cNvSpPr>
          <p:nvPr/>
        </p:nvSpPr>
        <p:spPr bwMode="auto">
          <a:xfrm>
            <a:off x="6248400" y="4191000"/>
            <a:ext cx="1828800" cy="396875"/>
          </a:xfrm>
          <a:prstGeom prst="rect">
            <a:avLst/>
          </a:prstGeom>
          <a:noFill/>
          <a:ln w="9525">
            <a:noFill/>
            <a:miter lim="800000"/>
            <a:headEnd/>
            <a:tailEnd/>
          </a:ln>
          <a:effectLst/>
        </p:spPr>
        <p:txBody>
          <a:bodyPr>
            <a:spAutoFit/>
          </a:bodyPr>
          <a:lstStyle/>
          <a:p>
            <a:pPr eaLnBrk="0" hangingPunct="0">
              <a:spcBef>
                <a:spcPct val="50000"/>
              </a:spcBef>
            </a:pPr>
            <a:r>
              <a:rPr lang="en-US" sz="2000">
                <a:solidFill>
                  <a:schemeClr val="bg1"/>
                </a:solidFill>
              </a:rPr>
              <a:t>Figure 4.1</a:t>
            </a:r>
          </a:p>
        </p:txBody>
      </p:sp>
      <p:grpSp>
        <p:nvGrpSpPr>
          <p:cNvPr id="49177" name="Group 25"/>
          <p:cNvGrpSpPr>
            <a:grpSpLocks/>
          </p:cNvGrpSpPr>
          <p:nvPr/>
        </p:nvGrpSpPr>
        <p:grpSpPr bwMode="auto">
          <a:xfrm>
            <a:off x="1752600" y="304800"/>
            <a:ext cx="6248400" cy="5819775"/>
            <a:chOff x="960" y="144"/>
            <a:chExt cx="3936" cy="3666"/>
          </a:xfrm>
        </p:grpSpPr>
        <p:sp>
          <p:nvSpPr>
            <p:cNvPr id="49155" name="Line 3"/>
            <p:cNvSpPr>
              <a:spLocks noChangeShapeType="1"/>
            </p:cNvSpPr>
            <p:nvPr/>
          </p:nvSpPr>
          <p:spPr bwMode="auto">
            <a:xfrm>
              <a:off x="1200" y="1008"/>
              <a:ext cx="0" cy="2544"/>
            </a:xfrm>
            <a:prstGeom prst="line">
              <a:avLst/>
            </a:prstGeom>
            <a:noFill/>
            <a:ln w="38100">
              <a:solidFill>
                <a:srgbClr val="FFFF00"/>
              </a:solidFill>
              <a:round/>
              <a:headEnd/>
              <a:tailEnd/>
            </a:ln>
            <a:effectLst/>
            <a:scene3d>
              <a:camera prst="legacyObliqueTopRight"/>
              <a:lightRig rig="legacyFlat3" dir="b"/>
            </a:scene3d>
            <a:sp3d extrusionH="430200" prstMaterial="legacyPlastic">
              <a:bevelT w="13500" h="13500" prst="angle"/>
              <a:bevelB w="13500" h="13500" prst="angle"/>
              <a:extrusionClr>
                <a:srgbClr val="FFFF00"/>
              </a:extrusionClr>
            </a:sp3d>
          </p:spPr>
          <p:txBody>
            <a:bodyPr wrap="none" anchor="ctr">
              <a:flatTx/>
            </a:bodyPr>
            <a:lstStyle/>
            <a:p>
              <a:endParaRPr lang="en-US"/>
            </a:p>
          </p:txBody>
        </p:sp>
        <p:sp>
          <p:nvSpPr>
            <p:cNvPr id="49160" name="Text Box 8"/>
            <p:cNvSpPr txBox="1">
              <a:spLocks noChangeArrowheads="1"/>
            </p:cNvSpPr>
            <p:nvPr/>
          </p:nvSpPr>
          <p:spPr bwMode="auto">
            <a:xfrm>
              <a:off x="2880" y="3264"/>
              <a:ext cx="336" cy="250"/>
            </a:xfrm>
            <a:prstGeom prst="rect">
              <a:avLst/>
            </a:prstGeom>
            <a:noFill/>
            <a:ln w="9525">
              <a:noFill/>
              <a:miter lim="800000"/>
              <a:headEnd/>
              <a:tailEnd/>
            </a:ln>
            <a:effectLst/>
          </p:spPr>
          <p:txBody>
            <a:bodyPr>
              <a:spAutoFit/>
            </a:bodyPr>
            <a:lstStyle/>
            <a:p>
              <a:pPr eaLnBrk="0" hangingPunct="0">
                <a:spcBef>
                  <a:spcPct val="50000"/>
                </a:spcBef>
              </a:pPr>
              <a:r>
                <a:rPr lang="en-US" sz="2000">
                  <a:solidFill>
                    <a:schemeClr val="bg1"/>
                  </a:solidFill>
                </a:rPr>
                <a:t>G’</a:t>
              </a:r>
            </a:p>
          </p:txBody>
        </p:sp>
        <p:sp>
          <p:nvSpPr>
            <p:cNvPr id="49161" name="Line 9"/>
            <p:cNvSpPr>
              <a:spLocks noChangeShapeType="1"/>
            </p:cNvSpPr>
            <p:nvPr/>
          </p:nvSpPr>
          <p:spPr bwMode="auto">
            <a:xfrm>
              <a:off x="1200" y="3560"/>
              <a:ext cx="3456" cy="0"/>
            </a:xfrm>
            <a:prstGeom prst="line">
              <a:avLst/>
            </a:prstGeom>
            <a:noFill/>
            <a:ln w="38100">
              <a:solidFill>
                <a:srgbClr val="FFFF00"/>
              </a:solidFill>
              <a:round/>
              <a:headEnd/>
              <a:tailEnd/>
            </a:ln>
            <a:effectLst/>
            <a:scene3d>
              <a:camera prst="legacyObliqueTopRight"/>
              <a:lightRig rig="legacyFlat3" dir="b"/>
            </a:scene3d>
            <a:sp3d extrusionH="430200" prstMaterial="legacyPlastic">
              <a:bevelT w="13500" h="13500" prst="angle"/>
              <a:bevelB w="13500" h="13500" prst="angle"/>
              <a:extrusionClr>
                <a:srgbClr val="FFFF00"/>
              </a:extrusionClr>
            </a:sp3d>
          </p:spPr>
          <p:txBody>
            <a:bodyPr wrap="none" anchor="ctr">
              <a:flatTx/>
            </a:bodyPr>
            <a:lstStyle/>
            <a:p>
              <a:endParaRPr lang="en-US"/>
            </a:p>
          </p:txBody>
        </p:sp>
        <p:sp>
          <p:nvSpPr>
            <p:cNvPr id="49163" name="Line 11"/>
            <p:cNvSpPr>
              <a:spLocks noChangeShapeType="1"/>
            </p:cNvSpPr>
            <p:nvPr/>
          </p:nvSpPr>
          <p:spPr bwMode="auto">
            <a:xfrm>
              <a:off x="1200" y="1160"/>
              <a:ext cx="1584" cy="2400"/>
            </a:xfrm>
            <a:prstGeom prst="line">
              <a:avLst/>
            </a:prstGeom>
            <a:noFill/>
            <a:ln w="38100">
              <a:solidFill>
                <a:srgbClr val="66FF66"/>
              </a:solidFill>
              <a:round/>
              <a:headEnd/>
              <a:tailEnd/>
            </a:ln>
            <a:effectLst/>
            <a:scene3d>
              <a:camera prst="legacyObliqueTopRight"/>
              <a:lightRig rig="legacyFlat3" dir="b"/>
            </a:scene3d>
            <a:sp3d extrusionH="430200" prstMaterial="legacyPlastic">
              <a:bevelT w="13500" h="13500" prst="angle"/>
              <a:bevelB w="13500" h="13500" prst="angle"/>
              <a:extrusionClr>
                <a:srgbClr val="66FF66"/>
              </a:extrusionClr>
            </a:sp3d>
          </p:spPr>
          <p:txBody>
            <a:bodyPr wrap="none" anchor="ctr">
              <a:flatTx/>
            </a:bodyPr>
            <a:lstStyle/>
            <a:p>
              <a:endParaRPr lang="en-US"/>
            </a:p>
          </p:txBody>
        </p:sp>
        <p:sp>
          <p:nvSpPr>
            <p:cNvPr id="49164" name="Text Box 12"/>
            <p:cNvSpPr txBox="1">
              <a:spLocks noChangeArrowheads="1"/>
            </p:cNvSpPr>
            <p:nvPr/>
          </p:nvSpPr>
          <p:spPr bwMode="auto">
            <a:xfrm>
              <a:off x="1152" y="3560"/>
              <a:ext cx="3600" cy="250"/>
            </a:xfrm>
            <a:prstGeom prst="rect">
              <a:avLst/>
            </a:prstGeom>
            <a:noFill/>
            <a:ln w="9525">
              <a:noFill/>
              <a:miter lim="800000"/>
              <a:headEnd/>
              <a:tailEnd/>
            </a:ln>
            <a:effectLst/>
          </p:spPr>
          <p:txBody>
            <a:bodyPr>
              <a:spAutoFit/>
            </a:bodyPr>
            <a:lstStyle/>
            <a:p>
              <a:pPr eaLnBrk="0" hangingPunct="0">
                <a:spcBef>
                  <a:spcPct val="50000"/>
                </a:spcBef>
              </a:pPr>
              <a:r>
                <a:rPr lang="en-US" sz="2000">
                  <a:solidFill>
                    <a:srgbClr val="FFFF00"/>
                  </a:solidFill>
                </a:rPr>
                <a:t>0              5              10              15              20</a:t>
              </a:r>
            </a:p>
          </p:txBody>
        </p:sp>
        <p:sp>
          <p:nvSpPr>
            <p:cNvPr id="49165" name="Text Box 13"/>
            <p:cNvSpPr txBox="1">
              <a:spLocks noChangeArrowheads="1"/>
            </p:cNvSpPr>
            <p:nvPr/>
          </p:nvSpPr>
          <p:spPr bwMode="auto">
            <a:xfrm rot="-5400000">
              <a:off x="-715" y="1819"/>
              <a:ext cx="3600" cy="250"/>
            </a:xfrm>
            <a:prstGeom prst="rect">
              <a:avLst/>
            </a:prstGeom>
            <a:noFill/>
            <a:ln w="9525">
              <a:noFill/>
              <a:miter lim="800000"/>
              <a:headEnd/>
              <a:tailEnd/>
            </a:ln>
            <a:effectLst/>
          </p:spPr>
          <p:txBody>
            <a:bodyPr>
              <a:spAutoFit/>
            </a:bodyPr>
            <a:lstStyle/>
            <a:p>
              <a:pPr eaLnBrk="0" hangingPunct="0">
                <a:spcBef>
                  <a:spcPct val="50000"/>
                </a:spcBef>
              </a:pPr>
              <a:r>
                <a:rPr lang="en-US" sz="2000">
                  <a:solidFill>
                    <a:srgbClr val="FFFF00"/>
                  </a:solidFill>
                </a:rPr>
                <a:t>            5          10          15          20</a:t>
              </a:r>
            </a:p>
          </p:txBody>
        </p:sp>
        <p:sp>
          <p:nvSpPr>
            <p:cNvPr id="49166" name="Line 14"/>
            <p:cNvSpPr>
              <a:spLocks noChangeShapeType="1"/>
            </p:cNvSpPr>
            <p:nvPr/>
          </p:nvSpPr>
          <p:spPr bwMode="auto">
            <a:xfrm>
              <a:off x="1200" y="2408"/>
              <a:ext cx="816" cy="0"/>
            </a:xfrm>
            <a:prstGeom prst="line">
              <a:avLst/>
            </a:prstGeom>
            <a:noFill/>
            <a:ln w="38100">
              <a:solidFill>
                <a:srgbClr val="99FFCC"/>
              </a:solidFill>
              <a:prstDash val="sysDot"/>
              <a:round/>
              <a:headEnd/>
              <a:tailEnd/>
            </a:ln>
            <a:effectLst/>
          </p:spPr>
          <p:txBody>
            <a:bodyPr wrap="none" anchor="ctr"/>
            <a:lstStyle/>
            <a:p>
              <a:endParaRPr lang="en-US"/>
            </a:p>
          </p:txBody>
        </p:sp>
        <p:sp>
          <p:nvSpPr>
            <p:cNvPr id="49167" name="Line 15"/>
            <p:cNvSpPr>
              <a:spLocks noChangeShapeType="1"/>
            </p:cNvSpPr>
            <p:nvPr/>
          </p:nvSpPr>
          <p:spPr bwMode="auto">
            <a:xfrm flipV="1">
              <a:off x="2016" y="2408"/>
              <a:ext cx="0" cy="1152"/>
            </a:xfrm>
            <a:prstGeom prst="line">
              <a:avLst/>
            </a:prstGeom>
            <a:noFill/>
            <a:ln w="38100">
              <a:solidFill>
                <a:srgbClr val="99FFCC"/>
              </a:solidFill>
              <a:prstDash val="sysDot"/>
              <a:round/>
              <a:headEnd/>
              <a:tailEnd/>
            </a:ln>
            <a:effectLst/>
          </p:spPr>
          <p:txBody>
            <a:bodyPr wrap="none" anchor="ctr"/>
            <a:lstStyle/>
            <a:p>
              <a:endParaRPr lang="en-US"/>
            </a:p>
          </p:txBody>
        </p:sp>
        <p:sp>
          <p:nvSpPr>
            <p:cNvPr id="49168" name="Line 16"/>
            <p:cNvSpPr>
              <a:spLocks noChangeShapeType="1"/>
            </p:cNvSpPr>
            <p:nvPr/>
          </p:nvSpPr>
          <p:spPr bwMode="auto">
            <a:xfrm>
              <a:off x="1200" y="3272"/>
              <a:ext cx="1632" cy="0"/>
            </a:xfrm>
            <a:prstGeom prst="line">
              <a:avLst/>
            </a:prstGeom>
            <a:noFill/>
            <a:ln w="38100">
              <a:solidFill>
                <a:srgbClr val="99FFCC"/>
              </a:solidFill>
              <a:prstDash val="sysDot"/>
              <a:round/>
              <a:headEnd/>
              <a:tailEnd/>
            </a:ln>
            <a:effectLst/>
          </p:spPr>
          <p:txBody>
            <a:bodyPr wrap="none" anchor="ctr"/>
            <a:lstStyle/>
            <a:p>
              <a:endParaRPr lang="en-US"/>
            </a:p>
          </p:txBody>
        </p:sp>
        <p:sp>
          <p:nvSpPr>
            <p:cNvPr id="49169" name="Text Box 17"/>
            <p:cNvSpPr txBox="1">
              <a:spLocks noChangeArrowheads="1"/>
            </p:cNvSpPr>
            <p:nvPr/>
          </p:nvSpPr>
          <p:spPr bwMode="auto">
            <a:xfrm>
              <a:off x="2064" y="2216"/>
              <a:ext cx="240" cy="250"/>
            </a:xfrm>
            <a:prstGeom prst="rect">
              <a:avLst/>
            </a:prstGeom>
            <a:noFill/>
            <a:ln w="9525">
              <a:noFill/>
              <a:miter lim="800000"/>
              <a:headEnd/>
              <a:tailEnd/>
            </a:ln>
            <a:effectLst/>
          </p:spPr>
          <p:txBody>
            <a:bodyPr>
              <a:spAutoFit/>
            </a:bodyPr>
            <a:lstStyle/>
            <a:p>
              <a:pPr eaLnBrk="0" hangingPunct="0">
                <a:spcBef>
                  <a:spcPct val="50000"/>
                </a:spcBef>
              </a:pPr>
              <a:r>
                <a:rPr lang="en-US" sz="2000">
                  <a:solidFill>
                    <a:schemeClr val="bg1"/>
                  </a:solidFill>
                </a:rPr>
                <a:t>A</a:t>
              </a:r>
            </a:p>
          </p:txBody>
        </p:sp>
        <p:sp>
          <p:nvSpPr>
            <p:cNvPr id="49170" name="Text Box 18"/>
            <p:cNvSpPr txBox="1">
              <a:spLocks noChangeArrowheads="1"/>
            </p:cNvSpPr>
            <p:nvPr/>
          </p:nvSpPr>
          <p:spPr bwMode="auto">
            <a:xfrm>
              <a:off x="2688" y="2928"/>
              <a:ext cx="240" cy="250"/>
            </a:xfrm>
            <a:prstGeom prst="rect">
              <a:avLst/>
            </a:prstGeom>
            <a:noFill/>
            <a:ln w="9525">
              <a:noFill/>
              <a:miter lim="800000"/>
              <a:headEnd/>
              <a:tailEnd/>
            </a:ln>
            <a:effectLst/>
          </p:spPr>
          <p:txBody>
            <a:bodyPr>
              <a:spAutoFit/>
            </a:bodyPr>
            <a:lstStyle/>
            <a:p>
              <a:pPr eaLnBrk="0" hangingPunct="0">
                <a:spcBef>
                  <a:spcPct val="50000"/>
                </a:spcBef>
              </a:pPr>
              <a:r>
                <a:rPr lang="en-US" sz="2000">
                  <a:solidFill>
                    <a:schemeClr val="bg1"/>
                  </a:solidFill>
                </a:rPr>
                <a:t>B</a:t>
              </a:r>
            </a:p>
          </p:txBody>
        </p:sp>
        <p:sp>
          <p:nvSpPr>
            <p:cNvPr id="49171" name="Text Box 19"/>
            <p:cNvSpPr txBox="1">
              <a:spLocks noChangeArrowheads="1"/>
            </p:cNvSpPr>
            <p:nvPr/>
          </p:nvSpPr>
          <p:spPr bwMode="auto">
            <a:xfrm>
              <a:off x="1296" y="2784"/>
              <a:ext cx="240" cy="250"/>
            </a:xfrm>
            <a:prstGeom prst="rect">
              <a:avLst/>
            </a:prstGeom>
            <a:noFill/>
            <a:ln w="9525">
              <a:noFill/>
              <a:miter lim="800000"/>
              <a:headEnd/>
              <a:tailEnd/>
            </a:ln>
            <a:effectLst/>
          </p:spPr>
          <p:txBody>
            <a:bodyPr>
              <a:spAutoFit/>
            </a:bodyPr>
            <a:lstStyle/>
            <a:p>
              <a:pPr eaLnBrk="0" hangingPunct="0">
                <a:spcBef>
                  <a:spcPct val="50000"/>
                </a:spcBef>
              </a:pPr>
              <a:r>
                <a:rPr lang="en-US" sz="2000">
                  <a:solidFill>
                    <a:schemeClr val="bg1"/>
                  </a:solidFill>
                </a:rPr>
                <a:t>K</a:t>
              </a:r>
            </a:p>
          </p:txBody>
        </p:sp>
        <p:sp>
          <p:nvSpPr>
            <p:cNvPr id="49172" name="Text Box 20"/>
            <p:cNvSpPr txBox="1">
              <a:spLocks noChangeArrowheads="1"/>
            </p:cNvSpPr>
            <p:nvPr/>
          </p:nvSpPr>
          <p:spPr bwMode="auto">
            <a:xfrm>
              <a:off x="1296" y="864"/>
              <a:ext cx="240" cy="250"/>
            </a:xfrm>
            <a:prstGeom prst="rect">
              <a:avLst/>
            </a:prstGeom>
            <a:noFill/>
            <a:ln w="9525">
              <a:noFill/>
              <a:miter lim="800000"/>
              <a:headEnd/>
              <a:tailEnd/>
            </a:ln>
            <a:effectLst/>
          </p:spPr>
          <p:txBody>
            <a:bodyPr>
              <a:spAutoFit/>
            </a:bodyPr>
            <a:lstStyle/>
            <a:p>
              <a:pPr eaLnBrk="0" hangingPunct="0">
                <a:spcBef>
                  <a:spcPct val="50000"/>
                </a:spcBef>
              </a:pPr>
              <a:r>
                <a:rPr lang="en-US" sz="2000">
                  <a:solidFill>
                    <a:schemeClr val="bg1"/>
                  </a:solidFill>
                </a:rPr>
                <a:t>G</a:t>
              </a:r>
            </a:p>
          </p:txBody>
        </p:sp>
        <p:sp>
          <p:nvSpPr>
            <p:cNvPr id="49173" name="Text Box 21"/>
            <p:cNvSpPr txBox="1">
              <a:spLocks noChangeArrowheads="1"/>
            </p:cNvSpPr>
            <p:nvPr/>
          </p:nvSpPr>
          <p:spPr bwMode="auto">
            <a:xfrm>
              <a:off x="4560" y="3216"/>
              <a:ext cx="336" cy="250"/>
            </a:xfrm>
            <a:prstGeom prst="rect">
              <a:avLst/>
            </a:prstGeom>
            <a:noFill/>
            <a:ln w="9525">
              <a:noFill/>
              <a:miter lim="800000"/>
              <a:headEnd/>
              <a:tailEnd/>
            </a:ln>
            <a:effectLst/>
          </p:spPr>
          <p:txBody>
            <a:bodyPr>
              <a:spAutoFit/>
            </a:bodyPr>
            <a:lstStyle/>
            <a:p>
              <a:pPr eaLnBrk="0" hangingPunct="0">
                <a:spcBef>
                  <a:spcPct val="50000"/>
                </a:spcBef>
              </a:pPr>
              <a:r>
                <a:rPr lang="en-US" sz="2000">
                  <a:solidFill>
                    <a:schemeClr val="bg1"/>
                  </a:solidFill>
                </a:rPr>
                <a:t>K’</a:t>
              </a:r>
            </a:p>
          </p:txBody>
        </p:sp>
        <p:sp>
          <p:nvSpPr>
            <p:cNvPr id="49156" name="Line 4"/>
            <p:cNvSpPr>
              <a:spLocks noChangeShapeType="1"/>
            </p:cNvSpPr>
            <p:nvPr/>
          </p:nvSpPr>
          <p:spPr bwMode="auto">
            <a:xfrm>
              <a:off x="1200" y="3072"/>
              <a:ext cx="3312" cy="432"/>
            </a:xfrm>
            <a:prstGeom prst="line">
              <a:avLst/>
            </a:prstGeom>
            <a:noFill/>
            <a:ln w="38100">
              <a:solidFill>
                <a:srgbClr val="FF66FF"/>
              </a:solidFill>
              <a:round/>
              <a:headEnd/>
              <a:tailEnd/>
            </a:ln>
            <a:effectLst/>
            <a:scene3d>
              <a:camera prst="legacyObliqueTopRight"/>
              <a:lightRig rig="legacyFlat3" dir="b"/>
            </a:scene3d>
            <a:sp3d extrusionH="430200" prstMaterial="legacyPlastic">
              <a:bevelT w="13500" h="13500" prst="angle"/>
              <a:bevelB w="13500" h="13500" prst="angle"/>
              <a:extrusionClr>
                <a:srgbClr val="FF66FF"/>
              </a:extrusionClr>
            </a:sp3d>
          </p:spPr>
          <p:txBody>
            <a:bodyPr wrap="none" anchor="ctr">
              <a:flatTx/>
            </a:bodyPr>
            <a:lstStyle/>
            <a:p>
              <a:endParaRPr lang="en-US"/>
            </a:p>
          </p:txBody>
        </p:sp>
      </p:gr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a:xfrm>
            <a:off x="838200" y="304800"/>
            <a:ext cx="7696200" cy="1104900"/>
          </a:xfrm>
          <a:ln/>
        </p:spPr>
        <p:txBody>
          <a:bodyPr/>
          <a:lstStyle/>
          <a:p>
            <a:r>
              <a:rPr lang="en-US" sz="3200"/>
              <a:t>The Theory of Absolute Advantage  and the Gains from Trade</a:t>
            </a:r>
          </a:p>
        </p:txBody>
      </p:sp>
      <p:sp>
        <p:nvSpPr>
          <p:cNvPr id="99331" name="Text Box 3"/>
          <p:cNvSpPr txBox="1">
            <a:spLocks noChangeArrowheads="1"/>
          </p:cNvSpPr>
          <p:nvPr/>
        </p:nvSpPr>
        <p:spPr bwMode="auto">
          <a:xfrm>
            <a:off x="1676400" y="2514600"/>
            <a:ext cx="5867400" cy="350838"/>
          </a:xfrm>
          <a:prstGeom prst="rect">
            <a:avLst/>
          </a:prstGeom>
          <a:noFill/>
          <a:ln w="9525">
            <a:noFill/>
            <a:miter lim="800000"/>
            <a:headEnd/>
            <a:tailEnd/>
          </a:ln>
          <a:effectLst/>
        </p:spPr>
        <p:txBody>
          <a:bodyPr>
            <a:spAutoFit/>
          </a:bodyPr>
          <a:lstStyle/>
          <a:p>
            <a:pPr algn="ctr" eaLnBrk="0" hangingPunct="0">
              <a:spcBef>
                <a:spcPct val="50000"/>
              </a:spcBef>
            </a:pPr>
            <a:r>
              <a:rPr lang="en-US" sz="1700" u="sng">
                <a:solidFill>
                  <a:schemeClr val="bg1"/>
                </a:solidFill>
              </a:rPr>
              <a:t>Production and Consumption without Trade</a:t>
            </a:r>
          </a:p>
        </p:txBody>
      </p:sp>
      <p:sp>
        <p:nvSpPr>
          <p:cNvPr id="99332" name="Text Box 4"/>
          <p:cNvSpPr txBox="1">
            <a:spLocks noChangeArrowheads="1"/>
          </p:cNvSpPr>
          <p:nvPr/>
        </p:nvSpPr>
        <p:spPr bwMode="auto">
          <a:xfrm>
            <a:off x="990600" y="2971800"/>
            <a:ext cx="5486400" cy="396875"/>
          </a:xfrm>
          <a:prstGeom prst="rect">
            <a:avLst/>
          </a:prstGeom>
          <a:noFill/>
          <a:ln w="9525">
            <a:noFill/>
            <a:miter lim="800000"/>
            <a:headEnd/>
            <a:tailEnd/>
          </a:ln>
          <a:effectLst/>
        </p:spPr>
        <p:txBody>
          <a:bodyPr>
            <a:spAutoFit/>
          </a:bodyPr>
          <a:lstStyle/>
          <a:p>
            <a:pPr eaLnBrk="0" hangingPunct="0">
              <a:spcBef>
                <a:spcPct val="50000"/>
              </a:spcBef>
            </a:pPr>
            <a:r>
              <a:rPr lang="en-US" sz="2000" b="1">
                <a:solidFill>
                  <a:schemeClr val="bg1"/>
                </a:solidFill>
              </a:rPr>
              <a:t>S. Korea             2.5            10.0</a:t>
            </a:r>
          </a:p>
        </p:txBody>
      </p:sp>
      <p:sp>
        <p:nvSpPr>
          <p:cNvPr id="99333" name="Text Box 5"/>
          <p:cNvSpPr txBox="1">
            <a:spLocks noChangeArrowheads="1"/>
          </p:cNvSpPr>
          <p:nvPr/>
        </p:nvSpPr>
        <p:spPr bwMode="auto">
          <a:xfrm>
            <a:off x="1371600" y="4267200"/>
            <a:ext cx="5486400" cy="396875"/>
          </a:xfrm>
          <a:prstGeom prst="rect">
            <a:avLst/>
          </a:prstGeom>
          <a:noFill/>
          <a:ln w="9525">
            <a:noFill/>
            <a:miter lim="800000"/>
            <a:headEnd/>
            <a:tailEnd/>
          </a:ln>
          <a:effectLst/>
        </p:spPr>
        <p:txBody>
          <a:bodyPr>
            <a:spAutoFit/>
          </a:bodyPr>
          <a:lstStyle/>
          <a:p>
            <a:pPr eaLnBrk="0" hangingPunct="0">
              <a:spcBef>
                <a:spcPct val="50000"/>
              </a:spcBef>
            </a:pPr>
            <a:r>
              <a:rPr lang="en-US" sz="2000">
                <a:solidFill>
                  <a:srgbClr val="99FF33"/>
                </a:solidFill>
              </a:rPr>
              <a:t>Total production    20                  20</a:t>
            </a:r>
          </a:p>
        </p:txBody>
      </p:sp>
      <p:sp>
        <p:nvSpPr>
          <p:cNvPr id="99334" name="Text Box 6"/>
          <p:cNvSpPr txBox="1">
            <a:spLocks noChangeArrowheads="1"/>
          </p:cNvSpPr>
          <p:nvPr/>
        </p:nvSpPr>
        <p:spPr bwMode="auto">
          <a:xfrm>
            <a:off x="914400" y="5105400"/>
            <a:ext cx="5486400" cy="396875"/>
          </a:xfrm>
          <a:prstGeom prst="rect">
            <a:avLst/>
          </a:prstGeom>
          <a:noFill/>
          <a:ln w="9525">
            <a:noFill/>
            <a:miter lim="800000"/>
            <a:headEnd/>
            <a:tailEnd/>
          </a:ln>
          <a:effectLst/>
        </p:spPr>
        <p:txBody>
          <a:bodyPr>
            <a:spAutoFit/>
          </a:bodyPr>
          <a:lstStyle/>
          <a:p>
            <a:pPr eaLnBrk="0" hangingPunct="0">
              <a:spcBef>
                <a:spcPct val="50000"/>
              </a:spcBef>
            </a:pPr>
            <a:r>
              <a:rPr lang="en-US" sz="2000">
                <a:solidFill>
                  <a:srgbClr val="FF99FF"/>
                </a:solidFill>
              </a:rPr>
              <a:t>  </a:t>
            </a:r>
            <a:r>
              <a:rPr lang="en-US" sz="2000" b="1">
                <a:solidFill>
                  <a:schemeClr val="bg1"/>
                </a:solidFill>
              </a:rPr>
              <a:t>S. Korea              6.0           14.0</a:t>
            </a:r>
          </a:p>
        </p:txBody>
      </p:sp>
      <p:grpSp>
        <p:nvGrpSpPr>
          <p:cNvPr id="99335" name="Group 7"/>
          <p:cNvGrpSpPr>
            <a:grpSpLocks/>
          </p:cNvGrpSpPr>
          <p:nvPr/>
        </p:nvGrpSpPr>
        <p:grpSpPr bwMode="auto">
          <a:xfrm>
            <a:off x="914400" y="1447800"/>
            <a:ext cx="7696200" cy="4953000"/>
            <a:chOff x="672" y="816"/>
            <a:chExt cx="4848" cy="3120"/>
          </a:xfrm>
        </p:grpSpPr>
        <p:sp>
          <p:nvSpPr>
            <p:cNvPr id="99336" name="Text Box 8"/>
            <p:cNvSpPr txBox="1">
              <a:spLocks noChangeArrowheads="1"/>
            </p:cNvSpPr>
            <p:nvPr/>
          </p:nvSpPr>
          <p:spPr bwMode="auto">
            <a:xfrm>
              <a:off x="1200" y="816"/>
              <a:ext cx="3696" cy="221"/>
            </a:xfrm>
            <a:prstGeom prst="rect">
              <a:avLst/>
            </a:prstGeom>
            <a:noFill/>
            <a:ln w="9525">
              <a:noFill/>
              <a:miter lim="800000"/>
              <a:headEnd/>
              <a:tailEnd/>
            </a:ln>
            <a:effectLst/>
          </p:spPr>
          <p:txBody>
            <a:bodyPr>
              <a:spAutoFit/>
            </a:bodyPr>
            <a:lstStyle/>
            <a:p>
              <a:pPr algn="ctr" eaLnBrk="0" hangingPunct="0">
                <a:spcBef>
                  <a:spcPct val="50000"/>
                </a:spcBef>
              </a:pPr>
              <a:r>
                <a:rPr lang="en-US" sz="1700" u="sng">
                  <a:solidFill>
                    <a:schemeClr val="bg1"/>
                  </a:solidFill>
                </a:rPr>
                <a:t>Resources Required to Produce 1 Ton of Cocoa and Rice</a:t>
              </a:r>
            </a:p>
          </p:txBody>
        </p:sp>
        <p:sp>
          <p:nvSpPr>
            <p:cNvPr id="99337" name="Text Box 9"/>
            <p:cNvSpPr txBox="1">
              <a:spLocks noChangeArrowheads="1"/>
            </p:cNvSpPr>
            <p:nvPr/>
          </p:nvSpPr>
          <p:spPr bwMode="auto">
            <a:xfrm>
              <a:off x="2304" y="960"/>
              <a:ext cx="2160" cy="231"/>
            </a:xfrm>
            <a:prstGeom prst="rect">
              <a:avLst/>
            </a:prstGeom>
            <a:noFill/>
            <a:ln w="9525">
              <a:noFill/>
              <a:miter lim="800000"/>
              <a:headEnd/>
              <a:tailEnd/>
            </a:ln>
            <a:effectLst/>
          </p:spPr>
          <p:txBody>
            <a:bodyPr>
              <a:spAutoFit/>
            </a:bodyPr>
            <a:lstStyle/>
            <a:p>
              <a:pPr eaLnBrk="0" hangingPunct="0">
                <a:spcBef>
                  <a:spcPct val="50000"/>
                </a:spcBef>
              </a:pPr>
              <a:r>
                <a:rPr lang="en-US" u="sng">
                  <a:solidFill>
                    <a:srgbClr val="33CC33"/>
                  </a:solidFill>
                </a:rPr>
                <a:t>Cocoa</a:t>
              </a:r>
              <a:r>
                <a:rPr lang="en-US">
                  <a:solidFill>
                    <a:srgbClr val="33CC33"/>
                  </a:solidFill>
                </a:rPr>
                <a:t>                </a:t>
              </a:r>
              <a:r>
                <a:rPr lang="en-US" u="sng">
                  <a:solidFill>
                    <a:srgbClr val="33CC33"/>
                  </a:solidFill>
                </a:rPr>
                <a:t>Rice</a:t>
              </a:r>
              <a:endParaRPr lang="en-US">
                <a:solidFill>
                  <a:srgbClr val="33CC33"/>
                </a:solidFill>
              </a:endParaRPr>
            </a:p>
          </p:txBody>
        </p:sp>
        <p:sp>
          <p:nvSpPr>
            <p:cNvPr id="99338" name="Text Box 10"/>
            <p:cNvSpPr txBox="1">
              <a:spLocks noChangeArrowheads="1"/>
            </p:cNvSpPr>
            <p:nvPr/>
          </p:nvSpPr>
          <p:spPr bwMode="auto">
            <a:xfrm>
              <a:off x="768" y="1152"/>
              <a:ext cx="3456" cy="250"/>
            </a:xfrm>
            <a:prstGeom prst="rect">
              <a:avLst/>
            </a:prstGeom>
            <a:noFill/>
            <a:ln w="9525">
              <a:noFill/>
              <a:miter lim="800000"/>
              <a:headEnd/>
              <a:tailEnd/>
            </a:ln>
            <a:effectLst/>
          </p:spPr>
          <p:txBody>
            <a:bodyPr>
              <a:spAutoFit/>
            </a:bodyPr>
            <a:lstStyle/>
            <a:p>
              <a:pPr eaLnBrk="0" hangingPunct="0">
                <a:spcBef>
                  <a:spcPct val="50000"/>
                </a:spcBef>
              </a:pPr>
              <a:r>
                <a:rPr lang="en-US" sz="2000" b="1">
                  <a:solidFill>
                    <a:schemeClr val="bg1"/>
                  </a:solidFill>
                </a:rPr>
                <a:t>Ghana               10             20</a:t>
              </a:r>
            </a:p>
          </p:txBody>
        </p:sp>
        <p:sp>
          <p:nvSpPr>
            <p:cNvPr id="99339" name="Text Box 11"/>
            <p:cNvSpPr txBox="1">
              <a:spLocks noChangeArrowheads="1"/>
            </p:cNvSpPr>
            <p:nvPr/>
          </p:nvSpPr>
          <p:spPr bwMode="auto">
            <a:xfrm>
              <a:off x="768" y="1296"/>
              <a:ext cx="3456" cy="250"/>
            </a:xfrm>
            <a:prstGeom prst="rect">
              <a:avLst/>
            </a:prstGeom>
            <a:noFill/>
            <a:ln w="9525">
              <a:noFill/>
              <a:miter lim="800000"/>
              <a:headEnd/>
              <a:tailEnd/>
            </a:ln>
            <a:effectLst/>
          </p:spPr>
          <p:txBody>
            <a:bodyPr>
              <a:spAutoFit/>
            </a:bodyPr>
            <a:lstStyle/>
            <a:p>
              <a:pPr eaLnBrk="0" hangingPunct="0">
                <a:spcBef>
                  <a:spcPct val="50000"/>
                </a:spcBef>
              </a:pPr>
              <a:r>
                <a:rPr lang="en-US" sz="2000" b="1">
                  <a:solidFill>
                    <a:schemeClr val="bg1"/>
                  </a:solidFill>
                </a:rPr>
                <a:t>S. Korea            40             10</a:t>
              </a:r>
            </a:p>
          </p:txBody>
        </p:sp>
        <p:sp>
          <p:nvSpPr>
            <p:cNvPr id="99340" name="Text Box 12"/>
            <p:cNvSpPr txBox="1">
              <a:spLocks noChangeArrowheads="1"/>
            </p:cNvSpPr>
            <p:nvPr/>
          </p:nvSpPr>
          <p:spPr bwMode="auto">
            <a:xfrm>
              <a:off x="768" y="1632"/>
              <a:ext cx="3456" cy="250"/>
            </a:xfrm>
            <a:prstGeom prst="rect">
              <a:avLst/>
            </a:prstGeom>
            <a:noFill/>
            <a:ln w="9525">
              <a:noFill/>
              <a:miter lim="800000"/>
              <a:headEnd/>
              <a:tailEnd/>
            </a:ln>
            <a:effectLst/>
          </p:spPr>
          <p:txBody>
            <a:bodyPr>
              <a:spAutoFit/>
            </a:bodyPr>
            <a:lstStyle/>
            <a:p>
              <a:pPr eaLnBrk="0" hangingPunct="0">
                <a:spcBef>
                  <a:spcPct val="50000"/>
                </a:spcBef>
              </a:pPr>
              <a:r>
                <a:rPr lang="en-US" sz="2000" b="1">
                  <a:solidFill>
                    <a:schemeClr val="bg1"/>
                  </a:solidFill>
                </a:rPr>
                <a:t>Ghana               10.0           5.0</a:t>
              </a:r>
            </a:p>
          </p:txBody>
        </p:sp>
        <p:sp>
          <p:nvSpPr>
            <p:cNvPr id="99341" name="Text Box 13"/>
            <p:cNvSpPr txBox="1">
              <a:spLocks noChangeArrowheads="1"/>
            </p:cNvSpPr>
            <p:nvPr/>
          </p:nvSpPr>
          <p:spPr bwMode="auto">
            <a:xfrm>
              <a:off x="960" y="1920"/>
              <a:ext cx="3456" cy="250"/>
            </a:xfrm>
            <a:prstGeom prst="rect">
              <a:avLst/>
            </a:prstGeom>
            <a:noFill/>
            <a:ln w="9525">
              <a:noFill/>
              <a:miter lim="800000"/>
              <a:headEnd/>
              <a:tailEnd/>
            </a:ln>
            <a:effectLst/>
          </p:spPr>
          <p:txBody>
            <a:bodyPr>
              <a:spAutoFit/>
            </a:bodyPr>
            <a:lstStyle/>
            <a:p>
              <a:pPr eaLnBrk="0" hangingPunct="0">
                <a:spcBef>
                  <a:spcPct val="50000"/>
                </a:spcBef>
              </a:pPr>
              <a:r>
                <a:rPr lang="en-US" sz="2000">
                  <a:solidFill>
                    <a:srgbClr val="99FF33"/>
                  </a:solidFill>
                </a:rPr>
                <a:t>Total production   12.5                15.0</a:t>
              </a:r>
            </a:p>
          </p:txBody>
        </p:sp>
        <p:sp>
          <p:nvSpPr>
            <p:cNvPr id="99342" name="Text Box 14"/>
            <p:cNvSpPr txBox="1">
              <a:spLocks noChangeArrowheads="1"/>
            </p:cNvSpPr>
            <p:nvPr/>
          </p:nvSpPr>
          <p:spPr bwMode="auto">
            <a:xfrm>
              <a:off x="1248" y="2112"/>
              <a:ext cx="3696" cy="221"/>
            </a:xfrm>
            <a:prstGeom prst="rect">
              <a:avLst/>
            </a:prstGeom>
            <a:noFill/>
            <a:ln w="9525">
              <a:noFill/>
              <a:miter lim="800000"/>
              <a:headEnd/>
              <a:tailEnd/>
            </a:ln>
            <a:effectLst/>
          </p:spPr>
          <p:txBody>
            <a:bodyPr>
              <a:spAutoFit/>
            </a:bodyPr>
            <a:lstStyle/>
            <a:p>
              <a:pPr algn="ctr" eaLnBrk="0" hangingPunct="0">
                <a:spcBef>
                  <a:spcPct val="50000"/>
                </a:spcBef>
              </a:pPr>
              <a:r>
                <a:rPr lang="en-US" sz="1700" u="sng">
                  <a:solidFill>
                    <a:schemeClr val="bg1"/>
                  </a:solidFill>
                </a:rPr>
                <a:t>Production with Specialization</a:t>
              </a:r>
            </a:p>
          </p:txBody>
        </p:sp>
        <p:sp>
          <p:nvSpPr>
            <p:cNvPr id="99343" name="Text Box 15"/>
            <p:cNvSpPr txBox="1">
              <a:spLocks noChangeArrowheads="1"/>
            </p:cNvSpPr>
            <p:nvPr/>
          </p:nvSpPr>
          <p:spPr bwMode="auto">
            <a:xfrm>
              <a:off x="768" y="2304"/>
              <a:ext cx="3456" cy="250"/>
            </a:xfrm>
            <a:prstGeom prst="rect">
              <a:avLst/>
            </a:prstGeom>
            <a:noFill/>
            <a:ln w="9525">
              <a:noFill/>
              <a:miter lim="800000"/>
              <a:headEnd/>
              <a:tailEnd/>
            </a:ln>
            <a:effectLst/>
          </p:spPr>
          <p:txBody>
            <a:bodyPr>
              <a:spAutoFit/>
            </a:bodyPr>
            <a:lstStyle/>
            <a:p>
              <a:pPr eaLnBrk="0" hangingPunct="0">
                <a:spcBef>
                  <a:spcPct val="50000"/>
                </a:spcBef>
              </a:pPr>
              <a:r>
                <a:rPr lang="en-US" sz="2000" b="1">
                  <a:solidFill>
                    <a:schemeClr val="bg1"/>
                  </a:solidFill>
                </a:rPr>
                <a:t>Ghana                 20            0</a:t>
              </a:r>
            </a:p>
          </p:txBody>
        </p:sp>
        <p:sp>
          <p:nvSpPr>
            <p:cNvPr id="99344" name="Text Box 16"/>
            <p:cNvSpPr txBox="1">
              <a:spLocks noChangeArrowheads="1"/>
            </p:cNvSpPr>
            <p:nvPr/>
          </p:nvSpPr>
          <p:spPr bwMode="auto">
            <a:xfrm>
              <a:off x="768" y="2448"/>
              <a:ext cx="3456" cy="250"/>
            </a:xfrm>
            <a:prstGeom prst="rect">
              <a:avLst/>
            </a:prstGeom>
            <a:noFill/>
            <a:ln w="9525">
              <a:noFill/>
              <a:miter lim="800000"/>
              <a:headEnd/>
              <a:tailEnd/>
            </a:ln>
            <a:effectLst/>
          </p:spPr>
          <p:txBody>
            <a:bodyPr>
              <a:spAutoFit/>
            </a:bodyPr>
            <a:lstStyle/>
            <a:p>
              <a:pPr eaLnBrk="0" hangingPunct="0">
                <a:spcBef>
                  <a:spcPct val="50000"/>
                </a:spcBef>
              </a:pPr>
              <a:r>
                <a:rPr lang="en-US" sz="2000" b="1">
                  <a:solidFill>
                    <a:schemeClr val="bg1"/>
                  </a:solidFill>
                </a:rPr>
                <a:t>S. Korea               0            20</a:t>
              </a:r>
            </a:p>
          </p:txBody>
        </p:sp>
        <p:sp>
          <p:nvSpPr>
            <p:cNvPr id="99345" name="Text Box 17"/>
            <p:cNvSpPr txBox="1">
              <a:spLocks noChangeArrowheads="1"/>
            </p:cNvSpPr>
            <p:nvPr/>
          </p:nvSpPr>
          <p:spPr bwMode="auto">
            <a:xfrm>
              <a:off x="720" y="2784"/>
              <a:ext cx="4800" cy="221"/>
            </a:xfrm>
            <a:prstGeom prst="rect">
              <a:avLst/>
            </a:prstGeom>
            <a:noFill/>
            <a:ln w="9525">
              <a:noFill/>
              <a:miter lim="800000"/>
              <a:headEnd/>
              <a:tailEnd/>
            </a:ln>
            <a:effectLst/>
          </p:spPr>
          <p:txBody>
            <a:bodyPr>
              <a:spAutoFit/>
            </a:bodyPr>
            <a:lstStyle/>
            <a:p>
              <a:pPr algn="ctr" eaLnBrk="0" hangingPunct="0">
                <a:spcBef>
                  <a:spcPct val="50000"/>
                </a:spcBef>
              </a:pPr>
              <a:r>
                <a:rPr lang="en-US" sz="1700" u="sng">
                  <a:solidFill>
                    <a:schemeClr val="bg1"/>
                  </a:solidFill>
                </a:rPr>
                <a:t>Consumption after Ghana Trades 6T of Cocoa for  6TSouth Korean Rice</a:t>
              </a:r>
            </a:p>
          </p:txBody>
        </p:sp>
        <p:sp>
          <p:nvSpPr>
            <p:cNvPr id="99346" name="Text Box 18"/>
            <p:cNvSpPr txBox="1">
              <a:spLocks noChangeArrowheads="1"/>
            </p:cNvSpPr>
            <p:nvPr/>
          </p:nvSpPr>
          <p:spPr bwMode="auto">
            <a:xfrm>
              <a:off x="768" y="2976"/>
              <a:ext cx="3456" cy="250"/>
            </a:xfrm>
            <a:prstGeom prst="rect">
              <a:avLst/>
            </a:prstGeom>
            <a:noFill/>
            <a:ln w="9525">
              <a:noFill/>
              <a:miter lim="800000"/>
              <a:headEnd/>
              <a:tailEnd/>
            </a:ln>
            <a:effectLst/>
          </p:spPr>
          <p:txBody>
            <a:bodyPr>
              <a:spAutoFit/>
            </a:bodyPr>
            <a:lstStyle/>
            <a:p>
              <a:pPr eaLnBrk="0" hangingPunct="0">
                <a:spcBef>
                  <a:spcPct val="50000"/>
                </a:spcBef>
              </a:pPr>
              <a:r>
                <a:rPr lang="en-US" sz="2000" b="1">
                  <a:solidFill>
                    <a:schemeClr val="bg1"/>
                  </a:solidFill>
                </a:rPr>
                <a:t>Ghana                 14.0          6.0</a:t>
              </a:r>
            </a:p>
          </p:txBody>
        </p:sp>
        <p:sp>
          <p:nvSpPr>
            <p:cNvPr id="99347" name="Text Box 19"/>
            <p:cNvSpPr txBox="1">
              <a:spLocks noChangeArrowheads="1"/>
            </p:cNvSpPr>
            <p:nvPr/>
          </p:nvSpPr>
          <p:spPr bwMode="auto">
            <a:xfrm>
              <a:off x="672" y="3312"/>
              <a:ext cx="4656" cy="221"/>
            </a:xfrm>
            <a:prstGeom prst="rect">
              <a:avLst/>
            </a:prstGeom>
            <a:noFill/>
            <a:ln w="9525">
              <a:noFill/>
              <a:miter lim="800000"/>
              <a:headEnd/>
              <a:tailEnd/>
            </a:ln>
            <a:effectLst/>
          </p:spPr>
          <p:txBody>
            <a:bodyPr>
              <a:spAutoFit/>
            </a:bodyPr>
            <a:lstStyle/>
            <a:p>
              <a:pPr algn="ctr" eaLnBrk="0" hangingPunct="0">
                <a:spcBef>
                  <a:spcPct val="50000"/>
                </a:spcBef>
              </a:pPr>
              <a:r>
                <a:rPr lang="en-US" sz="1700" u="sng">
                  <a:solidFill>
                    <a:schemeClr val="bg1"/>
                  </a:solidFill>
                </a:rPr>
                <a:t>Increase in Consumption as a Result of Specialization and Trade</a:t>
              </a:r>
            </a:p>
          </p:txBody>
        </p:sp>
        <p:sp>
          <p:nvSpPr>
            <p:cNvPr id="99348" name="Text Box 20"/>
            <p:cNvSpPr txBox="1">
              <a:spLocks noChangeArrowheads="1"/>
            </p:cNvSpPr>
            <p:nvPr/>
          </p:nvSpPr>
          <p:spPr bwMode="auto">
            <a:xfrm>
              <a:off x="768" y="3494"/>
              <a:ext cx="3456" cy="250"/>
            </a:xfrm>
            <a:prstGeom prst="rect">
              <a:avLst/>
            </a:prstGeom>
            <a:noFill/>
            <a:ln w="9525">
              <a:noFill/>
              <a:miter lim="800000"/>
              <a:headEnd/>
              <a:tailEnd/>
            </a:ln>
            <a:effectLst/>
          </p:spPr>
          <p:txBody>
            <a:bodyPr>
              <a:spAutoFit/>
            </a:bodyPr>
            <a:lstStyle/>
            <a:p>
              <a:pPr eaLnBrk="0" hangingPunct="0">
                <a:spcBef>
                  <a:spcPct val="50000"/>
                </a:spcBef>
              </a:pPr>
              <a:r>
                <a:rPr lang="en-US" sz="2000" b="1">
                  <a:solidFill>
                    <a:schemeClr val="bg1"/>
                  </a:solidFill>
                </a:rPr>
                <a:t>Ghana                 4.0            1.0</a:t>
              </a:r>
            </a:p>
          </p:txBody>
        </p:sp>
        <p:sp>
          <p:nvSpPr>
            <p:cNvPr id="99349" name="Text Box 21"/>
            <p:cNvSpPr txBox="1">
              <a:spLocks noChangeArrowheads="1"/>
            </p:cNvSpPr>
            <p:nvPr/>
          </p:nvSpPr>
          <p:spPr bwMode="auto">
            <a:xfrm>
              <a:off x="768" y="3686"/>
              <a:ext cx="3504" cy="250"/>
            </a:xfrm>
            <a:prstGeom prst="rect">
              <a:avLst/>
            </a:prstGeom>
            <a:noFill/>
            <a:ln w="9525">
              <a:noFill/>
              <a:miter lim="800000"/>
              <a:headEnd/>
              <a:tailEnd/>
            </a:ln>
            <a:effectLst/>
          </p:spPr>
          <p:txBody>
            <a:bodyPr>
              <a:spAutoFit/>
            </a:bodyPr>
            <a:lstStyle/>
            <a:p>
              <a:pPr eaLnBrk="0" hangingPunct="0">
                <a:spcBef>
                  <a:spcPct val="50000"/>
                </a:spcBef>
              </a:pPr>
              <a:r>
                <a:rPr lang="en-US" sz="2000" b="1">
                  <a:solidFill>
                    <a:schemeClr val="bg1"/>
                  </a:solidFill>
                </a:rPr>
                <a:t>S. Korea              3.5            4.0</a:t>
              </a:r>
            </a:p>
          </p:txBody>
        </p:sp>
      </p:grpSp>
      <p:sp>
        <p:nvSpPr>
          <p:cNvPr id="99350" name="Text Box 22"/>
          <p:cNvSpPr txBox="1">
            <a:spLocks noChangeArrowheads="1"/>
          </p:cNvSpPr>
          <p:nvPr/>
        </p:nvSpPr>
        <p:spPr bwMode="auto">
          <a:xfrm>
            <a:off x="7086600" y="6096000"/>
            <a:ext cx="1752600" cy="396875"/>
          </a:xfrm>
          <a:prstGeom prst="rect">
            <a:avLst/>
          </a:prstGeom>
          <a:noFill/>
          <a:ln w="9525">
            <a:noFill/>
            <a:miter lim="800000"/>
            <a:headEnd/>
            <a:tailEnd/>
          </a:ln>
          <a:effectLst/>
        </p:spPr>
        <p:txBody>
          <a:bodyPr>
            <a:spAutoFit/>
          </a:bodyPr>
          <a:lstStyle/>
          <a:p>
            <a:pPr eaLnBrk="0" hangingPunct="0">
              <a:spcBef>
                <a:spcPct val="50000"/>
              </a:spcBef>
            </a:pPr>
            <a:r>
              <a:rPr lang="en-US" sz="2000">
                <a:solidFill>
                  <a:schemeClr val="bg1"/>
                </a:solidFill>
              </a:rPr>
              <a:t>Table 4.1</a:t>
            </a:r>
            <a:endParaRPr lang="en-US" sz="200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685800" y="228600"/>
            <a:ext cx="7772400" cy="990600"/>
          </a:xfrm>
          <a:ln/>
        </p:spPr>
        <p:txBody>
          <a:bodyPr lIns="90488" tIns="44450" rIns="90488" bIns="44450" anchor="ctr"/>
          <a:lstStyle/>
          <a:p>
            <a:r>
              <a:rPr lang="en-US" sz="2000" b="1">
                <a:solidFill>
                  <a:srgbClr val="FF00FF"/>
                </a:solidFill>
              </a:rPr>
              <a:t>Theory of Comparative Advantage</a:t>
            </a:r>
            <a:br>
              <a:rPr lang="en-US" sz="2000" b="1">
                <a:solidFill>
                  <a:srgbClr val="FF00FF"/>
                </a:solidFill>
              </a:rPr>
            </a:br>
            <a:r>
              <a:rPr lang="en-US" sz="2000">
                <a:solidFill>
                  <a:srgbClr val="FF00FF"/>
                </a:solidFill>
              </a:rPr>
              <a:t>David Ricardo: </a:t>
            </a:r>
            <a:r>
              <a:rPr lang="en-US" sz="2000" i="1">
                <a:solidFill>
                  <a:srgbClr val="FF00FF"/>
                </a:solidFill>
              </a:rPr>
              <a:t>Principles of Political Economy (</a:t>
            </a:r>
            <a:r>
              <a:rPr lang="en-US" sz="2000">
                <a:solidFill>
                  <a:srgbClr val="FF00FF"/>
                </a:solidFill>
              </a:rPr>
              <a:t>1817).</a:t>
            </a:r>
            <a:br>
              <a:rPr lang="en-US" sz="2000">
                <a:solidFill>
                  <a:srgbClr val="FF00FF"/>
                </a:solidFill>
              </a:rPr>
            </a:br>
            <a:endParaRPr lang="en-US" sz="2000">
              <a:solidFill>
                <a:srgbClr val="FF00FF"/>
              </a:solidFill>
            </a:endParaRPr>
          </a:p>
        </p:txBody>
      </p:sp>
      <p:sp>
        <p:nvSpPr>
          <p:cNvPr id="51203" name="Rectangle 3"/>
          <p:cNvSpPr>
            <a:spLocks noGrp="1" noChangeArrowheads="1"/>
          </p:cNvSpPr>
          <p:nvPr>
            <p:ph type="body" idx="1"/>
          </p:nvPr>
        </p:nvSpPr>
        <p:spPr>
          <a:xfrm>
            <a:off x="228600" y="1447800"/>
            <a:ext cx="8610600" cy="4648200"/>
          </a:xfrm>
          <a:solidFill>
            <a:srgbClr val="EAEAEA"/>
          </a:solidFill>
          <a:ln/>
        </p:spPr>
        <p:txBody>
          <a:bodyPr lIns="90488" tIns="44450" rIns="90488" bIns="44450"/>
          <a:lstStyle/>
          <a:p>
            <a:pPr lvl="1"/>
            <a:r>
              <a:rPr lang="en-US">
                <a:solidFill>
                  <a:srgbClr val="003399"/>
                </a:solidFill>
              </a:rPr>
              <a:t>Should trade even if country is more efficient in the production than its trading partner.</a:t>
            </a:r>
          </a:p>
        </p:txBody>
      </p:sp>
      <p:sp>
        <p:nvSpPr>
          <p:cNvPr id="51206" name="Text Box 6"/>
          <p:cNvSpPr txBox="1">
            <a:spLocks noChangeArrowheads="1"/>
          </p:cNvSpPr>
          <p:nvPr/>
        </p:nvSpPr>
        <p:spPr bwMode="auto">
          <a:xfrm>
            <a:off x="8305800" y="152400"/>
            <a:ext cx="609600" cy="304800"/>
          </a:xfrm>
          <a:prstGeom prst="rect">
            <a:avLst/>
          </a:prstGeom>
          <a:noFill/>
          <a:ln w="9525">
            <a:noFill/>
            <a:miter lim="800000"/>
            <a:headEnd/>
            <a:tailEnd/>
          </a:ln>
          <a:effectLst/>
        </p:spPr>
        <p:txBody>
          <a:bodyPr>
            <a:spAutoFit/>
          </a:bodyPr>
          <a:lstStyle/>
          <a:p>
            <a:pPr>
              <a:spcBef>
                <a:spcPct val="50000"/>
              </a:spcBef>
            </a:pPr>
            <a:r>
              <a:rPr lang="en-US" sz="1400">
                <a:solidFill>
                  <a:schemeClr val="bg1"/>
                </a:solidFill>
              </a:rPr>
              <a:t>4-13</a:t>
            </a:r>
          </a:p>
        </p:txBody>
      </p:sp>
      <p:grpSp>
        <p:nvGrpSpPr>
          <p:cNvPr id="51207" name="Group 7"/>
          <p:cNvGrpSpPr>
            <a:grpSpLocks/>
          </p:cNvGrpSpPr>
          <p:nvPr/>
        </p:nvGrpSpPr>
        <p:grpSpPr bwMode="auto">
          <a:xfrm>
            <a:off x="142875" y="6553200"/>
            <a:ext cx="9001125" cy="280988"/>
            <a:chOff x="90" y="4128"/>
            <a:chExt cx="6102" cy="161"/>
          </a:xfrm>
        </p:grpSpPr>
        <p:sp>
          <p:nvSpPr>
            <p:cNvPr id="51208" name="Rectangle 8"/>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51209" name="Text Box 9"/>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609600" y="381000"/>
            <a:ext cx="8305800" cy="617538"/>
          </a:xfrm>
          <a:ln/>
        </p:spPr>
        <p:txBody>
          <a:bodyPr/>
          <a:lstStyle/>
          <a:p>
            <a:r>
              <a:rPr lang="en-US" sz="3200"/>
              <a:t>The Theory of Comparative Advantage</a:t>
            </a:r>
          </a:p>
        </p:txBody>
      </p:sp>
      <p:sp>
        <p:nvSpPr>
          <p:cNvPr id="52227" name="Text Box 3"/>
          <p:cNvSpPr txBox="1">
            <a:spLocks noChangeArrowheads="1"/>
          </p:cNvSpPr>
          <p:nvPr/>
        </p:nvSpPr>
        <p:spPr bwMode="auto">
          <a:xfrm>
            <a:off x="6248400" y="4191000"/>
            <a:ext cx="1828800" cy="396875"/>
          </a:xfrm>
          <a:prstGeom prst="rect">
            <a:avLst/>
          </a:prstGeom>
          <a:noFill/>
          <a:ln w="9525">
            <a:noFill/>
            <a:miter lim="800000"/>
            <a:headEnd/>
            <a:tailEnd/>
          </a:ln>
          <a:effectLst/>
        </p:spPr>
        <p:txBody>
          <a:bodyPr>
            <a:spAutoFit/>
          </a:bodyPr>
          <a:lstStyle/>
          <a:p>
            <a:pPr eaLnBrk="0" hangingPunct="0">
              <a:spcBef>
                <a:spcPct val="50000"/>
              </a:spcBef>
            </a:pPr>
            <a:r>
              <a:rPr lang="en-US" sz="2000">
                <a:solidFill>
                  <a:schemeClr val="bg1"/>
                </a:solidFill>
              </a:rPr>
              <a:t>Figure 4.2</a:t>
            </a:r>
          </a:p>
        </p:txBody>
      </p:sp>
      <p:sp>
        <p:nvSpPr>
          <p:cNvPr id="52228" name="Text Box 4"/>
          <p:cNvSpPr txBox="1">
            <a:spLocks noChangeArrowheads="1"/>
          </p:cNvSpPr>
          <p:nvPr/>
        </p:nvSpPr>
        <p:spPr bwMode="auto">
          <a:xfrm>
            <a:off x="2362200" y="5562600"/>
            <a:ext cx="609600" cy="336550"/>
          </a:xfrm>
          <a:prstGeom prst="rect">
            <a:avLst/>
          </a:prstGeom>
          <a:noFill/>
          <a:ln w="9525">
            <a:noFill/>
            <a:miter lim="800000"/>
            <a:headEnd/>
            <a:tailEnd/>
          </a:ln>
          <a:effectLst/>
        </p:spPr>
        <p:txBody>
          <a:bodyPr>
            <a:spAutoFit/>
          </a:bodyPr>
          <a:lstStyle/>
          <a:p>
            <a:pPr eaLnBrk="0" hangingPunct="0">
              <a:spcBef>
                <a:spcPct val="50000"/>
              </a:spcBef>
            </a:pPr>
            <a:r>
              <a:rPr lang="en-US" sz="1600">
                <a:solidFill>
                  <a:srgbClr val="FFFF00"/>
                </a:solidFill>
              </a:rPr>
              <a:t>3.75</a:t>
            </a:r>
          </a:p>
        </p:txBody>
      </p:sp>
      <p:sp>
        <p:nvSpPr>
          <p:cNvPr id="52229" name="Text Box 5"/>
          <p:cNvSpPr txBox="1">
            <a:spLocks noChangeArrowheads="1"/>
          </p:cNvSpPr>
          <p:nvPr/>
        </p:nvSpPr>
        <p:spPr bwMode="auto">
          <a:xfrm>
            <a:off x="3581400" y="5562600"/>
            <a:ext cx="609600" cy="336550"/>
          </a:xfrm>
          <a:prstGeom prst="rect">
            <a:avLst/>
          </a:prstGeom>
          <a:noFill/>
          <a:ln w="9525">
            <a:noFill/>
            <a:miter lim="800000"/>
            <a:headEnd/>
            <a:tailEnd/>
          </a:ln>
          <a:effectLst/>
        </p:spPr>
        <p:txBody>
          <a:bodyPr>
            <a:spAutoFit/>
          </a:bodyPr>
          <a:lstStyle/>
          <a:p>
            <a:pPr eaLnBrk="0" hangingPunct="0">
              <a:spcBef>
                <a:spcPct val="50000"/>
              </a:spcBef>
            </a:pPr>
            <a:r>
              <a:rPr lang="en-US" sz="1600">
                <a:solidFill>
                  <a:srgbClr val="FFFF00"/>
                </a:solidFill>
              </a:rPr>
              <a:t>7.5</a:t>
            </a:r>
          </a:p>
        </p:txBody>
      </p:sp>
      <p:sp>
        <p:nvSpPr>
          <p:cNvPr id="52230" name="Text Box 6"/>
          <p:cNvSpPr txBox="1">
            <a:spLocks noChangeArrowheads="1"/>
          </p:cNvSpPr>
          <p:nvPr/>
        </p:nvSpPr>
        <p:spPr bwMode="auto">
          <a:xfrm>
            <a:off x="1219200" y="5029200"/>
            <a:ext cx="609600" cy="336550"/>
          </a:xfrm>
          <a:prstGeom prst="rect">
            <a:avLst/>
          </a:prstGeom>
          <a:noFill/>
          <a:ln w="9525">
            <a:noFill/>
            <a:miter lim="800000"/>
            <a:headEnd/>
            <a:tailEnd/>
          </a:ln>
          <a:effectLst/>
        </p:spPr>
        <p:txBody>
          <a:bodyPr>
            <a:spAutoFit/>
          </a:bodyPr>
          <a:lstStyle/>
          <a:p>
            <a:pPr eaLnBrk="0" hangingPunct="0">
              <a:spcBef>
                <a:spcPct val="50000"/>
              </a:spcBef>
            </a:pPr>
            <a:r>
              <a:rPr lang="en-US" sz="1600">
                <a:solidFill>
                  <a:srgbClr val="FFFF00"/>
                </a:solidFill>
              </a:rPr>
              <a:t>2.5</a:t>
            </a:r>
          </a:p>
        </p:txBody>
      </p:sp>
      <p:sp>
        <p:nvSpPr>
          <p:cNvPr id="52235" name="Line 11"/>
          <p:cNvSpPr>
            <a:spLocks noChangeShapeType="1"/>
          </p:cNvSpPr>
          <p:nvPr/>
        </p:nvSpPr>
        <p:spPr bwMode="auto">
          <a:xfrm>
            <a:off x="2133600" y="1524000"/>
            <a:ext cx="0" cy="3967163"/>
          </a:xfrm>
          <a:prstGeom prst="line">
            <a:avLst/>
          </a:prstGeom>
          <a:noFill/>
          <a:ln w="38100">
            <a:solidFill>
              <a:srgbClr val="FFFF00"/>
            </a:solidFill>
            <a:round/>
            <a:headEnd/>
            <a:tailEnd/>
          </a:ln>
          <a:effectLst/>
          <a:scene3d>
            <a:camera prst="legacyObliqueTopRight"/>
            <a:lightRig rig="legacyFlat3" dir="b"/>
          </a:scene3d>
          <a:sp3d extrusionH="430200" prstMaterial="legacyPlastic">
            <a:bevelT w="13500" h="13500" prst="angle"/>
            <a:bevelB w="13500" h="13500" prst="angle"/>
            <a:extrusionClr>
              <a:srgbClr val="FFFF00"/>
            </a:extrusionClr>
          </a:sp3d>
        </p:spPr>
        <p:txBody>
          <a:bodyPr wrap="none" anchor="ctr">
            <a:flatTx/>
          </a:bodyPr>
          <a:lstStyle/>
          <a:p>
            <a:endParaRPr lang="en-US"/>
          </a:p>
        </p:txBody>
      </p:sp>
      <p:sp>
        <p:nvSpPr>
          <p:cNvPr id="52237" name="Line 13"/>
          <p:cNvSpPr>
            <a:spLocks noChangeShapeType="1"/>
          </p:cNvSpPr>
          <p:nvPr/>
        </p:nvSpPr>
        <p:spPr bwMode="auto">
          <a:xfrm>
            <a:off x="2133600" y="5486400"/>
            <a:ext cx="5562600" cy="0"/>
          </a:xfrm>
          <a:prstGeom prst="line">
            <a:avLst/>
          </a:prstGeom>
          <a:noFill/>
          <a:ln w="38100">
            <a:solidFill>
              <a:srgbClr val="FFFF00"/>
            </a:solidFill>
            <a:round/>
            <a:headEnd/>
            <a:tailEnd/>
          </a:ln>
          <a:effectLst/>
          <a:scene3d>
            <a:camera prst="legacyObliqueTopRight"/>
            <a:lightRig rig="legacyFlat3" dir="b"/>
          </a:scene3d>
          <a:sp3d extrusionH="430200" prstMaterial="legacyPlastic">
            <a:bevelT w="13500" h="13500" prst="angle"/>
            <a:bevelB w="13500" h="13500" prst="angle"/>
            <a:extrusionClr>
              <a:srgbClr val="FFFF00"/>
            </a:extrusionClr>
          </a:sp3d>
        </p:spPr>
        <p:txBody>
          <a:bodyPr wrap="none" anchor="ctr">
            <a:flatTx/>
          </a:bodyPr>
          <a:lstStyle/>
          <a:p>
            <a:endParaRPr lang="en-US"/>
          </a:p>
        </p:txBody>
      </p:sp>
      <p:grpSp>
        <p:nvGrpSpPr>
          <p:cNvPr id="52256" name="Group 32"/>
          <p:cNvGrpSpPr>
            <a:grpSpLocks/>
          </p:cNvGrpSpPr>
          <p:nvPr/>
        </p:nvGrpSpPr>
        <p:grpSpPr bwMode="auto">
          <a:xfrm>
            <a:off x="1371600" y="150813"/>
            <a:ext cx="6477000" cy="6148387"/>
            <a:chOff x="864" y="95"/>
            <a:chExt cx="4080" cy="3873"/>
          </a:xfrm>
        </p:grpSpPr>
        <p:sp>
          <p:nvSpPr>
            <p:cNvPr id="52238" name="Text Box 14"/>
            <p:cNvSpPr txBox="1">
              <a:spLocks noChangeArrowheads="1"/>
            </p:cNvSpPr>
            <p:nvPr/>
          </p:nvSpPr>
          <p:spPr bwMode="auto">
            <a:xfrm>
              <a:off x="1344" y="3459"/>
              <a:ext cx="3600" cy="250"/>
            </a:xfrm>
            <a:prstGeom prst="rect">
              <a:avLst/>
            </a:prstGeom>
            <a:noFill/>
            <a:ln w="9525">
              <a:noFill/>
              <a:miter lim="800000"/>
              <a:headEnd/>
              <a:tailEnd/>
            </a:ln>
            <a:effectLst/>
          </p:spPr>
          <p:txBody>
            <a:bodyPr>
              <a:spAutoFit/>
            </a:bodyPr>
            <a:lstStyle/>
            <a:p>
              <a:pPr eaLnBrk="0" hangingPunct="0">
                <a:spcBef>
                  <a:spcPct val="50000"/>
                </a:spcBef>
              </a:pPr>
              <a:r>
                <a:rPr lang="en-US" sz="2000">
                  <a:solidFill>
                    <a:srgbClr val="FFFF00"/>
                  </a:solidFill>
                </a:rPr>
                <a:t>0              5              10              15              20</a:t>
              </a:r>
            </a:p>
          </p:txBody>
        </p:sp>
        <p:sp>
          <p:nvSpPr>
            <p:cNvPr id="52239" name="Text Box 15"/>
            <p:cNvSpPr txBox="1">
              <a:spLocks noChangeArrowheads="1"/>
            </p:cNvSpPr>
            <p:nvPr/>
          </p:nvSpPr>
          <p:spPr bwMode="auto">
            <a:xfrm rot="-5400000">
              <a:off x="-581" y="1770"/>
              <a:ext cx="3600" cy="250"/>
            </a:xfrm>
            <a:prstGeom prst="rect">
              <a:avLst/>
            </a:prstGeom>
            <a:noFill/>
            <a:ln w="9525">
              <a:noFill/>
              <a:miter lim="800000"/>
              <a:headEnd/>
              <a:tailEnd/>
            </a:ln>
            <a:effectLst/>
          </p:spPr>
          <p:txBody>
            <a:bodyPr>
              <a:spAutoFit/>
            </a:bodyPr>
            <a:lstStyle/>
            <a:p>
              <a:pPr eaLnBrk="0" hangingPunct="0">
                <a:spcBef>
                  <a:spcPct val="50000"/>
                </a:spcBef>
              </a:pPr>
              <a:r>
                <a:rPr lang="en-US" sz="2000">
                  <a:solidFill>
                    <a:srgbClr val="FFFF00"/>
                  </a:solidFill>
                </a:rPr>
                <a:t>            5          10          15          20</a:t>
              </a:r>
            </a:p>
          </p:txBody>
        </p:sp>
        <p:sp>
          <p:nvSpPr>
            <p:cNvPr id="52240" name="Text Box 16"/>
            <p:cNvSpPr txBox="1">
              <a:spLocks noChangeArrowheads="1"/>
            </p:cNvSpPr>
            <p:nvPr/>
          </p:nvSpPr>
          <p:spPr bwMode="auto">
            <a:xfrm rot="-5400000">
              <a:off x="595" y="1808"/>
              <a:ext cx="807" cy="269"/>
            </a:xfrm>
            <a:prstGeom prst="rect">
              <a:avLst/>
            </a:prstGeom>
            <a:noFill/>
            <a:ln w="9525">
              <a:noFill/>
              <a:miter lim="800000"/>
              <a:headEnd/>
              <a:tailEnd/>
            </a:ln>
            <a:effectLst/>
          </p:spPr>
          <p:txBody>
            <a:bodyPr>
              <a:spAutoFit/>
            </a:bodyPr>
            <a:lstStyle/>
            <a:p>
              <a:pPr eaLnBrk="0" hangingPunct="0">
                <a:spcBef>
                  <a:spcPct val="50000"/>
                </a:spcBef>
              </a:pPr>
              <a:r>
                <a:rPr lang="en-US" sz="2200">
                  <a:solidFill>
                    <a:srgbClr val="FFFF00"/>
                  </a:solidFill>
                </a:rPr>
                <a:t>Cocoa</a:t>
              </a:r>
              <a:endParaRPr lang="en-US" sz="2200"/>
            </a:p>
          </p:txBody>
        </p:sp>
        <p:sp>
          <p:nvSpPr>
            <p:cNvPr id="52241" name="Text Box 17"/>
            <p:cNvSpPr txBox="1">
              <a:spLocks noChangeArrowheads="1"/>
            </p:cNvSpPr>
            <p:nvPr/>
          </p:nvSpPr>
          <p:spPr bwMode="auto">
            <a:xfrm>
              <a:off x="2880" y="3699"/>
              <a:ext cx="1056" cy="269"/>
            </a:xfrm>
            <a:prstGeom prst="rect">
              <a:avLst/>
            </a:prstGeom>
            <a:noFill/>
            <a:ln w="9525">
              <a:noFill/>
              <a:miter lim="800000"/>
              <a:headEnd/>
              <a:tailEnd/>
            </a:ln>
            <a:effectLst/>
          </p:spPr>
          <p:txBody>
            <a:bodyPr>
              <a:spAutoFit/>
            </a:bodyPr>
            <a:lstStyle/>
            <a:p>
              <a:pPr eaLnBrk="0" hangingPunct="0">
                <a:spcBef>
                  <a:spcPct val="50000"/>
                </a:spcBef>
              </a:pPr>
              <a:r>
                <a:rPr lang="en-US" sz="2200">
                  <a:solidFill>
                    <a:srgbClr val="FFFF00"/>
                  </a:solidFill>
                </a:rPr>
                <a:t>Rice</a:t>
              </a:r>
              <a:endParaRPr lang="en-US" sz="2200"/>
            </a:p>
          </p:txBody>
        </p:sp>
        <p:sp>
          <p:nvSpPr>
            <p:cNvPr id="52242" name="Line 18"/>
            <p:cNvSpPr>
              <a:spLocks noChangeShapeType="1"/>
            </p:cNvSpPr>
            <p:nvPr/>
          </p:nvSpPr>
          <p:spPr bwMode="auto">
            <a:xfrm>
              <a:off x="1344" y="963"/>
              <a:ext cx="2496" cy="2496"/>
            </a:xfrm>
            <a:prstGeom prst="line">
              <a:avLst/>
            </a:prstGeom>
            <a:noFill/>
            <a:ln w="38100">
              <a:solidFill>
                <a:srgbClr val="66FF66"/>
              </a:solidFill>
              <a:round/>
              <a:headEnd/>
              <a:tailEnd/>
            </a:ln>
            <a:effectLst/>
            <a:scene3d>
              <a:camera prst="legacyObliqueTopRight"/>
              <a:lightRig rig="legacyFlat3" dir="b"/>
            </a:scene3d>
            <a:sp3d extrusionH="430200" prstMaterial="legacyPlastic">
              <a:bevelT w="13500" h="13500" prst="angle"/>
              <a:bevelB w="13500" h="13500" prst="angle"/>
              <a:extrusionClr>
                <a:srgbClr val="66FF66"/>
              </a:extrusionClr>
            </a:sp3d>
          </p:spPr>
          <p:txBody>
            <a:bodyPr wrap="none" anchor="ctr">
              <a:flatTx/>
            </a:bodyPr>
            <a:lstStyle/>
            <a:p>
              <a:endParaRPr lang="en-US"/>
            </a:p>
          </p:txBody>
        </p:sp>
        <p:sp>
          <p:nvSpPr>
            <p:cNvPr id="52243" name="Line 19"/>
            <p:cNvSpPr>
              <a:spLocks noChangeShapeType="1"/>
            </p:cNvSpPr>
            <p:nvPr/>
          </p:nvSpPr>
          <p:spPr bwMode="auto">
            <a:xfrm>
              <a:off x="1344" y="1731"/>
              <a:ext cx="720" cy="0"/>
            </a:xfrm>
            <a:prstGeom prst="line">
              <a:avLst/>
            </a:prstGeom>
            <a:noFill/>
            <a:ln w="38100">
              <a:solidFill>
                <a:srgbClr val="99CCFF"/>
              </a:solidFill>
              <a:prstDash val="sysDot"/>
              <a:round/>
              <a:headEnd/>
              <a:tailEnd/>
            </a:ln>
            <a:effectLst/>
          </p:spPr>
          <p:txBody>
            <a:bodyPr wrap="none" anchor="ctr"/>
            <a:lstStyle/>
            <a:p>
              <a:endParaRPr lang="en-US"/>
            </a:p>
          </p:txBody>
        </p:sp>
        <p:sp>
          <p:nvSpPr>
            <p:cNvPr id="52244" name="Line 20"/>
            <p:cNvSpPr>
              <a:spLocks noChangeShapeType="1"/>
            </p:cNvSpPr>
            <p:nvPr/>
          </p:nvSpPr>
          <p:spPr bwMode="auto">
            <a:xfrm>
              <a:off x="2064" y="1731"/>
              <a:ext cx="0" cy="1728"/>
            </a:xfrm>
            <a:prstGeom prst="line">
              <a:avLst/>
            </a:prstGeom>
            <a:noFill/>
            <a:ln w="38100">
              <a:solidFill>
                <a:srgbClr val="99CCFF"/>
              </a:solidFill>
              <a:prstDash val="sysDot"/>
              <a:round/>
              <a:headEnd/>
              <a:tailEnd/>
            </a:ln>
            <a:effectLst/>
          </p:spPr>
          <p:txBody>
            <a:bodyPr wrap="none" anchor="ctr"/>
            <a:lstStyle/>
            <a:p>
              <a:endParaRPr lang="en-US"/>
            </a:p>
          </p:txBody>
        </p:sp>
        <p:sp>
          <p:nvSpPr>
            <p:cNvPr id="52245" name="Line 21"/>
            <p:cNvSpPr>
              <a:spLocks noChangeShapeType="1"/>
            </p:cNvSpPr>
            <p:nvPr/>
          </p:nvSpPr>
          <p:spPr bwMode="auto">
            <a:xfrm>
              <a:off x="1344" y="2403"/>
              <a:ext cx="1392" cy="0"/>
            </a:xfrm>
            <a:prstGeom prst="line">
              <a:avLst/>
            </a:prstGeom>
            <a:noFill/>
            <a:ln w="38100">
              <a:solidFill>
                <a:srgbClr val="99CCFF"/>
              </a:solidFill>
              <a:prstDash val="sysDot"/>
              <a:round/>
              <a:headEnd/>
              <a:tailEnd/>
            </a:ln>
            <a:effectLst/>
          </p:spPr>
          <p:txBody>
            <a:bodyPr wrap="none" anchor="ctr"/>
            <a:lstStyle/>
            <a:p>
              <a:endParaRPr lang="en-US"/>
            </a:p>
          </p:txBody>
        </p:sp>
        <p:sp>
          <p:nvSpPr>
            <p:cNvPr id="52246" name="Line 22"/>
            <p:cNvSpPr>
              <a:spLocks noChangeShapeType="1"/>
            </p:cNvSpPr>
            <p:nvPr/>
          </p:nvSpPr>
          <p:spPr bwMode="auto">
            <a:xfrm>
              <a:off x="2736" y="2403"/>
              <a:ext cx="0" cy="1056"/>
            </a:xfrm>
            <a:prstGeom prst="line">
              <a:avLst/>
            </a:prstGeom>
            <a:noFill/>
            <a:ln w="38100">
              <a:solidFill>
                <a:srgbClr val="99CCFF"/>
              </a:solidFill>
              <a:prstDash val="sysDot"/>
              <a:round/>
              <a:headEnd/>
              <a:tailEnd/>
            </a:ln>
            <a:effectLst/>
          </p:spPr>
          <p:txBody>
            <a:bodyPr wrap="none" anchor="ctr"/>
            <a:lstStyle/>
            <a:p>
              <a:endParaRPr lang="en-US"/>
            </a:p>
          </p:txBody>
        </p:sp>
        <p:sp>
          <p:nvSpPr>
            <p:cNvPr id="52247" name="Line 23"/>
            <p:cNvSpPr>
              <a:spLocks noChangeShapeType="1"/>
            </p:cNvSpPr>
            <p:nvPr/>
          </p:nvSpPr>
          <p:spPr bwMode="auto">
            <a:xfrm>
              <a:off x="1344" y="3219"/>
              <a:ext cx="816" cy="0"/>
            </a:xfrm>
            <a:prstGeom prst="line">
              <a:avLst/>
            </a:prstGeom>
            <a:noFill/>
            <a:ln w="38100">
              <a:solidFill>
                <a:srgbClr val="99CCFF"/>
              </a:solidFill>
              <a:prstDash val="sysDot"/>
              <a:round/>
              <a:headEnd/>
              <a:tailEnd/>
            </a:ln>
            <a:effectLst/>
          </p:spPr>
          <p:txBody>
            <a:bodyPr wrap="none" anchor="ctr"/>
            <a:lstStyle/>
            <a:p>
              <a:endParaRPr lang="en-US"/>
            </a:p>
          </p:txBody>
        </p:sp>
        <p:sp>
          <p:nvSpPr>
            <p:cNvPr id="52248" name="Line 24"/>
            <p:cNvSpPr>
              <a:spLocks noChangeShapeType="1"/>
            </p:cNvSpPr>
            <p:nvPr/>
          </p:nvSpPr>
          <p:spPr bwMode="auto">
            <a:xfrm>
              <a:off x="2208" y="3267"/>
              <a:ext cx="0" cy="192"/>
            </a:xfrm>
            <a:prstGeom prst="line">
              <a:avLst/>
            </a:prstGeom>
            <a:noFill/>
            <a:ln w="38100">
              <a:solidFill>
                <a:srgbClr val="99CCFF"/>
              </a:solidFill>
              <a:prstDash val="sysDot"/>
              <a:round/>
              <a:headEnd/>
              <a:tailEnd/>
            </a:ln>
            <a:effectLst/>
          </p:spPr>
          <p:txBody>
            <a:bodyPr wrap="none" anchor="ctr"/>
            <a:lstStyle/>
            <a:p>
              <a:endParaRPr lang="en-US"/>
            </a:p>
          </p:txBody>
        </p:sp>
        <p:sp>
          <p:nvSpPr>
            <p:cNvPr id="52249" name="Text Box 25"/>
            <p:cNvSpPr txBox="1">
              <a:spLocks noChangeArrowheads="1"/>
            </p:cNvSpPr>
            <p:nvPr/>
          </p:nvSpPr>
          <p:spPr bwMode="auto">
            <a:xfrm>
              <a:off x="1632" y="816"/>
              <a:ext cx="240" cy="250"/>
            </a:xfrm>
            <a:prstGeom prst="rect">
              <a:avLst/>
            </a:prstGeom>
            <a:noFill/>
            <a:ln w="9525">
              <a:noFill/>
              <a:miter lim="800000"/>
              <a:headEnd/>
              <a:tailEnd/>
            </a:ln>
            <a:effectLst/>
          </p:spPr>
          <p:txBody>
            <a:bodyPr>
              <a:spAutoFit/>
            </a:bodyPr>
            <a:lstStyle/>
            <a:p>
              <a:pPr eaLnBrk="0" hangingPunct="0">
                <a:spcBef>
                  <a:spcPct val="50000"/>
                </a:spcBef>
              </a:pPr>
              <a:r>
                <a:rPr lang="en-US" sz="2000">
                  <a:solidFill>
                    <a:schemeClr val="bg1"/>
                  </a:solidFill>
                </a:rPr>
                <a:t>G</a:t>
              </a:r>
            </a:p>
          </p:txBody>
        </p:sp>
        <p:sp>
          <p:nvSpPr>
            <p:cNvPr id="52250" name="Text Box 26"/>
            <p:cNvSpPr txBox="1">
              <a:spLocks noChangeArrowheads="1"/>
            </p:cNvSpPr>
            <p:nvPr/>
          </p:nvSpPr>
          <p:spPr bwMode="auto">
            <a:xfrm>
              <a:off x="2304" y="1488"/>
              <a:ext cx="240" cy="250"/>
            </a:xfrm>
            <a:prstGeom prst="rect">
              <a:avLst/>
            </a:prstGeom>
            <a:noFill/>
            <a:ln w="9525">
              <a:noFill/>
              <a:miter lim="800000"/>
              <a:headEnd/>
              <a:tailEnd/>
            </a:ln>
            <a:effectLst/>
          </p:spPr>
          <p:txBody>
            <a:bodyPr>
              <a:spAutoFit/>
            </a:bodyPr>
            <a:lstStyle/>
            <a:p>
              <a:pPr eaLnBrk="0" hangingPunct="0">
                <a:spcBef>
                  <a:spcPct val="50000"/>
                </a:spcBef>
              </a:pPr>
              <a:r>
                <a:rPr lang="en-US" sz="2000">
                  <a:solidFill>
                    <a:schemeClr val="bg1"/>
                  </a:solidFill>
                </a:rPr>
                <a:t>C</a:t>
              </a:r>
            </a:p>
          </p:txBody>
        </p:sp>
        <p:sp>
          <p:nvSpPr>
            <p:cNvPr id="52251" name="Text Box 27"/>
            <p:cNvSpPr txBox="1">
              <a:spLocks noChangeArrowheads="1"/>
            </p:cNvSpPr>
            <p:nvPr/>
          </p:nvSpPr>
          <p:spPr bwMode="auto">
            <a:xfrm>
              <a:off x="2976" y="2112"/>
              <a:ext cx="240" cy="250"/>
            </a:xfrm>
            <a:prstGeom prst="rect">
              <a:avLst/>
            </a:prstGeom>
            <a:noFill/>
            <a:ln w="9525">
              <a:noFill/>
              <a:miter lim="800000"/>
              <a:headEnd/>
              <a:tailEnd/>
            </a:ln>
            <a:effectLst/>
          </p:spPr>
          <p:txBody>
            <a:bodyPr>
              <a:spAutoFit/>
            </a:bodyPr>
            <a:lstStyle/>
            <a:p>
              <a:pPr eaLnBrk="0" hangingPunct="0">
                <a:spcBef>
                  <a:spcPct val="50000"/>
                </a:spcBef>
              </a:pPr>
              <a:r>
                <a:rPr lang="en-US" sz="2000">
                  <a:solidFill>
                    <a:schemeClr val="bg1"/>
                  </a:solidFill>
                </a:rPr>
                <a:t>A</a:t>
              </a:r>
            </a:p>
          </p:txBody>
        </p:sp>
        <p:sp>
          <p:nvSpPr>
            <p:cNvPr id="52253" name="Text Box 29"/>
            <p:cNvSpPr txBox="1">
              <a:spLocks noChangeArrowheads="1"/>
            </p:cNvSpPr>
            <p:nvPr/>
          </p:nvSpPr>
          <p:spPr bwMode="auto">
            <a:xfrm>
              <a:off x="1488" y="2688"/>
              <a:ext cx="240" cy="250"/>
            </a:xfrm>
            <a:prstGeom prst="rect">
              <a:avLst/>
            </a:prstGeom>
            <a:noFill/>
            <a:ln w="9525">
              <a:noFill/>
              <a:miter lim="800000"/>
              <a:headEnd/>
              <a:tailEnd/>
            </a:ln>
            <a:effectLst/>
          </p:spPr>
          <p:txBody>
            <a:bodyPr>
              <a:spAutoFit/>
            </a:bodyPr>
            <a:lstStyle/>
            <a:p>
              <a:pPr eaLnBrk="0" hangingPunct="0">
                <a:spcBef>
                  <a:spcPct val="50000"/>
                </a:spcBef>
              </a:pPr>
              <a:r>
                <a:rPr lang="en-US" sz="2000">
                  <a:solidFill>
                    <a:schemeClr val="bg1"/>
                  </a:solidFill>
                </a:rPr>
                <a:t>K</a:t>
              </a:r>
            </a:p>
          </p:txBody>
        </p:sp>
        <p:sp>
          <p:nvSpPr>
            <p:cNvPr id="52233" name="Line 9"/>
            <p:cNvSpPr>
              <a:spLocks noChangeShapeType="1"/>
            </p:cNvSpPr>
            <p:nvPr/>
          </p:nvSpPr>
          <p:spPr bwMode="auto">
            <a:xfrm>
              <a:off x="1344" y="3024"/>
              <a:ext cx="1728" cy="432"/>
            </a:xfrm>
            <a:prstGeom prst="line">
              <a:avLst/>
            </a:prstGeom>
            <a:noFill/>
            <a:ln w="38100">
              <a:solidFill>
                <a:srgbClr val="FF66FF"/>
              </a:solidFill>
              <a:round/>
              <a:headEnd/>
              <a:tailEnd/>
            </a:ln>
            <a:effectLst/>
            <a:scene3d>
              <a:camera prst="legacyObliqueTopRight"/>
              <a:lightRig rig="legacyFlat3" dir="b"/>
            </a:scene3d>
            <a:sp3d extrusionH="430200" prstMaterial="legacyPlastic">
              <a:bevelT w="13500" h="13500" prst="angle"/>
              <a:bevelB w="13500" h="13500" prst="angle"/>
              <a:extrusionClr>
                <a:srgbClr val="FF66FF"/>
              </a:extrusionClr>
            </a:sp3d>
          </p:spPr>
          <p:txBody>
            <a:bodyPr wrap="none" anchor="ctr">
              <a:flatTx/>
            </a:bodyPr>
            <a:lstStyle/>
            <a:p>
              <a:endParaRPr lang="en-US"/>
            </a:p>
          </p:txBody>
        </p:sp>
        <p:sp>
          <p:nvSpPr>
            <p:cNvPr id="52254" name="Text Box 30"/>
            <p:cNvSpPr txBox="1">
              <a:spLocks noChangeArrowheads="1"/>
            </p:cNvSpPr>
            <p:nvPr/>
          </p:nvSpPr>
          <p:spPr bwMode="auto">
            <a:xfrm>
              <a:off x="2832" y="3168"/>
              <a:ext cx="288" cy="250"/>
            </a:xfrm>
            <a:prstGeom prst="rect">
              <a:avLst/>
            </a:prstGeom>
            <a:noFill/>
            <a:ln w="9525">
              <a:noFill/>
              <a:miter lim="800000"/>
              <a:headEnd/>
              <a:tailEnd/>
            </a:ln>
            <a:effectLst/>
          </p:spPr>
          <p:txBody>
            <a:bodyPr>
              <a:spAutoFit/>
            </a:bodyPr>
            <a:lstStyle/>
            <a:p>
              <a:pPr eaLnBrk="0" hangingPunct="0">
                <a:spcBef>
                  <a:spcPct val="50000"/>
                </a:spcBef>
              </a:pPr>
              <a:r>
                <a:rPr lang="en-US" sz="2000">
                  <a:solidFill>
                    <a:schemeClr val="bg1"/>
                  </a:solidFill>
                </a:rPr>
                <a:t>K’</a:t>
              </a:r>
            </a:p>
          </p:txBody>
        </p:sp>
        <p:sp>
          <p:nvSpPr>
            <p:cNvPr id="52252" name="Text Box 28"/>
            <p:cNvSpPr txBox="1">
              <a:spLocks noChangeArrowheads="1"/>
            </p:cNvSpPr>
            <p:nvPr/>
          </p:nvSpPr>
          <p:spPr bwMode="auto">
            <a:xfrm>
              <a:off x="2160" y="3027"/>
              <a:ext cx="288" cy="250"/>
            </a:xfrm>
            <a:prstGeom prst="rect">
              <a:avLst/>
            </a:prstGeom>
            <a:noFill/>
            <a:ln w="9525">
              <a:noFill/>
              <a:miter lim="800000"/>
              <a:headEnd/>
              <a:tailEnd/>
            </a:ln>
            <a:effectLst/>
          </p:spPr>
          <p:txBody>
            <a:bodyPr>
              <a:spAutoFit/>
            </a:bodyPr>
            <a:lstStyle/>
            <a:p>
              <a:pPr eaLnBrk="0" hangingPunct="0">
                <a:spcBef>
                  <a:spcPct val="50000"/>
                </a:spcBef>
              </a:pPr>
              <a:r>
                <a:rPr lang="en-US" sz="2000">
                  <a:solidFill>
                    <a:schemeClr val="bg1"/>
                  </a:solidFill>
                </a:rPr>
                <a:t>B</a:t>
              </a:r>
            </a:p>
          </p:txBody>
        </p:sp>
      </p:grpSp>
      <p:sp>
        <p:nvSpPr>
          <p:cNvPr id="52231" name="Text Box 7"/>
          <p:cNvSpPr txBox="1">
            <a:spLocks noChangeArrowheads="1"/>
          </p:cNvSpPr>
          <p:nvPr/>
        </p:nvSpPr>
        <p:spPr bwMode="auto">
          <a:xfrm>
            <a:off x="5562600" y="5257800"/>
            <a:ext cx="609600" cy="396875"/>
          </a:xfrm>
          <a:prstGeom prst="rect">
            <a:avLst/>
          </a:prstGeom>
          <a:noFill/>
          <a:ln w="9525">
            <a:noFill/>
            <a:miter lim="800000"/>
            <a:headEnd/>
            <a:tailEnd/>
          </a:ln>
          <a:effectLst/>
        </p:spPr>
        <p:txBody>
          <a:bodyPr>
            <a:spAutoFit/>
          </a:bodyPr>
          <a:lstStyle/>
          <a:p>
            <a:pPr eaLnBrk="0" hangingPunct="0">
              <a:spcBef>
                <a:spcPct val="50000"/>
              </a:spcBef>
            </a:pPr>
            <a:r>
              <a:rPr lang="en-US" sz="2000">
                <a:solidFill>
                  <a:schemeClr val="bg1"/>
                </a:solidFill>
              </a:rPr>
              <a:t>G’</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152400" y="457200"/>
            <a:ext cx="8763000" cy="557213"/>
          </a:xfrm>
          <a:ln/>
        </p:spPr>
        <p:txBody>
          <a:bodyPr/>
          <a:lstStyle/>
          <a:p>
            <a:r>
              <a:rPr lang="en-US" sz="2800"/>
              <a:t>Comparative Advantage and the Gains from Trade</a:t>
            </a:r>
          </a:p>
        </p:txBody>
      </p:sp>
      <p:grpSp>
        <p:nvGrpSpPr>
          <p:cNvPr id="53251" name="Group 3"/>
          <p:cNvGrpSpPr>
            <a:grpSpLocks/>
          </p:cNvGrpSpPr>
          <p:nvPr/>
        </p:nvGrpSpPr>
        <p:grpSpPr bwMode="auto">
          <a:xfrm>
            <a:off x="1066800" y="1295400"/>
            <a:ext cx="7696200" cy="4892675"/>
            <a:chOff x="672" y="816"/>
            <a:chExt cx="4848" cy="3082"/>
          </a:xfrm>
        </p:grpSpPr>
        <p:sp>
          <p:nvSpPr>
            <p:cNvPr id="53252" name="Text Box 4"/>
            <p:cNvSpPr txBox="1">
              <a:spLocks noChangeArrowheads="1"/>
            </p:cNvSpPr>
            <p:nvPr/>
          </p:nvSpPr>
          <p:spPr bwMode="auto">
            <a:xfrm>
              <a:off x="768" y="1296"/>
              <a:ext cx="3456" cy="250"/>
            </a:xfrm>
            <a:prstGeom prst="rect">
              <a:avLst/>
            </a:prstGeom>
            <a:noFill/>
            <a:ln w="9525">
              <a:noFill/>
              <a:miter lim="800000"/>
              <a:headEnd/>
              <a:tailEnd/>
            </a:ln>
            <a:effectLst/>
          </p:spPr>
          <p:txBody>
            <a:bodyPr>
              <a:spAutoFit/>
            </a:bodyPr>
            <a:lstStyle/>
            <a:p>
              <a:pPr eaLnBrk="0" hangingPunct="0">
                <a:spcBef>
                  <a:spcPct val="50000"/>
                </a:spcBef>
              </a:pPr>
              <a:r>
                <a:rPr lang="en-US" sz="2000" b="1">
                  <a:solidFill>
                    <a:schemeClr val="bg1"/>
                  </a:solidFill>
                </a:rPr>
                <a:t>S. Korea            40             20</a:t>
              </a:r>
            </a:p>
          </p:txBody>
        </p:sp>
        <p:sp>
          <p:nvSpPr>
            <p:cNvPr id="53253" name="Text Box 5"/>
            <p:cNvSpPr txBox="1">
              <a:spLocks noChangeArrowheads="1"/>
            </p:cNvSpPr>
            <p:nvPr/>
          </p:nvSpPr>
          <p:spPr bwMode="auto">
            <a:xfrm>
              <a:off x="768" y="1776"/>
              <a:ext cx="3456" cy="250"/>
            </a:xfrm>
            <a:prstGeom prst="rect">
              <a:avLst/>
            </a:prstGeom>
            <a:noFill/>
            <a:ln w="9525">
              <a:noFill/>
              <a:miter lim="800000"/>
              <a:headEnd/>
              <a:tailEnd/>
            </a:ln>
            <a:effectLst/>
          </p:spPr>
          <p:txBody>
            <a:bodyPr>
              <a:spAutoFit/>
            </a:bodyPr>
            <a:lstStyle/>
            <a:p>
              <a:pPr eaLnBrk="0" hangingPunct="0">
                <a:spcBef>
                  <a:spcPct val="50000"/>
                </a:spcBef>
              </a:pPr>
              <a:r>
                <a:rPr lang="en-US" sz="2000" b="1">
                  <a:solidFill>
                    <a:schemeClr val="bg1"/>
                  </a:solidFill>
                </a:rPr>
                <a:t>S. Korea            2.5            5.0</a:t>
              </a:r>
            </a:p>
          </p:txBody>
        </p:sp>
        <p:sp>
          <p:nvSpPr>
            <p:cNvPr id="53254" name="Text Box 6"/>
            <p:cNvSpPr txBox="1">
              <a:spLocks noChangeArrowheads="1"/>
            </p:cNvSpPr>
            <p:nvPr/>
          </p:nvSpPr>
          <p:spPr bwMode="auto">
            <a:xfrm>
              <a:off x="768" y="2448"/>
              <a:ext cx="3456" cy="250"/>
            </a:xfrm>
            <a:prstGeom prst="rect">
              <a:avLst/>
            </a:prstGeom>
            <a:noFill/>
            <a:ln w="9525">
              <a:noFill/>
              <a:miter lim="800000"/>
              <a:headEnd/>
              <a:tailEnd/>
            </a:ln>
            <a:effectLst/>
          </p:spPr>
          <p:txBody>
            <a:bodyPr>
              <a:spAutoFit/>
            </a:bodyPr>
            <a:lstStyle/>
            <a:p>
              <a:pPr eaLnBrk="0" hangingPunct="0">
                <a:spcBef>
                  <a:spcPct val="50000"/>
                </a:spcBef>
              </a:pPr>
              <a:r>
                <a:rPr lang="en-US" sz="2000" b="1">
                  <a:solidFill>
                    <a:schemeClr val="bg1"/>
                  </a:solidFill>
                </a:rPr>
                <a:t>S. Korea            0.0             10.0</a:t>
              </a:r>
            </a:p>
          </p:txBody>
        </p:sp>
        <p:sp>
          <p:nvSpPr>
            <p:cNvPr id="53255" name="Text Box 7"/>
            <p:cNvSpPr txBox="1">
              <a:spLocks noChangeArrowheads="1"/>
            </p:cNvSpPr>
            <p:nvPr/>
          </p:nvSpPr>
          <p:spPr bwMode="auto">
            <a:xfrm>
              <a:off x="672" y="3120"/>
              <a:ext cx="3456" cy="250"/>
            </a:xfrm>
            <a:prstGeom prst="rect">
              <a:avLst/>
            </a:prstGeom>
            <a:noFill/>
            <a:ln w="9525">
              <a:noFill/>
              <a:miter lim="800000"/>
              <a:headEnd/>
              <a:tailEnd/>
            </a:ln>
            <a:effectLst/>
          </p:spPr>
          <p:txBody>
            <a:bodyPr>
              <a:spAutoFit/>
            </a:bodyPr>
            <a:lstStyle/>
            <a:p>
              <a:pPr eaLnBrk="0" hangingPunct="0">
                <a:spcBef>
                  <a:spcPct val="50000"/>
                </a:spcBef>
              </a:pPr>
              <a:r>
                <a:rPr lang="en-US" sz="2000">
                  <a:solidFill>
                    <a:srgbClr val="FF99FF"/>
                  </a:solidFill>
                </a:rPr>
                <a:t>  </a:t>
              </a:r>
              <a:r>
                <a:rPr lang="en-US" sz="2000" b="1">
                  <a:solidFill>
                    <a:schemeClr val="bg1"/>
                  </a:solidFill>
                </a:rPr>
                <a:t>S. Korea             4              6</a:t>
              </a:r>
            </a:p>
          </p:txBody>
        </p:sp>
        <p:grpSp>
          <p:nvGrpSpPr>
            <p:cNvPr id="53256" name="Group 8"/>
            <p:cNvGrpSpPr>
              <a:grpSpLocks/>
            </p:cNvGrpSpPr>
            <p:nvPr/>
          </p:nvGrpSpPr>
          <p:grpSpPr bwMode="auto">
            <a:xfrm>
              <a:off x="672" y="816"/>
              <a:ext cx="4848" cy="3082"/>
              <a:chOff x="672" y="816"/>
              <a:chExt cx="4848" cy="3082"/>
            </a:xfrm>
          </p:grpSpPr>
          <p:sp>
            <p:nvSpPr>
              <p:cNvPr id="53257" name="Text Box 9"/>
              <p:cNvSpPr txBox="1">
                <a:spLocks noChangeArrowheads="1"/>
              </p:cNvSpPr>
              <p:nvPr/>
            </p:nvSpPr>
            <p:spPr bwMode="auto">
              <a:xfrm>
                <a:off x="1200" y="816"/>
                <a:ext cx="3696" cy="221"/>
              </a:xfrm>
              <a:prstGeom prst="rect">
                <a:avLst/>
              </a:prstGeom>
              <a:noFill/>
              <a:ln w="9525">
                <a:noFill/>
                <a:miter lim="800000"/>
                <a:headEnd/>
                <a:tailEnd/>
              </a:ln>
              <a:effectLst/>
            </p:spPr>
            <p:txBody>
              <a:bodyPr>
                <a:spAutoFit/>
              </a:bodyPr>
              <a:lstStyle/>
              <a:p>
                <a:pPr algn="ctr" eaLnBrk="0" hangingPunct="0">
                  <a:spcBef>
                    <a:spcPct val="50000"/>
                  </a:spcBef>
                </a:pPr>
                <a:r>
                  <a:rPr lang="en-US" sz="1700" u="sng">
                    <a:solidFill>
                      <a:schemeClr val="bg1"/>
                    </a:solidFill>
                  </a:rPr>
                  <a:t>Resources Required to Produce 1 Ton of Cocoa and Rice</a:t>
                </a:r>
              </a:p>
            </p:txBody>
          </p:sp>
          <p:sp>
            <p:nvSpPr>
              <p:cNvPr id="53258" name="Text Box 10"/>
              <p:cNvSpPr txBox="1">
                <a:spLocks noChangeArrowheads="1"/>
              </p:cNvSpPr>
              <p:nvPr/>
            </p:nvSpPr>
            <p:spPr bwMode="auto">
              <a:xfrm>
                <a:off x="768" y="1152"/>
                <a:ext cx="3456" cy="250"/>
              </a:xfrm>
              <a:prstGeom prst="rect">
                <a:avLst/>
              </a:prstGeom>
              <a:noFill/>
              <a:ln w="9525">
                <a:noFill/>
                <a:miter lim="800000"/>
                <a:headEnd/>
                <a:tailEnd/>
              </a:ln>
              <a:effectLst/>
            </p:spPr>
            <p:txBody>
              <a:bodyPr>
                <a:spAutoFit/>
              </a:bodyPr>
              <a:lstStyle/>
              <a:p>
                <a:pPr eaLnBrk="0" hangingPunct="0">
                  <a:spcBef>
                    <a:spcPct val="50000"/>
                  </a:spcBef>
                </a:pPr>
                <a:r>
                  <a:rPr lang="en-US" sz="2000" b="1">
                    <a:solidFill>
                      <a:schemeClr val="bg1"/>
                    </a:solidFill>
                  </a:rPr>
                  <a:t>Ghana               10             13.33</a:t>
                </a:r>
              </a:p>
            </p:txBody>
          </p:sp>
          <p:sp>
            <p:nvSpPr>
              <p:cNvPr id="53259" name="Text Box 11"/>
              <p:cNvSpPr txBox="1">
                <a:spLocks noChangeArrowheads="1"/>
              </p:cNvSpPr>
              <p:nvPr/>
            </p:nvSpPr>
            <p:spPr bwMode="auto">
              <a:xfrm>
                <a:off x="1152" y="1488"/>
                <a:ext cx="3696" cy="221"/>
              </a:xfrm>
              <a:prstGeom prst="rect">
                <a:avLst/>
              </a:prstGeom>
              <a:noFill/>
              <a:ln w="9525">
                <a:noFill/>
                <a:miter lim="800000"/>
                <a:headEnd/>
                <a:tailEnd/>
              </a:ln>
              <a:effectLst/>
            </p:spPr>
            <p:txBody>
              <a:bodyPr>
                <a:spAutoFit/>
              </a:bodyPr>
              <a:lstStyle/>
              <a:p>
                <a:pPr algn="ctr" eaLnBrk="0" hangingPunct="0">
                  <a:spcBef>
                    <a:spcPct val="50000"/>
                  </a:spcBef>
                </a:pPr>
                <a:r>
                  <a:rPr lang="en-US" sz="1700" u="sng">
                    <a:solidFill>
                      <a:schemeClr val="bg1"/>
                    </a:solidFill>
                  </a:rPr>
                  <a:t>Production and Consumption without Trade</a:t>
                </a:r>
              </a:p>
            </p:txBody>
          </p:sp>
          <p:sp>
            <p:nvSpPr>
              <p:cNvPr id="53260" name="Text Box 12"/>
              <p:cNvSpPr txBox="1">
                <a:spLocks noChangeArrowheads="1"/>
              </p:cNvSpPr>
              <p:nvPr/>
            </p:nvSpPr>
            <p:spPr bwMode="auto">
              <a:xfrm>
                <a:off x="768" y="1632"/>
                <a:ext cx="3456" cy="250"/>
              </a:xfrm>
              <a:prstGeom prst="rect">
                <a:avLst/>
              </a:prstGeom>
              <a:noFill/>
              <a:ln w="9525">
                <a:noFill/>
                <a:miter lim="800000"/>
                <a:headEnd/>
                <a:tailEnd/>
              </a:ln>
              <a:effectLst/>
            </p:spPr>
            <p:txBody>
              <a:bodyPr>
                <a:spAutoFit/>
              </a:bodyPr>
              <a:lstStyle/>
              <a:p>
                <a:pPr eaLnBrk="0" hangingPunct="0">
                  <a:spcBef>
                    <a:spcPct val="50000"/>
                  </a:spcBef>
                </a:pPr>
                <a:r>
                  <a:rPr lang="en-US" sz="2000" b="1">
                    <a:solidFill>
                      <a:schemeClr val="bg1"/>
                    </a:solidFill>
                  </a:rPr>
                  <a:t>Ghana               10.0           7.5</a:t>
                </a:r>
              </a:p>
            </p:txBody>
          </p:sp>
          <p:sp>
            <p:nvSpPr>
              <p:cNvPr id="53261" name="Text Box 13"/>
              <p:cNvSpPr txBox="1">
                <a:spLocks noChangeArrowheads="1"/>
              </p:cNvSpPr>
              <p:nvPr/>
            </p:nvSpPr>
            <p:spPr bwMode="auto">
              <a:xfrm>
                <a:off x="912" y="1958"/>
                <a:ext cx="3456" cy="250"/>
              </a:xfrm>
              <a:prstGeom prst="rect">
                <a:avLst/>
              </a:prstGeom>
              <a:noFill/>
              <a:ln w="9525">
                <a:noFill/>
                <a:miter lim="800000"/>
                <a:headEnd/>
                <a:tailEnd/>
              </a:ln>
              <a:effectLst/>
            </p:spPr>
            <p:txBody>
              <a:bodyPr>
                <a:spAutoFit/>
              </a:bodyPr>
              <a:lstStyle/>
              <a:p>
                <a:pPr eaLnBrk="0" hangingPunct="0">
                  <a:spcBef>
                    <a:spcPct val="50000"/>
                  </a:spcBef>
                </a:pPr>
                <a:r>
                  <a:rPr lang="en-US" sz="2000">
                    <a:solidFill>
                      <a:srgbClr val="99FF33"/>
                    </a:solidFill>
                  </a:rPr>
                  <a:t>Total production   12.5                 12.5</a:t>
                </a:r>
              </a:p>
            </p:txBody>
          </p:sp>
          <p:sp>
            <p:nvSpPr>
              <p:cNvPr id="53262" name="Text Box 14"/>
              <p:cNvSpPr txBox="1">
                <a:spLocks noChangeArrowheads="1"/>
              </p:cNvSpPr>
              <p:nvPr/>
            </p:nvSpPr>
            <p:spPr bwMode="auto">
              <a:xfrm>
                <a:off x="1248" y="2112"/>
                <a:ext cx="3696" cy="221"/>
              </a:xfrm>
              <a:prstGeom prst="rect">
                <a:avLst/>
              </a:prstGeom>
              <a:noFill/>
              <a:ln w="9525">
                <a:noFill/>
                <a:miter lim="800000"/>
                <a:headEnd/>
                <a:tailEnd/>
              </a:ln>
              <a:effectLst/>
            </p:spPr>
            <p:txBody>
              <a:bodyPr>
                <a:spAutoFit/>
              </a:bodyPr>
              <a:lstStyle/>
              <a:p>
                <a:pPr algn="ctr" eaLnBrk="0" hangingPunct="0">
                  <a:spcBef>
                    <a:spcPct val="50000"/>
                  </a:spcBef>
                </a:pPr>
                <a:r>
                  <a:rPr lang="en-US" sz="1700" u="sng">
                    <a:solidFill>
                      <a:schemeClr val="bg1"/>
                    </a:solidFill>
                  </a:rPr>
                  <a:t>Production with Specialization</a:t>
                </a:r>
              </a:p>
            </p:txBody>
          </p:sp>
          <p:sp>
            <p:nvSpPr>
              <p:cNvPr id="53263" name="Text Box 15"/>
              <p:cNvSpPr txBox="1">
                <a:spLocks noChangeArrowheads="1"/>
              </p:cNvSpPr>
              <p:nvPr/>
            </p:nvSpPr>
            <p:spPr bwMode="auto">
              <a:xfrm>
                <a:off x="768" y="2304"/>
                <a:ext cx="3456" cy="250"/>
              </a:xfrm>
              <a:prstGeom prst="rect">
                <a:avLst/>
              </a:prstGeom>
              <a:noFill/>
              <a:ln w="9525">
                <a:noFill/>
                <a:miter lim="800000"/>
                <a:headEnd/>
                <a:tailEnd/>
              </a:ln>
              <a:effectLst/>
            </p:spPr>
            <p:txBody>
              <a:bodyPr>
                <a:spAutoFit/>
              </a:bodyPr>
              <a:lstStyle/>
              <a:p>
                <a:pPr eaLnBrk="0" hangingPunct="0">
                  <a:spcBef>
                    <a:spcPct val="50000"/>
                  </a:spcBef>
                </a:pPr>
                <a:r>
                  <a:rPr lang="en-US" sz="2000" b="1">
                    <a:solidFill>
                      <a:schemeClr val="bg1"/>
                    </a:solidFill>
                  </a:rPr>
                  <a:t>Ghana               15              3.75</a:t>
                </a:r>
              </a:p>
            </p:txBody>
          </p:sp>
          <p:sp>
            <p:nvSpPr>
              <p:cNvPr id="53264" name="Text Box 16"/>
              <p:cNvSpPr txBox="1">
                <a:spLocks noChangeArrowheads="1"/>
              </p:cNvSpPr>
              <p:nvPr/>
            </p:nvSpPr>
            <p:spPr bwMode="auto">
              <a:xfrm>
                <a:off x="864" y="2592"/>
                <a:ext cx="3600" cy="250"/>
              </a:xfrm>
              <a:prstGeom prst="rect">
                <a:avLst/>
              </a:prstGeom>
              <a:noFill/>
              <a:ln w="9525">
                <a:noFill/>
                <a:miter lim="800000"/>
                <a:headEnd/>
                <a:tailEnd/>
              </a:ln>
              <a:effectLst/>
            </p:spPr>
            <p:txBody>
              <a:bodyPr>
                <a:spAutoFit/>
              </a:bodyPr>
              <a:lstStyle/>
              <a:p>
                <a:pPr eaLnBrk="0" hangingPunct="0">
                  <a:spcBef>
                    <a:spcPct val="50000"/>
                  </a:spcBef>
                </a:pPr>
                <a:r>
                  <a:rPr lang="en-US" sz="2000">
                    <a:solidFill>
                      <a:srgbClr val="99FF33"/>
                    </a:solidFill>
                  </a:rPr>
                  <a:t>Total production      15                  13.75</a:t>
                </a:r>
              </a:p>
            </p:txBody>
          </p:sp>
          <p:sp>
            <p:nvSpPr>
              <p:cNvPr id="53265" name="Text Box 17"/>
              <p:cNvSpPr txBox="1">
                <a:spLocks noChangeArrowheads="1"/>
              </p:cNvSpPr>
              <p:nvPr/>
            </p:nvSpPr>
            <p:spPr bwMode="auto">
              <a:xfrm>
                <a:off x="768" y="2784"/>
                <a:ext cx="4752" cy="221"/>
              </a:xfrm>
              <a:prstGeom prst="rect">
                <a:avLst/>
              </a:prstGeom>
              <a:noFill/>
              <a:ln w="9525">
                <a:noFill/>
                <a:miter lim="800000"/>
                <a:headEnd/>
                <a:tailEnd/>
              </a:ln>
              <a:effectLst/>
            </p:spPr>
            <p:txBody>
              <a:bodyPr>
                <a:spAutoFit/>
              </a:bodyPr>
              <a:lstStyle/>
              <a:p>
                <a:pPr algn="ctr" eaLnBrk="0" hangingPunct="0">
                  <a:spcBef>
                    <a:spcPct val="50000"/>
                  </a:spcBef>
                </a:pPr>
                <a:r>
                  <a:rPr lang="en-US" sz="1700" u="sng">
                    <a:solidFill>
                      <a:schemeClr val="bg1"/>
                    </a:solidFill>
                  </a:rPr>
                  <a:t>Consumption after Ghana Trades 4T of Cocoa for  4TSouth Korean Rice</a:t>
                </a:r>
              </a:p>
            </p:txBody>
          </p:sp>
          <p:sp>
            <p:nvSpPr>
              <p:cNvPr id="53266" name="Text Box 18"/>
              <p:cNvSpPr txBox="1">
                <a:spLocks noChangeArrowheads="1"/>
              </p:cNvSpPr>
              <p:nvPr/>
            </p:nvSpPr>
            <p:spPr bwMode="auto">
              <a:xfrm>
                <a:off x="768" y="2976"/>
                <a:ext cx="3456" cy="250"/>
              </a:xfrm>
              <a:prstGeom prst="rect">
                <a:avLst/>
              </a:prstGeom>
              <a:noFill/>
              <a:ln w="9525">
                <a:noFill/>
                <a:miter lim="800000"/>
                <a:headEnd/>
                <a:tailEnd/>
              </a:ln>
              <a:effectLst/>
            </p:spPr>
            <p:txBody>
              <a:bodyPr>
                <a:spAutoFit/>
              </a:bodyPr>
              <a:lstStyle/>
              <a:p>
                <a:pPr eaLnBrk="0" hangingPunct="0">
                  <a:spcBef>
                    <a:spcPct val="50000"/>
                  </a:spcBef>
                </a:pPr>
                <a:r>
                  <a:rPr lang="en-US" sz="2000" b="1">
                    <a:solidFill>
                      <a:schemeClr val="bg1"/>
                    </a:solidFill>
                  </a:rPr>
                  <a:t>Ghana                11             7.75</a:t>
                </a:r>
              </a:p>
            </p:txBody>
          </p:sp>
          <p:sp>
            <p:nvSpPr>
              <p:cNvPr id="53267" name="Text Box 19"/>
              <p:cNvSpPr txBox="1">
                <a:spLocks noChangeArrowheads="1"/>
              </p:cNvSpPr>
              <p:nvPr/>
            </p:nvSpPr>
            <p:spPr bwMode="auto">
              <a:xfrm>
                <a:off x="672" y="3312"/>
                <a:ext cx="4656" cy="221"/>
              </a:xfrm>
              <a:prstGeom prst="rect">
                <a:avLst/>
              </a:prstGeom>
              <a:noFill/>
              <a:ln w="9525">
                <a:noFill/>
                <a:miter lim="800000"/>
                <a:headEnd/>
                <a:tailEnd/>
              </a:ln>
              <a:effectLst/>
            </p:spPr>
            <p:txBody>
              <a:bodyPr>
                <a:spAutoFit/>
              </a:bodyPr>
              <a:lstStyle/>
              <a:p>
                <a:pPr algn="ctr" eaLnBrk="0" hangingPunct="0">
                  <a:spcBef>
                    <a:spcPct val="50000"/>
                  </a:spcBef>
                </a:pPr>
                <a:r>
                  <a:rPr lang="en-US" sz="1700" u="sng">
                    <a:solidFill>
                      <a:schemeClr val="bg1"/>
                    </a:solidFill>
                  </a:rPr>
                  <a:t>    Increase in Consumption as a Result of Specialization and Trade</a:t>
                </a:r>
              </a:p>
            </p:txBody>
          </p:sp>
          <p:sp>
            <p:nvSpPr>
              <p:cNvPr id="53268" name="Text Box 20"/>
              <p:cNvSpPr txBox="1">
                <a:spLocks noChangeArrowheads="1"/>
              </p:cNvSpPr>
              <p:nvPr/>
            </p:nvSpPr>
            <p:spPr bwMode="auto">
              <a:xfrm>
                <a:off x="768" y="3456"/>
                <a:ext cx="3456" cy="250"/>
              </a:xfrm>
              <a:prstGeom prst="rect">
                <a:avLst/>
              </a:prstGeom>
              <a:noFill/>
              <a:ln w="9525">
                <a:noFill/>
                <a:miter lim="800000"/>
                <a:headEnd/>
                <a:tailEnd/>
              </a:ln>
              <a:effectLst/>
            </p:spPr>
            <p:txBody>
              <a:bodyPr>
                <a:spAutoFit/>
              </a:bodyPr>
              <a:lstStyle/>
              <a:p>
                <a:pPr eaLnBrk="0" hangingPunct="0">
                  <a:spcBef>
                    <a:spcPct val="50000"/>
                  </a:spcBef>
                </a:pPr>
                <a:r>
                  <a:rPr lang="en-US" sz="2000" b="1">
                    <a:solidFill>
                      <a:schemeClr val="bg1"/>
                    </a:solidFill>
                  </a:rPr>
                  <a:t>Ghana                1.0            0.25</a:t>
                </a:r>
              </a:p>
            </p:txBody>
          </p:sp>
          <p:sp>
            <p:nvSpPr>
              <p:cNvPr id="53269" name="Text Box 21"/>
              <p:cNvSpPr txBox="1">
                <a:spLocks noChangeArrowheads="1"/>
              </p:cNvSpPr>
              <p:nvPr/>
            </p:nvSpPr>
            <p:spPr bwMode="auto">
              <a:xfrm>
                <a:off x="768" y="3648"/>
                <a:ext cx="3504" cy="250"/>
              </a:xfrm>
              <a:prstGeom prst="rect">
                <a:avLst/>
              </a:prstGeom>
              <a:noFill/>
              <a:ln w="9525">
                <a:noFill/>
                <a:miter lim="800000"/>
                <a:headEnd/>
                <a:tailEnd/>
              </a:ln>
              <a:effectLst/>
            </p:spPr>
            <p:txBody>
              <a:bodyPr>
                <a:spAutoFit/>
              </a:bodyPr>
              <a:lstStyle/>
              <a:p>
                <a:pPr eaLnBrk="0" hangingPunct="0">
                  <a:spcBef>
                    <a:spcPct val="50000"/>
                  </a:spcBef>
                </a:pPr>
                <a:r>
                  <a:rPr lang="en-US" sz="2000" b="1">
                    <a:solidFill>
                      <a:schemeClr val="bg1"/>
                    </a:solidFill>
                  </a:rPr>
                  <a:t>S. Korea             1.5            1.0</a:t>
                </a:r>
              </a:p>
            </p:txBody>
          </p:sp>
          <p:sp>
            <p:nvSpPr>
              <p:cNvPr id="53270" name="Text Box 22"/>
              <p:cNvSpPr txBox="1">
                <a:spLocks noChangeArrowheads="1"/>
              </p:cNvSpPr>
              <p:nvPr/>
            </p:nvSpPr>
            <p:spPr bwMode="auto">
              <a:xfrm>
                <a:off x="2304" y="960"/>
                <a:ext cx="2160" cy="231"/>
              </a:xfrm>
              <a:prstGeom prst="rect">
                <a:avLst/>
              </a:prstGeom>
              <a:noFill/>
              <a:ln w="9525">
                <a:noFill/>
                <a:miter lim="800000"/>
                <a:headEnd/>
                <a:tailEnd/>
              </a:ln>
              <a:effectLst/>
            </p:spPr>
            <p:txBody>
              <a:bodyPr>
                <a:spAutoFit/>
              </a:bodyPr>
              <a:lstStyle/>
              <a:p>
                <a:pPr eaLnBrk="0" hangingPunct="0">
                  <a:spcBef>
                    <a:spcPct val="50000"/>
                  </a:spcBef>
                </a:pPr>
                <a:r>
                  <a:rPr lang="en-US" u="sng">
                    <a:solidFill>
                      <a:srgbClr val="CCFF66"/>
                    </a:solidFill>
                  </a:rPr>
                  <a:t>Cocoa</a:t>
                </a:r>
                <a:r>
                  <a:rPr lang="en-US">
                    <a:solidFill>
                      <a:srgbClr val="CCFF66"/>
                    </a:solidFill>
                  </a:rPr>
                  <a:t>                </a:t>
                </a:r>
                <a:r>
                  <a:rPr lang="en-US" u="sng">
                    <a:solidFill>
                      <a:srgbClr val="CCFF66"/>
                    </a:solidFill>
                  </a:rPr>
                  <a:t>Rice</a:t>
                </a:r>
                <a:endParaRPr lang="en-US">
                  <a:solidFill>
                    <a:srgbClr val="CCFF66"/>
                  </a:solidFill>
                </a:endParaRPr>
              </a:p>
            </p:txBody>
          </p:sp>
        </p:grpSp>
      </p:grpSp>
      <p:sp>
        <p:nvSpPr>
          <p:cNvPr id="53271" name="Text Box 23"/>
          <p:cNvSpPr txBox="1">
            <a:spLocks noChangeArrowheads="1"/>
          </p:cNvSpPr>
          <p:nvPr/>
        </p:nvSpPr>
        <p:spPr bwMode="auto">
          <a:xfrm>
            <a:off x="6781800" y="5715000"/>
            <a:ext cx="1752600" cy="396875"/>
          </a:xfrm>
          <a:prstGeom prst="rect">
            <a:avLst/>
          </a:prstGeom>
          <a:noFill/>
          <a:ln w="9525">
            <a:noFill/>
            <a:miter lim="800000"/>
            <a:headEnd/>
            <a:tailEnd/>
          </a:ln>
          <a:effectLst/>
        </p:spPr>
        <p:txBody>
          <a:bodyPr>
            <a:spAutoFit/>
          </a:bodyPr>
          <a:lstStyle/>
          <a:p>
            <a:pPr eaLnBrk="0" hangingPunct="0">
              <a:spcBef>
                <a:spcPct val="50000"/>
              </a:spcBef>
            </a:pPr>
            <a:r>
              <a:rPr lang="en-US" sz="2000">
                <a:solidFill>
                  <a:schemeClr val="bg1"/>
                </a:solidFill>
              </a:rPr>
              <a:t>Table 4.2</a:t>
            </a:r>
            <a:endParaRPr lang="en-US" sz="2000"/>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685800" y="457200"/>
            <a:ext cx="7772400" cy="1143000"/>
          </a:xfrm>
          <a:ln/>
        </p:spPr>
        <p:txBody>
          <a:bodyPr lIns="90488" tIns="44450" rIns="90488" bIns="44450" anchor="ctr"/>
          <a:lstStyle/>
          <a:p>
            <a:r>
              <a:rPr lang="en-US" sz="3200"/>
              <a:t>Extensions of the Ricardian Model</a:t>
            </a:r>
          </a:p>
        </p:txBody>
      </p:sp>
      <p:sp>
        <p:nvSpPr>
          <p:cNvPr id="54275" name="Rectangle 3"/>
          <p:cNvSpPr>
            <a:spLocks noGrp="1" noChangeArrowheads="1"/>
          </p:cNvSpPr>
          <p:nvPr>
            <p:ph type="body" idx="1"/>
          </p:nvPr>
        </p:nvSpPr>
        <p:spPr>
          <a:xfrm>
            <a:off x="762000" y="1828800"/>
            <a:ext cx="7772400" cy="4419600"/>
          </a:xfrm>
          <a:solidFill>
            <a:srgbClr val="EAEAEA"/>
          </a:solidFill>
          <a:ln/>
        </p:spPr>
        <p:txBody>
          <a:bodyPr lIns="90488" tIns="44450" rIns="90488" bIns="44450"/>
          <a:lstStyle/>
          <a:p>
            <a:pPr>
              <a:lnSpc>
                <a:spcPct val="90000"/>
              </a:lnSpc>
            </a:pPr>
            <a:r>
              <a:rPr lang="en-US" sz="2100">
                <a:solidFill>
                  <a:srgbClr val="003399"/>
                </a:solidFill>
              </a:rPr>
              <a:t>Immobile resources:</a:t>
            </a:r>
          </a:p>
          <a:p>
            <a:pPr lvl="1">
              <a:lnSpc>
                <a:spcPct val="90000"/>
              </a:lnSpc>
            </a:pPr>
            <a:r>
              <a:rPr lang="en-US" sz="2100">
                <a:solidFill>
                  <a:srgbClr val="003399"/>
                </a:solidFill>
              </a:rPr>
              <a:t>Resources do not always move easily from one economic activity to another.</a:t>
            </a:r>
          </a:p>
          <a:p>
            <a:pPr>
              <a:lnSpc>
                <a:spcPct val="90000"/>
              </a:lnSpc>
            </a:pPr>
            <a:r>
              <a:rPr lang="en-US" sz="2100">
                <a:solidFill>
                  <a:srgbClr val="003399"/>
                </a:solidFill>
              </a:rPr>
              <a:t>Diminishing returns:</a:t>
            </a:r>
          </a:p>
          <a:p>
            <a:pPr lvl="1">
              <a:lnSpc>
                <a:spcPct val="90000"/>
              </a:lnSpc>
            </a:pPr>
            <a:r>
              <a:rPr lang="en-US" sz="2100">
                <a:solidFill>
                  <a:srgbClr val="003399"/>
                </a:solidFill>
              </a:rPr>
              <a:t>More a country produces, at some point, will require more resources (diminishing returns to specialization).</a:t>
            </a:r>
          </a:p>
          <a:p>
            <a:pPr lvl="1">
              <a:lnSpc>
                <a:spcPct val="90000"/>
              </a:lnSpc>
            </a:pPr>
            <a:r>
              <a:rPr lang="en-US" sz="2100">
                <a:solidFill>
                  <a:srgbClr val="003399"/>
                </a:solidFill>
              </a:rPr>
              <a:t>Different goods use resources in different proportions.</a:t>
            </a:r>
          </a:p>
          <a:p>
            <a:pPr>
              <a:lnSpc>
                <a:spcPct val="90000"/>
              </a:lnSpc>
            </a:pPr>
            <a:r>
              <a:rPr lang="en-US" sz="2100">
                <a:solidFill>
                  <a:srgbClr val="003399"/>
                </a:solidFill>
              </a:rPr>
              <a:t>However:</a:t>
            </a:r>
          </a:p>
          <a:p>
            <a:pPr lvl="1">
              <a:lnSpc>
                <a:spcPct val="90000"/>
              </a:lnSpc>
            </a:pPr>
            <a:r>
              <a:rPr lang="en-US" sz="2100">
                <a:solidFill>
                  <a:srgbClr val="003399"/>
                </a:solidFill>
              </a:rPr>
              <a:t>Free trade might increase a country’s stock of resources (as labor and capital arrives from abroad), and</a:t>
            </a:r>
          </a:p>
          <a:p>
            <a:pPr lvl="1">
              <a:lnSpc>
                <a:spcPct val="90000"/>
              </a:lnSpc>
            </a:pPr>
            <a:r>
              <a:rPr lang="en-US" sz="2100">
                <a:solidFill>
                  <a:srgbClr val="003399"/>
                </a:solidFill>
              </a:rPr>
              <a:t>Increase the efficiency of resource utilization.</a:t>
            </a:r>
          </a:p>
        </p:txBody>
      </p:sp>
      <p:sp>
        <p:nvSpPr>
          <p:cNvPr id="54278" name="Text Box 6"/>
          <p:cNvSpPr txBox="1">
            <a:spLocks noChangeArrowheads="1"/>
          </p:cNvSpPr>
          <p:nvPr/>
        </p:nvSpPr>
        <p:spPr bwMode="auto">
          <a:xfrm>
            <a:off x="8305800" y="152400"/>
            <a:ext cx="609600" cy="304800"/>
          </a:xfrm>
          <a:prstGeom prst="rect">
            <a:avLst/>
          </a:prstGeom>
          <a:noFill/>
          <a:ln w="9525">
            <a:noFill/>
            <a:miter lim="800000"/>
            <a:headEnd/>
            <a:tailEnd/>
          </a:ln>
          <a:effectLst/>
        </p:spPr>
        <p:txBody>
          <a:bodyPr>
            <a:spAutoFit/>
          </a:bodyPr>
          <a:lstStyle/>
          <a:p>
            <a:pPr>
              <a:spcBef>
                <a:spcPct val="50000"/>
              </a:spcBef>
            </a:pPr>
            <a:r>
              <a:rPr lang="en-US" sz="1400">
                <a:solidFill>
                  <a:schemeClr val="bg1"/>
                </a:solidFill>
              </a:rPr>
              <a:t>4-16</a:t>
            </a:r>
          </a:p>
        </p:txBody>
      </p:sp>
      <p:grpSp>
        <p:nvGrpSpPr>
          <p:cNvPr id="54279" name="Group 7"/>
          <p:cNvGrpSpPr>
            <a:grpSpLocks/>
          </p:cNvGrpSpPr>
          <p:nvPr/>
        </p:nvGrpSpPr>
        <p:grpSpPr bwMode="auto">
          <a:xfrm>
            <a:off x="142875" y="6553200"/>
            <a:ext cx="9001125" cy="280988"/>
            <a:chOff x="90" y="4128"/>
            <a:chExt cx="6102" cy="161"/>
          </a:xfrm>
        </p:grpSpPr>
        <p:sp>
          <p:nvSpPr>
            <p:cNvPr id="54280" name="Rectangle 8"/>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54281" name="Text Box 9"/>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533400" y="914400"/>
            <a:ext cx="8305800" cy="647700"/>
          </a:xfrm>
          <a:ln/>
        </p:spPr>
        <p:txBody>
          <a:bodyPr/>
          <a:lstStyle/>
          <a:p>
            <a:r>
              <a:rPr lang="en-US" sz="3400"/>
              <a:t>Ghana’s PPF under Diminishing Returns</a:t>
            </a:r>
          </a:p>
        </p:txBody>
      </p:sp>
      <p:grpSp>
        <p:nvGrpSpPr>
          <p:cNvPr id="55309" name="Group 13"/>
          <p:cNvGrpSpPr>
            <a:grpSpLocks/>
          </p:cNvGrpSpPr>
          <p:nvPr/>
        </p:nvGrpSpPr>
        <p:grpSpPr bwMode="auto">
          <a:xfrm>
            <a:off x="2362200" y="2362200"/>
            <a:ext cx="4876800" cy="3779838"/>
            <a:chOff x="1488" y="1488"/>
            <a:chExt cx="3072" cy="2381"/>
          </a:xfrm>
        </p:grpSpPr>
        <p:sp>
          <p:nvSpPr>
            <p:cNvPr id="55299" name="Line 3"/>
            <p:cNvSpPr>
              <a:spLocks noChangeShapeType="1"/>
            </p:cNvSpPr>
            <p:nvPr/>
          </p:nvSpPr>
          <p:spPr bwMode="auto">
            <a:xfrm>
              <a:off x="1872" y="1536"/>
              <a:ext cx="0" cy="1968"/>
            </a:xfrm>
            <a:prstGeom prst="line">
              <a:avLst/>
            </a:prstGeom>
            <a:noFill/>
            <a:ln w="38100">
              <a:solidFill>
                <a:srgbClr val="FFFF00"/>
              </a:solidFill>
              <a:round/>
              <a:headEnd/>
              <a:tailEnd/>
            </a:ln>
            <a:effectLst/>
            <a:scene3d>
              <a:camera prst="legacyObliqueTopRight"/>
              <a:lightRig rig="legacyFlat3" dir="b"/>
            </a:scene3d>
            <a:sp3d extrusionH="430200" prstMaterial="legacyPlastic">
              <a:bevelT w="13500" h="13500" prst="angle"/>
              <a:bevelB w="13500" h="13500" prst="angle"/>
              <a:extrusionClr>
                <a:srgbClr val="FFFF00"/>
              </a:extrusionClr>
            </a:sp3d>
          </p:spPr>
          <p:txBody>
            <a:bodyPr wrap="none" anchor="ctr">
              <a:flatTx/>
            </a:bodyPr>
            <a:lstStyle/>
            <a:p>
              <a:endParaRPr lang="en-US"/>
            </a:p>
          </p:txBody>
        </p:sp>
        <p:sp>
          <p:nvSpPr>
            <p:cNvPr id="55300" name="Line 4"/>
            <p:cNvSpPr>
              <a:spLocks noChangeShapeType="1"/>
            </p:cNvSpPr>
            <p:nvPr/>
          </p:nvSpPr>
          <p:spPr bwMode="auto">
            <a:xfrm>
              <a:off x="1872" y="3504"/>
              <a:ext cx="2640" cy="0"/>
            </a:xfrm>
            <a:prstGeom prst="line">
              <a:avLst/>
            </a:prstGeom>
            <a:noFill/>
            <a:ln w="38100">
              <a:solidFill>
                <a:srgbClr val="FFFF00"/>
              </a:solidFill>
              <a:round/>
              <a:headEnd/>
              <a:tailEnd/>
            </a:ln>
            <a:effectLst/>
            <a:scene3d>
              <a:camera prst="legacyObliqueTopRight"/>
              <a:lightRig rig="legacyFlat3" dir="b"/>
            </a:scene3d>
            <a:sp3d extrusionH="430200" prstMaterial="legacyPlastic">
              <a:bevelT w="13500" h="13500" prst="angle"/>
              <a:bevelB w="13500" h="13500" prst="angle"/>
              <a:extrusionClr>
                <a:srgbClr val="FFFF00"/>
              </a:extrusionClr>
            </a:sp3d>
          </p:spPr>
          <p:txBody>
            <a:bodyPr wrap="none" anchor="ctr">
              <a:flatTx/>
            </a:bodyPr>
            <a:lstStyle/>
            <a:p>
              <a:endParaRPr lang="en-US"/>
            </a:p>
          </p:txBody>
        </p:sp>
        <p:sp>
          <p:nvSpPr>
            <p:cNvPr id="55301" name="Text Box 5"/>
            <p:cNvSpPr txBox="1">
              <a:spLocks noChangeArrowheads="1"/>
            </p:cNvSpPr>
            <p:nvPr/>
          </p:nvSpPr>
          <p:spPr bwMode="auto">
            <a:xfrm rot="-5400000">
              <a:off x="1219" y="2285"/>
              <a:ext cx="807" cy="269"/>
            </a:xfrm>
            <a:prstGeom prst="rect">
              <a:avLst/>
            </a:prstGeom>
            <a:noFill/>
            <a:ln w="9525">
              <a:noFill/>
              <a:miter lim="800000"/>
              <a:headEnd/>
              <a:tailEnd/>
            </a:ln>
            <a:effectLst/>
          </p:spPr>
          <p:txBody>
            <a:bodyPr>
              <a:spAutoFit/>
            </a:bodyPr>
            <a:lstStyle/>
            <a:p>
              <a:pPr eaLnBrk="0" hangingPunct="0">
                <a:spcBef>
                  <a:spcPct val="50000"/>
                </a:spcBef>
              </a:pPr>
              <a:r>
                <a:rPr lang="en-US" sz="2200">
                  <a:solidFill>
                    <a:srgbClr val="FFFF00"/>
                  </a:solidFill>
                </a:rPr>
                <a:t>Cocoa</a:t>
              </a:r>
              <a:endParaRPr lang="en-US" sz="2200"/>
            </a:p>
          </p:txBody>
        </p:sp>
        <p:sp>
          <p:nvSpPr>
            <p:cNvPr id="55302" name="Text Box 6"/>
            <p:cNvSpPr txBox="1">
              <a:spLocks noChangeArrowheads="1"/>
            </p:cNvSpPr>
            <p:nvPr/>
          </p:nvSpPr>
          <p:spPr bwMode="auto">
            <a:xfrm>
              <a:off x="3024" y="3600"/>
              <a:ext cx="1056" cy="269"/>
            </a:xfrm>
            <a:prstGeom prst="rect">
              <a:avLst/>
            </a:prstGeom>
            <a:noFill/>
            <a:ln w="9525">
              <a:noFill/>
              <a:miter lim="800000"/>
              <a:headEnd/>
              <a:tailEnd/>
            </a:ln>
            <a:effectLst/>
          </p:spPr>
          <p:txBody>
            <a:bodyPr>
              <a:spAutoFit/>
            </a:bodyPr>
            <a:lstStyle/>
            <a:p>
              <a:pPr eaLnBrk="0" hangingPunct="0">
                <a:spcBef>
                  <a:spcPct val="50000"/>
                </a:spcBef>
              </a:pPr>
              <a:r>
                <a:rPr lang="en-US" sz="2200">
                  <a:solidFill>
                    <a:srgbClr val="FFFF00"/>
                  </a:solidFill>
                </a:rPr>
                <a:t>Rice</a:t>
              </a:r>
              <a:endParaRPr lang="en-US" sz="2200"/>
            </a:p>
          </p:txBody>
        </p:sp>
        <p:sp>
          <p:nvSpPr>
            <p:cNvPr id="55303" name="Text Box 7"/>
            <p:cNvSpPr txBox="1">
              <a:spLocks noChangeArrowheads="1"/>
            </p:cNvSpPr>
            <p:nvPr/>
          </p:nvSpPr>
          <p:spPr bwMode="auto">
            <a:xfrm>
              <a:off x="4176" y="3264"/>
              <a:ext cx="384" cy="250"/>
            </a:xfrm>
            <a:prstGeom prst="rect">
              <a:avLst/>
            </a:prstGeom>
            <a:noFill/>
            <a:ln w="9525">
              <a:noFill/>
              <a:miter lim="800000"/>
              <a:headEnd/>
              <a:tailEnd/>
            </a:ln>
            <a:effectLst/>
          </p:spPr>
          <p:txBody>
            <a:bodyPr>
              <a:spAutoFit/>
            </a:bodyPr>
            <a:lstStyle/>
            <a:p>
              <a:pPr eaLnBrk="0" hangingPunct="0">
                <a:spcBef>
                  <a:spcPct val="50000"/>
                </a:spcBef>
              </a:pPr>
              <a:r>
                <a:rPr lang="en-US" sz="2000">
                  <a:solidFill>
                    <a:schemeClr val="bg1"/>
                  </a:solidFill>
                </a:rPr>
                <a:t>G’</a:t>
              </a:r>
            </a:p>
          </p:txBody>
        </p:sp>
        <p:sp>
          <p:nvSpPr>
            <p:cNvPr id="55304" name="Text Box 8"/>
            <p:cNvSpPr txBox="1">
              <a:spLocks noChangeArrowheads="1"/>
            </p:cNvSpPr>
            <p:nvPr/>
          </p:nvSpPr>
          <p:spPr bwMode="auto">
            <a:xfrm>
              <a:off x="1968" y="1488"/>
              <a:ext cx="240" cy="250"/>
            </a:xfrm>
            <a:prstGeom prst="rect">
              <a:avLst/>
            </a:prstGeom>
            <a:noFill/>
            <a:ln w="9525">
              <a:noFill/>
              <a:miter lim="800000"/>
              <a:headEnd/>
              <a:tailEnd/>
            </a:ln>
            <a:effectLst/>
          </p:spPr>
          <p:txBody>
            <a:bodyPr>
              <a:spAutoFit/>
            </a:bodyPr>
            <a:lstStyle/>
            <a:p>
              <a:pPr eaLnBrk="0" hangingPunct="0">
                <a:spcBef>
                  <a:spcPct val="50000"/>
                </a:spcBef>
              </a:pPr>
              <a:r>
                <a:rPr lang="en-US" sz="2000">
                  <a:solidFill>
                    <a:schemeClr val="bg1"/>
                  </a:solidFill>
                </a:rPr>
                <a:t>G</a:t>
              </a:r>
            </a:p>
          </p:txBody>
        </p:sp>
        <p:sp>
          <p:nvSpPr>
            <p:cNvPr id="55305" name="Text Box 9"/>
            <p:cNvSpPr txBox="1">
              <a:spLocks noChangeArrowheads="1"/>
            </p:cNvSpPr>
            <p:nvPr/>
          </p:nvSpPr>
          <p:spPr bwMode="auto">
            <a:xfrm>
              <a:off x="1776" y="3552"/>
              <a:ext cx="240" cy="250"/>
            </a:xfrm>
            <a:prstGeom prst="rect">
              <a:avLst/>
            </a:prstGeom>
            <a:noFill/>
            <a:ln w="9525">
              <a:noFill/>
              <a:miter lim="800000"/>
              <a:headEnd/>
              <a:tailEnd/>
            </a:ln>
            <a:effectLst/>
          </p:spPr>
          <p:txBody>
            <a:bodyPr>
              <a:spAutoFit/>
            </a:bodyPr>
            <a:lstStyle/>
            <a:p>
              <a:pPr eaLnBrk="0" hangingPunct="0">
                <a:spcBef>
                  <a:spcPct val="50000"/>
                </a:spcBef>
              </a:pPr>
              <a:r>
                <a:rPr lang="en-US" sz="2000">
                  <a:solidFill>
                    <a:schemeClr val="bg1"/>
                  </a:solidFill>
                </a:rPr>
                <a:t>0</a:t>
              </a:r>
            </a:p>
          </p:txBody>
        </p:sp>
        <p:sp>
          <p:nvSpPr>
            <p:cNvPr id="55306" name="Arc 10"/>
            <p:cNvSpPr>
              <a:spLocks/>
            </p:cNvSpPr>
            <p:nvPr/>
          </p:nvSpPr>
          <p:spPr bwMode="auto">
            <a:xfrm>
              <a:off x="1872" y="1776"/>
              <a:ext cx="2256" cy="172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FF66FF"/>
              </a:solidFill>
              <a:round/>
              <a:headEnd/>
              <a:tailEnd/>
            </a:ln>
            <a:effectLst/>
          </p:spPr>
          <p:txBody>
            <a:bodyPr wrap="none" anchor="ctr"/>
            <a:lstStyle/>
            <a:p>
              <a:endParaRPr lang="en-US"/>
            </a:p>
          </p:txBody>
        </p:sp>
      </p:grpSp>
      <p:sp>
        <p:nvSpPr>
          <p:cNvPr id="55307" name="Text Box 11"/>
          <p:cNvSpPr txBox="1">
            <a:spLocks noChangeArrowheads="1"/>
          </p:cNvSpPr>
          <p:nvPr/>
        </p:nvSpPr>
        <p:spPr bwMode="auto">
          <a:xfrm>
            <a:off x="457200" y="5029200"/>
            <a:ext cx="1828800" cy="396875"/>
          </a:xfrm>
          <a:prstGeom prst="rect">
            <a:avLst/>
          </a:prstGeom>
          <a:noFill/>
          <a:ln w="9525">
            <a:noFill/>
            <a:miter lim="800000"/>
            <a:headEnd/>
            <a:tailEnd/>
          </a:ln>
          <a:effectLst/>
        </p:spPr>
        <p:txBody>
          <a:bodyPr>
            <a:spAutoFit/>
          </a:bodyPr>
          <a:lstStyle/>
          <a:p>
            <a:pPr eaLnBrk="0" hangingPunct="0">
              <a:spcBef>
                <a:spcPct val="50000"/>
              </a:spcBef>
            </a:pPr>
            <a:r>
              <a:rPr lang="en-US" sz="2000">
                <a:solidFill>
                  <a:schemeClr val="bg1"/>
                </a:solidFill>
              </a:rPr>
              <a:t>Figure 4.3</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533400" y="1104900"/>
            <a:ext cx="8305800" cy="647700"/>
          </a:xfrm>
          <a:ln/>
        </p:spPr>
        <p:txBody>
          <a:bodyPr/>
          <a:lstStyle/>
          <a:p>
            <a:r>
              <a:rPr lang="en-US" sz="3400"/>
              <a:t>The Influence of Free Trade on the PPF</a:t>
            </a:r>
          </a:p>
        </p:txBody>
      </p:sp>
      <p:sp>
        <p:nvSpPr>
          <p:cNvPr id="56329" name="Text Box 9"/>
          <p:cNvSpPr txBox="1">
            <a:spLocks noChangeArrowheads="1"/>
          </p:cNvSpPr>
          <p:nvPr/>
        </p:nvSpPr>
        <p:spPr bwMode="auto">
          <a:xfrm>
            <a:off x="381000" y="5181600"/>
            <a:ext cx="1828800" cy="336550"/>
          </a:xfrm>
          <a:prstGeom prst="rect">
            <a:avLst/>
          </a:prstGeom>
          <a:noFill/>
          <a:ln w="9525">
            <a:noFill/>
            <a:miter lim="800000"/>
            <a:headEnd/>
            <a:tailEnd/>
          </a:ln>
          <a:effectLst/>
        </p:spPr>
        <p:txBody>
          <a:bodyPr>
            <a:spAutoFit/>
          </a:bodyPr>
          <a:lstStyle/>
          <a:p>
            <a:pPr eaLnBrk="0" hangingPunct="0">
              <a:spcBef>
                <a:spcPct val="50000"/>
              </a:spcBef>
            </a:pPr>
            <a:r>
              <a:rPr lang="en-US" sz="1600">
                <a:solidFill>
                  <a:schemeClr val="bg1"/>
                </a:solidFill>
              </a:rPr>
              <a:t>Figure 4.4</a:t>
            </a:r>
          </a:p>
        </p:txBody>
      </p:sp>
      <p:sp>
        <p:nvSpPr>
          <p:cNvPr id="56332" name="Arc 12"/>
          <p:cNvSpPr>
            <a:spLocks/>
          </p:cNvSpPr>
          <p:nvPr/>
        </p:nvSpPr>
        <p:spPr bwMode="auto">
          <a:xfrm>
            <a:off x="2971800" y="3657600"/>
            <a:ext cx="2438400" cy="19050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99CCFF"/>
            </a:solidFill>
            <a:round/>
            <a:headEnd/>
            <a:tailEnd/>
          </a:ln>
          <a:effectLst/>
        </p:spPr>
        <p:txBody>
          <a:bodyPr wrap="none" anchor="ctr"/>
          <a:lstStyle/>
          <a:p>
            <a:endParaRPr lang="en-US"/>
          </a:p>
        </p:txBody>
      </p:sp>
      <p:grpSp>
        <p:nvGrpSpPr>
          <p:cNvPr id="56338" name="Group 18"/>
          <p:cNvGrpSpPr>
            <a:grpSpLocks/>
          </p:cNvGrpSpPr>
          <p:nvPr/>
        </p:nvGrpSpPr>
        <p:grpSpPr bwMode="auto">
          <a:xfrm>
            <a:off x="2362200" y="2362200"/>
            <a:ext cx="4876800" cy="3779838"/>
            <a:chOff x="1488" y="1488"/>
            <a:chExt cx="3072" cy="2381"/>
          </a:xfrm>
        </p:grpSpPr>
        <p:sp>
          <p:nvSpPr>
            <p:cNvPr id="56323" name="Text Box 3"/>
            <p:cNvSpPr txBox="1">
              <a:spLocks noChangeArrowheads="1"/>
            </p:cNvSpPr>
            <p:nvPr/>
          </p:nvSpPr>
          <p:spPr bwMode="auto">
            <a:xfrm rot="-5400000">
              <a:off x="1219" y="2285"/>
              <a:ext cx="807" cy="269"/>
            </a:xfrm>
            <a:prstGeom prst="rect">
              <a:avLst/>
            </a:prstGeom>
            <a:noFill/>
            <a:ln w="9525">
              <a:noFill/>
              <a:miter lim="800000"/>
              <a:headEnd/>
              <a:tailEnd/>
            </a:ln>
            <a:effectLst/>
          </p:spPr>
          <p:txBody>
            <a:bodyPr>
              <a:spAutoFit/>
            </a:bodyPr>
            <a:lstStyle/>
            <a:p>
              <a:pPr eaLnBrk="0" hangingPunct="0">
                <a:spcBef>
                  <a:spcPct val="50000"/>
                </a:spcBef>
              </a:pPr>
              <a:r>
                <a:rPr lang="en-US" sz="2200">
                  <a:solidFill>
                    <a:srgbClr val="FFFF00"/>
                  </a:solidFill>
                </a:rPr>
                <a:t>Cocoa</a:t>
              </a:r>
              <a:endParaRPr lang="en-US" sz="2200"/>
            </a:p>
          </p:txBody>
        </p:sp>
        <p:sp>
          <p:nvSpPr>
            <p:cNvPr id="56324" name="Text Box 4"/>
            <p:cNvSpPr txBox="1">
              <a:spLocks noChangeArrowheads="1"/>
            </p:cNvSpPr>
            <p:nvPr/>
          </p:nvSpPr>
          <p:spPr bwMode="auto">
            <a:xfrm>
              <a:off x="3024" y="3600"/>
              <a:ext cx="1056" cy="269"/>
            </a:xfrm>
            <a:prstGeom prst="rect">
              <a:avLst/>
            </a:prstGeom>
            <a:noFill/>
            <a:ln w="9525">
              <a:noFill/>
              <a:miter lim="800000"/>
              <a:headEnd/>
              <a:tailEnd/>
            </a:ln>
            <a:effectLst/>
          </p:spPr>
          <p:txBody>
            <a:bodyPr>
              <a:spAutoFit/>
            </a:bodyPr>
            <a:lstStyle/>
            <a:p>
              <a:pPr eaLnBrk="0" hangingPunct="0">
                <a:spcBef>
                  <a:spcPct val="50000"/>
                </a:spcBef>
              </a:pPr>
              <a:r>
                <a:rPr lang="en-US" sz="2200">
                  <a:solidFill>
                    <a:srgbClr val="FFFF00"/>
                  </a:solidFill>
                </a:rPr>
                <a:t>Rice</a:t>
              </a:r>
              <a:endParaRPr lang="en-US" sz="2200"/>
            </a:p>
          </p:txBody>
        </p:sp>
        <p:sp>
          <p:nvSpPr>
            <p:cNvPr id="56325" name="Text Box 5"/>
            <p:cNvSpPr txBox="1">
              <a:spLocks noChangeArrowheads="1"/>
            </p:cNvSpPr>
            <p:nvPr/>
          </p:nvSpPr>
          <p:spPr bwMode="auto">
            <a:xfrm>
              <a:off x="4176" y="3168"/>
              <a:ext cx="384" cy="250"/>
            </a:xfrm>
            <a:prstGeom prst="rect">
              <a:avLst/>
            </a:prstGeom>
            <a:noFill/>
            <a:ln w="9525">
              <a:noFill/>
              <a:miter lim="800000"/>
              <a:headEnd/>
              <a:tailEnd/>
            </a:ln>
            <a:effectLst/>
          </p:spPr>
          <p:txBody>
            <a:bodyPr>
              <a:spAutoFit/>
            </a:bodyPr>
            <a:lstStyle/>
            <a:p>
              <a:pPr eaLnBrk="0" hangingPunct="0">
                <a:spcBef>
                  <a:spcPct val="50000"/>
                </a:spcBef>
              </a:pPr>
              <a:r>
                <a:rPr lang="en-US" sz="2000">
                  <a:solidFill>
                    <a:schemeClr val="bg1"/>
                  </a:solidFill>
                </a:rPr>
                <a:t>G’</a:t>
              </a:r>
            </a:p>
          </p:txBody>
        </p:sp>
        <p:sp>
          <p:nvSpPr>
            <p:cNvPr id="56326" name="Text Box 6"/>
            <p:cNvSpPr txBox="1">
              <a:spLocks noChangeArrowheads="1"/>
            </p:cNvSpPr>
            <p:nvPr/>
          </p:nvSpPr>
          <p:spPr bwMode="auto">
            <a:xfrm>
              <a:off x="1968" y="1488"/>
              <a:ext cx="624" cy="250"/>
            </a:xfrm>
            <a:prstGeom prst="rect">
              <a:avLst/>
            </a:prstGeom>
            <a:noFill/>
            <a:ln w="9525">
              <a:noFill/>
              <a:miter lim="800000"/>
              <a:headEnd/>
              <a:tailEnd/>
            </a:ln>
            <a:effectLst/>
          </p:spPr>
          <p:txBody>
            <a:bodyPr>
              <a:spAutoFit/>
            </a:bodyPr>
            <a:lstStyle/>
            <a:p>
              <a:pPr eaLnBrk="0" hangingPunct="0">
                <a:spcBef>
                  <a:spcPct val="50000"/>
                </a:spcBef>
              </a:pPr>
              <a:r>
                <a:rPr lang="en-US" sz="2000">
                  <a:solidFill>
                    <a:schemeClr val="bg1"/>
                  </a:solidFill>
                </a:rPr>
                <a:t>PPF</a:t>
              </a:r>
              <a:r>
                <a:rPr lang="en-US" sz="1600">
                  <a:solidFill>
                    <a:schemeClr val="bg1"/>
                  </a:solidFill>
                </a:rPr>
                <a:t>2</a:t>
              </a:r>
              <a:endParaRPr lang="en-US" sz="2000">
                <a:solidFill>
                  <a:schemeClr val="bg1"/>
                </a:solidFill>
              </a:endParaRPr>
            </a:p>
          </p:txBody>
        </p:sp>
        <p:sp>
          <p:nvSpPr>
            <p:cNvPr id="56327" name="Text Box 7"/>
            <p:cNvSpPr txBox="1">
              <a:spLocks noChangeArrowheads="1"/>
            </p:cNvSpPr>
            <p:nvPr/>
          </p:nvSpPr>
          <p:spPr bwMode="auto">
            <a:xfrm>
              <a:off x="1776" y="3552"/>
              <a:ext cx="240" cy="250"/>
            </a:xfrm>
            <a:prstGeom prst="rect">
              <a:avLst/>
            </a:prstGeom>
            <a:noFill/>
            <a:ln w="9525">
              <a:noFill/>
              <a:miter lim="800000"/>
              <a:headEnd/>
              <a:tailEnd/>
            </a:ln>
            <a:effectLst/>
          </p:spPr>
          <p:txBody>
            <a:bodyPr>
              <a:spAutoFit/>
            </a:bodyPr>
            <a:lstStyle/>
            <a:p>
              <a:pPr eaLnBrk="0" hangingPunct="0">
                <a:spcBef>
                  <a:spcPct val="50000"/>
                </a:spcBef>
              </a:pPr>
              <a:r>
                <a:rPr lang="en-US" sz="2000">
                  <a:solidFill>
                    <a:schemeClr val="bg1"/>
                  </a:solidFill>
                </a:rPr>
                <a:t>0</a:t>
              </a:r>
            </a:p>
          </p:txBody>
        </p:sp>
        <p:sp>
          <p:nvSpPr>
            <p:cNvPr id="56328" name="Arc 8"/>
            <p:cNvSpPr>
              <a:spLocks/>
            </p:cNvSpPr>
            <p:nvPr/>
          </p:nvSpPr>
          <p:spPr bwMode="auto">
            <a:xfrm>
              <a:off x="1872" y="1776"/>
              <a:ext cx="2256" cy="172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FF66FF"/>
              </a:solidFill>
              <a:round/>
              <a:headEnd/>
              <a:tailEnd/>
            </a:ln>
            <a:effectLst/>
          </p:spPr>
          <p:txBody>
            <a:bodyPr wrap="none" anchor="ctr"/>
            <a:lstStyle/>
            <a:p>
              <a:endParaRPr lang="en-US"/>
            </a:p>
          </p:txBody>
        </p:sp>
        <p:sp>
          <p:nvSpPr>
            <p:cNvPr id="56330" name="Line 10"/>
            <p:cNvSpPr>
              <a:spLocks noChangeShapeType="1"/>
            </p:cNvSpPr>
            <p:nvPr/>
          </p:nvSpPr>
          <p:spPr bwMode="auto">
            <a:xfrm>
              <a:off x="1872" y="3504"/>
              <a:ext cx="2640" cy="0"/>
            </a:xfrm>
            <a:prstGeom prst="line">
              <a:avLst/>
            </a:prstGeom>
            <a:noFill/>
            <a:ln w="38100">
              <a:solidFill>
                <a:srgbClr val="FFFF00"/>
              </a:solidFill>
              <a:round/>
              <a:headEnd/>
              <a:tailEnd/>
            </a:ln>
            <a:effectLst/>
            <a:scene3d>
              <a:camera prst="legacyObliqueTopRight"/>
              <a:lightRig rig="legacyFlat3" dir="b"/>
            </a:scene3d>
            <a:sp3d extrusionH="430200" prstMaterial="legacyPlastic">
              <a:bevelT w="13500" h="13500" prst="angle"/>
              <a:bevelB w="13500" h="13500" prst="angle"/>
              <a:extrusionClr>
                <a:srgbClr val="FFFF00"/>
              </a:extrusionClr>
            </a:sp3d>
          </p:spPr>
          <p:txBody>
            <a:bodyPr wrap="none" anchor="ctr">
              <a:flatTx/>
            </a:bodyPr>
            <a:lstStyle/>
            <a:p>
              <a:endParaRPr lang="en-US"/>
            </a:p>
          </p:txBody>
        </p:sp>
        <p:sp>
          <p:nvSpPr>
            <p:cNvPr id="56331" name="Line 11"/>
            <p:cNvSpPr>
              <a:spLocks noChangeShapeType="1"/>
            </p:cNvSpPr>
            <p:nvPr/>
          </p:nvSpPr>
          <p:spPr bwMode="auto">
            <a:xfrm>
              <a:off x="1872" y="1536"/>
              <a:ext cx="0" cy="1968"/>
            </a:xfrm>
            <a:prstGeom prst="line">
              <a:avLst/>
            </a:prstGeom>
            <a:noFill/>
            <a:ln w="38100">
              <a:solidFill>
                <a:srgbClr val="FFFF00"/>
              </a:solidFill>
              <a:round/>
              <a:headEnd/>
              <a:tailEnd/>
            </a:ln>
            <a:effectLst/>
            <a:scene3d>
              <a:camera prst="legacyObliqueTopRight"/>
              <a:lightRig rig="legacyFlat3" dir="b"/>
            </a:scene3d>
            <a:sp3d extrusionH="430200" prstMaterial="legacyPlastic">
              <a:bevelT w="13500" h="13500" prst="angle"/>
              <a:bevelB w="13500" h="13500" prst="angle"/>
              <a:extrusionClr>
                <a:srgbClr val="FFFF00"/>
              </a:extrusionClr>
            </a:sp3d>
          </p:spPr>
          <p:txBody>
            <a:bodyPr wrap="none" anchor="ctr">
              <a:flatTx/>
            </a:bodyPr>
            <a:lstStyle/>
            <a:p>
              <a:endParaRPr lang="en-US"/>
            </a:p>
          </p:txBody>
        </p:sp>
        <p:sp>
          <p:nvSpPr>
            <p:cNvPr id="56333" name="Text Box 13"/>
            <p:cNvSpPr txBox="1">
              <a:spLocks noChangeArrowheads="1"/>
            </p:cNvSpPr>
            <p:nvPr/>
          </p:nvSpPr>
          <p:spPr bwMode="auto">
            <a:xfrm>
              <a:off x="1968" y="2064"/>
              <a:ext cx="624" cy="250"/>
            </a:xfrm>
            <a:prstGeom prst="rect">
              <a:avLst/>
            </a:prstGeom>
            <a:noFill/>
            <a:ln w="9525">
              <a:noFill/>
              <a:miter lim="800000"/>
              <a:headEnd/>
              <a:tailEnd/>
            </a:ln>
            <a:effectLst/>
          </p:spPr>
          <p:txBody>
            <a:bodyPr>
              <a:spAutoFit/>
            </a:bodyPr>
            <a:lstStyle/>
            <a:p>
              <a:pPr eaLnBrk="0" hangingPunct="0">
                <a:spcBef>
                  <a:spcPct val="50000"/>
                </a:spcBef>
              </a:pPr>
              <a:r>
                <a:rPr lang="en-US" sz="2000">
                  <a:solidFill>
                    <a:schemeClr val="bg1"/>
                  </a:solidFill>
                </a:rPr>
                <a:t>PPF</a:t>
              </a:r>
              <a:r>
                <a:rPr lang="en-US" sz="1600">
                  <a:solidFill>
                    <a:schemeClr val="bg1"/>
                  </a:solidFill>
                </a:rPr>
                <a:t>1</a:t>
              </a:r>
              <a:endParaRPr lang="en-US" sz="2000">
                <a:solidFill>
                  <a:schemeClr val="bg1"/>
                </a:solidFill>
              </a:endParaRPr>
            </a:p>
          </p:txBody>
        </p:sp>
        <p:sp>
          <p:nvSpPr>
            <p:cNvPr id="56334" name="Line 14"/>
            <p:cNvSpPr>
              <a:spLocks noChangeShapeType="1"/>
            </p:cNvSpPr>
            <p:nvPr/>
          </p:nvSpPr>
          <p:spPr bwMode="auto">
            <a:xfrm flipV="1">
              <a:off x="2544" y="2064"/>
              <a:ext cx="192" cy="288"/>
            </a:xfrm>
            <a:prstGeom prst="line">
              <a:avLst/>
            </a:prstGeom>
            <a:noFill/>
            <a:ln w="28575">
              <a:solidFill>
                <a:schemeClr val="hlink"/>
              </a:solidFill>
              <a:round/>
              <a:headEnd/>
              <a:tailEnd type="triangle" w="med" len="med"/>
            </a:ln>
            <a:effectLst/>
            <a:scene3d>
              <a:camera prst="legacyObliqueTopRight"/>
              <a:lightRig rig="legacyFlat3" dir="b"/>
            </a:scene3d>
            <a:sp3d extrusionH="430200" prstMaterial="legacyPlastic">
              <a:bevelT w="13500" h="13500" prst="angle"/>
              <a:bevelB w="13500" h="13500" prst="angle"/>
              <a:extrusionClr>
                <a:schemeClr val="hlink"/>
              </a:extrusionClr>
            </a:sp3d>
          </p:spPr>
          <p:txBody>
            <a:bodyPr anchor="ctr">
              <a:spAutoFit/>
              <a:flatTx/>
            </a:bodyPr>
            <a:lstStyle/>
            <a:p>
              <a:endParaRPr lang="en-US"/>
            </a:p>
          </p:txBody>
        </p:sp>
        <p:sp>
          <p:nvSpPr>
            <p:cNvPr id="56335" name="Line 15"/>
            <p:cNvSpPr>
              <a:spLocks noChangeShapeType="1"/>
            </p:cNvSpPr>
            <p:nvPr/>
          </p:nvSpPr>
          <p:spPr bwMode="auto">
            <a:xfrm rot="20038225" flipV="1">
              <a:off x="2928" y="2400"/>
              <a:ext cx="336" cy="144"/>
            </a:xfrm>
            <a:prstGeom prst="line">
              <a:avLst/>
            </a:prstGeom>
            <a:noFill/>
            <a:ln w="28575">
              <a:solidFill>
                <a:schemeClr val="hlink"/>
              </a:solidFill>
              <a:round/>
              <a:headEnd/>
              <a:tailEnd type="triangle" w="med" len="med"/>
            </a:ln>
            <a:effectLst/>
            <a:scene3d>
              <a:camera prst="legacyObliqueTopRight"/>
              <a:lightRig rig="legacyFlat3" dir="b"/>
            </a:scene3d>
            <a:sp3d extrusionH="430200" prstMaterial="legacyPlastic">
              <a:bevelT w="13500" h="13500" prst="angle"/>
              <a:bevelB w="13500" h="13500" prst="angle"/>
              <a:extrusionClr>
                <a:schemeClr val="hlink"/>
              </a:extrusionClr>
            </a:sp3d>
          </p:spPr>
          <p:txBody>
            <a:bodyPr anchor="ctr">
              <a:spAutoFit/>
              <a:flatTx/>
            </a:bodyPr>
            <a:lstStyle/>
            <a:p>
              <a:endParaRPr lang="en-US"/>
            </a:p>
          </p:txBody>
        </p:sp>
        <p:sp>
          <p:nvSpPr>
            <p:cNvPr id="56336" name="Line 16"/>
            <p:cNvSpPr>
              <a:spLocks noChangeShapeType="1"/>
            </p:cNvSpPr>
            <p:nvPr/>
          </p:nvSpPr>
          <p:spPr bwMode="auto">
            <a:xfrm flipV="1">
              <a:off x="3264" y="2736"/>
              <a:ext cx="384" cy="192"/>
            </a:xfrm>
            <a:prstGeom prst="line">
              <a:avLst/>
            </a:prstGeom>
            <a:noFill/>
            <a:ln w="28575">
              <a:solidFill>
                <a:schemeClr val="hlink"/>
              </a:solidFill>
              <a:round/>
              <a:headEnd/>
              <a:tailEnd type="triangle" w="med" len="med"/>
            </a:ln>
            <a:effectLst/>
            <a:scene3d>
              <a:camera prst="legacyObliqueTopRight"/>
              <a:lightRig rig="legacyFlat3" dir="b"/>
            </a:scene3d>
            <a:sp3d extrusionH="430200" prstMaterial="legacyPlastic">
              <a:bevelT w="13500" h="13500" prst="angle"/>
              <a:bevelB w="13500" h="13500" prst="angle"/>
              <a:extrusionClr>
                <a:schemeClr val="hlink"/>
              </a:extrusionClr>
            </a:sp3d>
          </p:spPr>
          <p:txBody>
            <a:bodyPr wrap="none" anchor="ctr">
              <a:spAutoFit/>
              <a:flatTx/>
            </a:bodyPr>
            <a:lstStyle/>
            <a:p>
              <a:endParaRPr lang="en-US"/>
            </a:p>
          </p:txBody>
        </p:sp>
      </p:gr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26"/>
          <p:cNvSpPr>
            <a:spLocks noGrp="1" noChangeArrowheads="1"/>
          </p:cNvSpPr>
          <p:nvPr>
            <p:ph type="title"/>
          </p:nvPr>
        </p:nvSpPr>
        <p:spPr>
          <a:xfrm>
            <a:off x="533400" y="914400"/>
            <a:ext cx="8305800" cy="709613"/>
          </a:xfrm>
          <a:ln/>
        </p:spPr>
        <p:txBody>
          <a:bodyPr/>
          <a:lstStyle/>
          <a:p>
            <a:r>
              <a:rPr lang="en-US"/>
              <a:t>A Link Between Trade and Growth</a:t>
            </a:r>
          </a:p>
        </p:txBody>
      </p:sp>
      <p:grpSp>
        <p:nvGrpSpPr>
          <p:cNvPr id="57347" name="Group 1027"/>
          <p:cNvGrpSpPr>
            <a:grpSpLocks/>
          </p:cNvGrpSpPr>
          <p:nvPr/>
        </p:nvGrpSpPr>
        <p:grpSpPr bwMode="auto">
          <a:xfrm>
            <a:off x="990600" y="1981200"/>
            <a:ext cx="7543800" cy="4054475"/>
            <a:chOff x="576" y="1403"/>
            <a:chExt cx="4752" cy="2554"/>
          </a:xfrm>
        </p:grpSpPr>
        <p:sp>
          <p:nvSpPr>
            <p:cNvPr id="57348" name="Text Box 1028"/>
            <p:cNvSpPr txBox="1">
              <a:spLocks noChangeArrowheads="1"/>
            </p:cNvSpPr>
            <p:nvPr/>
          </p:nvSpPr>
          <p:spPr bwMode="auto">
            <a:xfrm>
              <a:off x="614" y="1403"/>
              <a:ext cx="3035" cy="250"/>
            </a:xfrm>
            <a:prstGeom prst="rect">
              <a:avLst/>
            </a:prstGeom>
            <a:noFill/>
            <a:ln w="9525">
              <a:noFill/>
              <a:miter lim="800000"/>
              <a:headEnd/>
              <a:tailEnd/>
            </a:ln>
            <a:effectLst/>
          </p:spPr>
          <p:txBody>
            <a:bodyPr wrap="none">
              <a:spAutoFit/>
            </a:bodyPr>
            <a:lstStyle/>
            <a:p>
              <a:pPr eaLnBrk="0" hangingPunct="0"/>
              <a:r>
                <a:rPr lang="en-US" sz="2000">
                  <a:solidFill>
                    <a:srgbClr val="66FF33"/>
                  </a:solidFill>
                </a:rPr>
                <a:t>Sachs and Warner: 1970 to 1990 study</a:t>
              </a:r>
            </a:p>
          </p:txBody>
        </p:sp>
        <p:sp>
          <p:nvSpPr>
            <p:cNvPr id="57349" name="Text Box 1029"/>
            <p:cNvSpPr txBox="1">
              <a:spLocks noChangeArrowheads="1"/>
            </p:cNvSpPr>
            <p:nvPr/>
          </p:nvSpPr>
          <p:spPr bwMode="auto">
            <a:xfrm>
              <a:off x="672" y="1680"/>
              <a:ext cx="4407" cy="1018"/>
            </a:xfrm>
            <a:prstGeom prst="rect">
              <a:avLst/>
            </a:prstGeom>
            <a:noFill/>
            <a:ln w="9525">
              <a:noFill/>
              <a:miter lim="800000"/>
              <a:headEnd/>
              <a:tailEnd/>
            </a:ln>
            <a:effectLst/>
          </p:spPr>
          <p:txBody>
            <a:bodyPr wrap="none">
              <a:spAutoFit/>
            </a:bodyPr>
            <a:lstStyle/>
            <a:p>
              <a:pPr eaLnBrk="0" hangingPunct="0"/>
              <a:r>
                <a:rPr lang="en-US" sz="2000" b="1">
                  <a:solidFill>
                    <a:srgbClr val="CC0099"/>
                  </a:solidFill>
                </a:rPr>
                <a:t>Open economy develop</a:t>
              </a:r>
              <a:r>
                <a:rPr lang="en-US" sz="2000" b="1">
                  <a:solidFill>
                    <a:srgbClr val="00CC99"/>
                  </a:solidFill>
                </a:rPr>
                <a:t>ing</a:t>
              </a:r>
              <a:r>
                <a:rPr lang="en-US" sz="2000" b="1">
                  <a:solidFill>
                    <a:srgbClr val="CC0099"/>
                  </a:solidFill>
                </a:rPr>
                <a:t> countries grew 4.49%/year.</a:t>
              </a:r>
            </a:p>
            <a:p>
              <a:pPr eaLnBrk="0" hangingPunct="0"/>
              <a:r>
                <a:rPr lang="en-US" sz="2000" b="1">
                  <a:solidFill>
                    <a:srgbClr val="CC0099"/>
                  </a:solidFill>
                </a:rPr>
                <a:t>Closed economy developing countries grew 0.69%/year.</a:t>
              </a:r>
            </a:p>
            <a:p>
              <a:pPr eaLnBrk="0" hangingPunct="0"/>
              <a:r>
                <a:rPr lang="en-US" sz="2000" b="1">
                  <a:solidFill>
                    <a:srgbClr val="CC0099"/>
                  </a:solidFill>
                </a:rPr>
                <a:t>Open economy develop</a:t>
              </a:r>
              <a:r>
                <a:rPr lang="en-US" sz="2000" b="1">
                  <a:solidFill>
                    <a:srgbClr val="FF00FF"/>
                  </a:solidFill>
                </a:rPr>
                <a:t>ed </a:t>
              </a:r>
              <a:r>
                <a:rPr lang="en-US" sz="2000" b="1">
                  <a:solidFill>
                    <a:srgbClr val="CC0099"/>
                  </a:solidFill>
                </a:rPr>
                <a:t>countries grew 2.29%/year.</a:t>
              </a:r>
            </a:p>
            <a:p>
              <a:pPr eaLnBrk="0" hangingPunct="0"/>
              <a:r>
                <a:rPr lang="en-US" sz="2000" b="1">
                  <a:solidFill>
                    <a:srgbClr val="CC0099"/>
                  </a:solidFill>
                </a:rPr>
                <a:t>Closed economy developed countries grew 0.74%/year.</a:t>
              </a:r>
            </a:p>
            <a:p>
              <a:pPr eaLnBrk="0" hangingPunct="0"/>
              <a:endParaRPr lang="en-US" sz="2000" b="1">
                <a:solidFill>
                  <a:srgbClr val="FFFFCC"/>
                </a:solidFill>
              </a:endParaRPr>
            </a:p>
          </p:txBody>
        </p:sp>
        <p:sp>
          <p:nvSpPr>
            <p:cNvPr id="57350" name="Text Box 1030"/>
            <p:cNvSpPr txBox="1">
              <a:spLocks noChangeArrowheads="1"/>
            </p:cNvSpPr>
            <p:nvPr/>
          </p:nvSpPr>
          <p:spPr bwMode="auto">
            <a:xfrm>
              <a:off x="672" y="1920"/>
              <a:ext cx="116" cy="250"/>
            </a:xfrm>
            <a:prstGeom prst="rect">
              <a:avLst/>
            </a:prstGeom>
            <a:noFill/>
            <a:ln w="9525">
              <a:noFill/>
              <a:miter lim="800000"/>
              <a:headEnd/>
              <a:tailEnd/>
            </a:ln>
            <a:effectLst/>
          </p:spPr>
          <p:txBody>
            <a:bodyPr wrap="none">
              <a:spAutoFit/>
            </a:bodyPr>
            <a:lstStyle/>
            <a:p>
              <a:pPr eaLnBrk="0" hangingPunct="0"/>
              <a:endParaRPr lang="en-US" sz="2000" b="1">
                <a:solidFill>
                  <a:srgbClr val="FFFFCC"/>
                </a:solidFill>
              </a:endParaRPr>
            </a:p>
          </p:txBody>
        </p:sp>
        <p:sp>
          <p:nvSpPr>
            <p:cNvPr id="57351" name="Text Box 1031"/>
            <p:cNvSpPr txBox="1">
              <a:spLocks noChangeArrowheads="1"/>
            </p:cNvSpPr>
            <p:nvPr/>
          </p:nvSpPr>
          <p:spPr bwMode="auto">
            <a:xfrm>
              <a:off x="672" y="2160"/>
              <a:ext cx="116" cy="250"/>
            </a:xfrm>
            <a:prstGeom prst="rect">
              <a:avLst/>
            </a:prstGeom>
            <a:noFill/>
            <a:ln w="9525">
              <a:noFill/>
              <a:miter lim="800000"/>
              <a:headEnd/>
              <a:tailEnd/>
            </a:ln>
            <a:effectLst/>
          </p:spPr>
          <p:txBody>
            <a:bodyPr wrap="none">
              <a:spAutoFit/>
            </a:bodyPr>
            <a:lstStyle/>
            <a:p>
              <a:pPr eaLnBrk="0" hangingPunct="0"/>
              <a:endParaRPr lang="en-US" sz="2000" b="1">
                <a:solidFill>
                  <a:srgbClr val="FFFFCC"/>
                </a:solidFill>
              </a:endParaRPr>
            </a:p>
          </p:txBody>
        </p:sp>
        <p:sp>
          <p:nvSpPr>
            <p:cNvPr id="57352" name="Text Box 1032"/>
            <p:cNvSpPr txBox="1">
              <a:spLocks noChangeArrowheads="1"/>
            </p:cNvSpPr>
            <p:nvPr/>
          </p:nvSpPr>
          <p:spPr bwMode="auto">
            <a:xfrm>
              <a:off x="672" y="2400"/>
              <a:ext cx="116" cy="250"/>
            </a:xfrm>
            <a:prstGeom prst="rect">
              <a:avLst/>
            </a:prstGeom>
            <a:noFill/>
            <a:ln w="9525">
              <a:noFill/>
              <a:miter lim="800000"/>
              <a:headEnd/>
              <a:tailEnd/>
            </a:ln>
            <a:effectLst/>
          </p:spPr>
          <p:txBody>
            <a:bodyPr wrap="none">
              <a:spAutoFit/>
            </a:bodyPr>
            <a:lstStyle/>
            <a:p>
              <a:pPr eaLnBrk="0" hangingPunct="0"/>
              <a:endParaRPr lang="en-US" sz="2000" b="1">
                <a:solidFill>
                  <a:srgbClr val="FFFFCC"/>
                </a:solidFill>
              </a:endParaRPr>
            </a:p>
          </p:txBody>
        </p:sp>
        <p:sp>
          <p:nvSpPr>
            <p:cNvPr id="57353" name="Text Box 1033"/>
            <p:cNvSpPr txBox="1">
              <a:spLocks noChangeArrowheads="1"/>
            </p:cNvSpPr>
            <p:nvPr/>
          </p:nvSpPr>
          <p:spPr bwMode="auto">
            <a:xfrm>
              <a:off x="576" y="2736"/>
              <a:ext cx="1600" cy="250"/>
            </a:xfrm>
            <a:prstGeom prst="rect">
              <a:avLst/>
            </a:prstGeom>
            <a:noFill/>
            <a:ln w="9525">
              <a:noFill/>
              <a:miter lim="800000"/>
              <a:headEnd/>
              <a:tailEnd/>
            </a:ln>
            <a:effectLst/>
          </p:spPr>
          <p:txBody>
            <a:bodyPr wrap="none">
              <a:spAutoFit/>
            </a:bodyPr>
            <a:lstStyle/>
            <a:p>
              <a:pPr eaLnBrk="0" hangingPunct="0"/>
              <a:r>
                <a:rPr lang="en-US" sz="2000">
                  <a:solidFill>
                    <a:srgbClr val="66FF33"/>
                  </a:solidFill>
                </a:rPr>
                <a:t>Frankel and Romer: </a:t>
              </a:r>
            </a:p>
          </p:txBody>
        </p:sp>
        <p:sp>
          <p:nvSpPr>
            <p:cNvPr id="57354" name="Text Box 1034"/>
            <p:cNvSpPr txBox="1">
              <a:spLocks noChangeArrowheads="1"/>
            </p:cNvSpPr>
            <p:nvPr/>
          </p:nvSpPr>
          <p:spPr bwMode="auto">
            <a:xfrm>
              <a:off x="710" y="2939"/>
              <a:ext cx="4618" cy="1018"/>
            </a:xfrm>
            <a:prstGeom prst="rect">
              <a:avLst/>
            </a:prstGeom>
            <a:noFill/>
            <a:ln w="9525">
              <a:noFill/>
              <a:miter lim="800000"/>
              <a:headEnd/>
              <a:tailEnd/>
            </a:ln>
            <a:effectLst/>
          </p:spPr>
          <p:txBody>
            <a:bodyPr>
              <a:spAutoFit/>
            </a:bodyPr>
            <a:lstStyle/>
            <a:p>
              <a:pPr eaLnBrk="0" hangingPunct="0"/>
              <a:r>
                <a:rPr lang="en-US" sz="2000" b="1">
                  <a:solidFill>
                    <a:srgbClr val="CC0099"/>
                  </a:solidFill>
                </a:rPr>
                <a:t>On average, </a:t>
              </a:r>
              <a:r>
                <a:rPr lang="en-US" sz="2000" b="1">
                  <a:solidFill>
                    <a:srgbClr val="00CC99"/>
                  </a:solidFill>
                </a:rPr>
                <a:t>a one percentage</a:t>
              </a:r>
              <a:r>
                <a:rPr lang="en-US" sz="2000" b="1">
                  <a:solidFill>
                    <a:srgbClr val="CC0099"/>
                  </a:solidFill>
                </a:rPr>
                <a:t> point increase in the ratio of a country’s trade to its GDP increases income/person by at least 0</a:t>
              </a:r>
              <a:r>
                <a:rPr lang="en-US" sz="2000" b="1">
                  <a:solidFill>
                    <a:srgbClr val="33CC33"/>
                  </a:solidFill>
                </a:rPr>
                <a:t>.5%.</a:t>
              </a:r>
              <a:r>
                <a:rPr lang="en-US" sz="2000" b="1">
                  <a:solidFill>
                    <a:srgbClr val="CC0099"/>
                  </a:solidFill>
                </a:rPr>
                <a:t>  For every </a:t>
              </a:r>
              <a:r>
                <a:rPr lang="en-US" sz="2000" b="1">
                  <a:solidFill>
                    <a:srgbClr val="00CC99"/>
                  </a:solidFill>
                </a:rPr>
                <a:t>10%</a:t>
              </a:r>
              <a:r>
                <a:rPr lang="en-US" sz="2000" b="1">
                  <a:solidFill>
                    <a:srgbClr val="CC0099"/>
                  </a:solidFill>
                </a:rPr>
                <a:t> increase in the importance of international trade in an economy, average income levels will rise by at least </a:t>
              </a:r>
              <a:r>
                <a:rPr lang="en-US" sz="2000" b="1">
                  <a:solidFill>
                    <a:srgbClr val="33CC33"/>
                  </a:solidFill>
                </a:rPr>
                <a:t>5%.</a:t>
              </a:r>
            </a:p>
          </p:txBody>
        </p:sp>
      </p:gr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762000" y="609600"/>
            <a:ext cx="7620000" cy="1066800"/>
          </a:xfrm>
          <a:ln/>
        </p:spPr>
        <p:txBody>
          <a:bodyPr lIns="90488" tIns="44450" rIns="90488" bIns="44450" anchor="ctr"/>
          <a:lstStyle/>
          <a:p>
            <a:r>
              <a:rPr lang="en-US" sz="3200"/>
              <a:t/>
            </a:r>
            <a:br>
              <a:rPr lang="en-US" sz="3200"/>
            </a:br>
            <a:r>
              <a:rPr lang="en-US" sz="3200"/>
              <a:t>Heckscher (1919)-Olin (1933) Theory</a:t>
            </a:r>
            <a:br>
              <a:rPr lang="en-US" sz="3200"/>
            </a:br>
            <a:endParaRPr lang="en-US" sz="3200"/>
          </a:p>
        </p:txBody>
      </p:sp>
      <p:sp>
        <p:nvSpPr>
          <p:cNvPr id="58371" name="Rectangle 3"/>
          <p:cNvSpPr>
            <a:spLocks noGrp="1" noChangeArrowheads="1"/>
          </p:cNvSpPr>
          <p:nvPr>
            <p:ph type="body" idx="1"/>
          </p:nvPr>
        </p:nvSpPr>
        <p:spPr>
          <a:xfrm>
            <a:off x="685800" y="1981200"/>
            <a:ext cx="7848600" cy="4038600"/>
          </a:xfrm>
          <a:solidFill>
            <a:srgbClr val="EAEAEA"/>
          </a:solidFill>
          <a:ln/>
        </p:spPr>
        <p:txBody>
          <a:bodyPr lIns="90488" tIns="44450" rIns="90488" bIns="44450"/>
          <a:lstStyle/>
          <a:p>
            <a:r>
              <a:rPr lang="en-US">
                <a:solidFill>
                  <a:srgbClr val="00CC99"/>
                </a:solidFill>
              </a:rPr>
              <a:t>Labor is not the only Factor of production.  We need to account for land, capital, and technology.</a:t>
            </a:r>
          </a:p>
        </p:txBody>
      </p:sp>
      <p:sp>
        <p:nvSpPr>
          <p:cNvPr id="58374" name="Text Box 6"/>
          <p:cNvSpPr txBox="1">
            <a:spLocks noChangeArrowheads="1"/>
          </p:cNvSpPr>
          <p:nvPr/>
        </p:nvSpPr>
        <p:spPr bwMode="auto">
          <a:xfrm>
            <a:off x="8305800" y="152400"/>
            <a:ext cx="609600" cy="304800"/>
          </a:xfrm>
          <a:prstGeom prst="rect">
            <a:avLst/>
          </a:prstGeom>
          <a:noFill/>
          <a:ln w="9525">
            <a:noFill/>
            <a:miter lim="800000"/>
            <a:headEnd/>
            <a:tailEnd/>
          </a:ln>
          <a:effectLst/>
        </p:spPr>
        <p:txBody>
          <a:bodyPr>
            <a:spAutoFit/>
          </a:bodyPr>
          <a:lstStyle/>
          <a:p>
            <a:pPr>
              <a:spcBef>
                <a:spcPct val="50000"/>
              </a:spcBef>
            </a:pPr>
            <a:r>
              <a:rPr lang="en-US" sz="1400">
                <a:solidFill>
                  <a:schemeClr val="bg1"/>
                </a:solidFill>
              </a:rPr>
              <a:t>4-20</a:t>
            </a:r>
          </a:p>
        </p:txBody>
      </p:sp>
      <p:grpSp>
        <p:nvGrpSpPr>
          <p:cNvPr id="58375" name="Group 7"/>
          <p:cNvGrpSpPr>
            <a:grpSpLocks/>
          </p:cNvGrpSpPr>
          <p:nvPr/>
        </p:nvGrpSpPr>
        <p:grpSpPr bwMode="auto">
          <a:xfrm>
            <a:off x="142875" y="6553200"/>
            <a:ext cx="9001125" cy="280988"/>
            <a:chOff x="90" y="4128"/>
            <a:chExt cx="6102" cy="161"/>
          </a:xfrm>
        </p:grpSpPr>
        <p:sp>
          <p:nvSpPr>
            <p:cNvPr id="58376" name="Rectangle 8"/>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58377" name="Text Box 9"/>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762000" y="609600"/>
            <a:ext cx="7620000" cy="1066800"/>
          </a:xfrm>
          <a:ln/>
        </p:spPr>
        <p:txBody>
          <a:bodyPr lIns="90488" tIns="44450" rIns="90488" bIns="44450" anchor="ctr"/>
          <a:lstStyle/>
          <a:p>
            <a:r>
              <a:rPr lang="en-US" sz="3200"/>
              <a:t/>
            </a:r>
            <a:br>
              <a:rPr lang="en-US" sz="3200"/>
            </a:br>
            <a:r>
              <a:rPr lang="en-US" sz="3200"/>
              <a:t>Heckscher (1919)-Olin (1933) Theory</a:t>
            </a:r>
            <a:br>
              <a:rPr lang="en-US" sz="3200"/>
            </a:br>
            <a:endParaRPr lang="en-US" sz="3200"/>
          </a:p>
        </p:txBody>
      </p:sp>
      <p:sp>
        <p:nvSpPr>
          <p:cNvPr id="104451" name="Rectangle 3"/>
          <p:cNvSpPr>
            <a:spLocks noGrp="1" noChangeArrowheads="1"/>
          </p:cNvSpPr>
          <p:nvPr>
            <p:ph type="body" idx="1"/>
          </p:nvPr>
        </p:nvSpPr>
        <p:spPr>
          <a:xfrm>
            <a:off x="685800" y="1981200"/>
            <a:ext cx="7848600" cy="4038600"/>
          </a:xfrm>
          <a:solidFill>
            <a:srgbClr val="EAEAEA"/>
          </a:solidFill>
          <a:ln/>
        </p:spPr>
        <p:txBody>
          <a:bodyPr lIns="90488" tIns="44450" rIns="90488" bIns="44450"/>
          <a:lstStyle/>
          <a:p>
            <a:r>
              <a:rPr lang="en-US">
                <a:solidFill>
                  <a:srgbClr val="00CC99"/>
                </a:solidFill>
              </a:rPr>
              <a:t>Factor endowments</a:t>
            </a:r>
            <a:r>
              <a:rPr lang="en-US"/>
              <a:t>: </a:t>
            </a:r>
            <a:r>
              <a:rPr lang="en-US">
                <a:solidFill>
                  <a:srgbClr val="003399"/>
                </a:solidFill>
              </a:rPr>
              <a:t>extent to which a country is endowed with such resources as land, labor, and capital.</a:t>
            </a:r>
          </a:p>
        </p:txBody>
      </p:sp>
      <p:sp>
        <p:nvSpPr>
          <p:cNvPr id="104452" name="Text Box 4"/>
          <p:cNvSpPr txBox="1">
            <a:spLocks noChangeArrowheads="1"/>
          </p:cNvSpPr>
          <p:nvPr/>
        </p:nvSpPr>
        <p:spPr bwMode="auto">
          <a:xfrm>
            <a:off x="8305800" y="152400"/>
            <a:ext cx="609600" cy="304800"/>
          </a:xfrm>
          <a:prstGeom prst="rect">
            <a:avLst/>
          </a:prstGeom>
          <a:noFill/>
          <a:ln w="9525">
            <a:noFill/>
            <a:miter lim="800000"/>
            <a:headEnd/>
            <a:tailEnd/>
          </a:ln>
          <a:effectLst/>
        </p:spPr>
        <p:txBody>
          <a:bodyPr>
            <a:spAutoFit/>
          </a:bodyPr>
          <a:lstStyle/>
          <a:p>
            <a:pPr>
              <a:spcBef>
                <a:spcPct val="50000"/>
              </a:spcBef>
            </a:pPr>
            <a:r>
              <a:rPr lang="en-US" sz="1400">
                <a:solidFill>
                  <a:schemeClr val="bg1"/>
                </a:solidFill>
              </a:rPr>
              <a:t>4-20</a:t>
            </a:r>
          </a:p>
        </p:txBody>
      </p:sp>
      <p:grpSp>
        <p:nvGrpSpPr>
          <p:cNvPr id="104453" name="Group 5"/>
          <p:cNvGrpSpPr>
            <a:grpSpLocks/>
          </p:cNvGrpSpPr>
          <p:nvPr/>
        </p:nvGrpSpPr>
        <p:grpSpPr bwMode="auto">
          <a:xfrm>
            <a:off x="142875" y="6553200"/>
            <a:ext cx="9001125" cy="280988"/>
            <a:chOff x="90" y="4128"/>
            <a:chExt cx="6102" cy="161"/>
          </a:xfrm>
        </p:grpSpPr>
        <p:sp>
          <p:nvSpPr>
            <p:cNvPr id="104454" name="Rectangle 6"/>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104455" name="Text Box 7"/>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a:xfrm>
            <a:off x="762000" y="609600"/>
            <a:ext cx="7620000" cy="1066800"/>
          </a:xfrm>
          <a:ln/>
        </p:spPr>
        <p:txBody>
          <a:bodyPr lIns="90488" tIns="44450" rIns="90488" bIns="44450" anchor="ctr"/>
          <a:lstStyle/>
          <a:p>
            <a:r>
              <a:rPr lang="en-US" sz="3200"/>
              <a:t/>
            </a:r>
            <a:br>
              <a:rPr lang="en-US" sz="3200"/>
            </a:br>
            <a:r>
              <a:rPr lang="en-US" sz="3200"/>
              <a:t>Heckscher (1919)-Olin (1933) Theory</a:t>
            </a:r>
            <a:br>
              <a:rPr lang="en-US" sz="3200"/>
            </a:br>
            <a:endParaRPr lang="en-US" sz="3200"/>
          </a:p>
        </p:txBody>
      </p:sp>
      <p:sp>
        <p:nvSpPr>
          <p:cNvPr id="102403" name="Rectangle 3"/>
          <p:cNvSpPr>
            <a:spLocks noGrp="1" noChangeArrowheads="1"/>
          </p:cNvSpPr>
          <p:nvPr>
            <p:ph type="body" idx="1"/>
          </p:nvPr>
        </p:nvSpPr>
        <p:spPr>
          <a:xfrm>
            <a:off x="685800" y="1981200"/>
            <a:ext cx="7848600" cy="4038600"/>
          </a:xfrm>
          <a:solidFill>
            <a:srgbClr val="EAEAEA"/>
          </a:solidFill>
          <a:ln/>
        </p:spPr>
        <p:txBody>
          <a:bodyPr lIns="90488" tIns="44450" rIns="90488" bIns="44450"/>
          <a:lstStyle/>
          <a:p>
            <a:r>
              <a:rPr lang="en-US">
                <a:solidFill>
                  <a:srgbClr val="003399"/>
                </a:solidFill>
              </a:rPr>
              <a:t>Export goods that intensively use</a:t>
            </a:r>
            <a:r>
              <a:rPr lang="en-US"/>
              <a:t> </a:t>
            </a:r>
            <a:r>
              <a:rPr lang="en-US">
                <a:solidFill>
                  <a:srgbClr val="00CC99"/>
                </a:solidFill>
              </a:rPr>
              <a:t>factor endowments</a:t>
            </a:r>
            <a:r>
              <a:rPr lang="en-US"/>
              <a:t> </a:t>
            </a:r>
            <a:r>
              <a:rPr lang="en-US">
                <a:solidFill>
                  <a:srgbClr val="003399"/>
                </a:solidFill>
              </a:rPr>
              <a:t>which are locally abundant.</a:t>
            </a:r>
          </a:p>
        </p:txBody>
      </p:sp>
      <p:sp>
        <p:nvSpPr>
          <p:cNvPr id="102404" name="Text Box 4"/>
          <p:cNvSpPr txBox="1">
            <a:spLocks noChangeArrowheads="1"/>
          </p:cNvSpPr>
          <p:nvPr/>
        </p:nvSpPr>
        <p:spPr bwMode="auto">
          <a:xfrm>
            <a:off x="8305800" y="152400"/>
            <a:ext cx="609600" cy="304800"/>
          </a:xfrm>
          <a:prstGeom prst="rect">
            <a:avLst/>
          </a:prstGeom>
          <a:noFill/>
          <a:ln w="9525">
            <a:noFill/>
            <a:miter lim="800000"/>
            <a:headEnd/>
            <a:tailEnd/>
          </a:ln>
          <a:effectLst/>
        </p:spPr>
        <p:txBody>
          <a:bodyPr>
            <a:spAutoFit/>
          </a:bodyPr>
          <a:lstStyle/>
          <a:p>
            <a:pPr>
              <a:spcBef>
                <a:spcPct val="50000"/>
              </a:spcBef>
            </a:pPr>
            <a:r>
              <a:rPr lang="en-US" sz="1400">
                <a:solidFill>
                  <a:schemeClr val="bg1"/>
                </a:solidFill>
              </a:rPr>
              <a:t>4-20</a:t>
            </a:r>
          </a:p>
        </p:txBody>
      </p:sp>
      <p:grpSp>
        <p:nvGrpSpPr>
          <p:cNvPr id="102405" name="Group 5"/>
          <p:cNvGrpSpPr>
            <a:grpSpLocks/>
          </p:cNvGrpSpPr>
          <p:nvPr/>
        </p:nvGrpSpPr>
        <p:grpSpPr bwMode="auto">
          <a:xfrm>
            <a:off x="142875" y="6553200"/>
            <a:ext cx="9001125" cy="280988"/>
            <a:chOff x="90" y="4128"/>
            <a:chExt cx="6102" cy="161"/>
          </a:xfrm>
        </p:grpSpPr>
        <p:sp>
          <p:nvSpPr>
            <p:cNvPr id="102406" name="Rectangle 6"/>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102407" name="Text Box 7"/>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a:xfrm>
            <a:off x="762000" y="609600"/>
            <a:ext cx="7620000" cy="1066800"/>
          </a:xfrm>
          <a:ln/>
        </p:spPr>
        <p:txBody>
          <a:bodyPr lIns="90488" tIns="44450" rIns="90488" bIns="44450" anchor="ctr"/>
          <a:lstStyle/>
          <a:p>
            <a:r>
              <a:rPr lang="en-US" sz="3200"/>
              <a:t/>
            </a:r>
            <a:br>
              <a:rPr lang="en-US" sz="3200"/>
            </a:br>
            <a:r>
              <a:rPr lang="en-US" sz="3200"/>
              <a:t>Heckscher (1919)-Olin (1933) Theory</a:t>
            </a:r>
            <a:br>
              <a:rPr lang="en-US" sz="3200"/>
            </a:br>
            <a:endParaRPr lang="en-US" sz="3200"/>
          </a:p>
        </p:txBody>
      </p:sp>
      <p:sp>
        <p:nvSpPr>
          <p:cNvPr id="105475" name="Rectangle 3"/>
          <p:cNvSpPr>
            <a:spLocks noGrp="1" noChangeArrowheads="1"/>
          </p:cNvSpPr>
          <p:nvPr>
            <p:ph type="body" idx="1"/>
          </p:nvPr>
        </p:nvSpPr>
        <p:spPr>
          <a:xfrm>
            <a:off x="685800" y="1981200"/>
            <a:ext cx="7848600" cy="4038600"/>
          </a:xfrm>
          <a:solidFill>
            <a:srgbClr val="EAEAEA"/>
          </a:solidFill>
          <a:ln/>
        </p:spPr>
        <p:txBody>
          <a:bodyPr lIns="90488" tIns="44450" rIns="90488" bIns="44450"/>
          <a:lstStyle/>
          <a:p>
            <a:r>
              <a:rPr lang="en-US">
                <a:solidFill>
                  <a:srgbClr val="003399"/>
                </a:solidFill>
              </a:rPr>
              <a:t>Export goods that intensively use</a:t>
            </a:r>
            <a:r>
              <a:rPr lang="en-US"/>
              <a:t> </a:t>
            </a:r>
            <a:r>
              <a:rPr lang="en-US">
                <a:solidFill>
                  <a:srgbClr val="00CC99"/>
                </a:solidFill>
              </a:rPr>
              <a:t>factor endowments</a:t>
            </a:r>
            <a:r>
              <a:rPr lang="en-US"/>
              <a:t> </a:t>
            </a:r>
            <a:r>
              <a:rPr lang="en-US">
                <a:solidFill>
                  <a:srgbClr val="003399"/>
                </a:solidFill>
              </a:rPr>
              <a:t>which are locally abundant.</a:t>
            </a:r>
          </a:p>
          <a:p>
            <a:r>
              <a:rPr lang="en-US" sz="3000">
                <a:solidFill>
                  <a:srgbClr val="003399"/>
                </a:solidFill>
              </a:rPr>
              <a:t>Corollary: import goods made from locally scarce factors.</a:t>
            </a:r>
          </a:p>
        </p:txBody>
      </p:sp>
      <p:sp>
        <p:nvSpPr>
          <p:cNvPr id="105476" name="Text Box 4"/>
          <p:cNvSpPr txBox="1">
            <a:spLocks noChangeArrowheads="1"/>
          </p:cNvSpPr>
          <p:nvPr/>
        </p:nvSpPr>
        <p:spPr bwMode="auto">
          <a:xfrm>
            <a:off x="8305800" y="152400"/>
            <a:ext cx="609600" cy="304800"/>
          </a:xfrm>
          <a:prstGeom prst="rect">
            <a:avLst/>
          </a:prstGeom>
          <a:noFill/>
          <a:ln w="9525">
            <a:noFill/>
            <a:miter lim="800000"/>
            <a:headEnd/>
            <a:tailEnd/>
          </a:ln>
          <a:effectLst/>
        </p:spPr>
        <p:txBody>
          <a:bodyPr>
            <a:spAutoFit/>
          </a:bodyPr>
          <a:lstStyle/>
          <a:p>
            <a:pPr>
              <a:spcBef>
                <a:spcPct val="50000"/>
              </a:spcBef>
            </a:pPr>
            <a:r>
              <a:rPr lang="en-US" sz="1400">
                <a:solidFill>
                  <a:schemeClr val="bg1"/>
                </a:solidFill>
              </a:rPr>
              <a:t>4-20</a:t>
            </a:r>
          </a:p>
        </p:txBody>
      </p:sp>
      <p:grpSp>
        <p:nvGrpSpPr>
          <p:cNvPr id="105477" name="Group 5"/>
          <p:cNvGrpSpPr>
            <a:grpSpLocks/>
          </p:cNvGrpSpPr>
          <p:nvPr/>
        </p:nvGrpSpPr>
        <p:grpSpPr bwMode="auto">
          <a:xfrm>
            <a:off x="142875" y="6553200"/>
            <a:ext cx="9001125" cy="280988"/>
            <a:chOff x="90" y="4128"/>
            <a:chExt cx="6102" cy="161"/>
          </a:xfrm>
        </p:grpSpPr>
        <p:sp>
          <p:nvSpPr>
            <p:cNvPr id="105478" name="Rectangle 6"/>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105479" name="Text Box 7"/>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a:xfrm>
            <a:off x="762000" y="609600"/>
            <a:ext cx="7620000" cy="1066800"/>
          </a:xfrm>
          <a:ln/>
        </p:spPr>
        <p:txBody>
          <a:bodyPr lIns="90488" tIns="44450" rIns="90488" bIns="44450" anchor="ctr"/>
          <a:lstStyle/>
          <a:p>
            <a:r>
              <a:rPr lang="en-US" sz="3200"/>
              <a:t/>
            </a:r>
            <a:br>
              <a:rPr lang="en-US" sz="3200"/>
            </a:br>
            <a:r>
              <a:rPr lang="en-US" sz="3200"/>
              <a:t>Heckscher (1919)-Olin (1933) Theory</a:t>
            </a:r>
            <a:br>
              <a:rPr lang="en-US" sz="3200"/>
            </a:br>
            <a:endParaRPr lang="en-US" sz="3200"/>
          </a:p>
        </p:txBody>
      </p:sp>
      <p:sp>
        <p:nvSpPr>
          <p:cNvPr id="103427" name="Rectangle 3"/>
          <p:cNvSpPr>
            <a:spLocks noGrp="1" noChangeArrowheads="1"/>
          </p:cNvSpPr>
          <p:nvPr>
            <p:ph type="body" idx="1"/>
          </p:nvPr>
        </p:nvSpPr>
        <p:spPr>
          <a:xfrm>
            <a:off x="685800" y="1981200"/>
            <a:ext cx="7848600" cy="4038600"/>
          </a:xfrm>
          <a:solidFill>
            <a:srgbClr val="EAEAEA"/>
          </a:solidFill>
          <a:ln/>
        </p:spPr>
        <p:txBody>
          <a:bodyPr lIns="90488" tIns="44450" rIns="90488" bIns="44450"/>
          <a:lstStyle/>
          <a:p>
            <a:r>
              <a:rPr lang="en-US">
                <a:solidFill>
                  <a:srgbClr val="003399"/>
                </a:solidFill>
              </a:rPr>
              <a:t>Patterns of trade are determined by</a:t>
            </a:r>
            <a:r>
              <a:rPr lang="en-US"/>
              <a:t> </a:t>
            </a:r>
            <a:r>
              <a:rPr lang="en-US">
                <a:solidFill>
                  <a:srgbClr val="00CC99"/>
                </a:solidFill>
              </a:rPr>
              <a:t>differences in</a:t>
            </a:r>
            <a:r>
              <a:rPr lang="en-US">
                <a:solidFill>
                  <a:srgbClr val="66FF33"/>
                </a:solidFill>
              </a:rPr>
              <a:t> </a:t>
            </a:r>
            <a:r>
              <a:rPr lang="en-US">
                <a:solidFill>
                  <a:srgbClr val="00CC99"/>
                </a:solidFill>
              </a:rPr>
              <a:t>factor endowments</a:t>
            </a:r>
            <a:r>
              <a:rPr lang="en-US"/>
              <a:t> </a:t>
            </a:r>
            <a:r>
              <a:rPr lang="en-US">
                <a:solidFill>
                  <a:srgbClr val="003399"/>
                </a:solidFill>
              </a:rPr>
              <a:t>- not productivity.</a:t>
            </a:r>
          </a:p>
          <a:p>
            <a:r>
              <a:rPr lang="en-US">
                <a:solidFill>
                  <a:srgbClr val="003399"/>
                </a:solidFill>
              </a:rPr>
              <a:t>Remember, focus on relative advantage,</a:t>
            </a:r>
            <a:r>
              <a:rPr lang="en-US"/>
              <a:t> </a:t>
            </a:r>
            <a:r>
              <a:rPr lang="en-US">
                <a:solidFill>
                  <a:srgbClr val="00CC99"/>
                </a:solidFill>
              </a:rPr>
              <a:t>not</a:t>
            </a:r>
            <a:r>
              <a:rPr lang="en-US" b="1">
                <a:solidFill>
                  <a:srgbClr val="00CC99"/>
                </a:solidFill>
              </a:rPr>
              <a:t> </a:t>
            </a:r>
            <a:r>
              <a:rPr lang="en-US">
                <a:solidFill>
                  <a:srgbClr val="003399"/>
                </a:solidFill>
              </a:rPr>
              <a:t>absolute advantage.</a:t>
            </a:r>
          </a:p>
        </p:txBody>
      </p:sp>
      <p:sp>
        <p:nvSpPr>
          <p:cNvPr id="103428" name="Text Box 4"/>
          <p:cNvSpPr txBox="1">
            <a:spLocks noChangeArrowheads="1"/>
          </p:cNvSpPr>
          <p:nvPr/>
        </p:nvSpPr>
        <p:spPr bwMode="auto">
          <a:xfrm>
            <a:off x="8305800" y="152400"/>
            <a:ext cx="609600" cy="304800"/>
          </a:xfrm>
          <a:prstGeom prst="rect">
            <a:avLst/>
          </a:prstGeom>
          <a:noFill/>
          <a:ln w="9525">
            <a:noFill/>
            <a:miter lim="800000"/>
            <a:headEnd/>
            <a:tailEnd/>
          </a:ln>
          <a:effectLst/>
        </p:spPr>
        <p:txBody>
          <a:bodyPr>
            <a:spAutoFit/>
          </a:bodyPr>
          <a:lstStyle/>
          <a:p>
            <a:pPr>
              <a:spcBef>
                <a:spcPct val="50000"/>
              </a:spcBef>
            </a:pPr>
            <a:r>
              <a:rPr lang="en-US" sz="1400">
                <a:solidFill>
                  <a:schemeClr val="bg1"/>
                </a:solidFill>
              </a:rPr>
              <a:t>4-20</a:t>
            </a:r>
          </a:p>
        </p:txBody>
      </p:sp>
      <p:grpSp>
        <p:nvGrpSpPr>
          <p:cNvPr id="103429" name="Group 5"/>
          <p:cNvGrpSpPr>
            <a:grpSpLocks/>
          </p:cNvGrpSpPr>
          <p:nvPr/>
        </p:nvGrpSpPr>
        <p:grpSpPr bwMode="auto">
          <a:xfrm>
            <a:off x="142875" y="6553200"/>
            <a:ext cx="9001125" cy="280988"/>
            <a:chOff x="90" y="4128"/>
            <a:chExt cx="6102" cy="161"/>
          </a:xfrm>
        </p:grpSpPr>
        <p:sp>
          <p:nvSpPr>
            <p:cNvPr id="103430" name="Rectangle 6"/>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103431" name="Text Box 7"/>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533400" y="1219200"/>
            <a:ext cx="8305800" cy="709613"/>
          </a:xfrm>
          <a:ln/>
        </p:spPr>
        <p:txBody>
          <a:bodyPr lIns="90488" tIns="44450" rIns="90488" bIns="44450" anchor="ctr"/>
          <a:lstStyle/>
          <a:p>
            <a:r>
              <a:rPr lang="en-US"/>
              <a:t>The Leontief Paradox, 1953</a:t>
            </a:r>
          </a:p>
        </p:txBody>
      </p:sp>
      <p:sp>
        <p:nvSpPr>
          <p:cNvPr id="59395" name="Rectangle 3"/>
          <p:cNvSpPr>
            <a:spLocks noGrp="1" noChangeArrowheads="1"/>
          </p:cNvSpPr>
          <p:nvPr>
            <p:ph type="body" idx="1"/>
          </p:nvPr>
        </p:nvSpPr>
        <p:spPr>
          <a:xfrm>
            <a:off x="381000" y="2590800"/>
            <a:ext cx="8382000" cy="2501900"/>
          </a:xfrm>
          <a:solidFill>
            <a:srgbClr val="EAEAEA"/>
          </a:solidFill>
          <a:ln/>
        </p:spPr>
        <p:txBody>
          <a:bodyPr lIns="90488" tIns="44450" rIns="90488" bIns="44450"/>
          <a:lstStyle/>
          <a:p>
            <a:r>
              <a:rPr lang="en-US">
                <a:solidFill>
                  <a:srgbClr val="003399"/>
                </a:solidFill>
              </a:rPr>
              <a:t>Disputes Heckscher-Olin</a:t>
            </a:r>
            <a:r>
              <a:rPr lang="en-US"/>
              <a:t> </a:t>
            </a:r>
            <a:r>
              <a:rPr lang="en-US">
                <a:solidFill>
                  <a:schemeClr val="hlink"/>
                </a:solidFill>
              </a:rPr>
              <a:t>in some instances</a:t>
            </a:r>
            <a:r>
              <a:rPr lang="en-US"/>
              <a:t>.</a:t>
            </a:r>
          </a:p>
          <a:p>
            <a:r>
              <a:rPr lang="en-US">
                <a:solidFill>
                  <a:srgbClr val="003399"/>
                </a:solidFill>
              </a:rPr>
              <a:t>Factor endowments can be impacted by government policy - minimum wage.</a:t>
            </a:r>
          </a:p>
          <a:p>
            <a:r>
              <a:rPr lang="en-US">
                <a:solidFill>
                  <a:srgbClr val="003399"/>
                </a:solidFill>
              </a:rPr>
              <a:t>US tends to export labor-intensive products, but is regarded as a capital intensive country.</a:t>
            </a:r>
          </a:p>
        </p:txBody>
      </p:sp>
      <p:sp>
        <p:nvSpPr>
          <p:cNvPr id="59398" name="Text Box 6"/>
          <p:cNvSpPr txBox="1">
            <a:spLocks noChangeArrowheads="1"/>
          </p:cNvSpPr>
          <p:nvPr/>
        </p:nvSpPr>
        <p:spPr bwMode="auto">
          <a:xfrm>
            <a:off x="8305800" y="152400"/>
            <a:ext cx="609600" cy="304800"/>
          </a:xfrm>
          <a:prstGeom prst="rect">
            <a:avLst/>
          </a:prstGeom>
          <a:noFill/>
          <a:ln w="9525">
            <a:noFill/>
            <a:miter lim="800000"/>
            <a:headEnd/>
            <a:tailEnd/>
          </a:ln>
          <a:effectLst/>
        </p:spPr>
        <p:txBody>
          <a:bodyPr>
            <a:spAutoFit/>
          </a:bodyPr>
          <a:lstStyle/>
          <a:p>
            <a:pPr>
              <a:spcBef>
                <a:spcPct val="50000"/>
              </a:spcBef>
            </a:pPr>
            <a:r>
              <a:rPr lang="en-US" sz="1400">
                <a:solidFill>
                  <a:schemeClr val="bg1"/>
                </a:solidFill>
              </a:rPr>
              <a:t>4-21</a:t>
            </a:r>
          </a:p>
        </p:txBody>
      </p:sp>
      <p:grpSp>
        <p:nvGrpSpPr>
          <p:cNvPr id="59399" name="Group 7"/>
          <p:cNvGrpSpPr>
            <a:grpSpLocks/>
          </p:cNvGrpSpPr>
          <p:nvPr/>
        </p:nvGrpSpPr>
        <p:grpSpPr bwMode="auto">
          <a:xfrm>
            <a:off x="142875" y="6553200"/>
            <a:ext cx="9001125" cy="280988"/>
            <a:chOff x="90" y="4128"/>
            <a:chExt cx="6102" cy="161"/>
          </a:xfrm>
        </p:grpSpPr>
        <p:sp>
          <p:nvSpPr>
            <p:cNvPr id="59400" name="Rectangle 8"/>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59401" name="Text Box 9"/>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533400" y="1066800"/>
            <a:ext cx="8305800" cy="990600"/>
          </a:xfrm>
          <a:ln/>
        </p:spPr>
        <p:txBody>
          <a:bodyPr lIns="90488" tIns="44450" rIns="90488" bIns="44450" anchor="ctr"/>
          <a:lstStyle/>
          <a:p>
            <a:r>
              <a:rPr lang="en-US" sz="3200"/>
              <a:t>Product Life-Cycle Theory</a:t>
            </a:r>
            <a:br>
              <a:rPr lang="en-US" sz="3200"/>
            </a:br>
            <a:r>
              <a:rPr lang="en-US" sz="3200"/>
              <a:t>(Raymond Vernon, 1966)</a:t>
            </a:r>
          </a:p>
        </p:txBody>
      </p:sp>
      <p:sp>
        <p:nvSpPr>
          <p:cNvPr id="61443" name="Rectangle 3"/>
          <p:cNvSpPr>
            <a:spLocks noGrp="1" noChangeArrowheads="1"/>
          </p:cNvSpPr>
          <p:nvPr>
            <p:ph type="body" idx="1"/>
          </p:nvPr>
        </p:nvSpPr>
        <p:spPr>
          <a:xfrm>
            <a:off x="228600" y="2438400"/>
            <a:ext cx="8686800" cy="2438400"/>
          </a:xfrm>
          <a:solidFill>
            <a:srgbClr val="EAEAEA"/>
          </a:solidFill>
          <a:ln/>
        </p:spPr>
        <p:txBody>
          <a:bodyPr lIns="90488" tIns="44450" rIns="90488" bIns="44450"/>
          <a:lstStyle/>
          <a:p>
            <a:r>
              <a:rPr lang="en-US" sz="2200">
                <a:solidFill>
                  <a:srgbClr val="003399"/>
                </a:solidFill>
              </a:rPr>
              <a:t>Article in the </a:t>
            </a:r>
            <a:r>
              <a:rPr lang="en-US" sz="2200" i="1">
                <a:solidFill>
                  <a:srgbClr val="003399"/>
                </a:solidFill>
              </a:rPr>
              <a:t>Quarterly Journal of Economics.</a:t>
            </a:r>
            <a:endParaRPr lang="en-US" sz="2200">
              <a:solidFill>
                <a:srgbClr val="003399"/>
              </a:solidFill>
            </a:endParaRPr>
          </a:p>
          <a:p>
            <a:r>
              <a:rPr lang="en-US" sz="2200">
                <a:solidFill>
                  <a:srgbClr val="003399"/>
                </a:solidFill>
              </a:rPr>
              <a:t>As products mature, both location of sales and optimal production changes.</a:t>
            </a:r>
          </a:p>
          <a:p>
            <a:r>
              <a:rPr lang="en-US" sz="2200">
                <a:solidFill>
                  <a:srgbClr val="003399"/>
                </a:solidFill>
              </a:rPr>
              <a:t>Affects the direction and flow of imports and exports.</a:t>
            </a:r>
          </a:p>
          <a:p>
            <a:r>
              <a:rPr lang="en-US" sz="2200">
                <a:solidFill>
                  <a:srgbClr val="003399"/>
                </a:solidFill>
              </a:rPr>
              <a:t>Globalization and integration of the economy makes this theory less valid.  </a:t>
            </a:r>
          </a:p>
        </p:txBody>
      </p:sp>
      <p:sp>
        <p:nvSpPr>
          <p:cNvPr id="61446" name="Text Box 6"/>
          <p:cNvSpPr txBox="1">
            <a:spLocks noChangeArrowheads="1"/>
          </p:cNvSpPr>
          <p:nvPr/>
        </p:nvSpPr>
        <p:spPr bwMode="auto">
          <a:xfrm>
            <a:off x="8305800" y="152400"/>
            <a:ext cx="609600" cy="304800"/>
          </a:xfrm>
          <a:prstGeom prst="rect">
            <a:avLst/>
          </a:prstGeom>
          <a:noFill/>
          <a:ln w="9525">
            <a:noFill/>
            <a:miter lim="800000"/>
            <a:headEnd/>
            <a:tailEnd/>
          </a:ln>
          <a:effectLst/>
        </p:spPr>
        <p:txBody>
          <a:bodyPr>
            <a:spAutoFit/>
          </a:bodyPr>
          <a:lstStyle/>
          <a:p>
            <a:pPr>
              <a:spcBef>
                <a:spcPct val="50000"/>
              </a:spcBef>
            </a:pPr>
            <a:r>
              <a:rPr lang="en-US" sz="1400">
                <a:solidFill>
                  <a:schemeClr val="bg1"/>
                </a:solidFill>
              </a:rPr>
              <a:t>4-23</a:t>
            </a:r>
          </a:p>
        </p:txBody>
      </p:sp>
      <p:grpSp>
        <p:nvGrpSpPr>
          <p:cNvPr id="61447" name="Group 7"/>
          <p:cNvGrpSpPr>
            <a:grpSpLocks/>
          </p:cNvGrpSpPr>
          <p:nvPr/>
        </p:nvGrpSpPr>
        <p:grpSpPr bwMode="auto">
          <a:xfrm>
            <a:off x="142875" y="6553200"/>
            <a:ext cx="9001125" cy="280988"/>
            <a:chOff x="90" y="4128"/>
            <a:chExt cx="6102" cy="161"/>
          </a:xfrm>
        </p:grpSpPr>
        <p:sp>
          <p:nvSpPr>
            <p:cNvPr id="61448" name="Rectangle 8"/>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61449" name="Text Box 9"/>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2466" name="Rectangle 2"/>
          <p:cNvSpPr>
            <a:spLocks noGrp="1" noChangeArrowheads="1"/>
          </p:cNvSpPr>
          <p:nvPr>
            <p:ph type="ctrTitle"/>
          </p:nvPr>
        </p:nvSpPr>
        <p:spPr>
          <a:xfrm>
            <a:off x="1219200" y="387350"/>
            <a:ext cx="7086600" cy="412750"/>
          </a:xfrm>
          <a:solidFill>
            <a:srgbClr val="333399"/>
          </a:solidFill>
          <a:ln w="38100">
            <a:solidFill>
              <a:schemeClr val="bg1"/>
            </a:solidFill>
          </a:ln>
        </p:spPr>
        <p:txBody>
          <a:bodyPr lIns="62313" tIns="24925" rIns="62313" bIns="24925" anchor="t"/>
          <a:lstStyle/>
          <a:p>
            <a:pPr>
              <a:lnSpc>
                <a:spcPct val="85000"/>
              </a:lnSpc>
            </a:pPr>
            <a:r>
              <a:rPr lang="en-US" sz="2500" b="1"/>
              <a:t>The Product Life-Cycle Theory</a:t>
            </a:r>
            <a:endParaRPr lang="en-US" sz="2000" b="1">
              <a:latin typeface="Century Schoolbook" pitchFamily="18" charset="0"/>
            </a:endParaRPr>
          </a:p>
        </p:txBody>
      </p:sp>
      <p:sp>
        <p:nvSpPr>
          <p:cNvPr id="62468" name="Line 4"/>
          <p:cNvSpPr>
            <a:spLocks noChangeShapeType="1"/>
          </p:cNvSpPr>
          <p:nvPr/>
        </p:nvSpPr>
        <p:spPr bwMode="auto">
          <a:xfrm>
            <a:off x="1482725" y="2554288"/>
            <a:ext cx="0" cy="61912"/>
          </a:xfrm>
          <a:prstGeom prst="line">
            <a:avLst/>
          </a:prstGeom>
          <a:noFill/>
          <a:ln w="12700">
            <a:solidFill>
              <a:srgbClr val="66FFFF"/>
            </a:solidFill>
            <a:round/>
            <a:headEnd/>
            <a:tailEnd/>
          </a:ln>
          <a:effectLst/>
        </p:spPr>
        <p:txBody>
          <a:bodyPr wrap="none" anchor="ctr"/>
          <a:lstStyle/>
          <a:p>
            <a:endParaRPr lang="en-US"/>
          </a:p>
        </p:txBody>
      </p:sp>
      <p:sp>
        <p:nvSpPr>
          <p:cNvPr id="62469" name="Line 5"/>
          <p:cNvSpPr>
            <a:spLocks noChangeShapeType="1"/>
          </p:cNvSpPr>
          <p:nvPr/>
        </p:nvSpPr>
        <p:spPr bwMode="auto">
          <a:xfrm>
            <a:off x="1482725" y="4043363"/>
            <a:ext cx="0" cy="61912"/>
          </a:xfrm>
          <a:prstGeom prst="line">
            <a:avLst/>
          </a:prstGeom>
          <a:noFill/>
          <a:ln w="12700">
            <a:solidFill>
              <a:schemeClr val="tx1"/>
            </a:solidFill>
            <a:round/>
            <a:headEnd/>
            <a:tailEnd/>
          </a:ln>
          <a:effectLst/>
        </p:spPr>
        <p:txBody>
          <a:bodyPr wrap="none" anchor="ctr"/>
          <a:lstStyle/>
          <a:p>
            <a:endParaRPr lang="en-US"/>
          </a:p>
        </p:txBody>
      </p:sp>
      <p:sp>
        <p:nvSpPr>
          <p:cNvPr id="62470" name="Line 6"/>
          <p:cNvSpPr>
            <a:spLocks noChangeShapeType="1"/>
          </p:cNvSpPr>
          <p:nvPr/>
        </p:nvSpPr>
        <p:spPr bwMode="auto">
          <a:xfrm>
            <a:off x="1857375" y="5456238"/>
            <a:ext cx="0" cy="61912"/>
          </a:xfrm>
          <a:prstGeom prst="line">
            <a:avLst/>
          </a:prstGeom>
          <a:noFill/>
          <a:ln w="12700">
            <a:solidFill>
              <a:schemeClr val="tx1"/>
            </a:solidFill>
            <a:round/>
            <a:headEnd/>
            <a:tailEnd/>
          </a:ln>
          <a:effectLst/>
        </p:spPr>
        <p:txBody>
          <a:bodyPr wrap="none" anchor="ctr"/>
          <a:lstStyle/>
          <a:p>
            <a:endParaRPr lang="en-US"/>
          </a:p>
        </p:txBody>
      </p:sp>
      <p:sp>
        <p:nvSpPr>
          <p:cNvPr id="62471" name="Line 7"/>
          <p:cNvSpPr>
            <a:spLocks noChangeShapeType="1"/>
          </p:cNvSpPr>
          <p:nvPr/>
        </p:nvSpPr>
        <p:spPr bwMode="auto">
          <a:xfrm>
            <a:off x="4108450" y="5456238"/>
            <a:ext cx="0" cy="61912"/>
          </a:xfrm>
          <a:prstGeom prst="line">
            <a:avLst/>
          </a:prstGeom>
          <a:noFill/>
          <a:ln w="12700">
            <a:solidFill>
              <a:schemeClr val="tx1"/>
            </a:solidFill>
            <a:round/>
            <a:headEnd/>
            <a:tailEnd/>
          </a:ln>
          <a:effectLst/>
        </p:spPr>
        <p:txBody>
          <a:bodyPr wrap="none" anchor="ctr"/>
          <a:lstStyle/>
          <a:p>
            <a:endParaRPr lang="en-US"/>
          </a:p>
        </p:txBody>
      </p:sp>
      <p:sp>
        <p:nvSpPr>
          <p:cNvPr id="62472" name="Line 8"/>
          <p:cNvSpPr>
            <a:spLocks noChangeShapeType="1"/>
          </p:cNvSpPr>
          <p:nvPr/>
        </p:nvSpPr>
        <p:spPr bwMode="auto">
          <a:xfrm>
            <a:off x="4484688" y="5456238"/>
            <a:ext cx="0" cy="61912"/>
          </a:xfrm>
          <a:prstGeom prst="line">
            <a:avLst/>
          </a:prstGeom>
          <a:noFill/>
          <a:ln w="12700">
            <a:solidFill>
              <a:schemeClr val="tx1"/>
            </a:solidFill>
            <a:round/>
            <a:headEnd/>
            <a:tailEnd/>
          </a:ln>
          <a:effectLst/>
        </p:spPr>
        <p:txBody>
          <a:bodyPr wrap="none" anchor="ctr"/>
          <a:lstStyle/>
          <a:p>
            <a:endParaRPr lang="en-US"/>
          </a:p>
        </p:txBody>
      </p:sp>
      <p:sp>
        <p:nvSpPr>
          <p:cNvPr id="62473" name="Line 9"/>
          <p:cNvSpPr>
            <a:spLocks noChangeShapeType="1"/>
          </p:cNvSpPr>
          <p:nvPr/>
        </p:nvSpPr>
        <p:spPr bwMode="auto">
          <a:xfrm>
            <a:off x="4859338" y="5456238"/>
            <a:ext cx="0" cy="61912"/>
          </a:xfrm>
          <a:prstGeom prst="line">
            <a:avLst/>
          </a:prstGeom>
          <a:noFill/>
          <a:ln w="12700">
            <a:solidFill>
              <a:schemeClr val="tx2"/>
            </a:solidFill>
            <a:round/>
            <a:headEnd/>
            <a:tailEnd/>
          </a:ln>
          <a:effectLst/>
        </p:spPr>
        <p:txBody>
          <a:bodyPr wrap="none" anchor="ctr"/>
          <a:lstStyle/>
          <a:p>
            <a:endParaRPr lang="en-US"/>
          </a:p>
        </p:txBody>
      </p:sp>
      <p:sp>
        <p:nvSpPr>
          <p:cNvPr id="62474" name="Line 10"/>
          <p:cNvSpPr>
            <a:spLocks noChangeShapeType="1"/>
          </p:cNvSpPr>
          <p:nvPr/>
        </p:nvSpPr>
        <p:spPr bwMode="auto">
          <a:xfrm>
            <a:off x="5235575" y="5456238"/>
            <a:ext cx="0" cy="61912"/>
          </a:xfrm>
          <a:prstGeom prst="line">
            <a:avLst/>
          </a:prstGeom>
          <a:noFill/>
          <a:ln w="12700">
            <a:solidFill>
              <a:schemeClr val="tx1"/>
            </a:solidFill>
            <a:round/>
            <a:headEnd/>
            <a:tailEnd/>
          </a:ln>
          <a:effectLst/>
        </p:spPr>
        <p:txBody>
          <a:bodyPr wrap="none" anchor="ctr"/>
          <a:lstStyle/>
          <a:p>
            <a:endParaRPr lang="en-US"/>
          </a:p>
        </p:txBody>
      </p:sp>
      <p:sp>
        <p:nvSpPr>
          <p:cNvPr id="62475" name="Line 11"/>
          <p:cNvSpPr>
            <a:spLocks noChangeShapeType="1"/>
          </p:cNvSpPr>
          <p:nvPr/>
        </p:nvSpPr>
        <p:spPr bwMode="auto">
          <a:xfrm>
            <a:off x="5610225" y="5456238"/>
            <a:ext cx="0" cy="61912"/>
          </a:xfrm>
          <a:prstGeom prst="line">
            <a:avLst/>
          </a:prstGeom>
          <a:noFill/>
          <a:ln w="12700">
            <a:solidFill>
              <a:schemeClr val="tx1"/>
            </a:solidFill>
            <a:round/>
            <a:headEnd/>
            <a:tailEnd/>
          </a:ln>
          <a:effectLst/>
        </p:spPr>
        <p:txBody>
          <a:bodyPr wrap="none" anchor="ctr"/>
          <a:lstStyle/>
          <a:p>
            <a:endParaRPr lang="en-US"/>
          </a:p>
        </p:txBody>
      </p:sp>
      <p:sp>
        <p:nvSpPr>
          <p:cNvPr id="62476" name="Rectangle 12"/>
          <p:cNvSpPr>
            <a:spLocks noChangeArrowheads="1"/>
          </p:cNvSpPr>
          <p:nvPr/>
        </p:nvSpPr>
        <p:spPr bwMode="auto">
          <a:xfrm>
            <a:off x="2970213" y="5573713"/>
            <a:ext cx="25400" cy="223837"/>
          </a:xfrm>
          <a:prstGeom prst="rect">
            <a:avLst/>
          </a:prstGeom>
          <a:noFill/>
          <a:ln w="12700">
            <a:noFill/>
            <a:miter lim="800000"/>
            <a:headEnd/>
            <a:tailEnd/>
          </a:ln>
          <a:effectLst/>
        </p:spPr>
        <p:txBody>
          <a:bodyPr wrap="none" anchor="ctr"/>
          <a:lstStyle/>
          <a:p>
            <a:endParaRPr lang="en-US"/>
          </a:p>
        </p:txBody>
      </p:sp>
      <p:sp>
        <p:nvSpPr>
          <p:cNvPr id="62482" name="Arc 18"/>
          <p:cNvSpPr>
            <a:spLocks/>
          </p:cNvSpPr>
          <p:nvPr/>
        </p:nvSpPr>
        <p:spPr bwMode="auto">
          <a:xfrm>
            <a:off x="4884738" y="4619625"/>
            <a:ext cx="2054225" cy="885825"/>
          </a:xfrm>
          <a:custGeom>
            <a:avLst/>
            <a:gdLst>
              <a:gd name="G0" fmla="+- 0 0 0"/>
              <a:gd name="G1" fmla="+- 0 0 0"/>
              <a:gd name="G2" fmla="+- 21600 0 0"/>
              <a:gd name="T0" fmla="*/ 20177 w 20177"/>
              <a:gd name="T1" fmla="*/ 7711 h 21600"/>
              <a:gd name="T2" fmla="*/ 0 w 20177"/>
              <a:gd name="T3" fmla="*/ 21600 h 21600"/>
              <a:gd name="T4" fmla="*/ 0 w 20177"/>
              <a:gd name="T5" fmla="*/ 0 h 21600"/>
            </a:gdLst>
            <a:ahLst/>
            <a:cxnLst>
              <a:cxn ang="0">
                <a:pos x="T0" y="T1"/>
              </a:cxn>
              <a:cxn ang="0">
                <a:pos x="T2" y="T3"/>
              </a:cxn>
              <a:cxn ang="0">
                <a:pos x="T4" y="T5"/>
              </a:cxn>
            </a:cxnLst>
            <a:rect l="0" t="0" r="r" b="b"/>
            <a:pathLst>
              <a:path w="20177" h="21600" fill="none" extrusionOk="0">
                <a:moveTo>
                  <a:pt x="20176" y="7710"/>
                </a:moveTo>
                <a:cubicBezTo>
                  <a:pt x="16980" y="16075"/>
                  <a:pt x="8954" y="21599"/>
                  <a:pt x="0" y="21600"/>
                </a:cubicBezTo>
              </a:path>
              <a:path w="20177" h="21600" stroke="0" extrusionOk="0">
                <a:moveTo>
                  <a:pt x="20176" y="7710"/>
                </a:moveTo>
                <a:cubicBezTo>
                  <a:pt x="16980" y="16075"/>
                  <a:pt x="8954" y="21599"/>
                  <a:pt x="0" y="21600"/>
                </a:cubicBezTo>
                <a:lnTo>
                  <a:pt x="0" y="0"/>
                </a:lnTo>
                <a:close/>
              </a:path>
            </a:pathLst>
          </a:custGeom>
          <a:noFill/>
          <a:ln w="57150" cap="rnd">
            <a:solidFill>
              <a:srgbClr val="FFFF00"/>
            </a:solidFill>
            <a:round/>
            <a:headEnd/>
            <a:tailEnd/>
          </a:ln>
          <a:effectLst/>
        </p:spPr>
        <p:txBody>
          <a:bodyPr wrap="none" anchor="ctr"/>
          <a:lstStyle/>
          <a:p>
            <a:endParaRPr lang="en-US"/>
          </a:p>
        </p:txBody>
      </p:sp>
      <p:grpSp>
        <p:nvGrpSpPr>
          <p:cNvPr id="62526" name="Group 62"/>
          <p:cNvGrpSpPr>
            <a:grpSpLocks/>
          </p:cNvGrpSpPr>
          <p:nvPr/>
        </p:nvGrpSpPr>
        <p:grpSpPr bwMode="auto">
          <a:xfrm>
            <a:off x="7467600" y="1066800"/>
            <a:ext cx="1422400" cy="1216025"/>
            <a:chOff x="4704" y="672"/>
            <a:chExt cx="896" cy="766"/>
          </a:xfrm>
        </p:grpSpPr>
        <p:sp>
          <p:nvSpPr>
            <p:cNvPr id="62484" name="Rectangle 20"/>
            <p:cNvSpPr>
              <a:spLocks noChangeArrowheads="1"/>
            </p:cNvSpPr>
            <p:nvPr/>
          </p:nvSpPr>
          <p:spPr bwMode="auto">
            <a:xfrm>
              <a:off x="4752" y="720"/>
              <a:ext cx="793" cy="200"/>
            </a:xfrm>
            <a:prstGeom prst="rect">
              <a:avLst/>
            </a:prstGeom>
            <a:noFill/>
            <a:ln w="12700">
              <a:noFill/>
              <a:miter lim="800000"/>
              <a:headEnd/>
              <a:tailEnd/>
            </a:ln>
            <a:effectLst/>
          </p:spPr>
          <p:txBody>
            <a:bodyPr wrap="none" lIns="62313" tIns="24925" rIns="62313" bIns="24925">
              <a:spAutoFit/>
            </a:bodyPr>
            <a:lstStyle/>
            <a:p>
              <a:pPr algn="ctr" defTabSz="896938" eaLnBrk="0" hangingPunct="0">
                <a:lnSpc>
                  <a:spcPct val="97000"/>
                </a:lnSpc>
              </a:pPr>
              <a:r>
                <a:rPr lang="en-US">
                  <a:solidFill>
                    <a:srgbClr val="FFFF00"/>
                  </a:solidFill>
                </a:rPr>
                <a:t>production</a:t>
              </a:r>
              <a:endParaRPr lang="en-US"/>
            </a:p>
          </p:txBody>
        </p:sp>
        <p:sp>
          <p:nvSpPr>
            <p:cNvPr id="62485" name="Rectangle 21"/>
            <p:cNvSpPr>
              <a:spLocks noChangeArrowheads="1"/>
            </p:cNvSpPr>
            <p:nvPr/>
          </p:nvSpPr>
          <p:spPr bwMode="auto">
            <a:xfrm>
              <a:off x="4704" y="1104"/>
              <a:ext cx="896" cy="200"/>
            </a:xfrm>
            <a:prstGeom prst="rect">
              <a:avLst/>
            </a:prstGeom>
            <a:noFill/>
            <a:ln w="12700">
              <a:noFill/>
              <a:miter lim="800000"/>
              <a:headEnd/>
              <a:tailEnd/>
            </a:ln>
            <a:effectLst/>
          </p:spPr>
          <p:txBody>
            <a:bodyPr wrap="none" lIns="62313" tIns="24925" rIns="62313" bIns="24925">
              <a:spAutoFit/>
            </a:bodyPr>
            <a:lstStyle/>
            <a:p>
              <a:pPr algn="ctr" defTabSz="896938" eaLnBrk="0" hangingPunct="0">
                <a:lnSpc>
                  <a:spcPct val="97000"/>
                </a:lnSpc>
              </a:pPr>
              <a:r>
                <a:rPr lang="en-US">
                  <a:solidFill>
                    <a:schemeClr val="bg1"/>
                  </a:solidFill>
                </a:rPr>
                <a:t>consumption</a:t>
              </a:r>
            </a:p>
          </p:txBody>
        </p:sp>
        <p:sp>
          <p:nvSpPr>
            <p:cNvPr id="62486" name="Line 22"/>
            <p:cNvSpPr>
              <a:spLocks noChangeShapeType="1"/>
            </p:cNvSpPr>
            <p:nvPr/>
          </p:nvSpPr>
          <p:spPr bwMode="auto">
            <a:xfrm>
              <a:off x="4896" y="960"/>
              <a:ext cx="457" cy="0"/>
            </a:xfrm>
            <a:prstGeom prst="line">
              <a:avLst/>
            </a:prstGeom>
            <a:noFill/>
            <a:ln w="38100">
              <a:solidFill>
                <a:srgbClr val="FFFF00"/>
              </a:solidFill>
              <a:round/>
              <a:headEnd/>
              <a:tailEnd/>
            </a:ln>
            <a:effectLst/>
          </p:spPr>
          <p:txBody>
            <a:bodyPr wrap="none" anchor="ctr"/>
            <a:lstStyle/>
            <a:p>
              <a:endParaRPr lang="en-US"/>
            </a:p>
          </p:txBody>
        </p:sp>
        <p:sp>
          <p:nvSpPr>
            <p:cNvPr id="62487" name="Rectangle 23"/>
            <p:cNvSpPr>
              <a:spLocks noChangeArrowheads="1"/>
            </p:cNvSpPr>
            <p:nvPr/>
          </p:nvSpPr>
          <p:spPr bwMode="auto">
            <a:xfrm>
              <a:off x="4704" y="672"/>
              <a:ext cx="864" cy="766"/>
            </a:xfrm>
            <a:prstGeom prst="rect">
              <a:avLst/>
            </a:prstGeom>
            <a:noFill/>
            <a:ln w="12700">
              <a:solidFill>
                <a:srgbClr val="FFFF00"/>
              </a:solidFill>
              <a:miter lim="800000"/>
              <a:headEnd/>
              <a:tailEnd/>
            </a:ln>
            <a:effectLst/>
          </p:spPr>
          <p:txBody>
            <a:bodyPr wrap="none" anchor="ctr"/>
            <a:lstStyle/>
            <a:p>
              <a:pPr algn="ctr" eaLnBrk="0" hangingPunct="0"/>
              <a:endParaRPr lang="en-US" sz="2400">
                <a:solidFill>
                  <a:schemeClr val="tx2"/>
                </a:solidFill>
              </a:endParaRPr>
            </a:p>
          </p:txBody>
        </p:sp>
        <p:sp>
          <p:nvSpPr>
            <p:cNvPr id="62488" name="Line 24"/>
            <p:cNvSpPr>
              <a:spLocks noChangeShapeType="1"/>
            </p:cNvSpPr>
            <p:nvPr/>
          </p:nvSpPr>
          <p:spPr bwMode="auto">
            <a:xfrm>
              <a:off x="4944" y="1344"/>
              <a:ext cx="441" cy="0"/>
            </a:xfrm>
            <a:prstGeom prst="line">
              <a:avLst/>
            </a:prstGeom>
            <a:noFill/>
            <a:ln w="76200" cmpd="tri">
              <a:solidFill>
                <a:schemeClr val="hlink"/>
              </a:solidFill>
              <a:round/>
              <a:headEnd/>
              <a:tailEnd/>
            </a:ln>
            <a:effectLst/>
          </p:spPr>
          <p:txBody>
            <a:bodyPr wrap="none" anchor="ctr"/>
            <a:lstStyle/>
            <a:p>
              <a:endParaRPr lang="en-US"/>
            </a:p>
          </p:txBody>
        </p:sp>
      </p:grpSp>
      <p:sp>
        <p:nvSpPr>
          <p:cNvPr id="62489" name="Text Box 25"/>
          <p:cNvSpPr txBox="1">
            <a:spLocks noChangeArrowheads="1"/>
          </p:cNvSpPr>
          <p:nvPr/>
        </p:nvSpPr>
        <p:spPr bwMode="auto">
          <a:xfrm>
            <a:off x="7467600" y="5791200"/>
            <a:ext cx="1676400" cy="366713"/>
          </a:xfrm>
          <a:prstGeom prst="rect">
            <a:avLst/>
          </a:prstGeom>
          <a:noFill/>
          <a:ln w="9525">
            <a:noFill/>
            <a:miter lim="800000"/>
            <a:headEnd/>
            <a:tailEnd/>
          </a:ln>
          <a:effectLst/>
        </p:spPr>
        <p:txBody>
          <a:bodyPr>
            <a:spAutoFit/>
          </a:bodyPr>
          <a:lstStyle/>
          <a:p>
            <a:pPr eaLnBrk="0" hangingPunct="0">
              <a:spcBef>
                <a:spcPct val="50000"/>
              </a:spcBef>
            </a:pPr>
            <a:r>
              <a:rPr lang="en-US">
                <a:solidFill>
                  <a:schemeClr val="bg1"/>
                </a:solidFill>
              </a:rPr>
              <a:t>Figure 4.5</a:t>
            </a:r>
          </a:p>
        </p:txBody>
      </p:sp>
      <p:sp>
        <p:nvSpPr>
          <p:cNvPr id="62499" name="Line 35"/>
          <p:cNvSpPr>
            <a:spLocks noChangeShapeType="1"/>
          </p:cNvSpPr>
          <p:nvPr/>
        </p:nvSpPr>
        <p:spPr bwMode="auto">
          <a:xfrm>
            <a:off x="1244600" y="4173538"/>
            <a:ext cx="6604000" cy="0"/>
          </a:xfrm>
          <a:prstGeom prst="line">
            <a:avLst/>
          </a:prstGeom>
          <a:noFill/>
          <a:ln w="25400">
            <a:solidFill>
              <a:srgbClr val="66FFFF"/>
            </a:solidFill>
            <a:round/>
            <a:headEnd/>
            <a:tailEnd/>
          </a:ln>
          <a:effectLst/>
        </p:spPr>
        <p:txBody>
          <a:bodyPr wrap="none" anchor="ctr"/>
          <a:lstStyle/>
          <a:p>
            <a:endParaRPr lang="en-US"/>
          </a:p>
        </p:txBody>
      </p:sp>
      <p:sp>
        <p:nvSpPr>
          <p:cNvPr id="62514" name="Text Box 50"/>
          <p:cNvSpPr txBox="1">
            <a:spLocks noChangeArrowheads="1"/>
          </p:cNvSpPr>
          <p:nvPr/>
        </p:nvSpPr>
        <p:spPr bwMode="auto">
          <a:xfrm>
            <a:off x="3048000" y="1676400"/>
            <a:ext cx="1082675" cy="395288"/>
          </a:xfrm>
          <a:prstGeom prst="rect">
            <a:avLst/>
          </a:prstGeom>
          <a:noFill/>
          <a:ln w="28575">
            <a:solidFill>
              <a:schemeClr val="bg1"/>
            </a:solidFill>
            <a:miter lim="800000"/>
            <a:headEnd type="none" w="sm" len="sm"/>
            <a:tailEnd type="none" w="sm" len="sm"/>
          </a:ln>
          <a:effectLst/>
        </p:spPr>
        <p:txBody>
          <a:bodyPr>
            <a:spAutoFit/>
          </a:bodyPr>
          <a:lstStyle/>
          <a:p>
            <a:pPr eaLnBrk="0" hangingPunct="0"/>
            <a:r>
              <a:rPr lang="en-US">
                <a:solidFill>
                  <a:schemeClr val="bg1"/>
                </a:solidFill>
              </a:rPr>
              <a:t>Exports</a:t>
            </a:r>
            <a:endParaRPr lang="en-US" sz="2400">
              <a:solidFill>
                <a:schemeClr val="bg1"/>
              </a:solidFill>
            </a:endParaRPr>
          </a:p>
        </p:txBody>
      </p:sp>
      <p:sp>
        <p:nvSpPr>
          <p:cNvPr id="62520" name="Arc 56"/>
          <p:cNvSpPr>
            <a:spLocks/>
          </p:cNvSpPr>
          <p:nvPr/>
        </p:nvSpPr>
        <p:spPr bwMode="auto">
          <a:xfrm rot="-11236377">
            <a:off x="7162800" y="5105400"/>
            <a:ext cx="990600" cy="2286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76200" cmpd="tri">
            <a:solidFill>
              <a:schemeClr val="hlink"/>
            </a:solidFill>
            <a:round/>
            <a:headEnd/>
            <a:tailEnd/>
          </a:ln>
          <a:effectLst/>
        </p:spPr>
        <p:txBody>
          <a:bodyPr wrap="none" anchor="ctr">
            <a:spAutoFit/>
          </a:bodyPr>
          <a:lstStyle/>
          <a:p>
            <a:endParaRPr lang="en-US"/>
          </a:p>
        </p:txBody>
      </p:sp>
      <p:cxnSp>
        <p:nvCxnSpPr>
          <p:cNvPr id="62521" name="AutoShape 57"/>
          <p:cNvCxnSpPr>
            <a:cxnSpLocks noChangeShapeType="1"/>
            <a:stCxn id="62480" idx="0"/>
            <a:endCxn id="62510" idx="0"/>
          </p:cNvCxnSpPr>
          <p:nvPr/>
        </p:nvCxnSpPr>
        <p:spPr bwMode="auto">
          <a:xfrm flipH="1">
            <a:off x="1333500" y="2205038"/>
            <a:ext cx="871538" cy="417512"/>
          </a:xfrm>
          <a:prstGeom prst="straightConnector1">
            <a:avLst/>
          </a:prstGeom>
          <a:noFill/>
          <a:ln w="38100">
            <a:solidFill>
              <a:srgbClr val="FFFF00"/>
            </a:solidFill>
            <a:round/>
            <a:headEnd/>
            <a:tailEnd/>
          </a:ln>
          <a:effectLst/>
        </p:spPr>
      </p:cxnSp>
      <p:grpSp>
        <p:nvGrpSpPr>
          <p:cNvPr id="62527" name="Group 63"/>
          <p:cNvGrpSpPr>
            <a:grpSpLocks/>
          </p:cNvGrpSpPr>
          <p:nvPr/>
        </p:nvGrpSpPr>
        <p:grpSpPr bwMode="auto">
          <a:xfrm>
            <a:off x="838200" y="1066800"/>
            <a:ext cx="7539038" cy="5359400"/>
            <a:chOff x="528" y="672"/>
            <a:chExt cx="4749" cy="3376"/>
          </a:xfrm>
        </p:grpSpPr>
        <p:sp>
          <p:nvSpPr>
            <p:cNvPr id="62467" name="Line 3"/>
            <p:cNvSpPr>
              <a:spLocks noChangeShapeType="1"/>
            </p:cNvSpPr>
            <p:nvPr/>
          </p:nvSpPr>
          <p:spPr bwMode="auto">
            <a:xfrm>
              <a:off x="792" y="1676"/>
              <a:ext cx="4160" cy="0"/>
            </a:xfrm>
            <a:prstGeom prst="line">
              <a:avLst/>
            </a:prstGeom>
            <a:noFill/>
            <a:ln w="25400">
              <a:solidFill>
                <a:srgbClr val="66FFFF"/>
              </a:solidFill>
              <a:round/>
              <a:headEnd/>
              <a:tailEnd/>
            </a:ln>
            <a:effectLst/>
          </p:spPr>
          <p:txBody>
            <a:bodyPr wrap="none" anchor="ctr"/>
            <a:lstStyle/>
            <a:p>
              <a:endParaRPr lang="en-US"/>
            </a:p>
          </p:txBody>
        </p:sp>
        <p:sp>
          <p:nvSpPr>
            <p:cNvPr id="62477" name="Line 13"/>
            <p:cNvSpPr>
              <a:spLocks noChangeShapeType="1"/>
            </p:cNvSpPr>
            <p:nvPr/>
          </p:nvSpPr>
          <p:spPr bwMode="auto">
            <a:xfrm>
              <a:off x="1879" y="3648"/>
              <a:ext cx="0" cy="180"/>
            </a:xfrm>
            <a:prstGeom prst="line">
              <a:avLst/>
            </a:prstGeom>
            <a:noFill/>
            <a:ln w="38100">
              <a:solidFill>
                <a:srgbClr val="FFFF00"/>
              </a:solidFill>
              <a:round/>
              <a:headEnd/>
              <a:tailEnd/>
            </a:ln>
            <a:effectLst/>
          </p:spPr>
          <p:txBody>
            <a:bodyPr wrap="none" anchor="ctr"/>
            <a:lstStyle/>
            <a:p>
              <a:endParaRPr lang="en-US"/>
            </a:p>
          </p:txBody>
        </p:sp>
        <p:sp>
          <p:nvSpPr>
            <p:cNvPr id="62478" name="Line 14"/>
            <p:cNvSpPr>
              <a:spLocks noChangeShapeType="1"/>
            </p:cNvSpPr>
            <p:nvPr/>
          </p:nvSpPr>
          <p:spPr bwMode="auto">
            <a:xfrm>
              <a:off x="3061" y="3648"/>
              <a:ext cx="0" cy="180"/>
            </a:xfrm>
            <a:prstGeom prst="line">
              <a:avLst/>
            </a:prstGeom>
            <a:noFill/>
            <a:ln w="38100">
              <a:solidFill>
                <a:srgbClr val="FFFF00"/>
              </a:solidFill>
              <a:round/>
              <a:headEnd/>
              <a:tailEnd/>
            </a:ln>
            <a:effectLst/>
          </p:spPr>
          <p:txBody>
            <a:bodyPr wrap="none" anchor="ctr"/>
            <a:lstStyle/>
            <a:p>
              <a:endParaRPr lang="en-US"/>
            </a:p>
          </p:txBody>
        </p:sp>
        <p:sp>
          <p:nvSpPr>
            <p:cNvPr id="62479" name="Rectangle 15"/>
            <p:cNvSpPr>
              <a:spLocks noChangeArrowheads="1"/>
            </p:cNvSpPr>
            <p:nvPr/>
          </p:nvSpPr>
          <p:spPr bwMode="auto">
            <a:xfrm>
              <a:off x="528" y="672"/>
              <a:ext cx="249" cy="962"/>
            </a:xfrm>
            <a:prstGeom prst="rect">
              <a:avLst/>
            </a:prstGeom>
            <a:noFill/>
            <a:ln w="12700">
              <a:noFill/>
              <a:miter lim="800000"/>
              <a:headEnd/>
              <a:tailEnd/>
            </a:ln>
            <a:effectLst/>
          </p:spPr>
          <p:txBody>
            <a:bodyPr lIns="62313" tIns="24925" rIns="62313" bIns="24925">
              <a:spAutoFit/>
            </a:bodyPr>
            <a:lstStyle/>
            <a:p>
              <a:pPr algn="ctr" defTabSz="896938" eaLnBrk="0" hangingPunct="0">
                <a:lnSpc>
                  <a:spcPct val="97000"/>
                </a:lnSpc>
              </a:pPr>
              <a:r>
                <a:rPr lang="en-US" sz="1000">
                  <a:solidFill>
                    <a:srgbClr val="FF9933"/>
                  </a:solidFill>
                </a:rPr>
                <a:t>160</a:t>
              </a:r>
            </a:p>
            <a:p>
              <a:pPr algn="ctr" defTabSz="896938" eaLnBrk="0" hangingPunct="0">
                <a:lnSpc>
                  <a:spcPct val="97000"/>
                </a:lnSpc>
              </a:pPr>
              <a:r>
                <a:rPr lang="en-US" sz="1000">
                  <a:solidFill>
                    <a:srgbClr val="FF9933"/>
                  </a:solidFill>
                </a:rPr>
                <a:t>140</a:t>
              </a:r>
            </a:p>
            <a:p>
              <a:pPr algn="ctr" defTabSz="896938" eaLnBrk="0" hangingPunct="0">
                <a:lnSpc>
                  <a:spcPct val="97000"/>
                </a:lnSpc>
              </a:pPr>
              <a:r>
                <a:rPr lang="en-US" sz="1000">
                  <a:solidFill>
                    <a:srgbClr val="FF9933"/>
                  </a:solidFill>
                </a:rPr>
                <a:t>120</a:t>
              </a:r>
            </a:p>
            <a:p>
              <a:pPr algn="ctr" defTabSz="896938" eaLnBrk="0" hangingPunct="0">
                <a:lnSpc>
                  <a:spcPct val="97000"/>
                </a:lnSpc>
              </a:pPr>
              <a:r>
                <a:rPr lang="en-US" sz="1000">
                  <a:solidFill>
                    <a:srgbClr val="FF9933"/>
                  </a:solidFill>
                </a:rPr>
                <a:t>100</a:t>
              </a:r>
            </a:p>
            <a:p>
              <a:pPr algn="ctr" defTabSz="896938" eaLnBrk="0" hangingPunct="0">
                <a:lnSpc>
                  <a:spcPct val="97000"/>
                </a:lnSpc>
              </a:pPr>
              <a:r>
                <a:rPr lang="en-US" sz="1000">
                  <a:solidFill>
                    <a:srgbClr val="FF9933"/>
                  </a:solidFill>
                </a:rPr>
                <a:t> 80</a:t>
              </a:r>
            </a:p>
            <a:p>
              <a:pPr algn="ctr" defTabSz="896938" eaLnBrk="0" hangingPunct="0">
                <a:lnSpc>
                  <a:spcPct val="97000"/>
                </a:lnSpc>
              </a:pPr>
              <a:r>
                <a:rPr lang="en-US" sz="1000">
                  <a:solidFill>
                    <a:srgbClr val="FF9933"/>
                  </a:solidFill>
                </a:rPr>
                <a:t> 60</a:t>
              </a:r>
            </a:p>
            <a:p>
              <a:pPr algn="ctr" defTabSz="896938" eaLnBrk="0" hangingPunct="0">
                <a:lnSpc>
                  <a:spcPct val="97000"/>
                </a:lnSpc>
              </a:pPr>
              <a:r>
                <a:rPr lang="en-US" sz="1000">
                  <a:solidFill>
                    <a:srgbClr val="FF9933"/>
                  </a:solidFill>
                </a:rPr>
                <a:t> 40</a:t>
              </a:r>
            </a:p>
            <a:p>
              <a:pPr algn="ctr" defTabSz="896938" eaLnBrk="0" hangingPunct="0">
                <a:lnSpc>
                  <a:spcPct val="97000"/>
                </a:lnSpc>
              </a:pPr>
              <a:r>
                <a:rPr lang="en-US" sz="1000">
                  <a:solidFill>
                    <a:srgbClr val="FF9933"/>
                  </a:solidFill>
                </a:rPr>
                <a:t> 20</a:t>
              </a:r>
            </a:p>
            <a:p>
              <a:pPr algn="ctr" defTabSz="896938" eaLnBrk="0" hangingPunct="0">
                <a:lnSpc>
                  <a:spcPct val="97000"/>
                </a:lnSpc>
              </a:pPr>
              <a:r>
                <a:rPr lang="en-US" sz="1000">
                  <a:solidFill>
                    <a:srgbClr val="FF9933"/>
                  </a:solidFill>
                </a:rPr>
                <a:t>0</a:t>
              </a:r>
            </a:p>
            <a:p>
              <a:pPr algn="ctr" defTabSz="896938" eaLnBrk="0" hangingPunct="0">
                <a:lnSpc>
                  <a:spcPct val="97000"/>
                </a:lnSpc>
              </a:pPr>
              <a:r>
                <a:rPr lang="en-US" sz="1000">
                  <a:solidFill>
                    <a:srgbClr val="FF9933"/>
                  </a:solidFill>
                </a:rPr>
                <a:t> </a:t>
              </a:r>
            </a:p>
          </p:txBody>
        </p:sp>
        <p:sp>
          <p:nvSpPr>
            <p:cNvPr id="62480" name="Arc 16"/>
            <p:cNvSpPr>
              <a:spLocks/>
            </p:cNvSpPr>
            <p:nvPr/>
          </p:nvSpPr>
          <p:spPr bwMode="auto">
            <a:xfrm>
              <a:off x="1407" y="1009"/>
              <a:ext cx="950" cy="683"/>
            </a:xfrm>
            <a:custGeom>
              <a:avLst/>
              <a:gdLst>
                <a:gd name="G0" fmla="+- 19352 0 0"/>
                <a:gd name="G1" fmla="+- 21600 0 0"/>
                <a:gd name="G2" fmla="+- 21600 0 0"/>
                <a:gd name="T0" fmla="*/ 0 w 19352"/>
                <a:gd name="T1" fmla="*/ 12005 h 21600"/>
                <a:gd name="T2" fmla="*/ 19332 w 19352"/>
                <a:gd name="T3" fmla="*/ 0 h 21600"/>
                <a:gd name="T4" fmla="*/ 19352 w 19352"/>
                <a:gd name="T5" fmla="*/ 21600 h 21600"/>
              </a:gdLst>
              <a:ahLst/>
              <a:cxnLst>
                <a:cxn ang="0">
                  <a:pos x="T0" y="T1"/>
                </a:cxn>
                <a:cxn ang="0">
                  <a:pos x="T2" y="T3"/>
                </a:cxn>
                <a:cxn ang="0">
                  <a:pos x="T4" y="T5"/>
                </a:cxn>
              </a:cxnLst>
              <a:rect l="0" t="0" r="r" b="b"/>
              <a:pathLst>
                <a:path w="19352" h="21600" fill="none" extrusionOk="0">
                  <a:moveTo>
                    <a:pt x="0" y="12005"/>
                  </a:moveTo>
                  <a:cubicBezTo>
                    <a:pt x="3642" y="4658"/>
                    <a:pt x="11131" y="7"/>
                    <a:pt x="19332" y="0"/>
                  </a:cubicBezTo>
                </a:path>
                <a:path w="19352" h="21600" stroke="0" extrusionOk="0">
                  <a:moveTo>
                    <a:pt x="0" y="12005"/>
                  </a:moveTo>
                  <a:cubicBezTo>
                    <a:pt x="3642" y="4658"/>
                    <a:pt x="11131" y="7"/>
                    <a:pt x="19332" y="0"/>
                  </a:cubicBezTo>
                  <a:lnTo>
                    <a:pt x="19352" y="21600"/>
                  </a:lnTo>
                  <a:close/>
                </a:path>
              </a:pathLst>
            </a:custGeom>
            <a:noFill/>
            <a:ln w="57150" cap="rnd">
              <a:solidFill>
                <a:srgbClr val="FFFF00"/>
              </a:solidFill>
              <a:round/>
              <a:headEnd/>
              <a:tailEnd/>
            </a:ln>
            <a:effectLst/>
          </p:spPr>
          <p:txBody>
            <a:bodyPr wrap="none" anchor="ctr"/>
            <a:lstStyle/>
            <a:p>
              <a:endParaRPr lang="en-US"/>
            </a:p>
          </p:txBody>
        </p:sp>
        <p:sp>
          <p:nvSpPr>
            <p:cNvPr id="62481" name="Arc 17"/>
            <p:cNvSpPr>
              <a:spLocks/>
            </p:cNvSpPr>
            <p:nvPr/>
          </p:nvSpPr>
          <p:spPr bwMode="auto">
            <a:xfrm>
              <a:off x="1968" y="1040"/>
              <a:ext cx="2016" cy="256"/>
            </a:xfrm>
            <a:custGeom>
              <a:avLst/>
              <a:gdLst>
                <a:gd name="G0" fmla="+- 9 0 0"/>
                <a:gd name="G1" fmla="+- 21600 0 0"/>
                <a:gd name="G2" fmla="+- 21600 0 0"/>
                <a:gd name="T0" fmla="*/ 0 w 21609"/>
                <a:gd name="T1" fmla="*/ 0 h 21600"/>
                <a:gd name="T2" fmla="*/ 21609 w 21609"/>
                <a:gd name="T3" fmla="*/ 21600 h 21600"/>
                <a:gd name="T4" fmla="*/ 9 w 21609"/>
                <a:gd name="T5" fmla="*/ 21600 h 21600"/>
              </a:gdLst>
              <a:ahLst/>
              <a:cxnLst>
                <a:cxn ang="0">
                  <a:pos x="T0" y="T1"/>
                </a:cxn>
                <a:cxn ang="0">
                  <a:pos x="T2" y="T3"/>
                </a:cxn>
                <a:cxn ang="0">
                  <a:pos x="T4" y="T5"/>
                </a:cxn>
              </a:cxnLst>
              <a:rect l="0" t="0" r="r" b="b"/>
              <a:pathLst>
                <a:path w="21609" h="21600" fill="none" extrusionOk="0">
                  <a:moveTo>
                    <a:pt x="0" y="0"/>
                  </a:moveTo>
                  <a:cubicBezTo>
                    <a:pt x="3" y="0"/>
                    <a:pt x="6" y="-1"/>
                    <a:pt x="9" y="0"/>
                  </a:cubicBezTo>
                  <a:cubicBezTo>
                    <a:pt x="11938" y="0"/>
                    <a:pt x="21609" y="9670"/>
                    <a:pt x="21609" y="21600"/>
                  </a:cubicBezTo>
                </a:path>
                <a:path w="21609" h="21600" stroke="0" extrusionOk="0">
                  <a:moveTo>
                    <a:pt x="0" y="0"/>
                  </a:moveTo>
                  <a:cubicBezTo>
                    <a:pt x="3" y="0"/>
                    <a:pt x="6" y="-1"/>
                    <a:pt x="9" y="0"/>
                  </a:cubicBezTo>
                  <a:cubicBezTo>
                    <a:pt x="11938" y="0"/>
                    <a:pt x="21609" y="9670"/>
                    <a:pt x="21609" y="21600"/>
                  </a:cubicBezTo>
                  <a:lnTo>
                    <a:pt x="9" y="21600"/>
                  </a:lnTo>
                  <a:close/>
                </a:path>
              </a:pathLst>
            </a:custGeom>
            <a:noFill/>
            <a:ln w="57150" cap="rnd">
              <a:solidFill>
                <a:srgbClr val="FFFF00"/>
              </a:solidFill>
              <a:round/>
              <a:headEnd/>
              <a:tailEnd/>
            </a:ln>
            <a:effectLst/>
          </p:spPr>
          <p:txBody>
            <a:bodyPr wrap="none" anchor="ctr"/>
            <a:lstStyle/>
            <a:p>
              <a:pPr algn="ctr" eaLnBrk="0" hangingPunct="0"/>
              <a:endParaRPr lang="en-US" sz="2400">
                <a:latin typeface="Times New Roman" pitchFamily="18" charset="0"/>
              </a:endParaRPr>
            </a:p>
          </p:txBody>
        </p:sp>
        <p:sp>
          <p:nvSpPr>
            <p:cNvPr id="62490" name="Freeform 26"/>
            <p:cNvSpPr>
              <a:spLocks/>
            </p:cNvSpPr>
            <p:nvPr/>
          </p:nvSpPr>
          <p:spPr bwMode="auto">
            <a:xfrm>
              <a:off x="1008" y="2016"/>
              <a:ext cx="2725" cy="475"/>
            </a:xfrm>
            <a:custGeom>
              <a:avLst/>
              <a:gdLst/>
              <a:ahLst/>
              <a:cxnLst>
                <a:cxn ang="0">
                  <a:pos x="780" y="430"/>
                </a:cxn>
                <a:cxn ang="0">
                  <a:pos x="514" y="456"/>
                </a:cxn>
                <a:cxn ang="0">
                  <a:pos x="154" y="447"/>
                </a:cxn>
                <a:cxn ang="0">
                  <a:pos x="0" y="456"/>
                </a:cxn>
                <a:cxn ang="0">
                  <a:pos x="60" y="438"/>
                </a:cxn>
                <a:cxn ang="0">
                  <a:pos x="103" y="404"/>
                </a:cxn>
                <a:cxn ang="0">
                  <a:pos x="180" y="361"/>
                </a:cxn>
                <a:cxn ang="0">
                  <a:pos x="308" y="327"/>
                </a:cxn>
                <a:cxn ang="0">
                  <a:pos x="385" y="284"/>
                </a:cxn>
                <a:cxn ang="0">
                  <a:pos x="540" y="276"/>
                </a:cxn>
                <a:cxn ang="0">
                  <a:pos x="651" y="241"/>
                </a:cxn>
                <a:cxn ang="0">
                  <a:pos x="780" y="198"/>
                </a:cxn>
                <a:cxn ang="0">
                  <a:pos x="925" y="181"/>
                </a:cxn>
                <a:cxn ang="0">
                  <a:pos x="960" y="173"/>
                </a:cxn>
                <a:cxn ang="0">
                  <a:pos x="985" y="164"/>
                </a:cxn>
                <a:cxn ang="0">
                  <a:pos x="917" y="173"/>
                </a:cxn>
                <a:cxn ang="0">
                  <a:pos x="891" y="181"/>
                </a:cxn>
                <a:cxn ang="0">
                  <a:pos x="1088" y="147"/>
                </a:cxn>
                <a:cxn ang="0">
                  <a:pos x="1208" y="138"/>
                </a:cxn>
                <a:cxn ang="0">
                  <a:pos x="1363" y="147"/>
                </a:cxn>
                <a:cxn ang="0">
                  <a:pos x="1510" y="267"/>
                </a:cxn>
                <a:cxn ang="0">
                  <a:pos x="1414" y="219"/>
                </a:cxn>
                <a:cxn ang="0">
                  <a:pos x="1462" y="171"/>
                </a:cxn>
                <a:cxn ang="0">
                  <a:pos x="2443" y="70"/>
                </a:cxn>
                <a:cxn ang="0">
                  <a:pos x="2725" y="27"/>
                </a:cxn>
                <a:cxn ang="0">
                  <a:pos x="2460" y="18"/>
                </a:cxn>
                <a:cxn ang="0">
                  <a:pos x="2340" y="53"/>
                </a:cxn>
                <a:cxn ang="0">
                  <a:pos x="2648" y="61"/>
                </a:cxn>
                <a:cxn ang="0">
                  <a:pos x="2623" y="70"/>
                </a:cxn>
                <a:cxn ang="0">
                  <a:pos x="2597" y="78"/>
                </a:cxn>
                <a:cxn ang="0">
                  <a:pos x="2503" y="104"/>
                </a:cxn>
                <a:cxn ang="0">
                  <a:pos x="2245" y="190"/>
                </a:cxn>
                <a:cxn ang="0">
                  <a:pos x="2108" y="241"/>
                </a:cxn>
                <a:cxn ang="0">
                  <a:pos x="1783" y="336"/>
                </a:cxn>
                <a:cxn ang="0">
                  <a:pos x="1663" y="344"/>
                </a:cxn>
                <a:cxn ang="0">
                  <a:pos x="1345" y="378"/>
                </a:cxn>
                <a:cxn ang="0">
                  <a:pos x="1208" y="396"/>
                </a:cxn>
                <a:cxn ang="0">
                  <a:pos x="737" y="413"/>
                </a:cxn>
                <a:cxn ang="0">
                  <a:pos x="514" y="447"/>
                </a:cxn>
                <a:cxn ang="0">
                  <a:pos x="85" y="438"/>
                </a:cxn>
                <a:cxn ang="0">
                  <a:pos x="454" y="315"/>
                </a:cxn>
              </a:cxnLst>
              <a:rect l="0" t="0" r="r" b="b"/>
              <a:pathLst>
                <a:path w="2725" h="475">
                  <a:moveTo>
                    <a:pt x="780" y="430"/>
                  </a:moveTo>
                  <a:cubicBezTo>
                    <a:pt x="684" y="439"/>
                    <a:pt x="616" y="450"/>
                    <a:pt x="514" y="456"/>
                  </a:cubicBezTo>
                  <a:cubicBezTo>
                    <a:pt x="389" y="449"/>
                    <a:pt x="278" y="438"/>
                    <a:pt x="154" y="447"/>
                  </a:cubicBezTo>
                  <a:cubicBezTo>
                    <a:pt x="70" y="475"/>
                    <a:pt x="121" y="465"/>
                    <a:pt x="0" y="456"/>
                  </a:cubicBezTo>
                  <a:cubicBezTo>
                    <a:pt x="20" y="449"/>
                    <a:pt x="41" y="446"/>
                    <a:pt x="60" y="438"/>
                  </a:cubicBezTo>
                  <a:cubicBezTo>
                    <a:pt x="83" y="428"/>
                    <a:pt x="85" y="418"/>
                    <a:pt x="103" y="404"/>
                  </a:cubicBezTo>
                  <a:cubicBezTo>
                    <a:pt x="124" y="387"/>
                    <a:pt x="156" y="372"/>
                    <a:pt x="180" y="361"/>
                  </a:cubicBezTo>
                  <a:cubicBezTo>
                    <a:pt x="222" y="342"/>
                    <a:pt x="264" y="337"/>
                    <a:pt x="308" y="327"/>
                  </a:cubicBezTo>
                  <a:cubicBezTo>
                    <a:pt x="337" y="320"/>
                    <a:pt x="356" y="286"/>
                    <a:pt x="385" y="284"/>
                  </a:cubicBezTo>
                  <a:cubicBezTo>
                    <a:pt x="437" y="281"/>
                    <a:pt x="488" y="279"/>
                    <a:pt x="540" y="276"/>
                  </a:cubicBezTo>
                  <a:cubicBezTo>
                    <a:pt x="559" y="216"/>
                    <a:pt x="537" y="256"/>
                    <a:pt x="651" y="241"/>
                  </a:cubicBezTo>
                  <a:cubicBezTo>
                    <a:pt x="694" y="235"/>
                    <a:pt x="739" y="212"/>
                    <a:pt x="780" y="198"/>
                  </a:cubicBezTo>
                  <a:cubicBezTo>
                    <a:pt x="809" y="188"/>
                    <a:pt x="920" y="181"/>
                    <a:pt x="925" y="181"/>
                  </a:cubicBezTo>
                  <a:cubicBezTo>
                    <a:pt x="937" y="178"/>
                    <a:pt x="948" y="176"/>
                    <a:pt x="960" y="173"/>
                  </a:cubicBezTo>
                  <a:cubicBezTo>
                    <a:pt x="969" y="171"/>
                    <a:pt x="994" y="164"/>
                    <a:pt x="985" y="164"/>
                  </a:cubicBezTo>
                  <a:cubicBezTo>
                    <a:pt x="962" y="164"/>
                    <a:pt x="940" y="170"/>
                    <a:pt x="917" y="173"/>
                  </a:cubicBezTo>
                  <a:cubicBezTo>
                    <a:pt x="908" y="176"/>
                    <a:pt x="882" y="181"/>
                    <a:pt x="891" y="181"/>
                  </a:cubicBezTo>
                  <a:cubicBezTo>
                    <a:pt x="971" y="181"/>
                    <a:pt x="1015" y="155"/>
                    <a:pt x="1088" y="147"/>
                  </a:cubicBezTo>
                  <a:cubicBezTo>
                    <a:pt x="1128" y="142"/>
                    <a:pt x="1168" y="141"/>
                    <a:pt x="1208" y="138"/>
                  </a:cubicBezTo>
                  <a:cubicBezTo>
                    <a:pt x="1259" y="122"/>
                    <a:pt x="1315" y="123"/>
                    <a:pt x="1363" y="147"/>
                  </a:cubicBezTo>
                  <a:lnTo>
                    <a:pt x="1510" y="267"/>
                  </a:lnTo>
                  <a:lnTo>
                    <a:pt x="1414" y="219"/>
                  </a:lnTo>
                  <a:lnTo>
                    <a:pt x="1462" y="171"/>
                  </a:lnTo>
                  <a:cubicBezTo>
                    <a:pt x="2006" y="16"/>
                    <a:pt x="1706" y="59"/>
                    <a:pt x="2443" y="70"/>
                  </a:cubicBezTo>
                  <a:cubicBezTo>
                    <a:pt x="2539" y="59"/>
                    <a:pt x="2629" y="35"/>
                    <a:pt x="2725" y="27"/>
                  </a:cubicBezTo>
                  <a:cubicBezTo>
                    <a:pt x="2623" y="0"/>
                    <a:pt x="2602" y="12"/>
                    <a:pt x="2460" y="18"/>
                  </a:cubicBezTo>
                  <a:cubicBezTo>
                    <a:pt x="2418" y="29"/>
                    <a:pt x="2380" y="39"/>
                    <a:pt x="2340" y="53"/>
                  </a:cubicBezTo>
                  <a:cubicBezTo>
                    <a:pt x="2443" y="56"/>
                    <a:pt x="2545" y="55"/>
                    <a:pt x="2648" y="61"/>
                  </a:cubicBezTo>
                  <a:cubicBezTo>
                    <a:pt x="2657" y="62"/>
                    <a:pt x="2631" y="67"/>
                    <a:pt x="2623" y="70"/>
                  </a:cubicBezTo>
                  <a:cubicBezTo>
                    <a:pt x="2614" y="73"/>
                    <a:pt x="2606" y="75"/>
                    <a:pt x="2597" y="78"/>
                  </a:cubicBezTo>
                  <a:cubicBezTo>
                    <a:pt x="2566" y="88"/>
                    <a:pt x="2535" y="96"/>
                    <a:pt x="2503" y="104"/>
                  </a:cubicBezTo>
                  <a:cubicBezTo>
                    <a:pt x="2420" y="144"/>
                    <a:pt x="2327" y="150"/>
                    <a:pt x="2245" y="190"/>
                  </a:cubicBezTo>
                  <a:cubicBezTo>
                    <a:pt x="2225" y="254"/>
                    <a:pt x="2175" y="236"/>
                    <a:pt x="2108" y="241"/>
                  </a:cubicBezTo>
                  <a:cubicBezTo>
                    <a:pt x="2000" y="264"/>
                    <a:pt x="1887" y="299"/>
                    <a:pt x="1783" y="336"/>
                  </a:cubicBezTo>
                  <a:cubicBezTo>
                    <a:pt x="1745" y="349"/>
                    <a:pt x="1703" y="341"/>
                    <a:pt x="1663" y="344"/>
                  </a:cubicBezTo>
                  <a:cubicBezTo>
                    <a:pt x="1557" y="366"/>
                    <a:pt x="1453" y="371"/>
                    <a:pt x="1345" y="378"/>
                  </a:cubicBezTo>
                  <a:cubicBezTo>
                    <a:pt x="1293" y="387"/>
                    <a:pt x="1265" y="393"/>
                    <a:pt x="1208" y="396"/>
                  </a:cubicBezTo>
                  <a:cubicBezTo>
                    <a:pt x="1051" y="403"/>
                    <a:pt x="737" y="413"/>
                    <a:pt x="737" y="413"/>
                  </a:cubicBezTo>
                  <a:cubicBezTo>
                    <a:pt x="653" y="433"/>
                    <a:pt x="613" y="441"/>
                    <a:pt x="514" y="447"/>
                  </a:cubicBezTo>
                  <a:cubicBezTo>
                    <a:pt x="91" y="438"/>
                    <a:pt x="234" y="438"/>
                    <a:pt x="85" y="438"/>
                  </a:cubicBezTo>
                  <a:lnTo>
                    <a:pt x="454" y="315"/>
                  </a:lnTo>
                </a:path>
              </a:pathLst>
            </a:custGeom>
            <a:noFill/>
            <a:ln w="9525" cap="flat" cmpd="sng">
              <a:noFill/>
              <a:prstDash val="solid"/>
              <a:round/>
              <a:headEnd/>
              <a:tailEnd/>
            </a:ln>
            <a:effectLst/>
          </p:spPr>
          <p:txBody>
            <a:bodyPr wrap="none" anchor="ctr">
              <a:spAutoFit/>
            </a:bodyPr>
            <a:lstStyle/>
            <a:p>
              <a:endParaRPr lang="en-US"/>
            </a:p>
          </p:txBody>
        </p:sp>
        <p:sp>
          <p:nvSpPr>
            <p:cNvPr id="62491" name="Arc 27"/>
            <p:cNvSpPr>
              <a:spLocks/>
            </p:cNvSpPr>
            <p:nvPr/>
          </p:nvSpPr>
          <p:spPr bwMode="auto">
            <a:xfrm rot="10940350" flipV="1">
              <a:off x="3984" y="1824"/>
              <a:ext cx="528" cy="14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FFFF00"/>
              </a:solidFill>
              <a:round/>
              <a:headEnd/>
              <a:tailEnd/>
            </a:ln>
            <a:effectLst/>
          </p:spPr>
          <p:txBody>
            <a:bodyPr wrap="none" anchor="ctr">
              <a:spAutoFit/>
            </a:bodyPr>
            <a:lstStyle/>
            <a:p>
              <a:endParaRPr lang="en-US"/>
            </a:p>
          </p:txBody>
        </p:sp>
        <p:sp>
          <p:nvSpPr>
            <p:cNvPr id="62492" name="Arc 28"/>
            <p:cNvSpPr>
              <a:spLocks/>
            </p:cNvSpPr>
            <p:nvPr/>
          </p:nvSpPr>
          <p:spPr bwMode="auto">
            <a:xfrm rot="18957568">
              <a:off x="4412" y="2949"/>
              <a:ext cx="386" cy="336"/>
            </a:xfrm>
            <a:custGeom>
              <a:avLst/>
              <a:gdLst>
                <a:gd name="G0" fmla="+- 0 0 0"/>
                <a:gd name="G1" fmla="+- 21600 0 0"/>
                <a:gd name="G2" fmla="+- 21600 0 0"/>
                <a:gd name="T0" fmla="*/ 0 w 18181"/>
                <a:gd name="T1" fmla="*/ 0 h 21600"/>
                <a:gd name="T2" fmla="*/ 18181 w 18181"/>
                <a:gd name="T3" fmla="*/ 9937 h 21600"/>
                <a:gd name="T4" fmla="*/ 0 w 18181"/>
                <a:gd name="T5" fmla="*/ 21600 h 21600"/>
              </a:gdLst>
              <a:ahLst/>
              <a:cxnLst>
                <a:cxn ang="0">
                  <a:pos x="T0" y="T1"/>
                </a:cxn>
                <a:cxn ang="0">
                  <a:pos x="T2" y="T3"/>
                </a:cxn>
                <a:cxn ang="0">
                  <a:pos x="T4" y="T5"/>
                </a:cxn>
              </a:cxnLst>
              <a:rect l="0" t="0" r="r" b="b"/>
              <a:pathLst>
                <a:path w="18181" h="21600" fill="none" extrusionOk="0">
                  <a:moveTo>
                    <a:pt x="-1" y="0"/>
                  </a:moveTo>
                  <a:cubicBezTo>
                    <a:pt x="7357" y="0"/>
                    <a:pt x="14208" y="3744"/>
                    <a:pt x="18180" y="9937"/>
                  </a:cubicBezTo>
                </a:path>
                <a:path w="18181" h="21600" stroke="0" extrusionOk="0">
                  <a:moveTo>
                    <a:pt x="-1" y="0"/>
                  </a:moveTo>
                  <a:cubicBezTo>
                    <a:pt x="7357" y="0"/>
                    <a:pt x="14208" y="3744"/>
                    <a:pt x="18180" y="9937"/>
                  </a:cubicBezTo>
                  <a:lnTo>
                    <a:pt x="0" y="21600"/>
                  </a:lnTo>
                  <a:close/>
                </a:path>
              </a:pathLst>
            </a:custGeom>
            <a:noFill/>
            <a:ln w="38100">
              <a:solidFill>
                <a:srgbClr val="FFFF00"/>
              </a:solidFill>
              <a:round/>
              <a:headEnd/>
              <a:tailEnd/>
            </a:ln>
            <a:effectLst/>
          </p:spPr>
          <p:txBody>
            <a:bodyPr anchor="ctr">
              <a:spAutoFit/>
            </a:bodyPr>
            <a:lstStyle/>
            <a:p>
              <a:endParaRPr lang="en-US"/>
            </a:p>
          </p:txBody>
        </p:sp>
        <p:sp>
          <p:nvSpPr>
            <p:cNvPr id="62493" name="Arc 29"/>
            <p:cNvSpPr>
              <a:spLocks/>
            </p:cNvSpPr>
            <p:nvPr/>
          </p:nvSpPr>
          <p:spPr bwMode="auto">
            <a:xfrm rot="-12996958">
              <a:off x="3984" y="1104"/>
              <a:ext cx="336" cy="33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FFFF00"/>
              </a:solidFill>
              <a:round/>
              <a:headEnd/>
              <a:tailEnd/>
            </a:ln>
            <a:effectLst/>
          </p:spPr>
          <p:txBody>
            <a:bodyPr anchor="ctr">
              <a:spAutoFit/>
            </a:bodyPr>
            <a:lstStyle/>
            <a:p>
              <a:endParaRPr lang="en-US"/>
            </a:p>
          </p:txBody>
        </p:sp>
        <p:sp>
          <p:nvSpPr>
            <p:cNvPr id="62496" name="Line 32"/>
            <p:cNvSpPr>
              <a:spLocks noChangeShapeType="1"/>
            </p:cNvSpPr>
            <p:nvPr/>
          </p:nvSpPr>
          <p:spPr bwMode="auto">
            <a:xfrm>
              <a:off x="784" y="723"/>
              <a:ext cx="0" cy="2773"/>
            </a:xfrm>
            <a:prstGeom prst="line">
              <a:avLst/>
            </a:prstGeom>
            <a:noFill/>
            <a:ln w="25400">
              <a:solidFill>
                <a:srgbClr val="66FFFF"/>
              </a:solidFill>
              <a:round/>
              <a:headEnd/>
              <a:tailEnd/>
            </a:ln>
            <a:effectLst/>
          </p:spPr>
          <p:txBody>
            <a:bodyPr wrap="none" anchor="ctr"/>
            <a:lstStyle/>
            <a:p>
              <a:endParaRPr lang="en-US"/>
            </a:p>
          </p:txBody>
        </p:sp>
        <p:sp>
          <p:nvSpPr>
            <p:cNvPr id="62498" name="Line 34"/>
            <p:cNvSpPr>
              <a:spLocks noChangeShapeType="1"/>
            </p:cNvSpPr>
            <p:nvPr/>
          </p:nvSpPr>
          <p:spPr bwMode="auto">
            <a:xfrm>
              <a:off x="792" y="3496"/>
              <a:ext cx="4145" cy="0"/>
            </a:xfrm>
            <a:prstGeom prst="line">
              <a:avLst/>
            </a:prstGeom>
            <a:noFill/>
            <a:ln w="25400">
              <a:solidFill>
                <a:srgbClr val="66FFFF"/>
              </a:solidFill>
              <a:round/>
              <a:headEnd/>
              <a:tailEnd/>
            </a:ln>
            <a:effectLst/>
          </p:spPr>
          <p:txBody>
            <a:bodyPr wrap="none" anchor="ctr"/>
            <a:lstStyle/>
            <a:p>
              <a:endParaRPr lang="en-US"/>
            </a:p>
          </p:txBody>
        </p:sp>
        <p:sp>
          <p:nvSpPr>
            <p:cNvPr id="62500" name="Rectangle 36"/>
            <p:cNvSpPr>
              <a:spLocks noChangeArrowheads="1"/>
            </p:cNvSpPr>
            <p:nvPr/>
          </p:nvSpPr>
          <p:spPr bwMode="auto">
            <a:xfrm>
              <a:off x="1348" y="742"/>
              <a:ext cx="1139" cy="218"/>
            </a:xfrm>
            <a:prstGeom prst="rect">
              <a:avLst/>
            </a:prstGeom>
            <a:noFill/>
            <a:ln w="12700">
              <a:noFill/>
              <a:miter lim="800000"/>
              <a:headEnd/>
              <a:tailEnd/>
            </a:ln>
            <a:effectLst/>
          </p:spPr>
          <p:txBody>
            <a:bodyPr wrap="none" lIns="62313" tIns="24925" rIns="62313" bIns="24925">
              <a:spAutoFit/>
            </a:bodyPr>
            <a:lstStyle/>
            <a:p>
              <a:pPr algn="ctr" defTabSz="896938" eaLnBrk="0" hangingPunct="0">
                <a:lnSpc>
                  <a:spcPct val="97000"/>
                </a:lnSpc>
              </a:pPr>
              <a:r>
                <a:rPr lang="en-US" sz="2000">
                  <a:solidFill>
                    <a:srgbClr val="FFFF00"/>
                  </a:solidFill>
                </a:rPr>
                <a:t>United States</a:t>
              </a:r>
            </a:p>
          </p:txBody>
        </p:sp>
        <p:sp>
          <p:nvSpPr>
            <p:cNvPr id="62501" name="Rectangle 37"/>
            <p:cNvSpPr>
              <a:spLocks noChangeArrowheads="1"/>
            </p:cNvSpPr>
            <p:nvPr/>
          </p:nvSpPr>
          <p:spPr bwMode="auto">
            <a:xfrm>
              <a:off x="1019" y="1797"/>
              <a:ext cx="2063" cy="218"/>
            </a:xfrm>
            <a:prstGeom prst="rect">
              <a:avLst/>
            </a:prstGeom>
            <a:noFill/>
            <a:ln w="12700">
              <a:noFill/>
              <a:miter lim="800000"/>
              <a:headEnd/>
              <a:tailEnd/>
            </a:ln>
            <a:effectLst/>
          </p:spPr>
          <p:txBody>
            <a:bodyPr wrap="none" lIns="62313" tIns="24925" rIns="62313" bIns="24925">
              <a:spAutoFit/>
            </a:bodyPr>
            <a:lstStyle/>
            <a:p>
              <a:pPr algn="ctr" defTabSz="896938" eaLnBrk="0" hangingPunct="0">
                <a:lnSpc>
                  <a:spcPct val="97000"/>
                </a:lnSpc>
              </a:pPr>
              <a:r>
                <a:rPr lang="en-US" sz="2000">
                  <a:solidFill>
                    <a:srgbClr val="FFFF00"/>
                  </a:solidFill>
                </a:rPr>
                <a:t>Other Advanced Countries</a:t>
              </a:r>
            </a:p>
          </p:txBody>
        </p:sp>
        <p:sp>
          <p:nvSpPr>
            <p:cNvPr id="62502" name="Rectangle 38"/>
            <p:cNvSpPr>
              <a:spLocks noChangeArrowheads="1"/>
            </p:cNvSpPr>
            <p:nvPr/>
          </p:nvSpPr>
          <p:spPr bwMode="auto">
            <a:xfrm>
              <a:off x="1073" y="2758"/>
              <a:ext cx="1633" cy="218"/>
            </a:xfrm>
            <a:prstGeom prst="rect">
              <a:avLst/>
            </a:prstGeom>
            <a:noFill/>
            <a:ln w="12700">
              <a:noFill/>
              <a:miter lim="800000"/>
              <a:headEnd/>
              <a:tailEnd/>
            </a:ln>
            <a:effectLst/>
          </p:spPr>
          <p:txBody>
            <a:bodyPr wrap="none" lIns="62313" tIns="24925" rIns="62313" bIns="24925">
              <a:spAutoFit/>
            </a:bodyPr>
            <a:lstStyle/>
            <a:p>
              <a:pPr algn="ctr" defTabSz="896938" eaLnBrk="0" hangingPunct="0">
                <a:lnSpc>
                  <a:spcPct val="97000"/>
                </a:lnSpc>
              </a:pPr>
              <a:r>
                <a:rPr lang="en-US" sz="2000">
                  <a:solidFill>
                    <a:srgbClr val="FFFF00"/>
                  </a:solidFill>
                </a:rPr>
                <a:t>Developing Countries</a:t>
              </a:r>
            </a:p>
          </p:txBody>
        </p:sp>
        <p:sp>
          <p:nvSpPr>
            <p:cNvPr id="62503" name="Line 39"/>
            <p:cNvSpPr>
              <a:spLocks noChangeShapeType="1"/>
            </p:cNvSpPr>
            <p:nvPr/>
          </p:nvSpPr>
          <p:spPr bwMode="auto">
            <a:xfrm>
              <a:off x="912" y="3696"/>
              <a:ext cx="0" cy="352"/>
            </a:xfrm>
            <a:prstGeom prst="line">
              <a:avLst/>
            </a:prstGeom>
            <a:noFill/>
            <a:ln w="38100">
              <a:solidFill>
                <a:srgbClr val="FFFF00"/>
              </a:solidFill>
              <a:round/>
              <a:headEnd/>
              <a:tailEnd/>
            </a:ln>
            <a:effectLst/>
          </p:spPr>
          <p:txBody>
            <a:bodyPr wrap="none" anchor="ctr"/>
            <a:lstStyle/>
            <a:p>
              <a:endParaRPr lang="en-US"/>
            </a:p>
          </p:txBody>
        </p:sp>
        <p:sp>
          <p:nvSpPr>
            <p:cNvPr id="62504" name="Line 40"/>
            <p:cNvSpPr>
              <a:spLocks noChangeShapeType="1"/>
            </p:cNvSpPr>
            <p:nvPr/>
          </p:nvSpPr>
          <p:spPr bwMode="auto">
            <a:xfrm>
              <a:off x="4320" y="3648"/>
              <a:ext cx="0" cy="352"/>
            </a:xfrm>
            <a:prstGeom prst="line">
              <a:avLst/>
            </a:prstGeom>
            <a:noFill/>
            <a:ln w="38100">
              <a:solidFill>
                <a:srgbClr val="FFFF00"/>
              </a:solidFill>
              <a:round/>
              <a:headEnd/>
              <a:tailEnd/>
            </a:ln>
            <a:effectLst/>
          </p:spPr>
          <p:txBody>
            <a:bodyPr wrap="none" anchor="ctr"/>
            <a:lstStyle/>
            <a:p>
              <a:endParaRPr lang="en-US"/>
            </a:p>
          </p:txBody>
        </p:sp>
        <p:sp>
          <p:nvSpPr>
            <p:cNvPr id="62505" name="Line 41"/>
            <p:cNvSpPr>
              <a:spLocks noChangeShapeType="1"/>
            </p:cNvSpPr>
            <p:nvPr/>
          </p:nvSpPr>
          <p:spPr bwMode="auto">
            <a:xfrm flipV="1">
              <a:off x="960" y="3933"/>
              <a:ext cx="3263" cy="3"/>
            </a:xfrm>
            <a:prstGeom prst="line">
              <a:avLst/>
            </a:prstGeom>
            <a:noFill/>
            <a:ln w="28575">
              <a:solidFill>
                <a:srgbClr val="FFFF00"/>
              </a:solidFill>
              <a:round/>
              <a:headEnd type="triangle" w="med" len="med"/>
              <a:tailEnd type="triangle" w="med" len="med"/>
            </a:ln>
            <a:effectLst/>
          </p:spPr>
          <p:txBody>
            <a:bodyPr wrap="none" anchor="ctr"/>
            <a:lstStyle/>
            <a:p>
              <a:endParaRPr lang="en-US"/>
            </a:p>
          </p:txBody>
        </p:sp>
        <p:sp>
          <p:nvSpPr>
            <p:cNvPr id="62506" name="Rectangle 42"/>
            <p:cNvSpPr>
              <a:spLocks noChangeArrowheads="1"/>
            </p:cNvSpPr>
            <p:nvPr/>
          </p:nvSpPr>
          <p:spPr bwMode="auto">
            <a:xfrm>
              <a:off x="1448" y="3878"/>
              <a:ext cx="2092" cy="166"/>
            </a:xfrm>
            <a:prstGeom prst="rect">
              <a:avLst/>
            </a:prstGeom>
            <a:solidFill>
              <a:srgbClr val="333399"/>
            </a:solidFill>
            <a:ln w="12700">
              <a:noFill/>
              <a:miter lim="800000"/>
              <a:headEnd/>
              <a:tailEnd/>
            </a:ln>
            <a:effectLst/>
          </p:spPr>
          <p:txBody>
            <a:bodyPr wrap="none" lIns="62313" tIns="24925" rIns="62313" bIns="24925">
              <a:spAutoFit/>
            </a:bodyPr>
            <a:lstStyle/>
            <a:p>
              <a:pPr algn="ctr" defTabSz="896938" eaLnBrk="0" hangingPunct="0"/>
              <a:r>
                <a:rPr lang="en-US" sz="1400" b="1">
                  <a:solidFill>
                    <a:schemeClr val="bg1"/>
                  </a:solidFill>
                  <a:latin typeface="Century Schoolbook" pitchFamily="18" charset="0"/>
                </a:rPr>
                <a:t>Stages of Production Development</a:t>
              </a:r>
            </a:p>
          </p:txBody>
        </p:sp>
        <p:sp>
          <p:nvSpPr>
            <p:cNvPr id="62507" name="Rectangle 43"/>
            <p:cNvSpPr>
              <a:spLocks noChangeArrowheads="1"/>
            </p:cNvSpPr>
            <p:nvPr/>
          </p:nvSpPr>
          <p:spPr bwMode="auto">
            <a:xfrm>
              <a:off x="982" y="3681"/>
              <a:ext cx="732" cy="147"/>
            </a:xfrm>
            <a:prstGeom prst="rect">
              <a:avLst/>
            </a:prstGeom>
            <a:solidFill>
              <a:srgbClr val="333399"/>
            </a:solidFill>
            <a:ln w="12700">
              <a:noFill/>
              <a:miter lim="800000"/>
              <a:headEnd/>
              <a:tailEnd/>
            </a:ln>
            <a:effectLst/>
          </p:spPr>
          <p:txBody>
            <a:bodyPr wrap="none" lIns="62313" tIns="24925" rIns="62313" bIns="24925">
              <a:spAutoFit/>
            </a:bodyPr>
            <a:lstStyle/>
            <a:p>
              <a:pPr algn="ctr" defTabSz="896938" eaLnBrk="0" hangingPunct="0"/>
              <a:r>
                <a:rPr lang="en-US" sz="1200" b="1">
                  <a:solidFill>
                    <a:schemeClr val="bg1"/>
                  </a:solidFill>
                  <a:latin typeface="Century Schoolbook" pitchFamily="18" charset="0"/>
                </a:rPr>
                <a:t>New Product</a:t>
              </a:r>
            </a:p>
          </p:txBody>
        </p:sp>
        <p:sp>
          <p:nvSpPr>
            <p:cNvPr id="62508" name="Rectangle 44"/>
            <p:cNvSpPr>
              <a:spLocks noChangeArrowheads="1"/>
            </p:cNvSpPr>
            <p:nvPr/>
          </p:nvSpPr>
          <p:spPr bwMode="auto">
            <a:xfrm>
              <a:off x="3120" y="3696"/>
              <a:ext cx="1186" cy="147"/>
            </a:xfrm>
            <a:prstGeom prst="rect">
              <a:avLst/>
            </a:prstGeom>
            <a:solidFill>
              <a:srgbClr val="333399"/>
            </a:solidFill>
            <a:ln w="12700">
              <a:noFill/>
              <a:miter lim="800000"/>
              <a:headEnd/>
              <a:tailEnd/>
            </a:ln>
            <a:effectLst/>
          </p:spPr>
          <p:txBody>
            <a:bodyPr wrap="none" lIns="62313" tIns="24925" rIns="62313" bIns="24925">
              <a:spAutoFit/>
            </a:bodyPr>
            <a:lstStyle/>
            <a:p>
              <a:pPr algn="ctr" defTabSz="896938" eaLnBrk="0" hangingPunct="0"/>
              <a:r>
                <a:rPr lang="en-US" sz="1200" b="1">
                  <a:solidFill>
                    <a:schemeClr val="bg1"/>
                  </a:solidFill>
                  <a:latin typeface="Century Schoolbook" pitchFamily="18" charset="0"/>
                </a:rPr>
                <a:t>Standardized Product</a:t>
              </a:r>
            </a:p>
          </p:txBody>
        </p:sp>
        <p:sp>
          <p:nvSpPr>
            <p:cNvPr id="62509" name="Rectangle 45"/>
            <p:cNvSpPr>
              <a:spLocks noChangeArrowheads="1"/>
            </p:cNvSpPr>
            <p:nvPr/>
          </p:nvSpPr>
          <p:spPr bwMode="auto">
            <a:xfrm>
              <a:off x="1960" y="3681"/>
              <a:ext cx="983" cy="147"/>
            </a:xfrm>
            <a:prstGeom prst="rect">
              <a:avLst/>
            </a:prstGeom>
            <a:solidFill>
              <a:srgbClr val="333399"/>
            </a:solidFill>
            <a:ln w="12700">
              <a:noFill/>
              <a:miter lim="800000"/>
              <a:headEnd/>
              <a:tailEnd/>
            </a:ln>
            <a:effectLst/>
          </p:spPr>
          <p:txBody>
            <a:bodyPr wrap="none" lIns="62313" tIns="24925" rIns="62313" bIns="24925">
              <a:spAutoFit/>
            </a:bodyPr>
            <a:lstStyle/>
            <a:p>
              <a:pPr algn="ctr" defTabSz="896938" eaLnBrk="0" hangingPunct="0"/>
              <a:r>
                <a:rPr lang="en-US" sz="1200" b="1">
                  <a:solidFill>
                    <a:schemeClr val="bg1"/>
                  </a:solidFill>
                  <a:latin typeface="Century Schoolbook" pitchFamily="18" charset="0"/>
                </a:rPr>
                <a:t>Maturing Product</a:t>
              </a:r>
            </a:p>
          </p:txBody>
        </p:sp>
        <p:sp>
          <p:nvSpPr>
            <p:cNvPr id="62510" name="Arc 46"/>
            <p:cNvSpPr>
              <a:spLocks/>
            </p:cNvSpPr>
            <p:nvPr/>
          </p:nvSpPr>
          <p:spPr bwMode="auto">
            <a:xfrm>
              <a:off x="864" y="1152"/>
              <a:ext cx="3462" cy="512"/>
            </a:xfrm>
            <a:custGeom>
              <a:avLst/>
              <a:gdLst>
                <a:gd name="G0" fmla="+- 21594 0 0"/>
                <a:gd name="G1" fmla="+- 21600 0 0"/>
                <a:gd name="G2" fmla="+- 21600 0 0"/>
                <a:gd name="T0" fmla="*/ 0 w 21594"/>
                <a:gd name="T1" fmla="*/ 21088 h 21600"/>
                <a:gd name="T2" fmla="*/ 21588 w 21594"/>
                <a:gd name="T3" fmla="*/ 0 h 21600"/>
                <a:gd name="T4" fmla="*/ 21594 w 21594"/>
                <a:gd name="T5" fmla="*/ 21600 h 21600"/>
              </a:gdLst>
              <a:ahLst/>
              <a:cxnLst>
                <a:cxn ang="0">
                  <a:pos x="T0" y="T1"/>
                </a:cxn>
                <a:cxn ang="0">
                  <a:pos x="T2" y="T3"/>
                </a:cxn>
                <a:cxn ang="0">
                  <a:pos x="T4" y="T5"/>
                </a:cxn>
              </a:cxnLst>
              <a:rect l="0" t="0" r="r" b="b"/>
              <a:pathLst>
                <a:path w="21594" h="21600" fill="none" extrusionOk="0">
                  <a:moveTo>
                    <a:pt x="0" y="21088"/>
                  </a:moveTo>
                  <a:cubicBezTo>
                    <a:pt x="278" y="9363"/>
                    <a:pt x="9860" y="3"/>
                    <a:pt x="21588" y="0"/>
                  </a:cubicBezTo>
                </a:path>
                <a:path w="21594" h="21600" stroke="0" extrusionOk="0">
                  <a:moveTo>
                    <a:pt x="0" y="21088"/>
                  </a:moveTo>
                  <a:cubicBezTo>
                    <a:pt x="278" y="9363"/>
                    <a:pt x="9860" y="3"/>
                    <a:pt x="21588" y="0"/>
                  </a:cubicBezTo>
                  <a:lnTo>
                    <a:pt x="21594" y="21600"/>
                  </a:lnTo>
                  <a:close/>
                </a:path>
              </a:pathLst>
            </a:custGeom>
            <a:noFill/>
            <a:ln w="76200" cap="rnd" cmpd="tri">
              <a:solidFill>
                <a:schemeClr val="hlink"/>
              </a:solidFill>
              <a:round/>
              <a:headEnd/>
              <a:tailEnd/>
            </a:ln>
            <a:effectLst/>
          </p:spPr>
          <p:txBody>
            <a:bodyPr wrap="none" anchor="ctr"/>
            <a:lstStyle/>
            <a:p>
              <a:endParaRPr lang="en-US"/>
            </a:p>
          </p:txBody>
        </p:sp>
        <p:sp>
          <p:nvSpPr>
            <p:cNvPr id="62511" name="Arc 47"/>
            <p:cNvSpPr>
              <a:spLocks/>
            </p:cNvSpPr>
            <p:nvPr/>
          </p:nvSpPr>
          <p:spPr bwMode="auto">
            <a:xfrm>
              <a:off x="939" y="2110"/>
              <a:ext cx="3463" cy="512"/>
            </a:xfrm>
            <a:custGeom>
              <a:avLst/>
              <a:gdLst>
                <a:gd name="G0" fmla="+- 21600 0 0"/>
                <a:gd name="G1" fmla="+- 21600 0 0"/>
                <a:gd name="G2" fmla="+- 21600 0 0"/>
                <a:gd name="T0" fmla="*/ 0 w 21600"/>
                <a:gd name="T1" fmla="*/ 21600 h 21600"/>
                <a:gd name="T2" fmla="*/ 21594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72"/>
                    <a:pt x="9666" y="3"/>
                    <a:pt x="21594" y="0"/>
                  </a:cubicBezTo>
                </a:path>
                <a:path w="21600" h="21600" stroke="0" extrusionOk="0">
                  <a:moveTo>
                    <a:pt x="0" y="21600"/>
                  </a:moveTo>
                  <a:cubicBezTo>
                    <a:pt x="0" y="9672"/>
                    <a:pt x="9666" y="3"/>
                    <a:pt x="21594" y="0"/>
                  </a:cubicBezTo>
                  <a:lnTo>
                    <a:pt x="21600" y="21600"/>
                  </a:lnTo>
                  <a:close/>
                </a:path>
              </a:pathLst>
            </a:custGeom>
            <a:noFill/>
            <a:ln w="76200" cap="rnd" cmpd="tri">
              <a:solidFill>
                <a:schemeClr val="hlink"/>
              </a:solidFill>
              <a:round/>
              <a:headEnd/>
              <a:tailEnd/>
            </a:ln>
            <a:effectLst/>
          </p:spPr>
          <p:txBody>
            <a:bodyPr wrap="none" anchor="ctr"/>
            <a:lstStyle/>
            <a:p>
              <a:endParaRPr lang="en-US"/>
            </a:p>
          </p:txBody>
        </p:sp>
        <p:sp>
          <p:nvSpPr>
            <p:cNvPr id="62512" name="Arc 48"/>
            <p:cNvSpPr>
              <a:spLocks/>
            </p:cNvSpPr>
            <p:nvPr/>
          </p:nvSpPr>
          <p:spPr bwMode="auto">
            <a:xfrm>
              <a:off x="1186" y="3285"/>
              <a:ext cx="3392" cy="191"/>
            </a:xfrm>
            <a:custGeom>
              <a:avLst/>
              <a:gdLst>
                <a:gd name="G0" fmla="+- 21600 0 0"/>
                <a:gd name="G1" fmla="+- 21596 0 0"/>
                <a:gd name="G2" fmla="+- 21600 0 0"/>
                <a:gd name="T0" fmla="*/ 0 w 21600"/>
                <a:gd name="T1" fmla="*/ 21596 h 21596"/>
                <a:gd name="T2" fmla="*/ 21163 w 21600"/>
                <a:gd name="T3" fmla="*/ 0 h 21596"/>
                <a:gd name="T4" fmla="*/ 21600 w 21600"/>
                <a:gd name="T5" fmla="*/ 21596 h 21596"/>
              </a:gdLst>
              <a:ahLst/>
              <a:cxnLst>
                <a:cxn ang="0">
                  <a:pos x="T0" y="T1"/>
                </a:cxn>
                <a:cxn ang="0">
                  <a:pos x="T2" y="T3"/>
                </a:cxn>
                <a:cxn ang="0">
                  <a:pos x="T4" y="T5"/>
                </a:cxn>
              </a:cxnLst>
              <a:rect l="0" t="0" r="r" b="b"/>
              <a:pathLst>
                <a:path w="21600" h="21596" fill="none" extrusionOk="0">
                  <a:moveTo>
                    <a:pt x="0" y="21596"/>
                  </a:moveTo>
                  <a:cubicBezTo>
                    <a:pt x="0" y="9836"/>
                    <a:pt x="9406" y="238"/>
                    <a:pt x="21163" y="0"/>
                  </a:cubicBezTo>
                </a:path>
                <a:path w="21600" h="21596" stroke="0" extrusionOk="0">
                  <a:moveTo>
                    <a:pt x="0" y="21596"/>
                  </a:moveTo>
                  <a:cubicBezTo>
                    <a:pt x="0" y="9836"/>
                    <a:pt x="9406" y="238"/>
                    <a:pt x="21163" y="0"/>
                  </a:cubicBezTo>
                  <a:lnTo>
                    <a:pt x="21600" y="21596"/>
                  </a:lnTo>
                  <a:close/>
                </a:path>
              </a:pathLst>
            </a:custGeom>
            <a:noFill/>
            <a:ln w="76200" cap="rnd" cmpd="tri">
              <a:solidFill>
                <a:schemeClr val="hlink"/>
              </a:solidFill>
              <a:round/>
              <a:headEnd/>
              <a:tailEnd/>
            </a:ln>
            <a:effectLst/>
          </p:spPr>
          <p:txBody>
            <a:bodyPr wrap="none" anchor="ctr"/>
            <a:lstStyle/>
            <a:p>
              <a:pPr algn="ctr" eaLnBrk="0" hangingPunct="0"/>
              <a:endParaRPr lang="en-US" sz="2400">
                <a:latin typeface="Times New Roman" pitchFamily="18" charset="0"/>
              </a:endParaRPr>
            </a:p>
          </p:txBody>
        </p:sp>
        <p:sp>
          <p:nvSpPr>
            <p:cNvPr id="62513" name="Arc 49"/>
            <p:cNvSpPr>
              <a:spLocks/>
            </p:cNvSpPr>
            <p:nvPr/>
          </p:nvSpPr>
          <p:spPr bwMode="auto">
            <a:xfrm>
              <a:off x="1152" y="1824"/>
              <a:ext cx="2823" cy="770"/>
            </a:xfrm>
            <a:custGeom>
              <a:avLst/>
              <a:gdLst>
                <a:gd name="G0" fmla="+- 0 0 0"/>
                <a:gd name="G1" fmla="+- 0 0 0"/>
                <a:gd name="G2" fmla="+- 21600 0 0"/>
                <a:gd name="T0" fmla="*/ 21439 w 21439"/>
                <a:gd name="T1" fmla="*/ 2632 h 21600"/>
                <a:gd name="T2" fmla="*/ 0 w 21439"/>
                <a:gd name="T3" fmla="*/ 21600 h 21600"/>
                <a:gd name="T4" fmla="*/ 0 w 21439"/>
                <a:gd name="T5" fmla="*/ 0 h 21600"/>
              </a:gdLst>
              <a:ahLst/>
              <a:cxnLst>
                <a:cxn ang="0">
                  <a:pos x="T0" y="T1"/>
                </a:cxn>
                <a:cxn ang="0">
                  <a:pos x="T2" y="T3"/>
                </a:cxn>
                <a:cxn ang="0">
                  <a:pos x="T4" y="T5"/>
                </a:cxn>
              </a:cxnLst>
              <a:rect l="0" t="0" r="r" b="b"/>
              <a:pathLst>
                <a:path w="21439" h="21600" fill="none" extrusionOk="0">
                  <a:moveTo>
                    <a:pt x="21439" y="2632"/>
                  </a:moveTo>
                  <a:cubicBezTo>
                    <a:pt x="20109" y="13462"/>
                    <a:pt x="10911" y="21599"/>
                    <a:pt x="0" y="21600"/>
                  </a:cubicBezTo>
                </a:path>
                <a:path w="21439" h="21600" stroke="0" extrusionOk="0">
                  <a:moveTo>
                    <a:pt x="21439" y="2632"/>
                  </a:moveTo>
                  <a:cubicBezTo>
                    <a:pt x="20109" y="13462"/>
                    <a:pt x="10911" y="21599"/>
                    <a:pt x="0" y="21600"/>
                  </a:cubicBezTo>
                  <a:lnTo>
                    <a:pt x="0" y="0"/>
                  </a:lnTo>
                  <a:close/>
                </a:path>
              </a:pathLst>
            </a:custGeom>
            <a:noFill/>
            <a:ln w="57150" cap="rnd">
              <a:solidFill>
                <a:srgbClr val="FFFF00"/>
              </a:solidFill>
              <a:round/>
              <a:headEnd/>
              <a:tailEnd/>
            </a:ln>
            <a:effectLst/>
          </p:spPr>
          <p:txBody>
            <a:bodyPr wrap="none" anchor="ctr"/>
            <a:lstStyle/>
            <a:p>
              <a:endParaRPr lang="en-US"/>
            </a:p>
          </p:txBody>
        </p:sp>
        <p:sp>
          <p:nvSpPr>
            <p:cNvPr id="62515" name="Text Box 51"/>
            <p:cNvSpPr txBox="1">
              <a:spLocks noChangeArrowheads="1"/>
            </p:cNvSpPr>
            <p:nvPr/>
          </p:nvSpPr>
          <p:spPr bwMode="auto">
            <a:xfrm>
              <a:off x="3888" y="1104"/>
              <a:ext cx="698" cy="249"/>
            </a:xfrm>
            <a:prstGeom prst="rect">
              <a:avLst/>
            </a:prstGeom>
            <a:noFill/>
            <a:ln w="28575">
              <a:solidFill>
                <a:schemeClr val="bg1"/>
              </a:solidFill>
              <a:miter lim="800000"/>
              <a:headEnd type="none" w="sm" len="sm"/>
              <a:tailEnd type="none" w="sm" len="sm"/>
            </a:ln>
            <a:effectLst/>
          </p:spPr>
          <p:txBody>
            <a:bodyPr>
              <a:spAutoFit/>
            </a:bodyPr>
            <a:lstStyle/>
            <a:p>
              <a:pPr eaLnBrk="0" hangingPunct="0"/>
              <a:r>
                <a:rPr lang="en-US">
                  <a:solidFill>
                    <a:schemeClr val="bg1"/>
                  </a:solidFill>
                </a:rPr>
                <a:t>Imports</a:t>
              </a:r>
            </a:p>
          </p:txBody>
        </p:sp>
        <p:sp>
          <p:nvSpPr>
            <p:cNvPr id="62516" name="Text Box 52"/>
            <p:cNvSpPr txBox="1">
              <a:spLocks noChangeArrowheads="1"/>
            </p:cNvSpPr>
            <p:nvPr/>
          </p:nvSpPr>
          <p:spPr bwMode="auto">
            <a:xfrm>
              <a:off x="1680" y="2304"/>
              <a:ext cx="768" cy="249"/>
            </a:xfrm>
            <a:prstGeom prst="rect">
              <a:avLst/>
            </a:prstGeom>
            <a:noFill/>
            <a:ln w="28575">
              <a:solidFill>
                <a:schemeClr val="bg1"/>
              </a:solidFill>
              <a:miter lim="800000"/>
              <a:headEnd type="none" w="sm" len="sm"/>
              <a:tailEnd type="none" w="sm" len="sm"/>
            </a:ln>
            <a:effectLst/>
          </p:spPr>
          <p:txBody>
            <a:bodyPr>
              <a:spAutoFit/>
            </a:bodyPr>
            <a:lstStyle/>
            <a:p>
              <a:pPr eaLnBrk="0" hangingPunct="0"/>
              <a:r>
                <a:rPr lang="en-US">
                  <a:solidFill>
                    <a:schemeClr val="bg1"/>
                  </a:solidFill>
                </a:rPr>
                <a:t>Imports</a:t>
              </a:r>
              <a:endParaRPr lang="en-US"/>
            </a:p>
          </p:txBody>
        </p:sp>
        <p:sp>
          <p:nvSpPr>
            <p:cNvPr id="62517" name="Text Box 53"/>
            <p:cNvSpPr txBox="1">
              <a:spLocks noChangeArrowheads="1"/>
            </p:cNvSpPr>
            <p:nvPr/>
          </p:nvSpPr>
          <p:spPr bwMode="auto">
            <a:xfrm>
              <a:off x="4224" y="1872"/>
              <a:ext cx="659" cy="239"/>
            </a:xfrm>
            <a:prstGeom prst="rect">
              <a:avLst/>
            </a:prstGeom>
            <a:noFill/>
            <a:ln w="12700">
              <a:solidFill>
                <a:schemeClr val="bg1"/>
              </a:solidFill>
              <a:miter lim="800000"/>
              <a:headEnd type="none" w="sm" len="sm"/>
              <a:tailEnd type="none" w="sm" len="sm"/>
            </a:ln>
            <a:effectLst/>
          </p:spPr>
          <p:txBody>
            <a:bodyPr wrap="none">
              <a:spAutoFit/>
            </a:bodyPr>
            <a:lstStyle/>
            <a:p>
              <a:pPr eaLnBrk="0" hangingPunct="0"/>
              <a:r>
                <a:rPr lang="en-US">
                  <a:solidFill>
                    <a:schemeClr val="bg1"/>
                  </a:solidFill>
                </a:rPr>
                <a:t>Exports</a:t>
              </a:r>
            </a:p>
          </p:txBody>
        </p:sp>
        <p:sp>
          <p:nvSpPr>
            <p:cNvPr id="62518" name="Text Box 54"/>
            <p:cNvSpPr txBox="1">
              <a:spLocks noChangeArrowheads="1"/>
            </p:cNvSpPr>
            <p:nvPr/>
          </p:nvSpPr>
          <p:spPr bwMode="auto">
            <a:xfrm>
              <a:off x="4608" y="3024"/>
              <a:ext cx="669" cy="249"/>
            </a:xfrm>
            <a:prstGeom prst="rect">
              <a:avLst/>
            </a:prstGeom>
            <a:noFill/>
            <a:ln w="28575">
              <a:solidFill>
                <a:schemeClr val="bg1"/>
              </a:solidFill>
              <a:miter lim="800000"/>
              <a:headEnd type="none" w="sm" len="sm"/>
              <a:tailEnd type="none" w="sm" len="sm"/>
            </a:ln>
            <a:effectLst/>
          </p:spPr>
          <p:txBody>
            <a:bodyPr wrap="none">
              <a:spAutoFit/>
            </a:bodyPr>
            <a:lstStyle/>
            <a:p>
              <a:pPr eaLnBrk="0" hangingPunct="0"/>
              <a:r>
                <a:rPr lang="en-US">
                  <a:solidFill>
                    <a:schemeClr val="bg1"/>
                  </a:solidFill>
                </a:rPr>
                <a:t>Exports</a:t>
              </a:r>
            </a:p>
          </p:txBody>
        </p:sp>
        <p:sp>
          <p:nvSpPr>
            <p:cNvPr id="62519" name="Text Box 55"/>
            <p:cNvSpPr txBox="1">
              <a:spLocks noChangeArrowheads="1"/>
            </p:cNvSpPr>
            <p:nvPr/>
          </p:nvSpPr>
          <p:spPr bwMode="auto">
            <a:xfrm>
              <a:off x="2438" y="3290"/>
              <a:ext cx="685" cy="249"/>
            </a:xfrm>
            <a:prstGeom prst="rect">
              <a:avLst/>
            </a:prstGeom>
            <a:noFill/>
            <a:ln w="28575">
              <a:solidFill>
                <a:schemeClr val="bg1"/>
              </a:solidFill>
              <a:miter lim="800000"/>
              <a:headEnd type="none" w="sm" len="sm"/>
              <a:tailEnd type="none" w="sm" len="sm"/>
            </a:ln>
            <a:effectLst/>
          </p:spPr>
          <p:txBody>
            <a:bodyPr wrap="none">
              <a:spAutoFit/>
            </a:bodyPr>
            <a:lstStyle/>
            <a:p>
              <a:pPr eaLnBrk="0" hangingPunct="0"/>
              <a:r>
                <a:rPr lang="en-US">
                  <a:solidFill>
                    <a:schemeClr val="bg1"/>
                  </a:solidFill>
                </a:rPr>
                <a:t>Imports</a:t>
              </a:r>
              <a:endParaRPr lang="en-US">
                <a:solidFill>
                  <a:srgbClr val="000066"/>
                </a:solidFill>
                <a:latin typeface="Times New Roman" pitchFamily="18" charset="0"/>
              </a:endParaRPr>
            </a:p>
          </p:txBody>
        </p:sp>
        <p:sp>
          <p:nvSpPr>
            <p:cNvPr id="62522" name="Rectangle 58"/>
            <p:cNvSpPr>
              <a:spLocks noChangeArrowheads="1"/>
            </p:cNvSpPr>
            <p:nvPr/>
          </p:nvSpPr>
          <p:spPr bwMode="auto">
            <a:xfrm>
              <a:off x="528" y="1632"/>
              <a:ext cx="249" cy="962"/>
            </a:xfrm>
            <a:prstGeom prst="rect">
              <a:avLst/>
            </a:prstGeom>
            <a:noFill/>
            <a:ln w="12700">
              <a:noFill/>
              <a:miter lim="800000"/>
              <a:headEnd/>
              <a:tailEnd/>
            </a:ln>
            <a:effectLst/>
          </p:spPr>
          <p:txBody>
            <a:bodyPr lIns="62313" tIns="24925" rIns="62313" bIns="24925">
              <a:spAutoFit/>
            </a:bodyPr>
            <a:lstStyle/>
            <a:p>
              <a:pPr algn="ctr" defTabSz="896938" eaLnBrk="0" hangingPunct="0">
                <a:lnSpc>
                  <a:spcPct val="97000"/>
                </a:lnSpc>
              </a:pPr>
              <a:r>
                <a:rPr lang="en-US" sz="1000">
                  <a:solidFill>
                    <a:srgbClr val="FF9933"/>
                  </a:solidFill>
                </a:rPr>
                <a:t>160</a:t>
              </a:r>
            </a:p>
            <a:p>
              <a:pPr algn="ctr" defTabSz="896938" eaLnBrk="0" hangingPunct="0">
                <a:lnSpc>
                  <a:spcPct val="97000"/>
                </a:lnSpc>
              </a:pPr>
              <a:r>
                <a:rPr lang="en-US" sz="1000">
                  <a:solidFill>
                    <a:srgbClr val="FF9933"/>
                  </a:solidFill>
                </a:rPr>
                <a:t>140</a:t>
              </a:r>
            </a:p>
            <a:p>
              <a:pPr algn="ctr" defTabSz="896938" eaLnBrk="0" hangingPunct="0">
                <a:lnSpc>
                  <a:spcPct val="97000"/>
                </a:lnSpc>
              </a:pPr>
              <a:r>
                <a:rPr lang="en-US" sz="1000">
                  <a:solidFill>
                    <a:srgbClr val="FF9933"/>
                  </a:solidFill>
                </a:rPr>
                <a:t>120</a:t>
              </a:r>
            </a:p>
            <a:p>
              <a:pPr algn="ctr" defTabSz="896938" eaLnBrk="0" hangingPunct="0">
                <a:lnSpc>
                  <a:spcPct val="97000"/>
                </a:lnSpc>
              </a:pPr>
              <a:r>
                <a:rPr lang="en-US" sz="1000">
                  <a:solidFill>
                    <a:srgbClr val="FF9933"/>
                  </a:solidFill>
                </a:rPr>
                <a:t>100</a:t>
              </a:r>
            </a:p>
            <a:p>
              <a:pPr algn="ctr" defTabSz="896938" eaLnBrk="0" hangingPunct="0">
                <a:lnSpc>
                  <a:spcPct val="97000"/>
                </a:lnSpc>
              </a:pPr>
              <a:r>
                <a:rPr lang="en-US" sz="1000">
                  <a:solidFill>
                    <a:srgbClr val="FF9933"/>
                  </a:solidFill>
                </a:rPr>
                <a:t> 80</a:t>
              </a:r>
            </a:p>
            <a:p>
              <a:pPr algn="ctr" defTabSz="896938" eaLnBrk="0" hangingPunct="0">
                <a:lnSpc>
                  <a:spcPct val="97000"/>
                </a:lnSpc>
              </a:pPr>
              <a:r>
                <a:rPr lang="en-US" sz="1000">
                  <a:solidFill>
                    <a:srgbClr val="FF9933"/>
                  </a:solidFill>
                </a:rPr>
                <a:t> 60</a:t>
              </a:r>
            </a:p>
            <a:p>
              <a:pPr algn="ctr" defTabSz="896938" eaLnBrk="0" hangingPunct="0">
                <a:lnSpc>
                  <a:spcPct val="97000"/>
                </a:lnSpc>
              </a:pPr>
              <a:r>
                <a:rPr lang="en-US" sz="1000">
                  <a:solidFill>
                    <a:srgbClr val="FF9933"/>
                  </a:solidFill>
                </a:rPr>
                <a:t> 40</a:t>
              </a:r>
            </a:p>
            <a:p>
              <a:pPr algn="ctr" defTabSz="896938" eaLnBrk="0" hangingPunct="0">
                <a:lnSpc>
                  <a:spcPct val="97000"/>
                </a:lnSpc>
              </a:pPr>
              <a:r>
                <a:rPr lang="en-US" sz="1000">
                  <a:solidFill>
                    <a:srgbClr val="FF9933"/>
                  </a:solidFill>
                </a:rPr>
                <a:t> 20</a:t>
              </a:r>
            </a:p>
            <a:p>
              <a:pPr algn="ctr" defTabSz="896938" eaLnBrk="0" hangingPunct="0">
                <a:lnSpc>
                  <a:spcPct val="97000"/>
                </a:lnSpc>
              </a:pPr>
              <a:r>
                <a:rPr lang="en-US" sz="1000">
                  <a:solidFill>
                    <a:srgbClr val="FF9933"/>
                  </a:solidFill>
                </a:rPr>
                <a:t>0</a:t>
              </a:r>
            </a:p>
            <a:p>
              <a:pPr algn="ctr" defTabSz="896938" eaLnBrk="0" hangingPunct="0">
                <a:lnSpc>
                  <a:spcPct val="97000"/>
                </a:lnSpc>
              </a:pPr>
              <a:r>
                <a:rPr lang="en-US" sz="1000">
                  <a:solidFill>
                    <a:srgbClr val="FF9933"/>
                  </a:solidFill>
                </a:rPr>
                <a:t> </a:t>
              </a:r>
            </a:p>
          </p:txBody>
        </p:sp>
        <p:sp>
          <p:nvSpPr>
            <p:cNvPr id="62523" name="Rectangle 59"/>
            <p:cNvSpPr>
              <a:spLocks noChangeArrowheads="1"/>
            </p:cNvSpPr>
            <p:nvPr/>
          </p:nvSpPr>
          <p:spPr bwMode="auto">
            <a:xfrm>
              <a:off x="528" y="2640"/>
              <a:ext cx="249" cy="962"/>
            </a:xfrm>
            <a:prstGeom prst="rect">
              <a:avLst/>
            </a:prstGeom>
            <a:noFill/>
            <a:ln w="12700">
              <a:noFill/>
              <a:miter lim="800000"/>
              <a:headEnd/>
              <a:tailEnd/>
            </a:ln>
            <a:effectLst/>
          </p:spPr>
          <p:txBody>
            <a:bodyPr lIns="62313" tIns="24925" rIns="62313" bIns="24925">
              <a:spAutoFit/>
            </a:bodyPr>
            <a:lstStyle/>
            <a:p>
              <a:pPr algn="ctr" defTabSz="896938" eaLnBrk="0" hangingPunct="0">
                <a:lnSpc>
                  <a:spcPct val="97000"/>
                </a:lnSpc>
              </a:pPr>
              <a:r>
                <a:rPr lang="en-US" sz="1000">
                  <a:solidFill>
                    <a:srgbClr val="FF9933"/>
                  </a:solidFill>
                </a:rPr>
                <a:t>160</a:t>
              </a:r>
            </a:p>
            <a:p>
              <a:pPr algn="ctr" defTabSz="896938" eaLnBrk="0" hangingPunct="0">
                <a:lnSpc>
                  <a:spcPct val="97000"/>
                </a:lnSpc>
              </a:pPr>
              <a:r>
                <a:rPr lang="en-US" sz="1000">
                  <a:solidFill>
                    <a:srgbClr val="FF9933"/>
                  </a:solidFill>
                </a:rPr>
                <a:t>140</a:t>
              </a:r>
            </a:p>
            <a:p>
              <a:pPr algn="ctr" defTabSz="896938" eaLnBrk="0" hangingPunct="0">
                <a:lnSpc>
                  <a:spcPct val="97000"/>
                </a:lnSpc>
              </a:pPr>
              <a:r>
                <a:rPr lang="en-US" sz="1000">
                  <a:solidFill>
                    <a:srgbClr val="FF9933"/>
                  </a:solidFill>
                </a:rPr>
                <a:t>120</a:t>
              </a:r>
            </a:p>
            <a:p>
              <a:pPr algn="ctr" defTabSz="896938" eaLnBrk="0" hangingPunct="0">
                <a:lnSpc>
                  <a:spcPct val="97000"/>
                </a:lnSpc>
              </a:pPr>
              <a:r>
                <a:rPr lang="en-US" sz="1000">
                  <a:solidFill>
                    <a:srgbClr val="FF9933"/>
                  </a:solidFill>
                </a:rPr>
                <a:t>100</a:t>
              </a:r>
            </a:p>
            <a:p>
              <a:pPr algn="ctr" defTabSz="896938" eaLnBrk="0" hangingPunct="0">
                <a:lnSpc>
                  <a:spcPct val="97000"/>
                </a:lnSpc>
              </a:pPr>
              <a:r>
                <a:rPr lang="en-US" sz="1000">
                  <a:solidFill>
                    <a:srgbClr val="FF9933"/>
                  </a:solidFill>
                </a:rPr>
                <a:t> 80</a:t>
              </a:r>
            </a:p>
            <a:p>
              <a:pPr algn="ctr" defTabSz="896938" eaLnBrk="0" hangingPunct="0">
                <a:lnSpc>
                  <a:spcPct val="97000"/>
                </a:lnSpc>
              </a:pPr>
              <a:r>
                <a:rPr lang="en-US" sz="1000">
                  <a:solidFill>
                    <a:srgbClr val="FF9933"/>
                  </a:solidFill>
                </a:rPr>
                <a:t> 60</a:t>
              </a:r>
            </a:p>
            <a:p>
              <a:pPr algn="ctr" defTabSz="896938" eaLnBrk="0" hangingPunct="0">
                <a:lnSpc>
                  <a:spcPct val="97000"/>
                </a:lnSpc>
              </a:pPr>
              <a:r>
                <a:rPr lang="en-US" sz="1000">
                  <a:solidFill>
                    <a:srgbClr val="FF9933"/>
                  </a:solidFill>
                </a:rPr>
                <a:t> 40</a:t>
              </a:r>
            </a:p>
            <a:p>
              <a:pPr algn="ctr" defTabSz="896938" eaLnBrk="0" hangingPunct="0">
                <a:lnSpc>
                  <a:spcPct val="97000"/>
                </a:lnSpc>
              </a:pPr>
              <a:r>
                <a:rPr lang="en-US" sz="1000">
                  <a:solidFill>
                    <a:srgbClr val="FF9933"/>
                  </a:solidFill>
                </a:rPr>
                <a:t> 20</a:t>
              </a:r>
            </a:p>
            <a:p>
              <a:pPr algn="ctr" defTabSz="896938" eaLnBrk="0" hangingPunct="0">
                <a:lnSpc>
                  <a:spcPct val="97000"/>
                </a:lnSpc>
              </a:pPr>
              <a:r>
                <a:rPr lang="en-US" sz="1000">
                  <a:solidFill>
                    <a:srgbClr val="FF9933"/>
                  </a:solidFill>
                </a:rPr>
                <a:t>0</a:t>
              </a:r>
            </a:p>
            <a:p>
              <a:pPr algn="ctr" defTabSz="896938" eaLnBrk="0" hangingPunct="0">
                <a:lnSpc>
                  <a:spcPct val="97000"/>
                </a:lnSpc>
              </a:pPr>
              <a:r>
                <a:rPr lang="en-US" sz="1000">
                  <a:solidFill>
                    <a:srgbClr val="FF9933"/>
                  </a:solidFill>
                </a:rPr>
                <a:t> </a:t>
              </a:r>
            </a:p>
          </p:txBody>
        </p:sp>
      </p:grpSp>
      <p:sp>
        <p:nvSpPr>
          <p:cNvPr id="62525" name="Text Box 61"/>
          <p:cNvSpPr txBox="1">
            <a:spLocks noChangeArrowheads="1"/>
          </p:cNvSpPr>
          <p:nvPr/>
        </p:nvSpPr>
        <p:spPr bwMode="auto">
          <a:xfrm>
            <a:off x="8305800" y="152400"/>
            <a:ext cx="609600" cy="304800"/>
          </a:xfrm>
          <a:prstGeom prst="rect">
            <a:avLst/>
          </a:prstGeom>
          <a:noFill/>
          <a:ln w="9525">
            <a:noFill/>
            <a:miter lim="800000"/>
            <a:headEnd/>
            <a:tailEnd/>
          </a:ln>
          <a:effectLst/>
        </p:spPr>
        <p:txBody>
          <a:bodyPr>
            <a:spAutoFit/>
          </a:bodyPr>
          <a:lstStyle/>
          <a:p>
            <a:pPr>
              <a:spcBef>
                <a:spcPct val="50000"/>
              </a:spcBef>
            </a:pPr>
            <a:r>
              <a:rPr lang="en-US" sz="1400">
                <a:solidFill>
                  <a:schemeClr val="bg1"/>
                </a:solidFill>
              </a:rPr>
              <a:t>4-24</a:t>
            </a:r>
          </a:p>
        </p:txBody>
      </p:sp>
      <p:grpSp>
        <p:nvGrpSpPr>
          <p:cNvPr id="62528" name="Group 64"/>
          <p:cNvGrpSpPr>
            <a:grpSpLocks/>
          </p:cNvGrpSpPr>
          <p:nvPr/>
        </p:nvGrpSpPr>
        <p:grpSpPr bwMode="auto">
          <a:xfrm>
            <a:off x="142875" y="6553200"/>
            <a:ext cx="9001125" cy="280988"/>
            <a:chOff x="90" y="4128"/>
            <a:chExt cx="6102" cy="161"/>
          </a:xfrm>
        </p:grpSpPr>
        <p:sp>
          <p:nvSpPr>
            <p:cNvPr id="62529" name="Rectangle 65"/>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62530" name="Text Box 66"/>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533400" y="914400"/>
            <a:ext cx="8305800" cy="709613"/>
          </a:xfrm>
          <a:ln/>
        </p:spPr>
        <p:txBody>
          <a:bodyPr lIns="90488" tIns="44450" rIns="90488" bIns="44450" anchor="ctr"/>
          <a:lstStyle/>
          <a:p>
            <a:r>
              <a:rPr lang="en-US"/>
              <a:t>The New Trade Theory</a:t>
            </a:r>
          </a:p>
        </p:txBody>
      </p:sp>
      <p:sp>
        <p:nvSpPr>
          <p:cNvPr id="63491" name="Rectangle 3"/>
          <p:cNvSpPr>
            <a:spLocks noGrp="1" noChangeArrowheads="1"/>
          </p:cNvSpPr>
          <p:nvPr>
            <p:ph type="body" idx="1"/>
          </p:nvPr>
        </p:nvSpPr>
        <p:spPr>
          <a:xfrm>
            <a:off x="762000" y="1981200"/>
            <a:ext cx="7772400" cy="3505200"/>
          </a:xfrm>
          <a:solidFill>
            <a:srgbClr val="EAEAEA"/>
          </a:solidFill>
          <a:ln/>
        </p:spPr>
        <p:txBody>
          <a:bodyPr lIns="90488" tIns="44450" rIns="90488" bIns="44450"/>
          <a:lstStyle/>
          <a:p>
            <a:r>
              <a:rPr lang="en-US" sz="2200">
                <a:solidFill>
                  <a:srgbClr val="003399"/>
                </a:solidFill>
              </a:rPr>
              <a:t>Began to be recognized in the 1970s.</a:t>
            </a:r>
          </a:p>
          <a:p>
            <a:r>
              <a:rPr lang="en-US" sz="2200">
                <a:solidFill>
                  <a:srgbClr val="003399"/>
                </a:solidFill>
              </a:rPr>
              <a:t>Deals with the returns on specialization where</a:t>
            </a:r>
            <a:r>
              <a:rPr lang="en-US" sz="2200"/>
              <a:t> </a:t>
            </a:r>
            <a:r>
              <a:rPr lang="en-US" sz="2200">
                <a:solidFill>
                  <a:srgbClr val="003399"/>
                </a:solidFill>
              </a:rPr>
              <a:t>substantial</a:t>
            </a:r>
            <a:r>
              <a:rPr lang="en-US" sz="2200"/>
              <a:t> </a:t>
            </a:r>
            <a:r>
              <a:rPr lang="en-US" sz="2200">
                <a:solidFill>
                  <a:schemeClr val="hlink"/>
                </a:solidFill>
              </a:rPr>
              <a:t>economies of scale</a:t>
            </a:r>
            <a:r>
              <a:rPr lang="en-US" sz="2200"/>
              <a:t> </a:t>
            </a:r>
            <a:r>
              <a:rPr lang="en-US" sz="2200">
                <a:solidFill>
                  <a:srgbClr val="003399"/>
                </a:solidFill>
              </a:rPr>
              <a:t>are present.</a:t>
            </a:r>
          </a:p>
          <a:p>
            <a:pPr lvl="1"/>
            <a:r>
              <a:rPr lang="en-US" sz="2000">
                <a:solidFill>
                  <a:srgbClr val="003399"/>
                </a:solidFill>
              </a:rPr>
              <a:t>Specialization increases output, ability to enhance economies of scale increase.</a:t>
            </a:r>
          </a:p>
          <a:p>
            <a:r>
              <a:rPr lang="en-US" sz="2200">
                <a:solidFill>
                  <a:srgbClr val="003399"/>
                </a:solidFill>
              </a:rPr>
              <a:t>In addition to economies of scale,</a:t>
            </a:r>
            <a:r>
              <a:rPr lang="en-US" sz="2200"/>
              <a:t> </a:t>
            </a:r>
            <a:r>
              <a:rPr lang="en-US" sz="2200">
                <a:solidFill>
                  <a:schemeClr val="hlink"/>
                </a:solidFill>
              </a:rPr>
              <a:t>learning effects</a:t>
            </a:r>
            <a:r>
              <a:rPr lang="en-US" sz="2200"/>
              <a:t> </a:t>
            </a:r>
            <a:r>
              <a:rPr lang="en-US" sz="2200">
                <a:solidFill>
                  <a:srgbClr val="003399"/>
                </a:solidFill>
              </a:rPr>
              <a:t>also exist.</a:t>
            </a:r>
          </a:p>
          <a:p>
            <a:pPr lvl="1"/>
            <a:r>
              <a:rPr lang="en-US" sz="2000">
                <a:solidFill>
                  <a:srgbClr val="003399"/>
                </a:solidFill>
              </a:rPr>
              <a:t>Learning effects are cost savings that come from “learning by doing”.</a:t>
            </a:r>
          </a:p>
          <a:p>
            <a:endParaRPr lang="en-US" sz="2200">
              <a:solidFill>
                <a:srgbClr val="003399"/>
              </a:solidFill>
            </a:endParaRPr>
          </a:p>
        </p:txBody>
      </p:sp>
      <p:sp>
        <p:nvSpPr>
          <p:cNvPr id="63494" name="Text Box 6"/>
          <p:cNvSpPr txBox="1">
            <a:spLocks noChangeArrowheads="1"/>
          </p:cNvSpPr>
          <p:nvPr/>
        </p:nvSpPr>
        <p:spPr bwMode="auto">
          <a:xfrm>
            <a:off x="8305800" y="152400"/>
            <a:ext cx="609600" cy="304800"/>
          </a:xfrm>
          <a:prstGeom prst="rect">
            <a:avLst/>
          </a:prstGeom>
          <a:noFill/>
          <a:ln w="9525">
            <a:noFill/>
            <a:miter lim="800000"/>
            <a:headEnd/>
            <a:tailEnd/>
          </a:ln>
          <a:effectLst/>
        </p:spPr>
        <p:txBody>
          <a:bodyPr>
            <a:spAutoFit/>
          </a:bodyPr>
          <a:lstStyle/>
          <a:p>
            <a:pPr>
              <a:spcBef>
                <a:spcPct val="50000"/>
              </a:spcBef>
            </a:pPr>
            <a:r>
              <a:rPr lang="en-US" sz="1400">
                <a:solidFill>
                  <a:schemeClr val="bg1"/>
                </a:solidFill>
              </a:rPr>
              <a:t>4-25</a:t>
            </a:r>
          </a:p>
        </p:txBody>
      </p:sp>
      <p:grpSp>
        <p:nvGrpSpPr>
          <p:cNvPr id="63495" name="Group 7"/>
          <p:cNvGrpSpPr>
            <a:grpSpLocks/>
          </p:cNvGrpSpPr>
          <p:nvPr/>
        </p:nvGrpSpPr>
        <p:grpSpPr bwMode="auto">
          <a:xfrm>
            <a:off x="142875" y="6553200"/>
            <a:ext cx="9001125" cy="280988"/>
            <a:chOff x="90" y="4128"/>
            <a:chExt cx="6102" cy="161"/>
          </a:xfrm>
        </p:grpSpPr>
        <p:sp>
          <p:nvSpPr>
            <p:cNvPr id="63496" name="Rectangle 8"/>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63497" name="Text Box 9"/>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457200" y="762000"/>
            <a:ext cx="8229600" cy="685800"/>
          </a:xfrm>
          <a:ln/>
        </p:spPr>
        <p:txBody>
          <a:bodyPr lIns="90488" tIns="44450" rIns="90488" bIns="44450" anchor="ctr"/>
          <a:lstStyle/>
          <a:p>
            <a:r>
              <a:rPr lang="en-US" sz="3400"/>
              <a:t>Application of the New Trade Theory</a:t>
            </a:r>
          </a:p>
        </p:txBody>
      </p:sp>
      <p:sp>
        <p:nvSpPr>
          <p:cNvPr id="64515" name="Rectangle 3"/>
          <p:cNvSpPr>
            <a:spLocks noGrp="1" noChangeArrowheads="1"/>
          </p:cNvSpPr>
          <p:nvPr>
            <p:ph type="body" idx="1"/>
          </p:nvPr>
        </p:nvSpPr>
        <p:spPr>
          <a:xfrm>
            <a:off x="533400" y="1981200"/>
            <a:ext cx="8077200" cy="4191000"/>
          </a:xfrm>
          <a:solidFill>
            <a:srgbClr val="EAEAEA"/>
          </a:solidFill>
          <a:ln/>
        </p:spPr>
        <p:txBody>
          <a:bodyPr lIns="90488" tIns="44450" rIns="90488" bIns="44450"/>
          <a:lstStyle/>
          <a:p>
            <a:r>
              <a:rPr lang="en-US">
                <a:solidFill>
                  <a:srgbClr val="003399"/>
                </a:solidFill>
              </a:rPr>
              <a:t>Typically, requires industries with high, fixed costs.</a:t>
            </a:r>
          </a:p>
          <a:p>
            <a:r>
              <a:rPr lang="en-US">
                <a:solidFill>
                  <a:srgbClr val="003399"/>
                </a:solidFill>
              </a:rPr>
              <a:t>World demand will support few competitors.</a:t>
            </a:r>
          </a:p>
          <a:p>
            <a:r>
              <a:rPr lang="en-US">
                <a:solidFill>
                  <a:srgbClr val="003399"/>
                </a:solidFill>
              </a:rPr>
              <a:t>Competitors may emerge because “they got there first”.</a:t>
            </a:r>
          </a:p>
          <a:p>
            <a:pPr lvl="2"/>
            <a:r>
              <a:rPr lang="en-US" sz="2400">
                <a:solidFill>
                  <a:schemeClr val="hlink"/>
                </a:solidFill>
              </a:rPr>
              <a:t>First-mover advantage</a:t>
            </a:r>
            <a:r>
              <a:rPr lang="en-US" sz="2400"/>
              <a:t>.</a:t>
            </a:r>
          </a:p>
          <a:p>
            <a:r>
              <a:rPr lang="en-US">
                <a:solidFill>
                  <a:srgbClr val="003399"/>
                </a:solidFill>
              </a:rPr>
              <a:t>Some argue that it generates government intervention and strategic trade policy</a:t>
            </a:r>
            <a:r>
              <a:rPr lang="en-US"/>
              <a:t>.</a:t>
            </a:r>
          </a:p>
        </p:txBody>
      </p:sp>
      <p:sp>
        <p:nvSpPr>
          <p:cNvPr id="64518" name="Text Box 6"/>
          <p:cNvSpPr txBox="1">
            <a:spLocks noChangeArrowheads="1"/>
          </p:cNvSpPr>
          <p:nvPr/>
        </p:nvSpPr>
        <p:spPr bwMode="auto">
          <a:xfrm>
            <a:off x="8305800" y="152400"/>
            <a:ext cx="609600" cy="304800"/>
          </a:xfrm>
          <a:prstGeom prst="rect">
            <a:avLst/>
          </a:prstGeom>
          <a:noFill/>
          <a:ln w="9525">
            <a:noFill/>
            <a:miter lim="800000"/>
            <a:headEnd/>
            <a:tailEnd/>
          </a:ln>
          <a:effectLst/>
        </p:spPr>
        <p:txBody>
          <a:bodyPr>
            <a:spAutoFit/>
          </a:bodyPr>
          <a:lstStyle/>
          <a:p>
            <a:pPr>
              <a:spcBef>
                <a:spcPct val="50000"/>
              </a:spcBef>
            </a:pPr>
            <a:r>
              <a:rPr lang="en-US" sz="1400">
                <a:solidFill>
                  <a:schemeClr val="bg1"/>
                </a:solidFill>
              </a:rPr>
              <a:t>4-26</a:t>
            </a:r>
          </a:p>
        </p:txBody>
      </p:sp>
      <p:grpSp>
        <p:nvGrpSpPr>
          <p:cNvPr id="64519" name="Group 7"/>
          <p:cNvGrpSpPr>
            <a:grpSpLocks/>
          </p:cNvGrpSpPr>
          <p:nvPr/>
        </p:nvGrpSpPr>
        <p:grpSpPr bwMode="auto">
          <a:xfrm>
            <a:off x="142875" y="6553200"/>
            <a:ext cx="9001125" cy="280988"/>
            <a:chOff x="90" y="4128"/>
            <a:chExt cx="6102" cy="161"/>
          </a:xfrm>
        </p:grpSpPr>
        <p:sp>
          <p:nvSpPr>
            <p:cNvPr id="64520" name="Rectangle 8"/>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64521" name="Text Box 9"/>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685800" y="1676400"/>
            <a:ext cx="7772400" cy="685800"/>
          </a:xfrm>
          <a:ln/>
        </p:spPr>
        <p:txBody>
          <a:bodyPr lIns="90488" tIns="44450" rIns="90488" bIns="44450" anchor="ctr"/>
          <a:lstStyle/>
          <a:p>
            <a:r>
              <a:rPr lang="en-US"/>
              <a:t>First-Mover Advantage</a:t>
            </a:r>
          </a:p>
        </p:txBody>
      </p:sp>
      <p:sp>
        <p:nvSpPr>
          <p:cNvPr id="65539" name="Rectangle 3"/>
          <p:cNvSpPr>
            <a:spLocks noGrp="1" noChangeArrowheads="1"/>
          </p:cNvSpPr>
          <p:nvPr>
            <p:ph type="body" idx="1"/>
          </p:nvPr>
        </p:nvSpPr>
        <p:spPr>
          <a:xfrm>
            <a:off x="762000" y="2667000"/>
            <a:ext cx="7772400" cy="1295400"/>
          </a:xfrm>
          <a:solidFill>
            <a:srgbClr val="EAEAEA"/>
          </a:solidFill>
          <a:ln/>
        </p:spPr>
        <p:txBody>
          <a:bodyPr lIns="90488" tIns="44450" rIns="90488" bIns="44450"/>
          <a:lstStyle/>
          <a:p>
            <a:r>
              <a:rPr lang="en-US">
                <a:solidFill>
                  <a:srgbClr val="003399"/>
                </a:solidFill>
              </a:rPr>
              <a:t>Economies of scale may preclude new entrants.</a:t>
            </a:r>
          </a:p>
          <a:p>
            <a:r>
              <a:rPr lang="en-US">
                <a:solidFill>
                  <a:srgbClr val="003399"/>
                </a:solidFill>
              </a:rPr>
              <a:t>Role of the government.</a:t>
            </a:r>
          </a:p>
        </p:txBody>
      </p:sp>
      <p:sp>
        <p:nvSpPr>
          <p:cNvPr id="65542" name="Text Box 6"/>
          <p:cNvSpPr txBox="1">
            <a:spLocks noChangeArrowheads="1"/>
          </p:cNvSpPr>
          <p:nvPr/>
        </p:nvSpPr>
        <p:spPr bwMode="auto">
          <a:xfrm>
            <a:off x="8305800" y="152400"/>
            <a:ext cx="609600" cy="304800"/>
          </a:xfrm>
          <a:prstGeom prst="rect">
            <a:avLst/>
          </a:prstGeom>
          <a:noFill/>
          <a:ln w="9525">
            <a:noFill/>
            <a:miter lim="800000"/>
            <a:headEnd/>
            <a:tailEnd/>
          </a:ln>
          <a:effectLst/>
        </p:spPr>
        <p:txBody>
          <a:bodyPr>
            <a:spAutoFit/>
          </a:bodyPr>
          <a:lstStyle/>
          <a:p>
            <a:pPr>
              <a:spcBef>
                <a:spcPct val="50000"/>
              </a:spcBef>
            </a:pPr>
            <a:r>
              <a:rPr lang="en-US" sz="1400">
                <a:solidFill>
                  <a:schemeClr val="bg1"/>
                </a:solidFill>
              </a:rPr>
              <a:t>4-27</a:t>
            </a:r>
          </a:p>
        </p:txBody>
      </p:sp>
      <p:grpSp>
        <p:nvGrpSpPr>
          <p:cNvPr id="65543" name="Group 7"/>
          <p:cNvGrpSpPr>
            <a:grpSpLocks/>
          </p:cNvGrpSpPr>
          <p:nvPr/>
        </p:nvGrpSpPr>
        <p:grpSpPr bwMode="auto">
          <a:xfrm>
            <a:off x="142875" y="6553200"/>
            <a:ext cx="9001125" cy="280988"/>
            <a:chOff x="90" y="4128"/>
            <a:chExt cx="6102" cy="161"/>
          </a:xfrm>
        </p:grpSpPr>
        <p:sp>
          <p:nvSpPr>
            <p:cNvPr id="65544" name="Rectangle 8"/>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65545" name="Text Box 9"/>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685800" y="762000"/>
            <a:ext cx="7772400" cy="1066800"/>
          </a:xfrm>
          <a:ln/>
        </p:spPr>
        <p:txBody>
          <a:bodyPr lIns="90488" tIns="44450" rIns="90488" bIns="44450" anchor="ctr"/>
          <a:lstStyle/>
          <a:p>
            <a:r>
              <a:rPr lang="en-US"/>
              <a:t>Porter’s Diamond</a:t>
            </a:r>
            <a:br>
              <a:rPr lang="en-US"/>
            </a:br>
            <a:r>
              <a:rPr lang="en-US" sz="2800"/>
              <a:t>(Harvard Business School, 1990)</a:t>
            </a:r>
          </a:p>
        </p:txBody>
      </p:sp>
      <p:sp>
        <p:nvSpPr>
          <p:cNvPr id="66563" name="Rectangle 3"/>
          <p:cNvSpPr>
            <a:spLocks noGrp="1" noChangeArrowheads="1"/>
          </p:cNvSpPr>
          <p:nvPr>
            <p:ph type="body" idx="1"/>
          </p:nvPr>
        </p:nvSpPr>
        <p:spPr>
          <a:xfrm>
            <a:off x="762000" y="2286000"/>
            <a:ext cx="7772400" cy="2286000"/>
          </a:xfrm>
          <a:solidFill>
            <a:srgbClr val="EAEAEA"/>
          </a:solidFill>
          <a:ln/>
        </p:spPr>
        <p:txBody>
          <a:bodyPr lIns="90488" tIns="44450" rIns="90488" bIns="44450"/>
          <a:lstStyle/>
          <a:p>
            <a:r>
              <a:rPr lang="en-US" sz="2200" i="1">
                <a:solidFill>
                  <a:srgbClr val="003399"/>
                </a:solidFill>
              </a:rPr>
              <a:t>The Competitive Advantage of Nations.</a:t>
            </a:r>
            <a:endParaRPr lang="en-US" sz="2200">
              <a:solidFill>
                <a:srgbClr val="003399"/>
              </a:solidFill>
            </a:endParaRPr>
          </a:p>
          <a:p>
            <a:r>
              <a:rPr lang="en-US" sz="2200">
                <a:solidFill>
                  <a:srgbClr val="003399"/>
                </a:solidFill>
              </a:rPr>
              <a:t>Looked at 100 industries in 10 nations.</a:t>
            </a:r>
          </a:p>
          <a:p>
            <a:pPr lvl="1"/>
            <a:r>
              <a:rPr lang="en-US" sz="2300">
                <a:solidFill>
                  <a:srgbClr val="003399"/>
                </a:solidFill>
              </a:rPr>
              <a:t>Thought existing theories didn’t go far enough.</a:t>
            </a:r>
          </a:p>
          <a:p>
            <a:r>
              <a:rPr lang="en-US" sz="2200">
                <a:solidFill>
                  <a:srgbClr val="003399"/>
                </a:solidFill>
              </a:rPr>
              <a:t>Question:  “Why does a nation achieve international success in a particular industry?”</a:t>
            </a:r>
          </a:p>
        </p:txBody>
      </p:sp>
      <p:sp>
        <p:nvSpPr>
          <p:cNvPr id="66566" name="Text Box 6"/>
          <p:cNvSpPr txBox="1">
            <a:spLocks noChangeArrowheads="1"/>
          </p:cNvSpPr>
          <p:nvPr/>
        </p:nvSpPr>
        <p:spPr bwMode="auto">
          <a:xfrm>
            <a:off x="8305800" y="152400"/>
            <a:ext cx="609600" cy="304800"/>
          </a:xfrm>
          <a:prstGeom prst="rect">
            <a:avLst/>
          </a:prstGeom>
          <a:noFill/>
          <a:ln w="9525">
            <a:noFill/>
            <a:miter lim="800000"/>
            <a:headEnd/>
            <a:tailEnd/>
          </a:ln>
          <a:effectLst/>
        </p:spPr>
        <p:txBody>
          <a:bodyPr>
            <a:spAutoFit/>
          </a:bodyPr>
          <a:lstStyle/>
          <a:p>
            <a:pPr>
              <a:spcBef>
                <a:spcPct val="50000"/>
              </a:spcBef>
            </a:pPr>
            <a:r>
              <a:rPr lang="en-US" sz="1400">
                <a:solidFill>
                  <a:schemeClr val="bg1"/>
                </a:solidFill>
              </a:rPr>
              <a:t>4-28</a:t>
            </a:r>
          </a:p>
        </p:txBody>
      </p:sp>
      <p:grpSp>
        <p:nvGrpSpPr>
          <p:cNvPr id="66567" name="Group 7"/>
          <p:cNvGrpSpPr>
            <a:grpSpLocks/>
          </p:cNvGrpSpPr>
          <p:nvPr/>
        </p:nvGrpSpPr>
        <p:grpSpPr bwMode="auto">
          <a:xfrm>
            <a:off x="142875" y="6553200"/>
            <a:ext cx="9001125" cy="280988"/>
            <a:chOff x="90" y="4128"/>
            <a:chExt cx="6102" cy="161"/>
          </a:xfrm>
        </p:grpSpPr>
        <p:sp>
          <p:nvSpPr>
            <p:cNvPr id="66568" name="Rectangle 8"/>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66569" name="Text Box 9"/>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609600" y="228600"/>
            <a:ext cx="7772400" cy="1165225"/>
          </a:xfrm>
          <a:ln/>
        </p:spPr>
        <p:txBody>
          <a:bodyPr/>
          <a:lstStyle/>
          <a:p>
            <a:r>
              <a:rPr lang="en-US" sz="3400"/>
              <a:t>Determinants of National Competitive Advantage</a:t>
            </a:r>
            <a:endParaRPr lang="en-US"/>
          </a:p>
        </p:txBody>
      </p:sp>
      <p:sp>
        <p:nvSpPr>
          <p:cNvPr id="67587" name="Rectangle 3"/>
          <p:cNvSpPr>
            <a:spLocks noGrp="1" noChangeArrowheads="1"/>
          </p:cNvSpPr>
          <p:nvPr>
            <p:ph type="body" idx="1"/>
          </p:nvPr>
        </p:nvSpPr>
        <p:spPr>
          <a:xfrm>
            <a:off x="0" y="1676400"/>
            <a:ext cx="9144000" cy="4495800"/>
          </a:xfrm>
          <a:solidFill>
            <a:srgbClr val="EAEAEA"/>
          </a:solidFill>
          <a:ln/>
        </p:spPr>
        <p:txBody>
          <a:bodyPr/>
          <a:lstStyle/>
          <a:p>
            <a:r>
              <a:rPr lang="en-US">
                <a:solidFill>
                  <a:srgbClr val="00CC99"/>
                </a:solidFill>
              </a:rPr>
              <a:t>Factor endowments:</a:t>
            </a:r>
            <a:r>
              <a:rPr lang="en-US">
                <a:solidFill>
                  <a:srgbClr val="003399"/>
                </a:solidFill>
              </a:rPr>
              <a:t>nation’s position in factors of production such as skilled labor or infrastructure necessary to compete in a given industry.</a:t>
            </a:r>
          </a:p>
        </p:txBody>
      </p:sp>
      <p:grpSp>
        <p:nvGrpSpPr>
          <p:cNvPr id="67589" name="Group 5"/>
          <p:cNvGrpSpPr>
            <a:grpSpLocks/>
          </p:cNvGrpSpPr>
          <p:nvPr/>
        </p:nvGrpSpPr>
        <p:grpSpPr bwMode="auto">
          <a:xfrm>
            <a:off x="142875" y="6553200"/>
            <a:ext cx="9001125" cy="280988"/>
            <a:chOff x="90" y="4128"/>
            <a:chExt cx="6102" cy="161"/>
          </a:xfrm>
        </p:grpSpPr>
        <p:sp>
          <p:nvSpPr>
            <p:cNvPr id="67590" name="Rectangle 6"/>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67591" name="Text Box 7"/>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xfrm>
            <a:off x="609600" y="228600"/>
            <a:ext cx="7772400" cy="1165225"/>
          </a:xfrm>
          <a:ln/>
        </p:spPr>
        <p:txBody>
          <a:bodyPr/>
          <a:lstStyle/>
          <a:p>
            <a:r>
              <a:rPr lang="en-US" sz="3400"/>
              <a:t>Determinants of National Competitive Advantage</a:t>
            </a:r>
            <a:endParaRPr lang="en-US"/>
          </a:p>
        </p:txBody>
      </p:sp>
      <p:sp>
        <p:nvSpPr>
          <p:cNvPr id="106499" name="Rectangle 3"/>
          <p:cNvSpPr>
            <a:spLocks noGrp="1" noChangeArrowheads="1"/>
          </p:cNvSpPr>
          <p:nvPr>
            <p:ph type="body" idx="1"/>
          </p:nvPr>
        </p:nvSpPr>
        <p:spPr>
          <a:xfrm>
            <a:off x="0" y="1676400"/>
            <a:ext cx="9144000" cy="4495800"/>
          </a:xfrm>
          <a:solidFill>
            <a:srgbClr val="EAEAEA"/>
          </a:solidFill>
          <a:ln/>
        </p:spPr>
        <p:txBody>
          <a:bodyPr/>
          <a:lstStyle/>
          <a:p>
            <a:r>
              <a:rPr lang="en-US">
                <a:solidFill>
                  <a:srgbClr val="00CC99"/>
                </a:solidFill>
              </a:rPr>
              <a:t>Factor endowments:</a:t>
            </a:r>
            <a:r>
              <a:rPr lang="en-US">
                <a:solidFill>
                  <a:srgbClr val="003399"/>
                </a:solidFill>
              </a:rPr>
              <a:t>nation’s position in factors of production such as skilled labor or infrastructure necessary to compete in a given industry.</a:t>
            </a:r>
          </a:p>
          <a:p>
            <a:r>
              <a:rPr lang="en-US">
                <a:solidFill>
                  <a:srgbClr val="00CC99"/>
                </a:solidFill>
              </a:rPr>
              <a:t>Demand conditions:</a:t>
            </a:r>
            <a:r>
              <a:rPr lang="en-US">
                <a:solidFill>
                  <a:srgbClr val="003399"/>
                </a:solidFill>
              </a:rPr>
              <a:t>the nature of home demand for the industry’s product or service.</a:t>
            </a:r>
          </a:p>
        </p:txBody>
      </p:sp>
      <p:grpSp>
        <p:nvGrpSpPr>
          <p:cNvPr id="106500" name="Group 4"/>
          <p:cNvGrpSpPr>
            <a:grpSpLocks/>
          </p:cNvGrpSpPr>
          <p:nvPr/>
        </p:nvGrpSpPr>
        <p:grpSpPr bwMode="auto">
          <a:xfrm>
            <a:off x="142875" y="6553200"/>
            <a:ext cx="9001125" cy="280988"/>
            <a:chOff x="90" y="4128"/>
            <a:chExt cx="6102" cy="161"/>
          </a:xfrm>
        </p:grpSpPr>
        <p:sp>
          <p:nvSpPr>
            <p:cNvPr id="106501" name="Rectangle 5"/>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106502" name="Text Box 6"/>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a:xfrm>
            <a:off x="609600" y="228600"/>
            <a:ext cx="7772400" cy="1165225"/>
          </a:xfrm>
          <a:ln/>
        </p:spPr>
        <p:txBody>
          <a:bodyPr/>
          <a:lstStyle/>
          <a:p>
            <a:r>
              <a:rPr lang="en-US" sz="3400"/>
              <a:t>Determinants of National Competitive Advantage</a:t>
            </a:r>
            <a:endParaRPr lang="en-US"/>
          </a:p>
        </p:txBody>
      </p:sp>
      <p:sp>
        <p:nvSpPr>
          <p:cNvPr id="107523" name="Rectangle 3"/>
          <p:cNvSpPr>
            <a:spLocks noGrp="1" noChangeArrowheads="1"/>
          </p:cNvSpPr>
          <p:nvPr>
            <p:ph type="body" idx="1"/>
          </p:nvPr>
        </p:nvSpPr>
        <p:spPr>
          <a:xfrm>
            <a:off x="0" y="1676400"/>
            <a:ext cx="9144000" cy="4495800"/>
          </a:xfrm>
          <a:solidFill>
            <a:srgbClr val="EAEAEA"/>
          </a:solidFill>
          <a:ln/>
        </p:spPr>
        <p:txBody>
          <a:bodyPr/>
          <a:lstStyle/>
          <a:p>
            <a:r>
              <a:rPr lang="en-US">
                <a:solidFill>
                  <a:srgbClr val="00CC99"/>
                </a:solidFill>
              </a:rPr>
              <a:t>Factor endowments:</a:t>
            </a:r>
            <a:r>
              <a:rPr lang="en-US">
                <a:solidFill>
                  <a:srgbClr val="003399"/>
                </a:solidFill>
              </a:rPr>
              <a:t>nation’s position in factors of production such as skilled labor or infrastructure necessary to compete in a given industry.</a:t>
            </a:r>
          </a:p>
          <a:p>
            <a:r>
              <a:rPr lang="en-US">
                <a:solidFill>
                  <a:srgbClr val="00CC99"/>
                </a:solidFill>
              </a:rPr>
              <a:t>Demand conditions:</a:t>
            </a:r>
            <a:r>
              <a:rPr lang="en-US">
                <a:solidFill>
                  <a:srgbClr val="003399"/>
                </a:solidFill>
              </a:rPr>
              <a:t>the nature of home demand for the industry’s product or service.</a:t>
            </a:r>
          </a:p>
          <a:p>
            <a:r>
              <a:rPr lang="en-US">
                <a:solidFill>
                  <a:srgbClr val="00CC99"/>
                </a:solidFill>
              </a:rPr>
              <a:t>Related and supporting industries:</a:t>
            </a:r>
            <a:r>
              <a:rPr lang="en-US">
                <a:solidFill>
                  <a:srgbClr val="003399"/>
                </a:solidFill>
              </a:rPr>
              <a:t>the presence or absence in a nation of supplier industries or related industries that are nationally competitive.</a:t>
            </a:r>
          </a:p>
        </p:txBody>
      </p:sp>
      <p:grpSp>
        <p:nvGrpSpPr>
          <p:cNvPr id="107524" name="Group 4"/>
          <p:cNvGrpSpPr>
            <a:grpSpLocks/>
          </p:cNvGrpSpPr>
          <p:nvPr/>
        </p:nvGrpSpPr>
        <p:grpSpPr bwMode="auto">
          <a:xfrm>
            <a:off x="142875" y="6553200"/>
            <a:ext cx="9001125" cy="280988"/>
            <a:chOff x="90" y="4128"/>
            <a:chExt cx="6102" cy="161"/>
          </a:xfrm>
        </p:grpSpPr>
        <p:sp>
          <p:nvSpPr>
            <p:cNvPr id="107525" name="Rectangle 5"/>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107526" name="Text Box 6"/>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xfrm>
            <a:off x="609600" y="228600"/>
            <a:ext cx="7772400" cy="1165225"/>
          </a:xfrm>
          <a:ln/>
        </p:spPr>
        <p:txBody>
          <a:bodyPr/>
          <a:lstStyle/>
          <a:p>
            <a:r>
              <a:rPr lang="en-US" sz="3400"/>
              <a:t>Determinants of National Competitive Advantage</a:t>
            </a:r>
            <a:endParaRPr lang="en-US"/>
          </a:p>
        </p:txBody>
      </p:sp>
      <p:sp>
        <p:nvSpPr>
          <p:cNvPr id="108547" name="Rectangle 3"/>
          <p:cNvSpPr>
            <a:spLocks noGrp="1" noChangeArrowheads="1"/>
          </p:cNvSpPr>
          <p:nvPr>
            <p:ph type="body" idx="1"/>
          </p:nvPr>
        </p:nvSpPr>
        <p:spPr>
          <a:xfrm>
            <a:off x="0" y="1676400"/>
            <a:ext cx="9144000" cy="4495800"/>
          </a:xfrm>
          <a:solidFill>
            <a:srgbClr val="EAEAEA"/>
          </a:solidFill>
          <a:ln/>
        </p:spPr>
        <p:txBody>
          <a:bodyPr/>
          <a:lstStyle/>
          <a:p>
            <a:pPr>
              <a:lnSpc>
                <a:spcPct val="90000"/>
              </a:lnSpc>
            </a:pPr>
            <a:r>
              <a:rPr lang="en-US" sz="2400">
                <a:solidFill>
                  <a:srgbClr val="00CC99"/>
                </a:solidFill>
              </a:rPr>
              <a:t>Factor endowments:</a:t>
            </a:r>
            <a:r>
              <a:rPr lang="en-US" sz="2400">
                <a:solidFill>
                  <a:srgbClr val="003399"/>
                </a:solidFill>
              </a:rPr>
              <a:t>nation’s position in factors of production such as skilled labor or infrastructure necessary to compete in a given industry.</a:t>
            </a:r>
          </a:p>
          <a:p>
            <a:pPr>
              <a:lnSpc>
                <a:spcPct val="90000"/>
              </a:lnSpc>
            </a:pPr>
            <a:r>
              <a:rPr lang="en-US" sz="2400">
                <a:solidFill>
                  <a:srgbClr val="00CC99"/>
                </a:solidFill>
              </a:rPr>
              <a:t>Demand conditions:</a:t>
            </a:r>
            <a:r>
              <a:rPr lang="en-US" sz="2400">
                <a:solidFill>
                  <a:srgbClr val="003399"/>
                </a:solidFill>
              </a:rPr>
              <a:t>the nature of home demand for the industry’s product or service.</a:t>
            </a:r>
          </a:p>
          <a:p>
            <a:pPr>
              <a:lnSpc>
                <a:spcPct val="90000"/>
              </a:lnSpc>
            </a:pPr>
            <a:r>
              <a:rPr lang="en-US" sz="2400">
                <a:solidFill>
                  <a:srgbClr val="00CC99"/>
                </a:solidFill>
              </a:rPr>
              <a:t>Related and supporting industries:</a:t>
            </a:r>
            <a:r>
              <a:rPr lang="en-US" sz="2400">
                <a:solidFill>
                  <a:srgbClr val="003399"/>
                </a:solidFill>
              </a:rPr>
              <a:t>the presence or absence in a nation of supplier industries or related industries that are nationally competitive.</a:t>
            </a:r>
          </a:p>
          <a:p>
            <a:pPr>
              <a:lnSpc>
                <a:spcPct val="90000"/>
              </a:lnSpc>
            </a:pPr>
            <a:r>
              <a:rPr lang="en-US">
                <a:solidFill>
                  <a:srgbClr val="00CC99"/>
                </a:solidFill>
              </a:rPr>
              <a:t>Firm strategy, structure and rivalry:</a:t>
            </a:r>
            <a:r>
              <a:rPr lang="en-US">
                <a:solidFill>
                  <a:srgbClr val="003399"/>
                </a:solidFill>
              </a:rPr>
              <a:t>the conditions in the nation governing how companies are created, organized, and managed and the nature of domestic rivalry.</a:t>
            </a:r>
          </a:p>
        </p:txBody>
      </p:sp>
      <p:grpSp>
        <p:nvGrpSpPr>
          <p:cNvPr id="108548" name="Group 4"/>
          <p:cNvGrpSpPr>
            <a:grpSpLocks/>
          </p:cNvGrpSpPr>
          <p:nvPr/>
        </p:nvGrpSpPr>
        <p:grpSpPr bwMode="auto">
          <a:xfrm>
            <a:off x="142875" y="6553200"/>
            <a:ext cx="9001125" cy="280988"/>
            <a:chOff x="90" y="4128"/>
            <a:chExt cx="6102" cy="161"/>
          </a:xfrm>
        </p:grpSpPr>
        <p:sp>
          <p:nvSpPr>
            <p:cNvPr id="108549" name="Rectangle 5"/>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108550" name="Text Box 6"/>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304800" y="533400"/>
            <a:ext cx="8610600" cy="1090613"/>
          </a:xfrm>
          <a:ln/>
        </p:spPr>
        <p:txBody>
          <a:bodyPr/>
          <a:lstStyle/>
          <a:p>
            <a:r>
              <a:rPr lang="en-US"/>
              <a:t>Porter’s Diamond</a:t>
            </a:r>
            <a:br>
              <a:rPr lang="en-US"/>
            </a:br>
            <a:r>
              <a:rPr lang="en-US" sz="2500"/>
              <a:t>Determinants of National Competitive Advantage</a:t>
            </a:r>
            <a:endParaRPr lang="en-US"/>
          </a:p>
        </p:txBody>
      </p:sp>
      <p:grpSp>
        <p:nvGrpSpPr>
          <p:cNvPr id="68624" name="Group 16"/>
          <p:cNvGrpSpPr>
            <a:grpSpLocks/>
          </p:cNvGrpSpPr>
          <p:nvPr/>
        </p:nvGrpSpPr>
        <p:grpSpPr bwMode="auto">
          <a:xfrm>
            <a:off x="381000" y="1752600"/>
            <a:ext cx="8229600" cy="4419600"/>
            <a:chOff x="240" y="1104"/>
            <a:chExt cx="5184" cy="2784"/>
          </a:xfrm>
        </p:grpSpPr>
        <p:sp>
          <p:nvSpPr>
            <p:cNvPr id="68616" name="Line 8"/>
            <p:cNvSpPr>
              <a:spLocks noChangeShapeType="1"/>
            </p:cNvSpPr>
            <p:nvPr/>
          </p:nvSpPr>
          <p:spPr bwMode="auto">
            <a:xfrm>
              <a:off x="2256" y="2496"/>
              <a:ext cx="1104" cy="0"/>
            </a:xfrm>
            <a:prstGeom prst="line">
              <a:avLst/>
            </a:prstGeom>
            <a:noFill/>
            <a:ln w="28575">
              <a:solidFill>
                <a:schemeClr val="bg1"/>
              </a:solidFill>
              <a:round/>
              <a:headEnd type="triangle" w="med" len="med"/>
              <a:tailEnd type="triangle" w="med" len="med"/>
            </a:ln>
            <a:effectLst/>
            <a:scene3d>
              <a:camera prst="legacyObliqueTopRight"/>
              <a:lightRig rig="legacyFlat3" dir="b"/>
            </a:scene3d>
            <a:sp3d extrusionH="430200" prstMaterial="legacyPlastic">
              <a:bevelT w="13500" h="13500" prst="angle"/>
              <a:bevelB w="13500" h="13500" prst="angle"/>
              <a:extrusionClr>
                <a:schemeClr val="bg1"/>
              </a:extrusionClr>
            </a:sp3d>
          </p:spPr>
          <p:txBody>
            <a:bodyPr wrap="none" anchor="ctr">
              <a:flatTx/>
            </a:bodyPr>
            <a:lstStyle/>
            <a:p>
              <a:endParaRPr lang="en-US"/>
            </a:p>
          </p:txBody>
        </p:sp>
        <p:sp>
          <p:nvSpPr>
            <p:cNvPr id="68611" name="Rectangle 3"/>
            <p:cNvSpPr>
              <a:spLocks noChangeArrowheads="1"/>
            </p:cNvSpPr>
            <p:nvPr/>
          </p:nvSpPr>
          <p:spPr bwMode="auto">
            <a:xfrm>
              <a:off x="240" y="2064"/>
              <a:ext cx="1824" cy="864"/>
            </a:xfrm>
            <a:prstGeom prst="rect">
              <a:avLst/>
            </a:prstGeom>
            <a:solidFill>
              <a:srgbClr val="66FF33"/>
            </a:solidFill>
            <a:ln w="9525">
              <a:miter lim="800000"/>
              <a:headEnd/>
              <a:tailEnd/>
            </a:ln>
            <a:effectLst/>
            <a:scene3d>
              <a:camera prst="legacyPerspectiveBottom"/>
              <a:lightRig rig="legacyFlat3" dir="t"/>
            </a:scene3d>
            <a:sp3d extrusionH="887400" prstMaterial="legacyPlastic">
              <a:bevelT w="13500" h="13500" prst="angle"/>
              <a:bevelB w="13500" h="13500" prst="angle"/>
              <a:extrusionClr>
                <a:srgbClr val="66FF33"/>
              </a:extrusionClr>
            </a:sp3d>
          </p:spPr>
          <p:txBody>
            <a:bodyPr wrap="none" anchor="ctr">
              <a:flatTx/>
            </a:bodyPr>
            <a:lstStyle/>
            <a:p>
              <a:pPr algn="ctr" eaLnBrk="0" hangingPunct="0"/>
              <a:r>
                <a:rPr lang="en-US" sz="2400">
                  <a:solidFill>
                    <a:schemeClr val="tx2"/>
                  </a:solidFill>
                </a:rPr>
                <a:t>Factor Endowments</a:t>
              </a:r>
              <a:endParaRPr lang="en-US" sz="2400"/>
            </a:p>
          </p:txBody>
        </p:sp>
        <p:sp>
          <p:nvSpPr>
            <p:cNvPr id="68612" name="Rectangle 4"/>
            <p:cNvSpPr>
              <a:spLocks noChangeArrowheads="1"/>
            </p:cNvSpPr>
            <p:nvPr/>
          </p:nvSpPr>
          <p:spPr bwMode="auto">
            <a:xfrm>
              <a:off x="1920" y="1104"/>
              <a:ext cx="1824" cy="864"/>
            </a:xfrm>
            <a:prstGeom prst="rect">
              <a:avLst/>
            </a:prstGeom>
            <a:solidFill>
              <a:srgbClr val="990099"/>
            </a:solidFill>
            <a:ln w="9525">
              <a:miter lim="800000"/>
              <a:headEnd/>
              <a:tailEnd/>
            </a:ln>
            <a:effectLst/>
            <a:scene3d>
              <a:camera prst="legacyPerspectiveBottom"/>
              <a:lightRig rig="legacyFlat2" dir="t"/>
            </a:scene3d>
            <a:sp3d extrusionH="887400" prstMaterial="legacyPlastic">
              <a:bevelT w="13500" h="13500" prst="angle"/>
              <a:bevelB w="13500" h="13500" prst="angle"/>
              <a:extrusionClr>
                <a:srgbClr val="990099"/>
              </a:extrusionClr>
            </a:sp3d>
          </p:spPr>
          <p:txBody>
            <a:bodyPr wrap="none" anchor="ctr">
              <a:flatTx/>
            </a:bodyPr>
            <a:lstStyle/>
            <a:p>
              <a:pPr algn="ctr" eaLnBrk="0" hangingPunct="0"/>
              <a:r>
                <a:rPr lang="en-US" sz="2400">
                  <a:solidFill>
                    <a:schemeClr val="bg1"/>
                  </a:solidFill>
                </a:rPr>
                <a:t>Firm Strategy,</a:t>
              </a:r>
            </a:p>
            <a:p>
              <a:pPr algn="ctr" eaLnBrk="0" hangingPunct="0"/>
              <a:r>
                <a:rPr lang="en-US" sz="2400">
                  <a:solidFill>
                    <a:schemeClr val="bg1"/>
                  </a:solidFill>
                </a:rPr>
                <a:t>Structure and</a:t>
              </a:r>
            </a:p>
            <a:p>
              <a:pPr algn="ctr" eaLnBrk="0" hangingPunct="0"/>
              <a:r>
                <a:rPr lang="en-US" sz="2400">
                  <a:solidFill>
                    <a:schemeClr val="bg1"/>
                  </a:solidFill>
                </a:rPr>
                <a:t>Rivalry</a:t>
              </a:r>
            </a:p>
          </p:txBody>
        </p:sp>
        <p:sp>
          <p:nvSpPr>
            <p:cNvPr id="68613" name="Rectangle 5"/>
            <p:cNvSpPr>
              <a:spLocks noChangeArrowheads="1"/>
            </p:cNvSpPr>
            <p:nvPr/>
          </p:nvSpPr>
          <p:spPr bwMode="auto">
            <a:xfrm>
              <a:off x="3600" y="2064"/>
              <a:ext cx="1824" cy="864"/>
            </a:xfrm>
            <a:prstGeom prst="rect">
              <a:avLst/>
            </a:prstGeom>
            <a:solidFill>
              <a:srgbClr val="FFFF00"/>
            </a:solidFill>
            <a:ln w="9525">
              <a:miter lim="800000"/>
              <a:headEnd/>
              <a:tailEnd/>
            </a:ln>
            <a:effectLst/>
            <a:scene3d>
              <a:camera prst="legacyPerspectiveBottom"/>
              <a:lightRig rig="legacyFlat2" dir="t"/>
            </a:scene3d>
            <a:sp3d extrusionH="887400" prstMaterial="legacyPlastic">
              <a:bevelT w="13500" h="13500" prst="angle"/>
              <a:bevelB w="13500" h="13500" prst="angle"/>
              <a:extrusionClr>
                <a:srgbClr val="FFFF00"/>
              </a:extrusionClr>
            </a:sp3d>
          </p:spPr>
          <p:txBody>
            <a:bodyPr wrap="none" anchor="ctr">
              <a:flatTx/>
            </a:bodyPr>
            <a:lstStyle/>
            <a:p>
              <a:pPr algn="ctr" eaLnBrk="0" hangingPunct="0"/>
              <a:r>
                <a:rPr lang="en-US" sz="2400">
                  <a:solidFill>
                    <a:schemeClr val="tx2"/>
                  </a:solidFill>
                </a:rPr>
                <a:t>Demand Conditions</a:t>
              </a:r>
            </a:p>
          </p:txBody>
        </p:sp>
        <p:sp>
          <p:nvSpPr>
            <p:cNvPr id="68614" name="Rectangle 6"/>
            <p:cNvSpPr>
              <a:spLocks noChangeArrowheads="1"/>
            </p:cNvSpPr>
            <p:nvPr/>
          </p:nvSpPr>
          <p:spPr bwMode="auto">
            <a:xfrm>
              <a:off x="1968" y="3024"/>
              <a:ext cx="1824" cy="864"/>
            </a:xfrm>
            <a:prstGeom prst="rect">
              <a:avLst/>
            </a:prstGeom>
            <a:solidFill>
              <a:srgbClr val="9999FF"/>
            </a:solidFill>
            <a:ln w="9525">
              <a:miter lim="800000"/>
              <a:headEnd/>
              <a:tailEnd/>
            </a:ln>
            <a:effectLst/>
            <a:scene3d>
              <a:camera prst="legacyPerspectiveBottom"/>
              <a:lightRig rig="legacyFlat2" dir="t"/>
            </a:scene3d>
            <a:sp3d extrusionH="887400" prstMaterial="legacyPlastic">
              <a:bevelT w="13500" h="13500" prst="angle"/>
              <a:bevelB w="13500" h="13500" prst="angle"/>
              <a:extrusionClr>
                <a:srgbClr val="9999FF"/>
              </a:extrusionClr>
            </a:sp3d>
          </p:spPr>
          <p:txBody>
            <a:bodyPr wrap="none" anchor="ctr">
              <a:flatTx/>
            </a:bodyPr>
            <a:lstStyle/>
            <a:p>
              <a:pPr algn="ctr" eaLnBrk="0" hangingPunct="0"/>
              <a:r>
                <a:rPr lang="en-US" sz="2400">
                  <a:solidFill>
                    <a:srgbClr val="CCECFF"/>
                  </a:solidFill>
                </a:rPr>
                <a:t>Related and </a:t>
              </a:r>
            </a:p>
            <a:p>
              <a:pPr algn="ctr" eaLnBrk="0" hangingPunct="0"/>
              <a:r>
                <a:rPr lang="en-US" sz="2400">
                  <a:solidFill>
                    <a:srgbClr val="CCECFF"/>
                  </a:solidFill>
                </a:rPr>
                <a:t>Supporting </a:t>
              </a:r>
            </a:p>
            <a:p>
              <a:pPr algn="ctr" eaLnBrk="0" hangingPunct="0"/>
              <a:r>
                <a:rPr lang="en-US" sz="2400">
                  <a:solidFill>
                    <a:srgbClr val="CCECFF"/>
                  </a:solidFill>
                </a:rPr>
                <a:t>Industries</a:t>
              </a:r>
            </a:p>
          </p:txBody>
        </p:sp>
        <p:sp>
          <p:nvSpPr>
            <p:cNvPr id="68615" name="Line 7"/>
            <p:cNvSpPr>
              <a:spLocks noChangeShapeType="1"/>
            </p:cNvSpPr>
            <p:nvPr/>
          </p:nvSpPr>
          <p:spPr bwMode="auto">
            <a:xfrm>
              <a:off x="2832" y="2112"/>
              <a:ext cx="0" cy="864"/>
            </a:xfrm>
            <a:prstGeom prst="line">
              <a:avLst/>
            </a:prstGeom>
            <a:noFill/>
            <a:ln w="28575">
              <a:solidFill>
                <a:schemeClr val="bg1"/>
              </a:solidFill>
              <a:round/>
              <a:headEnd type="triangle" w="med" len="med"/>
              <a:tailEnd type="triangle" w="med" len="med"/>
            </a:ln>
            <a:effectLst/>
            <a:scene3d>
              <a:camera prst="legacyObliqueTopRight"/>
              <a:lightRig rig="legacyFlat3" dir="b"/>
            </a:scene3d>
            <a:sp3d extrusionH="430200" prstMaterial="legacyPlastic">
              <a:bevelT w="13500" h="13500" prst="angle"/>
              <a:bevelB w="13500" h="13500" prst="angle"/>
              <a:extrusionClr>
                <a:schemeClr val="bg1"/>
              </a:extrusionClr>
            </a:sp3d>
          </p:spPr>
          <p:txBody>
            <a:bodyPr wrap="none" anchor="ctr">
              <a:flatTx/>
            </a:bodyPr>
            <a:lstStyle/>
            <a:p>
              <a:endParaRPr lang="en-US"/>
            </a:p>
          </p:txBody>
        </p:sp>
        <p:sp>
          <p:nvSpPr>
            <p:cNvPr id="68617" name="Line 9"/>
            <p:cNvSpPr>
              <a:spLocks noChangeShapeType="1"/>
            </p:cNvSpPr>
            <p:nvPr/>
          </p:nvSpPr>
          <p:spPr bwMode="auto">
            <a:xfrm flipV="1">
              <a:off x="1152" y="1536"/>
              <a:ext cx="528" cy="288"/>
            </a:xfrm>
            <a:prstGeom prst="line">
              <a:avLst/>
            </a:prstGeom>
            <a:noFill/>
            <a:ln w="28575">
              <a:solidFill>
                <a:schemeClr val="bg1"/>
              </a:solidFill>
              <a:round/>
              <a:headEnd type="triangle" w="med" len="med"/>
              <a:tailEnd type="triangle" w="med" len="med"/>
            </a:ln>
            <a:effectLst/>
          </p:spPr>
          <p:txBody>
            <a:bodyPr wrap="none" anchor="ctr"/>
            <a:lstStyle/>
            <a:p>
              <a:endParaRPr lang="en-US"/>
            </a:p>
          </p:txBody>
        </p:sp>
        <p:sp>
          <p:nvSpPr>
            <p:cNvPr id="68618" name="Line 10"/>
            <p:cNvSpPr>
              <a:spLocks noChangeShapeType="1"/>
            </p:cNvSpPr>
            <p:nvPr/>
          </p:nvSpPr>
          <p:spPr bwMode="auto">
            <a:xfrm>
              <a:off x="3984" y="1536"/>
              <a:ext cx="528" cy="240"/>
            </a:xfrm>
            <a:prstGeom prst="line">
              <a:avLst/>
            </a:prstGeom>
            <a:noFill/>
            <a:ln w="28575">
              <a:solidFill>
                <a:schemeClr val="bg1"/>
              </a:solidFill>
              <a:round/>
              <a:headEnd type="triangle" w="med" len="med"/>
              <a:tailEnd type="triangle" w="med" len="med"/>
            </a:ln>
            <a:effectLst/>
          </p:spPr>
          <p:txBody>
            <a:bodyPr wrap="none" anchor="ctr"/>
            <a:lstStyle/>
            <a:p>
              <a:endParaRPr lang="en-US"/>
            </a:p>
          </p:txBody>
        </p:sp>
        <p:sp>
          <p:nvSpPr>
            <p:cNvPr id="68619" name="Line 11"/>
            <p:cNvSpPr>
              <a:spLocks noChangeShapeType="1"/>
            </p:cNvSpPr>
            <p:nvPr/>
          </p:nvSpPr>
          <p:spPr bwMode="auto">
            <a:xfrm flipV="1">
              <a:off x="3936" y="3072"/>
              <a:ext cx="480" cy="432"/>
            </a:xfrm>
            <a:prstGeom prst="line">
              <a:avLst/>
            </a:prstGeom>
            <a:noFill/>
            <a:ln w="28575">
              <a:solidFill>
                <a:schemeClr val="bg1"/>
              </a:solidFill>
              <a:round/>
              <a:headEnd type="triangle" w="med" len="med"/>
              <a:tailEnd type="triangle" w="med" len="med"/>
            </a:ln>
            <a:effectLst/>
          </p:spPr>
          <p:txBody>
            <a:bodyPr wrap="none" anchor="ctr"/>
            <a:lstStyle/>
            <a:p>
              <a:endParaRPr lang="en-US"/>
            </a:p>
          </p:txBody>
        </p:sp>
        <p:sp>
          <p:nvSpPr>
            <p:cNvPr id="68620" name="Line 12"/>
            <p:cNvSpPr>
              <a:spLocks noChangeShapeType="1"/>
            </p:cNvSpPr>
            <p:nvPr/>
          </p:nvSpPr>
          <p:spPr bwMode="auto">
            <a:xfrm>
              <a:off x="1008" y="3120"/>
              <a:ext cx="720" cy="384"/>
            </a:xfrm>
            <a:prstGeom prst="line">
              <a:avLst/>
            </a:prstGeom>
            <a:noFill/>
            <a:ln w="28575">
              <a:solidFill>
                <a:schemeClr val="bg1"/>
              </a:solidFill>
              <a:round/>
              <a:headEnd type="triangle" w="med" len="med"/>
              <a:tailEnd type="triangle" w="med" len="med"/>
            </a:ln>
            <a:effectLst/>
          </p:spPr>
          <p:txBody>
            <a:bodyPr wrap="none" anchor="ctr"/>
            <a:lstStyle/>
            <a:p>
              <a:endParaRPr lang="en-US"/>
            </a:p>
          </p:txBody>
        </p:sp>
      </p:grpSp>
      <p:sp>
        <p:nvSpPr>
          <p:cNvPr id="68621" name="Text Box 13"/>
          <p:cNvSpPr txBox="1">
            <a:spLocks noChangeArrowheads="1"/>
          </p:cNvSpPr>
          <p:nvPr/>
        </p:nvSpPr>
        <p:spPr bwMode="auto">
          <a:xfrm>
            <a:off x="457200" y="5562600"/>
            <a:ext cx="1828800" cy="366713"/>
          </a:xfrm>
          <a:prstGeom prst="rect">
            <a:avLst/>
          </a:prstGeom>
          <a:noFill/>
          <a:ln w="9525">
            <a:noFill/>
            <a:miter lim="800000"/>
            <a:headEnd/>
            <a:tailEnd/>
          </a:ln>
          <a:effectLst/>
        </p:spPr>
        <p:txBody>
          <a:bodyPr>
            <a:spAutoFit/>
          </a:bodyPr>
          <a:lstStyle/>
          <a:p>
            <a:pPr eaLnBrk="0" hangingPunct="0">
              <a:spcBef>
                <a:spcPct val="50000"/>
              </a:spcBef>
            </a:pPr>
            <a:r>
              <a:rPr lang="en-US">
                <a:solidFill>
                  <a:schemeClr val="bg1"/>
                </a:solidFill>
              </a:rPr>
              <a:t>Figure 4.6</a:t>
            </a:r>
          </a:p>
        </p:txBody>
      </p:sp>
      <p:sp>
        <p:nvSpPr>
          <p:cNvPr id="68625" name="Text Box 17"/>
          <p:cNvSpPr txBox="1">
            <a:spLocks noChangeArrowheads="1"/>
          </p:cNvSpPr>
          <p:nvPr/>
        </p:nvSpPr>
        <p:spPr bwMode="auto">
          <a:xfrm>
            <a:off x="8305800" y="152400"/>
            <a:ext cx="609600" cy="304800"/>
          </a:xfrm>
          <a:prstGeom prst="rect">
            <a:avLst/>
          </a:prstGeom>
          <a:noFill/>
          <a:ln w="9525">
            <a:noFill/>
            <a:miter lim="800000"/>
            <a:headEnd/>
            <a:tailEnd/>
          </a:ln>
          <a:effectLst/>
        </p:spPr>
        <p:txBody>
          <a:bodyPr>
            <a:spAutoFit/>
          </a:bodyPr>
          <a:lstStyle/>
          <a:p>
            <a:pPr>
              <a:spcBef>
                <a:spcPct val="50000"/>
              </a:spcBef>
            </a:pPr>
            <a:r>
              <a:rPr lang="en-US" sz="1400">
                <a:solidFill>
                  <a:schemeClr val="bg1"/>
                </a:solidFill>
              </a:rPr>
              <a:t>4-30</a:t>
            </a:r>
          </a:p>
        </p:txBody>
      </p:sp>
      <p:grpSp>
        <p:nvGrpSpPr>
          <p:cNvPr id="68626" name="Group 18"/>
          <p:cNvGrpSpPr>
            <a:grpSpLocks/>
          </p:cNvGrpSpPr>
          <p:nvPr/>
        </p:nvGrpSpPr>
        <p:grpSpPr bwMode="auto">
          <a:xfrm>
            <a:off x="142875" y="6553200"/>
            <a:ext cx="9001125" cy="280988"/>
            <a:chOff x="90" y="4128"/>
            <a:chExt cx="6102" cy="161"/>
          </a:xfrm>
        </p:grpSpPr>
        <p:sp>
          <p:nvSpPr>
            <p:cNvPr id="68627" name="Rectangle 19"/>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68628" name="Text Box 20"/>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1828800" y="1143000"/>
            <a:ext cx="5562600" cy="1143000"/>
          </a:xfrm>
          <a:ln/>
        </p:spPr>
        <p:txBody>
          <a:bodyPr lIns="90488" tIns="44450" rIns="90488" bIns="44450" anchor="ctr"/>
          <a:lstStyle/>
          <a:p>
            <a:r>
              <a:rPr lang="en-US" sz="3400"/>
              <a:t>The Diamond</a:t>
            </a:r>
          </a:p>
        </p:txBody>
      </p:sp>
      <p:sp>
        <p:nvSpPr>
          <p:cNvPr id="69635" name="Rectangle 3"/>
          <p:cNvSpPr>
            <a:spLocks noGrp="1" noChangeArrowheads="1"/>
          </p:cNvSpPr>
          <p:nvPr>
            <p:ph type="body" idx="1"/>
          </p:nvPr>
        </p:nvSpPr>
        <p:spPr>
          <a:xfrm>
            <a:off x="457200" y="2514600"/>
            <a:ext cx="8382000" cy="2039938"/>
          </a:xfrm>
          <a:solidFill>
            <a:srgbClr val="EAEAEA"/>
          </a:solidFill>
          <a:ln/>
        </p:spPr>
        <p:txBody>
          <a:bodyPr lIns="90488" tIns="44450" rIns="90488" bIns="44450"/>
          <a:lstStyle/>
          <a:p>
            <a:r>
              <a:rPr lang="en-US">
                <a:solidFill>
                  <a:srgbClr val="003399"/>
                </a:solidFill>
              </a:rPr>
              <a:t>Success occurs where these attributes exist.</a:t>
            </a:r>
          </a:p>
          <a:p>
            <a:pPr lvl="1"/>
            <a:r>
              <a:rPr lang="en-US">
                <a:solidFill>
                  <a:srgbClr val="003399"/>
                </a:solidFill>
              </a:rPr>
              <a:t>More/greater the attribute, the higher chance of success.</a:t>
            </a:r>
          </a:p>
          <a:p>
            <a:r>
              <a:rPr lang="en-US">
                <a:solidFill>
                  <a:srgbClr val="003399"/>
                </a:solidFill>
              </a:rPr>
              <a:t>The diamond is mutually reinforcing.</a:t>
            </a:r>
          </a:p>
        </p:txBody>
      </p:sp>
      <p:sp>
        <p:nvSpPr>
          <p:cNvPr id="69638" name="Text Box 6"/>
          <p:cNvSpPr txBox="1">
            <a:spLocks noChangeArrowheads="1"/>
          </p:cNvSpPr>
          <p:nvPr/>
        </p:nvSpPr>
        <p:spPr bwMode="auto">
          <a:xfrm>
            <a:off x="8305800" y="152400"/>
            <a:ext cx="609600" cy="304800"/>
          </a:xfrm>
          <a:prstGeom prst="rect">
            <a:avLst/>
          </a:prstGeom>
          <a:noFill/>
          <a:ln w="9525">
            <a:noFill/>
            <a:miter lim="800000"/>
            <a:headEnd/>
            <a:tailEnd/>
          </a:ln>
          <a:effectLst/>
        </p:spPr>
        <p:txBody>
          <a:bodyPr>
            <a:spAutoFit/>
          </a:bodyPr>
          <a:lstStyle/>
          <a:p>
            <a:pPr>
              <a:spcBef>
                <a:spcPct val="50000"/>
              </a:spcBef>
            </a:pPr>
            <a:r>
              <a:rPr lang="en-US" sz="1400">
                <a:solidFill>
                  <a:schemeClr val="bg1"/>
                </a:solidFill>
              </a:rPr>
              <a:t>4-31</a:t>
            </a:r>
          </a:p>
        </p:txBody>
      </p:sp>
      <p:grpSp>
        <p:nvGrpSpPr>
          <p:cNvPr id="69639" name="Group 7"/>
          <p:cNvGrpSpPr>
            <a:grpSpLocks/>
          </p:cNvGrpSpPr>
          <p:nvPr/>
        </p:nvGrpSpPr>
        <p:grpSpPr bwMode="auto">
          <a:xfrm>
            <a:off x="142875" y="6553200"/>
            <a:ext cx="9001125" cy="280988"/>
            <a:chOff x="90" y="4128"/>
            <a:chExt cx="6102" cy="161"/>
          </a:xfrm>
        </p:grpSpPr>
        <p:sp>
          <p:nvSpPr>
            <p:cNvPr id="69640" name="Rectangle 8"/>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69641" name="Text Box 9"/>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658" name="Rectangle 2"/>
          <p:cNvSpPr>
            <a:spLocks noGrp="1" noChangeArrowheads="1"/>
          </p:cNvSpPr>
          <p:nvPr>
            <p:ph type="ctrTitle"/>
          </p:nvPr>
        </p:nvSpPr>
        <p:spPr>
          <a:xfrm>
            <a:off x="914400" y="457200"/>
            <a:ext cx="7467600" cy="692150"/>
          </a:xfrm>
          <a:solidFill>
            <a:srgbClr val="333399"/>
          </a:solidFill>
          <a:ln w="38100">
            <a:solidFill>
              <a:schemeClr val="bg1"/>
            </a:solidFill>
          </a:ln>
        </p:spPr>
        <p:txBody>
          <a:bodyPr lIns="62313" tIns="24925" rIns="62313" bIns="24925" anchor="t"/>
          <a:lstStyle/>
          <a:p>
            <a:pPr>
              <a:lnSpc>
                <a:spcPct val="90000"/>
              </a:lnSpc>
            </a:pPr>
            <a:r>
              <a:rPr lang="en-US" sz="2200" b="1"/>
              <a:t>Determinants of </a:t>
            </a:r>
            <a:br>
              <a:rPr lang="en-US" sz="2200" b="1"/>
            </a:br>
            <a:r>
              <a:rPr lang="en-US" sz="2200" b="1"/>
              <a:t>National Competitive Advantage  </a:t>
            </a:r>
          </a:p>
        </p:txBody>
      </p:sp>
      <p:sp>
        <p:nvSpPr>
          <p:cNvPr id="70673" name="Rectangle 17"/>
          <p:cNvSpPr>
            <a:spLocks noChangeArrowheads="1"/>
          </p:cNvSpPr>
          <p:nvPr/>
        </p:nvSpPr>
        <p:spPr bwMode="auto">
          <a:xfrm>
            <a:off x="5046663" y="725488"/>
            <a:ext cx="25400" cy="322262"/>
          </a:xfrm>
          <a:prstGeom prst="rect">
            <a:avLst/>
          </a:prstGeom>
          <a:noFill/>
          <a:ln w="25400">
            <a:noFill/>
            <a:miter lim="800000"/>
            <a:headEnd/>
            <a:tailEnd/>
          </a:ln>
          <a:effectLst/>
        </p:spPr>
        <p:txBody>
          <a:bodyPr wrap="none" anchor="ctr"/>
          <a:lstStyle/>
          <a:p>
            <a:endParaRPr lang="en-US"/>
          </a:p>
        </p:txBody>
      </p:sp>
      <p:grpSp>
        <p:nvGrpSpPr>
          <p:cNvPr id="70681" name="Group 25"/>
          <p:cNvGrpSpPr>
            <a:grpSpLocks/>
          </p:cNvGrpSpPr>
          <p:nvPr/>
        </p:nvGrpSpPr>
        <p:grpSpPr bwMode="auto">
          <a:xfrm>
            <a:off x="0" y="1295400"/>
            <a:ext cx="8675688" cy="4657725"/>
            <a:chOff x="0" y="816"/>
            <a:chExt cx="5465" cy="2934"/>
          </a:xfrm>
        </p:grpSpPr>
        <p:sp>
          <p:nvSpPr>
            <p:cNvPr id="70659" name="Oval 3"/>
            <p:cNvSpPr>
              <a:spLocks noChangeArrowheads="1"/>
            </p:cNvSpPr>
            <p:nvPr/>
          </p:nvSpPr>
          <p:spPr bwMode="auto">
            <a:xfrm>
              <a:off x="1028" y="816"/>
              <a:ext cx="4437" cy="2934"/>
            </a:xfrm>
            <a:prstGeom prst="ellipse">
              <a:avLst/>
            </a:prstGeom>
            <a:noFill/>
            <a:ln w="127000">
              <a:solidFill>
                <a:srgbClr val="FF3300"/>
              </a:solidFill>
              <a:round/>
              <a:headEnd/>
              <a:tailEnd/>
            </a:ln>
            <a:effectLst/>
            <a:scene3d>
              <a:camera prst="legacyPerspectiveBottom"/>
              <a:lightRig rig="legacyFlat3" dir="t"/>
            </a:scene3d>
            <a:sp3d extrusionH="887400" prstMaterial="legacyPlastic">
              <a:bevelT w="13500" h="13500" prst="angle"/>
              <a:bevelB w="13500" h="13500" prst="angle"/>
              <a:extrusionClr>
                <a:srgbClr val="FF3300"/>
              </a:extrusionClr>
            </a:sp3d>
          </p:spPr>
          <p:txBody>
            <a:bodyPr wrap="none" anchor="ctr">
              <a:flatTx/>
            </a:bodyPr>
            <a:lstStyle/>
            <a:p>
              <a:endParaRPr lang="en-US"/>
            </a:p>
          </p:txBody>
        </p:sp>
        <p:sp>
          <p:nvSpPr>
            <p:cNvPr id="70664" name="Oval 8"/>
            <p:cNvSpPr>
              <a:spLocks noChangeArrowheads="1"/>
            </p:cNvSpPr>
            <p:nvPr/>
          </p:nvSpPr>
          <p:spPr bwMode="auto">
            <a:xfrm>
              <a:off x="1152" y="1056"/>
              <a:ext cx="4176" cy="2640"/>
            </a:xfrm>
            <a:prstGeom prst="ellipse">
              <a:avLst/>
            </a:prstGeom>
            <a:noFill/>
            <a:ln w="127000">
              <a:solidFill>
                <a:srgbClr val="66FF33"/>
              </a:solidFill>
              <a:round/>
              <a:headEnd/>
              <a:tailEnd/>
            </a:ln>
            <a:effectLst/>
            <a:scene3d>
              <a:camera prst="legacyPerspectiveBottom"/>
              <a:lightRig rig="legacyFlat3" dir="t"/>
            </a:scene3d>
            <a:sp3d extrusionH="887400" prstMaterial="legacyPlastic">
              <a:bevelT w="13500" h="13500" prst="angle"/>
              <a:bevelB w="13500" h="13500" prst="angle"/>
              <a:extrusionClr>
                <a:srgbClr val="66FF33"/>
              </a:extrusionClr>
            </a:sp3d>
          </p:spPr>
          <p:txBody>
            <a:bodyPr wrap="none" anchor="ctr">
              <a:flatTx/>
            </a:bodyPr>
            <a:lstStyle/>
            <a:p>
              <a:endParaRPr lang="en-US"/>
            </a:p>
          </p:txBody>
        </p:sp>
        <p:sp>
          <p:nvSpPr>
            <p:cNvPr id="70665" name="Rectangle 9"/>
            <p:cNvSpPr>
              <a:spLocks noChangeArrowheads="1"/>
            </p:cNvSpPr>
            <p:nvPr/>
          </p:nvSpPr>
          <p:spPr bwMode="auto">
            <a:xfrm>
              <a:off x="210" y="3301"/>
              <a:ext cx="1339" cy="271"/>
            </a:xfrm>
            <a:prstGeom prst="rect">
              <a:avLst/>
            </a:prstGeom>
            <a:solidFill>
              <a:schemeClr val="bg1"/>
            </a:solidFill>
            <a:ln w="25400">
              <a:solidFill>
                <a:schemeClr val="tx2"/>
              </a:solidFill>
              <a:miter lim="800000"/>
              <a:headEnd/>
              <a:tailEnd/>
            </a:ln>
            <a:effectLst/>
          </p:spPr>
          <p:txBody>
            <a:bodyPr wrap="none" lIns="62313" tIns="24925" rIns="62313" bIns="24925">
              <a:spAutoFit/>
            </a:bodyPr>
            <a:lstStyle/>
            <a:p>
              <a:pPr algn="ctr" defTabSz="896938" eaLnBrk="0" hangingPunct="0">
                <a:lnSpc>
                  <a:spcPct val="97000"/>
                </a:lnSpc>
              </a:pPr>
              <a:r>
                <a:rPr lang="en-US" sz="2400" b="1">
                  <a:solidFill>
                    <a:schemeClr val="tx2"/>
                  </a:solidFill>
                  <a:effectLst>
                    <a:outerShdw blurRad="38100" dist="38100" dir="2700000" algn="tl">
                      <a:srgbClr val="C0C0C0"/>
                    </a:outerShdw>
                  </a:effectLst>
                  <a:latin typeface="Century Schoolbook" pitchFamily="18" charset="0"/>
                </a:rPr>
                <a:t>Government</a:t>
              </a:r>
              <a:endParaRPr lang="en-US" sz="2400" b="1">
                <a:effectLst>
                  <a:outerShdw blurRad="38100" dist="38100" dir="2700000" algn="tl">
                    <a:srgbClr val="C0C0C0"/>
                  </a:outerShdw>
                </a:effectLst>
                <a:latin typeface="Century Schoolbook" pitchFamily="18" charset="0"/>
              </a:endParaRPr>
            </a:p>
          </p:txBody>
        </p:sp>
        <p:sp>
          <p:nvSpPr>
            <p:cNvPr id="70666" name="Line 10"/>
            <p:cNvSpPr>
              <a:spLocks noChangeShapeType="1"/>
            </p:cNvSpPr>
            <p:nvPr/>
          </p:nvSpPr>
          <p:spPr bwMode="auto">
            <a:xfrm flipV="1">
              <a:off x="847" y="2832"/>
              <a:ext cx="497" cy="461"/>
            </a:xfrm>
            <a:prstGeom prst="line">
              <a:avLst/>
            </a:prstGeom>
            <a:noFill/>
            <a:ln w="25400">
              <a:solidFill>
                <a:schemeClr val="bg1"/>
              </a:solidFill>
              <a:round/>
              <a:headEnd/>
              <a:tailEnd type="triangle" w="med" len="med"/>
            </a:ln>
            <a:effectLst/>
          </p:spPr>
          <p:txBody>
            <a:bodyPr wrap="none" anchor="ctr"/>
            <a:lstStyle/>
            <a:p>
              <a:endParaRPr lang="en-US"/>
            </a:p>
          </p:txBody>
        </p:sp>
        <p:sp>
          <p:nvSpPr>
            <p:cNvPr id="70660" name="Rectangle 4"/>
            <p:cNvSpPr>
              <a:spLocks noChangeArrowheads="1"/>
            </p:cNvSpPr>
            <p:nvPr/>
          </p:nvSpPr>
          <p:spPr bwMode="auto">
            <a:xfrm>
              <a:off x="2495" y="1248"/>
              <a:ext cx="1405" cy="525"/>
            </a:xfrm>
            <a:prstGeom prst="rect">
              <a:avLst/>
            </a:prstGeom>
            <a:solidFill>
              <a:srgbClr val="FFFF00"/>
            </a:solidFill>
            <a:ln w="25400">
              <a:miter lim="800000"/>
              <a:headEnd/>
              <a:tailEnd/>
            </a:ln>
            <a:effectLst/>
            <a:scene3d>
              <a:camera prst="legacyPerspectiveBottom"/>
              <a:lightRig rig="legacyFlat3" dir="t"/>
            </a:scene3d>
            <a:sp3d extrusionH="887400" prstMaterial="legacyPlastic">
              <a:bevelT w="13500" h="13500" prst="angle"/>
              <a:bevelB w="13500" h="13500" prst="angle"/>
              <a:extrusionClr>
                <a:srgbClr val="FFFF00"/>
              </a:extrusionClr>
            </a:sp3d>
          </p:spPr>
          <p:txBody>
            <a:bodyPr wrap="none" lIns="62313" tIns="24925" rIns="62313" bIns="24925">
              <a:spAutoFit/>
              <a:flatTx/>
            </a:bodyPr>
            <a:lstStyle/>
            <a:p>
              <a:pPr algn="ctr" defTabSz="896938" eaLnBrk="0" hangingPunct="0">
                <a:lnSpc>
                  <a:spcPct val="92000"/>
                </a:lnSpc>
              </a:pPr>
              <a:r>
                <a:rPr lang="en-US">
                  <a:solidFill>
                    <a:schemeClr val="tx2"/>
                  </a:solidFill>
                </a:rPr>
                <a:t>Company  Strategy,</a:t>
              </a:r>
            </a:p>
            <a:p>
              <a:pPr algn="ctr" defTabSz="896938" eaLnBrk="0" hangingPunct="0">
                <a:lnSpc>
                  <a:spcPct val="92000"/>
                </a:lnSpc>
              </a:pPr>
              <a:r>
                <a:rPr lang="en-US">
                  <a:solidFill>
                    <a:schemeClr val="tx2"/>
                  </a:solidFill>
                </a:rPr>
                <a:t>Structure,</a:t>
              </a:r>
            </a:p>
            <a:p>
              <a:pPr algn="ctr" defTabSz="896938" eaLnBrk="0" hangingPunct="0">
                <a:lnSpc>
                  <a:spcPct val="92000"/>
                </a:lnSpc>
              </a:pPr>
              <a:r>
                <a:rPr lang="en-US">
                  <a:solidFill>
                    <a:schemeClr val="tx2"/>
                  </a:solidFill>
                </a:rPr>
                <a:t>and Rivalry</a:t>
              </a:r>
              <a:r>
                <a:rPr lang="en-US"/>
                <a:t> </a:t>
              </a:r>
            </a:p>
          </p:txBody>
        </p:sp>
        <p:sp>
          <p:nvSpPr>
            <p:cNvPr id="70661" name="Rectangle 5"/>
            <p:cNvSpPr>
              <a:spLocks noChangeArrowheads="1"/>
            </p:cNvSpPr>
            <p:nvPr/>
          </p:nvSpPr>
          <p:spPr bwMode="auto">
            <a:xfrm>
              <a:off x="4346" y="2115"/>
              <a:ext cx="786" cy="366"/>
            </a:xfrm>
            <a:prstGeom prst="rect">
              <a:avLst/>
            </a:prstGeom>
            <a:solidFill>
              <a:srgbClr val="FF0066"/>
            </a:solidFill>
            <a:ln w="25400">
              <a:miter lim="800000"/>
              <a:headEnd/>
              <a:tailEnd/>
            </a:ln>
            <a:effectLst/>
            <a:scene3d>
              <a:camera prst="legacyPerspectiveBottom"/>
              <a:lightRig rig="legacyFlat3" dir="t"/>
            </a:scene3d>
            <a:sp3d extrusionH="887400" prstMaterial="legacyPlastic">
              <a:bevelT w="13500" h="13500" prst="angle"/>
              <a:bevelB w="13500" h="13500" prst="angle"/>
              <a:extrusionClr>
                <a:srgbClr val="FF0066"/>
              </a:extrusionClr>
            </a:sp3d>
          </p:spPr>
          <p:txBody>
            <a:bodyPr wrap="none" lIns="62313" tIns="24925" rIns="62313" bIns="24925">
              <a:spAutoFit/>
              <a:flatTx/>
            </a:bodyPr>
            <a:lstStyle/>
            <a:p>
              <a:pPr algn="ctr" defTabSz="896938" eaLnBrk="0" hangingPunct="0">
                <a:lnSpc>
                  <a:spcPct val="92000"/>
                </a:lnSpc>
              </a:pPr>
              <a:r>
                <a:rPr lang="en-US">
                  <a:solidFill>
                    <a:srgbClr val="FFFF00"/>
                  </a:solidFill>
                </a:rPr>
                <a:t>Demand</a:t>
              </a:r>
            </a:p>
            <a:p>
              <a:pPr algn="ctr" defTabSz="896938" eaLnBrk="0" hangingPunct="0">
                <a:lnSpc>
                  <a:spcPct val="92000"/>
                </a:lnSpc>
              </a:pPr>
              <a:r>
                <a:rPr lang="en-US">
                  <a:solidFill>
                    <a:srgbClr val="FFFF00"/>
                  </a:solidFill>
                </a:rPr>
                <a:t>Conditions</a:t>
              </a:r>
            </a:p>
          </p:txBody>
        </p:sp>
        <p:sp>
          <p:nvSpPr>
            <p:cNvPr id="70662" name="Rectangle 6"/>
            <p:cNvSpPr>
              <a:spLocks noChangeArrowheads="1"/>
            </p:cNvSpPr>
            <p:nvPr/>
          </p:nvSpPr>
          <p:spPr bwMode="auto">
            <a:xfrm>
              <a:off x="2647" y="2826"/>
              <a:ext cx="1104" cy="525"/>
            </a:xfrm>
            <a:prstGeom prst="rect">
              <a:avLst/>
            </a:prstGeom>
            <a:solidFill>
              <a:srgbClr val="CC6600"/>
            </a:solidFill>
            <a:ln w="25400">
              <a:miter lim="800000"/>
              <a:headEnd/>
              <a:tailEnd/>
            </a:ln>
            <a:effectLst/>
            <a:scene3d>
              <a:camera prst="legacyPerspectiveBottom"/>
              <a:lightRig rig="legacyFlat3" dir="t"/>
            </a:scene3d>
            <a:sp3d extrusionH="887400" prstMaterial="legacyPlastic">
              <a:bevelT w="13500" h="13500" prst="angle"/>
              <a:bevelB w="13500" h="13500" prst="angle"/>
              <a:extrusionClr>
                <a:srgbClr val="CC6600"/>
              </a:extrusionClr>
            </a:sp3d>
          </p:spPr>
          <p:txBody>
            <a:bodyPr wrap="none" lIns="62313" tIns="24925" rIns="62313" bIns="24925">
              <a:spAutoFit/>
              <a:flatTx/>
            </a:bodyPr>
            <a:lstStyle/>
            <a:p>
              <a:pPr algn="ctr" defTabSz="896938" eaLnBrk="0" hangingPunct="0">
                <a:lnSpc>
                  <a:spcPct val="92000"/>
                </a:lnSpc>
              </a:pPr>
              <a:r>
                <a:rPr lang="en-US">
                  <a:solidFill>
                    <a:srgbClr val="FFFF00"/>
                  </a:solidFill>
                </a:rPr>
                <a:t>Related</a:t>
              </a:r>
            </a:p>
            <a:p>
              <a:pPr algn="ctr" defTabSz="896938" eaLnBrk="0" hangingPunct="0">
                <a:lnSpc>
                  <a:spcPct val="92000"/>
                </a:lnSpc>
              </a:pPr>
              <a:r>
                <a:rPr lang="en-US">
                  <a:solidFill>
                    <a:srgbClr val="FFFF00"/>
                  </a:solidFill>
                </a:rPr>
                <a:t>and Supporting</a:t>
              </a:r>
            </a:p>
            <a:p>
              <a:pPr algn="ctr" defTabSz="896938" eaLnBrk="0" hangingPunct="0">
                <a:lnSpc>
                  <a:spcPct val="92000"/>
                </a:lnSpc>
              </a:pPr>
              <a:r>
                <a:rPr lang="en-US">
                  <a:solidFill>
                    <a:srgbClr val="FFFF00"/>
                  </a:solidFill>
                </a:rPr>
                <a:t>Industries</a:t>
              </a:r>
            </a:p>
          </p:txBody>
        </p:sp>
        <p:sp>
          <p:nvSpPr>
            <p:cNvPr id="70663" name="Rectangle 7"/>
            <p:cNvSpPr>
              <a:spLocks noChangeArrowheads="1"/>
            </p:cNvSpPr>
            <p:nvPr/>
          </p:nvSpPr>
          <p:spPr bwMode="auto">
            <a:xfrm>
              <a:off x="1344" y="2107"/>
              <a:ext cx="786" cy="366"/>
            </a:xfrm>
            <a:prstGeom prst="rect">
              <a:avLst/>
            </a:prstGeom>
            <a:solidFill>
              <a:srgbClr val="009900"/>
            </a:solidFill>
            <a:ln w="25400">
              <a:miter lim="800000"/>
              <a:headEnd/>
              <a:tailEnd/>
            </a:ln>
            <a:effectLst/>
            <a:scene3d>
              <a:camera prst="legacyPerspectiveBottom"/>
              <a:lightRig rig="legacyFlat3" dir="t"/>
            </a:scene3d>
            <a:sp3d extrusionH="887400" prstMaterial="legacyPlastic">
              <a:bevelT w="13500" h="13500" prst="angle"/>
              <a:bevelB w="13500" h="13500" prst="angle"/>
              <a:extrusionClr>
                <a:srgbClr val="009900"/>
              </a:extrusionClr>
            </a:sp3d>
          </p:spPr>
          <p:txBody>
            <a:bodyPr wrap="none" lIns="62313" tIns="24925" rIns="62313" bIns="24925">
              <a:spAutoFit/>
              <a:flatTx/>
            </a:bodyPr>
            <a:lstStyle/>
            <a:p>
              <a:pPr algn="ctr" defTabSz="896938" eaLnBrk="0" hangingPunct="0">
                <a:lnSpc>
                  <a:spcPct val="92000"/>
                </a:lnSpc>
              </a:pPr>
              <a:r>
                <a:rPr lang="en-US">
                  <a:solidFill>
                    <a:srgbClr val="FFFF00"/>
                  </a:solidFill>
                </a:rPr>
                <a:t>Factor</a:t>
              </a:r>
            </a:p>
            <a:p>
              <a:pPr algn="ctr" defTabSz="896938" eaLnBrk="0" hangingPunct="0">
                <a:lnSpc>
                  <a:spcPct val="92000"/>
                </a:lnSpc>
              </a:pPr>
              <a:r>
                <a:rPr lang="en-US">
                  <a:solidFill>
                    <a:srgbClr val="FFFF00"/>
                  </a:solidFill>
                </a:rPr>
                <a:t>Conditions</a:t>
              </a:r>
            </a:p>
          </p:txBody>
        </p:sp>
        <p:sp>
          <p:nvSpPr>
            <p:cNvPr id="70667" name="Line 11"/>
            <p:cNvSpPr>
              <a:spLocks noChangeShapeType="1"/>
            </p:cNvSpPr>
            <p:nvPr/>
          </p:nvSpPr>
          <p:spPr bwMode="auto">
            <a:xfrm flipV="1">
              <a:off x="2018" y="1669"/>
              <a:ext cx="384" cy="363"/>
            </a:xfrm>
            <a:prstGeom prst="line">
              <a:avLst/>
            </a:prstGeom>
            <a:noFill/>
            <a:ln w="25400">
              <a:solidFill>
                <a:schemeClr val="bg1"/>
              </a:solidFill>
              <a:round/>
              <a:headEnd type="triangle" w="med" len="med"/>
              <a:tailEnd type="triangle" w="med" len="med"/>
            </a:ln>
            <a:effectLst/>
          </p:spPr>
          <p:txBody>
            <a:bodyPr wrap="none" anchor="ctr"/>
            <a:lstStyle/>
            <a:p>
              <a:endParaRPr lang="en-US"/>
            </a:p>
          </p:txBody>
        </p:sp>
        <p:sp>
          <p:nvSpPr>
            <p:cNvPr id="70668" name="Line 12"/>
            <p:cNvSpPr>
              <a:spLocks noChangeShapeType="1"/>
            </p:cNvSpPr>
            <p:nvPr/>
          </p:nvSpPr>
          <p:spPr bwMode="auto">
            <a:xfrm>
              <a:off x="4034" y="1669"/>
              <a:ext cx="400" cy="290"/>
            </a:xfrm>
            <a:prstGeom prst="line">
              <a:avLst/>
            </a:prstGeom>
            <a:noFill/>
            <a:ln w="25400">
              <a:solidFill>
                <a:schemeClr val="bg1"/>
              </a:solidFill>
              <a:round/>
              <a:headEnd type="triangle" w="med" len="med"/>
              <a:tailEnd type="triangle" w="med" len="med"/>
            </a:ln>
            <a:effectLst/>
          </p:spPr>
          <p:txBody>
            <a:bodyPr wrap="none" anchor="ctr"/>
            <a:lstStyle/>
            <a:p>
              <a:endParaRPr lang="en-US"/>
            </a:p>
          </p:txBody>
        </p:sp>
        <p:sp>
          <p:nvSpPr>
            <p:cNvPr id="70669" name="Line 13"/>
            <p:cNvSpPr>
              <a:spLocks noChangeShapeType="1"/>
            </p:cNvSpPr>
            <p:nvPr/>
          </p:nvSpPr>
          <p:spPr bwMode="auto">
            <a:xfrm flipH="1">
              <a:off x="3986" y="2581"/>
              <a:ext cx="502" cy="357"/>
            </a:xfrm>
            <a:prstGeom prst="line">
              <a:avLst/>
            </a:prstGeom>
            <a:noFill/>
            <a:ln w="25400">
              <a:solidFill>
                <a:schemeClr val="bg1"/>
              </a:solidFill>
              <a:round/>
              <a:headEnd type="triangle" w="med" len="med"/>
              <a:tailEnd type="triangle" w="med" len="med"/>
            </a:ln>
            <a:effectLst/>
          </p:spPr>
          <p:txBody>
            <a:bodyPr wrap="none" anchor="ctr"/>
            <a:lstStyle/>
            <a:p>
              <a:endParaRPr lang="en-US"/>
            </a:p>
          </p:txBody>
        </p:sp>
        <p:sp>
          <p:nvSpPr>
            <p:cNvPr id="70670" name="Line 14"/>
            <p:cNvSpPr>
              <a:spLocks noChangeShapeType="1"/>
            </p:cNvSpPr>
            <p:nvPr/>
          </p:nvSpPr>
          <p:spPr bwMode="auto">
            <a:xfrm flipH="1" flipV="1">
              <a:off x="2066" y="2581"/>
              <a:ext cx="458" cy="414"/>
            </a:xfrm>
            <a:prstGeom prst="line">
              <a:avLst/>
            </a:prstGeom>
            <a:noFill/>
            <a:ln w="25400">
              <a:solidFill>
                <a:schemeClr val="bg1"/>
              </a:solidFill>
              <a:round/>
              <a:headEnd type="triangle" w="med" len="med"/>
              <a:tailEnd type="triangle" w="med" len="med"/>
            </a:ln>
            <a:effectLst/>
          </p:spPr>
          <p:txBody>
            <a:bodyPr wrap="none" anchor="ctr"/>
            <a:lstStyle/>
            <a:p>
              <a:endParaRPr lang="en-US"/>
            </a:p>
          </p:txBody>
        </p:sp>
        <p:grpSp>
          <p:nvGrpSpPr>
            <p:cNvPr id="70680" name="Group 24"/>
            <p:cNvGrpSpPr>
              <a:grpSpLocks/>
            </p:cNvGrpSpPr>
            <p:nvPr/>
          </p:nvGrpSpPr>
          <p:grpSpPr bwMode="auto">
            <a:xfrm>
              <a:off x="2400" y="2064"/>
              <a:ext cx="1536" cy="720"/>
              <a:chOff x="2402" y="1909"/>
              <a:chExt cx="1536" cy="720"/>
            </a:xfrm>
          </p:grpSpPr>
          <p:sp>
            <p:nvSpPr>
              <p:cNvPr id="70672" name="Line 16"/>
              <p:cNvSpPr>
                <a:spLocks noChangeShapeType="1"/>
              </p:cNvSpPr>
              <p:nvPr/>
            </p:nvSpPr>
            <p:spPr bwMode="auto">
              <a:xfrm>
                <a:off x="3170" y="1909"/>
                <a:ext cx="0" cy="720"/>
              </a:xfrm>
              <a:prstGeom prst="line">
                <a:avLst/>
              </a:prstGeom>
              <a:noFill/>
              <a:ln w="25400">
                <a:solidFill>
                  <a:schemeClr val="bg1"/>
                </a:solidFill>
                <a:round/>
                <a:headEnd type="triangle" w="med" len="med"/>
                <a:tailEnd type="triangle" w="med" len="med"/>
              </a:ln>
              <a:effectLst/>
              <a:scene3d>
                <a:camera prst="legacyObliqueTopRight"/>
                <a:lightRig rig="legacyFlat3" dir="b"/>
              </a:scene3d>
              <a:sp3d extrusionH="430200" prstMaterial="legacyPlastic">
                <a:bevelT w="13500" h="13500" prst="angle"/>
                <a:bevelB w="13500" h="13500" prst="angle"/>
                <a:extrusionClr>
                  <a:schemeClr val="bg1"/>
                </a:extrusionClr>
              </a:sp3d>
            </p:spPr>
            <p:txBody>
              <a:bodyPr wrap="none" anchor="ctr">
                <a:flatTx/>
              </a:bodyPr>
              <a:lstStyle/>
              <a:p>
                <a:endParaRPr lang="en-US"/>
              </a:p>
            </p:txBody>
          </p:sp>
          <p:sp>
            <p:nvSpPr>
              <p:cNvPr id="70671" name="Line 15"/>
              <p:cNvSpPr>
                <a:spLocks noChangeShapeType="1"/>
              </p:cNvSpPr>
              <p:nvPr/>
            </p:nvSpPr>
            <p:spPr bwMode="auto">
              <a:xfrm flipV="1">
                <a:off x="2402" y="2293"/>
                <a:ext cx="1536" cy="0"/>
              </a:xfrm>
              <a:prstGeom prst="line">
                <a:avLst/>
              </a:prstGeom>
              <a:noFill/>
              <a:ln w="25400">
                <a:solidFill>
                  <a:schemeClr val="bg1"/>
                </a:solidFill>
                <a:round/>
                <a:headEnd type="triangle" w="med" len="med"/>
                <a:tailEnd type="triangle" w="med" len="med"/>
              </a:ln>
              <a:effectLst/>
              <a:scene3d>
                <a:camera prst="legacyObliqueTopRight"/>
                <a:lightRig rig="legacyFlat3" dir="b"/>
              </a:scene3d>
              <a:sp3d extrusionH="430200" prstMaterial="legacyPlastic">
                <a:bevelT w="13500" h="13500" prst="angle"/>
                <a:bevelB w="13500" h="13500" prst="angle"/>
                <a:extrusionClr>
                  <a:schemeClr val="bg1"/>
                </a:extrusionClr>
              </a:sp3d>
            </p:spPr>
            <p:txBody>
              <a:bodyPr wrap="none" anchor="ctr">
                <a:flatTx/>
              </a:bodyPr>
              <a:lstStyle/>
              <a:p>
                <a:endParaRPr lang="en-US"/>
              </a:p>
            </p:txBody>
          </p:sp>
        </p:grpSp>
        <p:sp>
          <p:nvSpPr>
            <p:cNvPr id="70674" name="Rectangle 18"/>
            <p:cNvSpPr>
              <a:spLocks noChangeArrowheads="1"/>
            </p:cNvSpPr>
            <p:nvPr/>
          </p:nvSpPr>
          <p:spPr bwMode="auto">
            <a:xfrm>
              <a:off x="238" y="988"/>
              <a:ext cx="841" cy="271"/>
            </a:xfrm>
            <a:prstGeom prst="rect">
              <a:avLst/>
            </a:prstGeom>
            <a:solidFill>
              <a:schemeClr val="bg1"/>
            </a:solidFill>
            <a:ln w="25400">
              <a:solidFill>
                <a:schemeClr val="tx2"/>
              </a:solidFill>
              <a:miter lim="800000"/>
              <a:headEnd/>
              <a:tailEnd/>
            </a:ln>
            <a:effectLst/>
          </p:spPr>
          <p:txBody>
            <a:bodyPr wrap="none" lIns="62313" tIns="24925" rIns="62313" bIns="24925">
              <a:spAutoFit/>
            </a:bodyPr>
            <a:lstStyle/>
            <a:p>
              <a:pPr algn="ctr" defTabSz="896938" eaLnBrk="0" hangingPunct="0">
                <a:lnSpc>
                  <a:spcPct val="97000"/>
                </a:lnSpc>
              </a:pPr>
              <a:r>
                <a:rPr lang="en-US" sz="2400" b="1">
                  <a:solidFill>
                    <a:schemeClr val="tx2"/>
                  </a:solidFill>
                  <a:effectLst>
                    <a:outerShdw blurRad="38100" dist="38100" dir="2700000" algn="tl">
                      <a:srgbClr val="C0C0C0"/>
                    </a:outerShdw>
                  </a:effectLst>
                  <a:latin typeface="Century Schoolbook" pitchFamily="18" charset="0"/>
                </a:rPr>
                <a:t>Chance</a:t>
              </a:r>
              <a:endParaRPr lang="en-US" sz="2400" b="1">
                <a:effectLst>
                  <a:outerShdw blurRad="38100" dist="38100" dir="2700000" algn="tl">
                    <a:srgbClr val="C0C0C0"/>
                  </a:outerShdw>
                </a:effectLst>
                <a:latin typeface="Century Schoolbook" pitchFamily="18" charset="0"/>
              </a:endParaRPr>
            </a:p>
          </p:txBody>
        </p:sp>
        <p:sp>
          <p:nvSpPr>
            <p:cNvPr id="70675" name="Line 19"/>
            <p:cNvSpPr>
              <a:spLocks noChangeShapeType="1"/>
            </p:cNvSpPr>
            <p:nvPr/>
          </p:nvSpPr>
          <p:spPr bwMode="auto">
            <a:xfrm>
              <a:off x="694" y="1258"/>
              <a:ext cx="452" cy="394"/>
            </a:xfrm>
            <a:prstGeom prst="line">
              <a:avLst/>
            </a:prstGeom>
            <a:noFill/>
            <a:ln w="25400">
              <a:solidFill>
                <a:schemeClr val="bg1"/>
              </a:solidFill>
              <a:round/>
              <a:headEnd/>
              <a:tailEnd type="triangle" w="med" len="med"/>
            </a:ln>
            <a:effectLst/>
          </p:spPr>
          <p:txBody>
            <a:bodyPr wrap="none" anchor="ctr"/>
            <a:lstStyle/>
            <a:p>
              <a:endParaRPr lang="en-US"/>
            </a:p>
          </p:txBody>
        </p:sp>
        <p:sp>
          <p:nvSpPr>
            <p:cNvPr id="70676" name="Text Box 20"/>
            <p:cNvSpPr txBox="1">
              <a:spLocks noChangeArrowheads="1"/>
            </p:cNvSpPr>
            <p:nvPr/>
          </p:nvSpPr>
          <p:spPr bwMode="auto">
            <a:xfrm>
              <a:off x="0" y="1824"/>
              <a:ext cx="1296" cy="1018"/>
            </a:xfrm>
            <a:prstGeom prst="rect">
              <a:avLst/>
            </a:prstGeom>
            <a:noFill/>
            <a:ln w="9525">
              <a:noFill/>
              <a:miter lim="800000"/>
              <a:headEnd/>
              <a:tailEnd/>
            </a:ln>
            <a:effectLst/>
          </p:spPr>
          <p:txBody>
            <a:bodyPr>
              <a:spAutoFit/>
            </a:bodyPr>
            <a:lstStyle/>
            <a:p>
              <a:pPr eaLnBrk="0" hangingPunct="0">
                <a:spcBef>
                  <a:spcPct val="50000"/>
                </a:spcBef>
              </a:pPr>
              <a:r>
                <a:rPr lang="en-US" sz="2000">
                  <a:solidFill>
                    <a:srgbClr val="FFFF00"/>
                  </a:solidFill>
                </a:rPr>
                <a:t>Two external factors that influence the four determinants. </a:t>
              </a:r>
            </a:p>
          </p:txBody>
        </p:sp>
      </p:grpSp>
      <p:sp>
        <p:nvSpPr>
          <p:cNvPr id="70682" name="Text Box 26"/>
          <p:cNvSpPr txBox="1">
            <a:spLocks noChangeArrowheads="1"/>
          </p:cNvSpPr>
          <p:nvPr/>
        </p:nvSpPr>
        <p:spPr bwMode="auto">
          <a:xfrm>
            <a:off x="8305800" y="152400"/>
            <a:ext cx="609600" cy="304800"/>
          </a:xfrm>
          <a:prstGeom prst="rect">
            <a:avLst/>
          </a:prstGeom>
          <a:noFill/>
          <a:ln w="9525">
            <a:noFill/>
            <a:miter lim="800000"/>
            <a:headEnd/>
            <a:tailEnd/>
          </a:ln>
          <a:effectLst/>
        </p:spPr>
        <p:txBody>
          <a:bodyPr>
            <a:spAutoFit/>
          </a:bodyPr>
          <a:lstStyle/>
          <a:p>
            <a:pPr>
              <a:spcBef>
                <a:spcPct val="50000"/>
              </a:spcBef>
            </a:pPr>
            <a:r>
              <a:rPr lang="en-US" sz="1400">
                <a:solidFill>
                  <a:schemeClr val="bg1"/>
                </a:solidFill>
              </a:rPr>
              <a:t>4-32</a:t>
            </a:r>
          </a:p>
        </p:txBody>
      </p:sp>
      <p:grpSp>
        <p:nvGrpSpPr>
          <p:cNvPr id="70683" name="Group 27"/>
          <p:cNvGrpSpPr>
            <a:grpSpLocks/>
          </p:cNvGrpSpPr>
          <p:nvPr/>
        </p:nvGrpSpPr>
        <p:grpSpPr bwMode="auto">
          <a:xfrm>
            <a:off x="142875" y="6553200"/>
            <a:ext cx="9001125" cy="280988"/>
            <a:chOff x="90" y="4128"/>
            <a:chExt cx="6102" cy="161"/>
          </a:xfrm>
        </p:grpSpPr>
        <p:sp>
          <p:nvSpPr>
            <p:cNvPr id="70684" name="Rectangle 28"/>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70685" name="Text Box 29"/>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609600" y="381000"/>
            <a:ext cx="7772400" cy="838200"/>
          </a:xfrm>
          <a:ln/>
        </p:spPr>
        <p:txBody>
          <a:bodyPr lIns="90488" tIns="44450" rIns="90488" bIns="44450" anchor="ctr"/>
          <a:lstStyle/>
          <a:p>
            <a:r>
              <a:rPr lang="en-US" sz="3600"/>
              <a:t>Factor Endowments</a:t>
            </a:r>
          </a:p>
        </p:txBody>
      </p:sp>
      <p:sp>
        <p:nvSpPr>
          <p:cNvPr id="71683" name="Rectangle 3"/>
          <p:cNvSpPr>
            <a:spLocks noGrp="1" noChangeArrowheads="1"/>
          </p:cNvSpPr>
          <p:nvPr>
            <p:ph type="body" idx="1"/>
          </p:nvPr>
        </p:nvSpPr>
        <p:spPr>
          <a:xfrm>
            <a:off x="1143000" y="1371600"/>
            <a:ext cx="4419600" cy="4953000"/>
          </a:xfrm>
          <a:solidFill>
            <a:srgbClr val="EAEAEA"/>
          </a:solidFill>
          <a:ln/>
        </p:spPr>
        <p:txBody>
          <a:bodyPr lIns="90488" tIns="44450" rIns="90488" bIns="44450"/>
          <a:lstStyle/>
          <a:p>
            <a:pPr>
              <a:lnSpc>
                <a:spcPct val="90000"/>
              </a:lnSpc>
            </a:pPr>
            <a:r>
              <a:rPr lang="en-US" sz="2300">
                <a:solidFill>
                  <a:srgbClr val="003399"/>
                </a:solidFill>
              </a:rPr>
              <a:t>Taken from Heckscher-Olin</a:t>
            </a:r>
          </a:p>
          <a:p>
            <a:pPr>
              <a:lnSpc>
                <a:spcPct val="90000"/>
              </a:lnSpc>
            </a:pPr>
            <a:r>
              <a:rPr lang="en-US" sz="2300" u="sng">
                <a:solidFill>
                  <a:srgbClr val="003399"/>
                </a:solidFill>
              </a:rPr>
              <a:t>Basic factors</a:t>
            </a:r>
            <a:r>
              <a:rPr lang="en-US" sz="2300">
                <a:solidFill>
                  <a:srgbClr val="003399"/>
                </a:solidFill>
              </a:rPr>
              <a:t>:</a:t>
            </a:r>
          </a:p>
          <a:p>
            <a:pPr lvl="1">
              <a:lnSpc>
                <a:spcPct val="90000"/>
              </a:lnSpc>
            </a:pPr>
            <a:r>
              <a:rPr lang="en-US" sz="2500">
                <a:solidFill>
                  <a:srgbClr val="003399"/>
                </a:solidFill>
              </a:rPr>
              <a:t>natural resources</a:t>
            </a:r>
          </a:p>
          <a:p>
            <a:pPr lvl="1">
              <a:lnSpc>
                <a:spcPct val="90000"/>
              </a:lnSpc>
            </a:pPr>
            <a:r>
              <a:rPr lang="en-US" sz="2500">
                <a:solidFill>
                  <a:srgbClr val="003399"/>
                </a:solidFill>
              </a:rPr>
              <a:t>climate</a:t>
            </a:r>
          </a:p>
          <a:p>
            <a:pPr lvl="1">
              <a:lnSpc>
                <a:spcPct val="90000"/>
              </a:lnSpc>
            </a:pPr>
            <a:r>
              <a:rPr lang="en-US" sz="2500">
                <a:solidFill>
                  <a:srgbClr val="003399"/>
                </a:solidFill>
              </a:rPr>
              <a:t>location</a:t>
            </a:r>
          </a:p>
          <a:p>
            <a:pPr lvl="1">
              <a:lnSpc>
                <a:spcPct val="90000"/>
              </a:lnSpc>
            </a:pPr>
            <a:r>
              <a:rPr lang="en-US" sz="2500">
                <a:solidFill>
                  <a:srgbClr val="003399"/>
                </a:solidFill>
              </a:rPr>
              <a:t>demographics</a:t>
            </a:r>
          </a:p>
          <a:p>
            <a:pPr>
              <a:lnSpc>
                <a:spcPct val="90000"/>
              </a:lnSpc>
            </a:pPr>
            <a:r>
              <a:rPr lang="en-US" sz="2300" u="sng">
                <a:solidFill>
                  <a:srgbClr val="003399"/>
                </a:solidFill>
              </a:rPr>
              <a:t>Advanced factors:</a:t>
            </a:r>
          </a:p>
          <a:p>
            <a:pPr lvl="1">
              <a:lnSpc>
                <a:spcPct val="90000"/>
              </a:lnSpc>
            </a:pPr>
            <a:r>
              <a:rPr lang="en-US" sz="2500">
                <a:solidFill>
                  <a:srgbClr val="003399"/>
                </a:solidFill>
              </a:rPr>
              <a:t>communications</a:t>
            </a:r>
          </a:p>
          <a:p>
            <a:pPr lvl="1">
              <a:lnSpc>
                <a:spcPct val="90000"/>
              </a:lnSpc>
            </a:pPr>
            <a:r>
              <a:rPr lang="en-US" sz="2500">
                <a:solidFill>
                  <a:srgbClr val="003399"/>
                </a:solidFill>
              </a:rPr>
              <a:t>skilled labor</a:t>
            </a:r>
          </a:p>
          <a:p>
            <a:pPr lvl="1">
              <a:lnSpc>
                <a:spcPct val="90000"/>
              </a:lnSpc>
            </a:pPr>
            <a:r>
              <a:rPr lang="en-US" sz="2500">
                <a:solidFill>
                  <a:srgbClr val="003399"/>
                </a:solidFill>
              </a:rPr>
              <a:t>research</a:t>
            </a:r>
          </a:p>
          <a:p>
            <a:pPr lvl="1">
              <a:lnSpc>
                <a:spcPct val="90000"/>
              </a:lnSpc>
            </a:pPr>
            <a:r>
              <a:rPr lang="en-US" sz="2500">
                <a:solidFill>
                  <a:srgbClr val="003399"/>
                </a:solidFill>
              </a:rPr>
              <a:t>technology</a:t>
            </a:r>
          </a:p>
        </p:txBody>
      </p:sp>
      <p:graphicFrame>
        <p:nvGraphicFramePr>
          <p:cNvPr id="71684" name="Object 4"/>
          <p:cNvGraphicFramePr>
            <a:graphicFrameLocks noChangeAspect="1"/>
          </p:cNvGraphicFramePr>
          <p:nvPr/>
        </p:nvGraphicFramePr>
        <p:xfrm>
          <a:off x="6096000" y="2209800"/>
          <a:ext cx="1685925" cy="1812925"/>
        </p:xfrm>
        <a:graphic>
          <a:graphicData uri="http://schemas.openxmlformats.org/presentationml/2006/ole">
            <p:oleObj spid="_x0000_s71684" name="Clip" r:id="rId3" imgW="1686600" imgH="1812960" progId="MS_ClipArt_Gallery.2">
              <p:embed/>
            </p:oleObj>
          </a:graphicData>
        </a:graphic>
      </p:graphicFrame>
      <p:graphicFrame>
        <p:nvGraphicFramePr>
          <p:cNvPr id="71685" name="Object 5"/>
          <p:cNvGraphicFramePr>
            <a:graphicFrameLocks noChangeAspect="1"/>
          </p:cNvGraphicFramePr>
          <p:nvPr/>
        </p:nvGraphicFramePr>
        <p:xfrm>
          <a:off x="6248400" y="4419600"/>
          <a:ext cx="1577975" cy="1820863"/>
        </p:xfrm>
        <a:graphic>
          <a:graphicData uri="http://schemas.openxmlformats.org/presentationml/2006/ole">
            <p:oleObj spid="_x0000_s71685" name="Clip" r:id="rId4" imgW="1578960" imgH="1820880" progId="MS_ClipArt_Gallery.2">
              <p:embed/>
            </p:oleObj>
          </a:graphicData>
        </a:graphic>
      </p:graphicFrame>
      <p:sp>
        <p:nvSpPr>
          <p:cNvPr id="71688" name="Text Box 8"/>
          <p:cNvSpPr txBox="1">
            <a:spLocks noChangeArrowheads="1"/>
          </p:cNvSpPr>
          <p:nvPr/>
        </p:nvSpPr>
        <p:spPr bwMode="auto">
          <a:xfrm>
            <a:off x="8305800" y="152400"/>
            <a:ext cx="609600" cy="304800"/>
          </a:xfrm>
          <a:prstGeom prst="rect">
            <a:avLst/>
          </a:prstGeom>
          <a:noFill/>
          <a:ln w="9525">
            <a:noFill/>
            <a:miter lim="800000"/>
            <a:headEnd/>
            <a:tailEnd/>
          </a:ln>
          <a:effectLst/>
        </p:spPr>
        <p:txBody>
          <a:bodyPr>
            <a:spAutoFit/>
          </a:bodyPr>
          <a:lstStyle/>
          <a:p>
            <a:pPr>
              <a:spcBef>
                <a:spcPct val="50000"/>
              </a:spcBef>
            </a:pPr>
            <a:r>
              <a:rPr lang="en-US" sz="1400">
                <a:solidFill>
                  <a:schemeClr val="bg1"/>
                </a:solidFill>
              </a:rPr>
              <a:t>4-33</a:t>
            </a:r>
          </a:p>
        </p:txBody>
      </p:sp>
      <p:grpSp>
        <p:nvGrpSpPr>
          <p:cNvPr id="71689" name="Group 9"/>
          <p:cNvGrpSpPr>
            <a:grpSpLocks/>
          </p:cNvGrpSpPr>
          <p:nvPr/>
        </p:nvGrpSpPr>
        <p:grpSpPr bwMode="auto">
          <a:xfrm>
            <a:off x="142875" y="6553200"/>
            <a:ext cx="9001125" cy="280988"/>
            <a:chOff x="90" y="4128"/>
            <a:chExt cx="6102" cy="161"/>
          </a:xfrm>
        </p:grpSpPr>
        <p:sp>
          <p:nvSpPr>
            <p:cNvPr id="71690" name="Rectangle 10"/>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71691" name="Text Box 11"/>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609600" y="1447800"/>
            <a:ext cx="7772400" cy="838200"/>
          </a:xfrm>
          <a:ln/>
        </p:spPr>
        <p:txBody>
          <a:bodyPr lIns="90488" tIns="44450" rIns="90488" bIns="44450" anchor="ctr"/>
          <a:lstStyle/>
          <a:p>
            <a:r>
              <a:rPr lang="en-US" sz="3600"/>
              <a:t>Advanced Factor Endowments</a:t>
            </a:r>
          </a:p>
        </p:txBody>
      </p:sp>
      <p:sp>
        <p:nvSpPr>
          <p:cNvPr id="72707" name="Rectangle 3"/>
          <p:cNvSpPr>
            <a:spLocks noGrp="1" noChangeArrowheads="1"/>
          </p:cNvSpPr>
          <p:nvPr>
            <p:ph type="body" idx="1"/>
          </p:nvPr>
        </p:nvSpPr>
        <p:spPr>
          <a:xfrm>
            <a:off x="1143000" y="2819400"/>
            <a:ext cx="6856413" cy="1858963"/>
          </a:xfrm>
          <a:solidFill>
            <a:srgbClr val="EAEAEA"/>
          </a:solidFill>
          <a:ln/>
        </p:spPr>
        <p:txBody>
          <a:bodyPr lIns="90488" tIns="44450" rIns="90488" bIns="44450"/>
          <a:lstStyle/>
          <a:p>
            <a:r>
              <a:rPr lang="en-US">
                <a:solidFill>
                  <a:srgbClr val="003399"/>
                </a:solidFill>
              </a:rPr>
              <a:t>More likely to lead to competitive advantage.</a:t>
            </a:r>
          </a:p>
          <a:p>
            <a:r>
              <a:rPr lang="en-US">
                <a:solidFill>
                  <a:srgbClr val="003399"/>
                </a:solidFill>
              </a:rPr>
              <a:t>Are the result of investment by people, companies, government.</a:t>
            </a:r>
          </a:p>
        </p:txBody>
      </p:sp>
      <p:sp>
        <p:nvSpPr>
          <p:cNvPr id="72710" name="Text Box 6"/>
          <p:cNvSpPr txBox="1">
            <a:spLocks noChangeArrowheads="1"/>
          </p:cNvSpPr>
          <p:nvPr/>
        </p:nvSpPr>
        <p:spPr bwMode="auto">
          <a:xfrm>
            <a:off x="8305800" y="152400"/>
            <a:ext cx="609600" cy="304800"/>
          </a:xfrm>
          <a:prstGeom prst="rect">
            <a:avLst/>
          </a:prstGeom>
          <a:noFill/>
          <a:ln w="9525">
            <a:noFill/>
            <a:miter lim="800000"/>
            <a:headEnd/>
            <a:tailEnd/>
          </a:ln>
          <a:effectLst/>
        </p:spPr>
        <p:txBody>
          <a:bodyPr>
            <a:spAutoFit/>
          </a:bodyPr>
          <a:lstStyle/>
          <a:p>
            <a:pPr>
              <a:spcBef>
                <a:spcPct val="50000"/>
              </a:spcBef>
            </a:pPr>
            <a:r>
              <a:rPr lang="en-US" sz="1400">
                <a:solidFill>
                  <a:schemeClr val="bg1"/>
                </a:solidFill>
              </a:rPr>
              <a:t>4-34</a:t>
            </a:r>
          </a:p>
        </p:txBody>
      </p:sp>
      <p:grpSp>
        <p:nvGrpSpPr>
          <p:cNvPr id="72711" name="Group 7"/>
          <p:cNvGrpSpPr>
            <a:grpSpLocks/>
          </p:cNvGrpSpPr>
          <p:nvPr/>
        </p:nvGrpSpPr>
        <p:grpSpPr bwMode="auto">
          <a:xfrm>
            <a:off x="142875" y="6553200"/>
            <a:ext cx="9001125" cy="280988"/>
            <a:chOff x="90" y="4128"/>
            <a:chExt cx="6102" cy="161"/>
          </a:xfrm>
        </p:grpSpPr>
        <p:sp>
          <p:nvSpPr>
            <p:cNvPr id="72712" name="Rectangle 8"/>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72713" name="Text Box 9"/>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685800" y="1371600"/>
            <a:ext cx="7772400" cy="1143000"/>
          </a:xfrm>
          <a:ln/>
        </p:spPr>
        <p:txBody>
          <a:bodyPr lIns="90488" tIns="44450" rIns="90488" bIns="44450" anchor="ctr"/>
          <a:lstStyle/>
          <a:p>
            <a:r>
              <a:rPr lang="en-US" sz="3500"/>
              <a:t>Relationship of Basic to Advanced Factors</a:t>
            </a:r>
          </a:p>
        </p:txBody>
      </p:sp>
      <p:sp>
        <p:nvSpPr>
          <p:cNvPr id="73731" name="Rectangle 3"/>
          <p:cNvSpPr>
            <a:spLocks noGrp="1" noChangeArrowheads="1"/>
          </p:cNvSpPr>
          <p:nvPr>
            <p:ph type="body" idx="1"/>
          </p:nvPr>
        </p:nvSpPr>
        <p:spPr>
          <a:xfrm>
            <a:off x="457200" y="2946400"/>
            <a:ext cx="8382000" cy="2235200"/>
          </a:xfrm>
          <a:solidFill>
            <a:srgbClr val="EAEAEA"/>
          </a:solidFill>
          <a:ln/>
        </p:spPr>
        <p:txBody>
          <a:bodyPr lIns="90488" tIns="44450" rIns="90488" bIns="44450"/>
          <a:lstStyle/>
          <a:p>
            <a:r>
              <a:rPr lang="en-US">
                <a:solidFill>
                  <a:srgbClr val="003399"/>
                </a:solidFill>
              </a:rPr>
              <a:t>Basic can provide an initial advantage.</a:t>
            </a:r>
          </a:p>
          <a:p>
            <a:r>
              <a:rPr lang="en-US">
                <a:solidFill>
                  <a:srgbClr val="003399"/>
                </a:solidFill>
              </a:rPr>
              <a:t>Must be supported by advanced factors to maintain success.</a:t>
            </a:r>
          </a:p>
          <a:p>
            <a:r>
              <a:rPr lang="en-US">
                <a:solidFill>
                  <a:srgbClr val="003399"/>
                </a:solidFill>
              </a:rPr>
              <a:t>No basics,</a:t>
            </a:r>
            <a:r>
              <a:rPr lang="en-US"/>
              <a:t> </a:t>
            </a:r>
            <a:r>
              <a:rPr lang="en-US">
                <a:solidFill>
                  <a:schemeClr val="hlink"/>
                </a:solidFill>
              </a:rPr>
              <a:t>then must</a:t>
            </a:r>
            <a:r>
              <a:rPr lang="en-US"/>
              <a:t> </a:t>
            </a:r>
            <a:r>
              <a:rPr lang="en-US">
                <a:solidFill>
                  <a:srgbClr val="003399"/>
                </a:solidFill>
              </a:rPr>
              <a:t>invest in advanced factors.</a:t>
            </a:r>
          </a:p>
        </p:txBody>
      </p:sp>
      <p:sp>
        <p:nvSpPr>
          <p:cNvPr id="73734" name="Text Box 6"/>
          <p:cNvSpPr txBox="1">
            <a:spLocks noChangeArrowheads="1"/>
          </p:cNvSpPr>
          <p:nvPr/>
        </p:nvSpPr>
        <p:spPr bwMode="auto">
          <a:xfrm>
            <a:off x="8305800" y="152400"/>
            <a:ext cx="609600" cy="304800"/>
          </a:xfrm>
          <a:prstGeom prst="rect">
            <a:avLst/>
          </a:prstGeom>
          <a:noFill/>
          <a:ln w="9525">
            <a:noFill/>
            <a:miter lim="800000"/>
            <a:headEnd/>
            <a:tailEnd/>
          </a:ln>
          <a:effectLst/>
        </p:spPr>
        <p:txBody>
          <a:bodyPr>
            <a:spAutoFit/>
          </a:bodyPr>
          <a:lstStyle/>
          <a:p>
            <a:pPr>
              <a:spcBef>
                <a:spcPct val="50000"/>
              </a:spcBef>
            </a:pPr>
            <a:r>
              <a:rPr lang="en-US" sz="1400">
                <a:solidFill>
                  <a:schemeClr val="bg1"/>
                </a:solidFill>
              </a:rPr>
              <a:t>4-35</a:t>
            </a:r>
          </a:p>
        </p:txBody>
      </p:sp>
      <p:grpSp>
        <p:nvGrpSpPr>
          <p:cNvPr id="73735" name="Group 7"/>
          <p:cNvGrpSpPr>
            <a:grpSpLocks/>
          </p:cNvGrpSpPr>
          <p:nvPr/>
        </p:nvGrpSpPr>
        <p:grpSpPr bwMode="auto">
          <a:xfrm>
            <a:off x="142875" y="6553200"/>
            <a:ext cx="9001125" cy="280988"/>
            <a:chOff x="90" y="4128"/>
            <a:chExt cx="6102" cy="161"/>
          </a:xfrm>
        </p:grpSpPr>
        <p:sp>
          <p:nvSpPr>
            <p:cNvPr id="73736" name="Rectangle 8"/>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73737" name="Text Box 9"/>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754" name="Rectangle 1026"/>
          <p:cNvSpPr>
            <a:spLocks noGrp="1" noChangeArrowheads="1"/>
          </p:cNvSpPr>
          <p:nvPr>
            <p:ph type="title"/>
          </p:nvPr>
        </p:nvSpPr>
        <p:spPr>
          <a:xfrm>
            <a:off x="990600" y="838200"/>
            <a:ext cx="6553200" cy="914400"/>
          </a:xfrm>
          <a:ln/>
        </p:spPr>
        <p:txBody>
          <a:bodyPr lIns="90488" tIns="44450" rIns="90488" bIns="44450" anchor="ctr"/>
          <a:lstStyle/>
          <a:p>
            <a:r>
              <a:rPr lang="en-US" sz="3500"/>
              <a:t>Demand Conditions</a:t>
            </a:r>
          </a:p>
        </p:txBody>
      </p:sp>
      <p:sp>
        <p:nvSpPr>
          <p:cNvPr id="74755" name="Rectangle 1027"/>
          <p:cNvSpPr>
            <a:spLocks noGrp="1" noChangeArrowheads="1"/>
          </p:cNvSpPr>
          <p:nvPr>
            <p:ph type="body" idx="1"/>
          </p:nvPr>
        </p:nvSpPr>
        <p:spPr>
          <a:xfrm>
            <a:off x="533400" y="1905000"/>
            <a:ext cx="6477000" cy="2133600"/>
          </a:xfrm>
          <a:solidFill>
            <a:srgbClr val="EAEAEA"/>
          </a:solidFill>
          <a:ln/>
        </p:spPr>
        <p:txBody>
          <a:bodyPr lIns="90488" tIns="44450" rIns="90488" bIns="44450"/>
          <a:lstStyle/>
          <a:p>
            <a:r>
              <a:rPr lang="en-US">
                <a:solidFill>
                  <a:srgbClr val="003399"/>
                </a:solidFill>
              </a:rPr>
              <a:t>Demand creates the capabilities.</a:t>
            </a:r>
          </a:p>
          <a:p>
            <a:r>
              <a:rPr lang="en-US">
                <a:solidFill>
                  <a:srgbClr val="003399"/>
                </a:solidFill>
              </a:rPr>
              <a:t>Look for sophisticated and demanding consumers.</a:t>
            </a:r>
          </a:p>
          <a:p>
            <a:pPr lvl="1"/>
            <a:r>
              <a:rPr lang="en-US">
                <a:solidFill>
                  <a:srgbClr val="003399"/>
                </a:solidFill>
              </a:rPr>
              <a:t>impacts quality and innovation.</a:t>
            </a:r>
          </a:p>
        </p:txBody>
      </p:sp>
      <p:graphicFrame>
        <p:nvGraphicFramePr>
          <p:cNvPr id="74758" name="Object 1030"/>
          <p:cNvGraphicFramePr>
            <a:graphicFrameLocks noChangeAspect="1"/>
          </p:cNvGraphicFramePr>
          <p:nvPr/>
        </p:nvGraphicFramePr>
        <p:xfrm>
          <a:off x="4724400" y="3733800"/>
          <a:ext cx="4133850" cy="2327275"/>
        </p:xfrm>
        <a:graphic>
          <a:graphicData uri="http://schemas.openxmlformats.org/presentationml/2006/ole">
            <p:oleObj spid="_x0000_s74758" name="Clip" r:id="rId3" imgW="4590000" imgH="2584800" progId="MS_ClipArt_Gallery.2">
              <p:embed/>
            </p:oleObj>
          </a:graphicData>
        </a:graphic>
      </p:graphicFrame>
      <p:sp>
        <p:nvSpPr>
          <p:cNvPr id="74759" name="Text Box 1031"/>
          <p:cNvSpPr txBox="1">
            <a:spLocks noChangeArrowheads="1"/>
          </p:cNvSpPr>
          <p:nvPr/>
        </p:nvSpPr>
        <p:spPr bwMode="auto">
          <a:xfrm>
            <a:off x="8305800" y="152400"/>
            <a:ext cx="609600" cy="304800"/>
          </a:xfrm>
          <a:prstGeom prst="rect">
            <a:avLst/>
          </a:prstGeom>
          <a:noFill/>
          <a:ln w="9525">
            <a:noFill/>
            <a:miter lim="800000"/>
            <a:headEnd/>
            <a:tailEnd/>
          </a:ln>
          <a:effectLst/>
        </p:spPr>
        <p:txBody>
          <a:bodyPr>
            <a:spAutoFit/>
          </a:bodyPr>
          <a:lstStyle/>
          <a:p>
            <a:pPr>
              <a:spcBef>
                <a:spcPct val="50000"/>
              </a:spcBef>
            </a:pPr>
            <a:r>
              <a:rPr lang="en-US" sz="1400">
                <a:solidFill>
                  <a:schemeClr val="bg1"/>
                </a:solidFill>
              </a:rPr>
              <a:t>4-36</a:t>
            </a:r>
          </a:p>
        </p:txBody>
      </p:sp>
      <p:grpSp>
        <p:nvGrpSpPr>
          <p:cNvPr id="74760" name="Group 1032"/>
          <p:cNvGrpSpPr>
            <a:grpSpLocks/>
          </p:cNvGrpSpPr>
          <p:nvPr/>
        </p:nvGrpSpPr>
        <p:grpSpPr bwMode="auto">
          <a:xfrm>
            <a:off x="142875" y="6553200"/>
            <a:ext cx="9001125" cy="280988"/>
            <a:chOff x="90" y="4128"/>
            <a:chExt cx="6102" cy="161"/>
          </a:xfrm>
        </p:grpSpPr>
        <p:sp>
          <p:nvSpPr>
            <p:cNvPr id="74761" name="Rectangle 1033"/>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74762" name="Text Box 1034"/>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685800" y="914400"/>
            <a:ext cx="7772400" cy="914400"/>
          </a:xfrm>
          <a:ln w="12700"/>
        </p:spPr>
        <p:txBody>
          <a:bodyPr lIns="90488" tIns="44450" rIns="90488" bIns="44450" anchor="ctr"/>
          <a:lstStyle/>
          <a:p>
            <a:r>
              <a:rPr lang="en-US" sz="3500"/>
              <a:t>Related and Supporting Industries</a:t>
            </a:r>
          </a:p>
        </p:txBody>
      </p:sp>
      <p:sp>
        <p:nvSpPr>
          <p:cNvPr id="75779" name="Rectangle 3"/>
          <p:cNvSpPr>
            <a:spLocks noGrp="1" noChangeArrowheads="1"/>
          </p:cNvSpPr>
          <p:nvPr>
            <p:ph type="body" idx="1"/>
          </p:nvPr>
        </p:nvSpPr>
        <p:spPr>
          <a:xfrm>
            <a:off x="457200" y="2141538"/>
            <a:ext cx="8382000" cy="1820862"/>
          </a:xfrm>
          <a:solidFill>
            <a:srgbClr val="EAEAEA"/>
          </a:solidFill>
          <a:ln/>
        </p:spPr>
        <p:txBody>
          <a:bodyPr lIns="90488" tIns="44450" rIns="90488" bIns="44450"/>
          <a:lstStyle/>
          <a:p>
            <a:r>
              <a:rPr lang="en-US" sz="2300">
                <a:solidFill>
                  <a:srgbClr val="003399"/>
                </a:solidFill>
              </a:rPr>
              <a:t>Creates clusters of supporting industries that are internationally competitive.</a:t>
            </a:r>
          </a:p>
          <a:p>
            <a:r>
              <a:rPr lang="en-US" sz="2300">
                <a:solidFill>
                  <a:srgbClr val="003399"/>
                </a:solidFill>
              </a:rPr>
              <a:t>Must also meet requirements of other parts of           the Diamond.</a:t>
            </a:r>
          </a:p>
        </p:txBody>
      </p:sp>
      <p:graphicFrame>
        <p:nvGraphicFramePr>
          <p:cNvPr id="75782" name="Object 6"/>
          <p:cNvGraphicFramePr>
            <a:graphicFrameLocks noChangeAspect="1"/>
          </p:cNvGraphicFramePr>
          <p:nvPr/>
        </p:nvGraphicFramePr>
        <p:xfrm>
          <a:off x="4876800" y="3200400"/>
          <a:ext cx="3778250" cy="2216150"/>
        </p:xfrm>
        <a:graphic>
          <a:graphicData uri="http://schemas.openxmlformats.org/presentationml/2006/ole">
            <p:oleObj spid="_x0000_s75782" name="Clip" r:id="rId3" imgW="1797480" imgH="1054800" progId="MS_ClipArt_Gallery.2">
              <p:embed/>
            </p:oleObj>
          </a:graphicData>
        </a:graphic>
      </p:graphicFrame>
      <p:sp>
        <p:nvSpPr>
          <p:cNvPr id="75783" name="Text Box 7"/>
          <p:cNvSpPr txBox="1">
            <a:spLocks noChangeArrowheads="1"/>
          </p:cNvSpPr>
          <p:nvPr/>
        </p:nvSpPr>
        <p:spPr bwMode="auto">
          <a:xfrm>
            <a:off x="8305800" y="152400"/>
            <a:ext cx="609600" cy="304800"/>
          </a:xfrm>
          <a:prstGeom prst="rect">
            <a:avLst/>
          </a:prstGeom>
          <a:noFill/>
          <a:ln w="9525">
            <a:noFill/>
            <a:miter lim="800000"/>
            <a:headEnd/>
            <a:tailEnd/>
          </a:ln>
          <a:effectLst/>
        </p:spPr>
        <p:txBody>
          <a:bodyPr>
            <a:spAutoFit/>
          </a:bodyPr>
          <a:lstStyle/>
          <a:p>
            <a:pPr>
              <a:spcBef>
                <a:spcPct val="50000"/>
              </a:spcBef>
            </a:pPr>
            <a:r>
              <a:rPr lang="en-US" sz="1400">
                <a:solidFill>
                  <a:schemeClr val="bg1"/>
                </a:solidFill>
              </a:rPr>
              <a:t>4-37</a:t>
            </a:r>
          </a:p>
        </p:txBody>
      </p:sp>
      <p:grpSp>
        <p:nvGrpSpPr>
          <p:cNvPr id="75784" name="Group 8"/>
          <p:cNvGrpSpPr>
            <a:grpSpLocks/>
          </p:cNvGrpSpPr>
          <p:nvPr/>
        </p:nvGrpSpPr>
        <p:grpSpPr bwMode="auto">
          <a:xfrm>
            <a:off x="142875" y="6553200"/>
            <a:ext cx="9001125" cy="280988"/>
            <a:chOff x="90" y="4128"/>
            <a:chExt cx="6102" cy="161"/>
          </a:xfrm>
        </p:grpSpPr>
        <p:sp>
          <p:nvSpPr>
            <p:cNvPr id="75785" name="Rectangle 9"/>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75786" name="Text Box 10"/>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685800" y="1295400"/>
            <a:ext cx="7772400" cy="1143000"/>
          </a:xfrm>
          <a:ln/>
        </p:spPr>
        <p:txBody>
          <a:bodyPr lIns="90488" tIns="44450" rIns="90488" bIns="44450" anchor="ctr"/>
          <a:lstStyle/>
          <a:p>
            <a:r>
              <a:rPr lang="en-US" sz="3500"/>
              <a:t>Firm Strategy, Structure and Rivalry</a:t>
            </a:r>
          </a:p>
        </p:txBody>
      </p:sp>
      <p:sp>
        <p:nvSpPr>
          <p:cNvPr id="76803" name="Rectangle 3"/>
          <p:cNvSpPr>
            <a:spLocks noGrp="1" noChangeArrowheads="1"/>
          </p:cNvSpPr>
          <p:nvPr>
            <p:ph type="body" idx="1"/>
          </p:nvPr>
        </p:nvSpPr>
        <p:spPr>
          <a:xfrm>
            <a:off x="457200" y="2786063"/>
            <a:ext cx="8382000" cy="1557337"/>
          </a:xfrm>
          <a:solidFill>
            <a:srgbClr val="EAEAEA"/>
          </a:solidFill>
          <a:ln/>
        </p:spPr>
        <p:txBody>
          <a:bodyPr lIns="90488" tIns="44450" rIns="90488" bIns="44450"/>
          <a:lstStyle/>
          <a:p>
            <a:r>
              <a:rPr lang="en-US">
                <a:solidFill>
                  <a:srgbClr val="003399"/>
                </a:solidFill>
              </a:rPr>
              <a:t>Management ‘ideology’ can either help or hurt you.</a:t>
            </a:r>
          </a:p>
          <a:p>
            <a:r>
              <a:rPr lang="en-US">
                <a:solidFill>
                  <a:srgbClr val="003399"/>
                </a:solidFill>
              </a:rPr>
              <a:t>Presence of domestic rivalry improves a company’s competitiveness.</a:t>
            </a:r>
          </a:p>
        </p:txBody>
      </p:sp>
      <p:sp>
        <p:nvSpPr>
          <p:cNvPr id="76806" name="Text Box 6"/>
          <p:cNvSpPr txBox="1">
            <a:spLocks noChangeArrowheads="1"/>
          </p:cNvSpPr>
          <p:nvPr/>
        </p:nvSpPr>
        <p:spPr bwMode="auto">
          <a:xfrm>
            <a:off x="8305800" y="152400"/>
            <a:ext cx="609600" cy="304800"/>
          </a:xfrm>
          <a:prstGeom prst="rect">
            <a:avLst/>
          </a:prstGeom>
          <a:noFill/>
          <a:ln w="9525">
            <a:noFill/>
            <a:miter lim="800000"/>
            <a:headEnd/>
            <a:tailEnd/>
          </a:ln>
          <a:effectLst/>
        </p:spPr>
        <p:txBody>
          <a:bodyPr>
            <a:spAutoFit/>
          </a:bodyPr>
          <a:lstStyle/>
          <a:p>
            <a:pPr>
              <a:spcBef>
                <a:spcPct val="50000"/>
              </a:spcBef>
            </a:pPr>
            <a:r>
              <a:rPr lang="en-US" sz="1400">
                <a:solidFill>
                  <a:schemeClr val="bg1"/>
                </a:solidFill>
              </a:rPr>
              <a:t>4-38</a:t>
            </a:r>
          </a:p>
        </p:txBody>
      </p:sp>
      <p:grpSp>
        <p:nvGrpSpPr>
          <p:cNvPr id="76807" name="Group 7"/>
          <p:cNvGrpSpPr>
            <a:grpSpLocks/>
          </p:cNvGrpSpPr>
          <p:nvPr/>
        </p:nvGrpSpPr>
        <p:grpSpPr bwMode="auto">
          <a:xfrm>
            <a:off x="142875" y="6553200"/>
            <a:ext cx="9001125" cy="280988"/>
            <a:chOff x="90" y="4128"/>
            <a:chExt cx="6102" cy="161"/>
          </a:xfrm>
        </p:grpSpPr>
        <p:sp>
          <p:nvSpPr>
            <p:cNvPr id="76808" name="Rectangle 8"/>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76809" name="Text Box 9"/>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609600" y="914400"/>
            <a:ext cx="7772400" cy="914400"/>
          </a:xfrm>
          <a:ln/>
        </p:spPr>
        <p:txBody>
          <a:bodyPr lIns="90488" tIns="44450" rIns="90488" bIns="44450" anchor="ctr"/>
          <a:lstStyle/>
          <a:p>
            <a:r>
              <a:rPr lang="en-US" sz="3500"/>
              <a:t>Evaluating Porter’s Theory</a:t>
            </a:r>
          </a:p>
        </p:txBody>
      </p:sp>
      <p:sp>
        <p:nvSpPr>
          <p:cNvPr id="77827" name="Rectangle 3"/>
          <p:cNvSpPr>
            <a:spLocks noGrp="1" noChangeArrowheads="1"/>
          </p:cNvSpPr>
          <p:nvPr>
            <p:ph type="body" idx="1"/>
          </p:nvPr>
        </p:nvSpPr>
        <p:spPr>
          <a:xfrm>
            <a:off x="533400" y="2133600"/>
            <a:ext cx="7772400" cy="3048000"/>
          </a:xfrm>
          <a:solidFill>
            <a:srgbClr val="EAEAEA"/>
          </a:solidFill>
          <a:ln/>
        </p:spPr>
        <p:txBody>
          <a:bodyPr lIns="90488" tIns="44450" rIns="90488" bIns="44450"/>
          <a:lstStyle/>
          <a:p>
            <a:r>
              <a:rPr lang="en-US" sz="2300">
                <a:solidFill>
                  <a:srgbClr val="003399"/>
                </a:solidFill>
              </a:rPr>
              <a:t>If Porter is right, we would expect his model to predict the pattern of international trade that we observe in the real world. Countries should be exporting products from those industries where all four components of the diamond are favorable, while importing in those areas where the components are not favorable.</a:t>
            </a:r>
          </a:p>
          <a:p>
            <a:r>
              <a:rPr lang="en-US" sz="2300">
                <a:solidFill>
                  <a:srgbClr val="003399"/>
                </a:solidFill>
              </a:rPr>
              <a:t>Too soon to tell.</a:t>
            </a:r>
          </a:p>
        </p:txBody>
      </p:sp>
      <p:graphicFrame>
        <p:nvGraphicFramePr>
          <p:cNvPr id="109568" name="Object 0"/>
          <p:cNvGraphicFramePr>
            <a:graphicFrameLocks noChangeAspect="1"/>
          </p:cNvGraphicFramePr>
          <p:nvPr/>
        </p:nvGraphicFramePr>
        <p:xfrm>
          <a:off x="4495800" y="4648200"/>
          <a:ext cx="3352800" cy="1685925"/>
        </p:xfrm>
        <a:graphic>
          <a:graphicData uri="http://schemas.openxmlformats.org/presentationml/2006/ole">
            <p:oleObj spid="_x0000_s109568" name="Clip" r:id="rId3" imgW="1825560" imgH="918000" progId="MS_ClipArt_Gallery.2">
              <p:embed/>
            </p:oleObj>
          </a:graphicData>
        </a:graphic>
      </p:graphicFrame>
      <p:sp>
        <p:nvSpPr>
          <p:cNvPr id="77831" name="Text Box 7"/>
          <p:cNvSpPr txBox="1">
            <a:spLocks noChangeArrowheads="1"/>
          </p:cNvSpPr>
          <p:nvPr/>
        </p:nvSpPr>
        <p:spPr bwMode="auto">
          <a:xfrm>
            <a:off x="8305800" y="152400"/>
            <a:ext cx="609600" cy="304800"/>
          </a:xfrm>
          <a:prstGeom prst="rect">
            <a:avLst/>
          </a:prstGeom>
          <a:noFill/>
          <a:ln w="9525">
            <a:noFill/>
            <a:miter lim="800000"/>
            <a:headEnd/>
            <a:tailEnd/>
          </a:ln>
          <a:effectLst/>
        </p:spPr>
        <p:txBody>
          <a:bodyPr>
            <a:spAutoFit/>
          </a:bodyPr>
          <a:lstStyle/>
          <a:p>
            <a:pPr>
              <a:spcBef>
                <a:spcPct val="50000"/>
              </a:spcBef>
            </a:pPr>
            <a:r>
              <a:rPr lang="en-US" sz="1400">
                <a:solidFill>
                  <a:schemeClr val="bg1"/>
                </a:solidFill>
              </a:rPr>
              <a:t>4-39</a:t>
            </a:r>
          </a:p>
        </p:txBody>
      </p:sp>
      <p:grpSp>
        <p:nvGrpSpPr>
          <p:cNvPr id="77832" name="Group 8"/>
          <p:cNvGrpSpPr>
            <a:grpSpLocks/>
          </p:cNvGrpSpPr>
          <p:nvPr/>
        </p:nvGrpSpPr>
        <p:grpSpPr bwMode="auto">
          <a:xfrm>
            <a:off x="142875" y="6553200"/>
            <a:ext cx="9001125" cy="280988"/>
            <a:chOff x="90" y="4128"/>
            <a:chExt cx="6102" cy="161"/>
          </a:xfrm>
        </p:grpSpPr>
        <p:sp>
          <p:nvSpPr>
            <p:cNvPr id="77833" name="Rectangle 9"/>
            <p:cNvSpPr>
              <a:spLocks noChangeArrowheads="1"/>
            </p:cNvSpPr>
            <p:nvPr/>
          </p:nvSpPr>
          <p:spPr bwMode="auto">
            <a:xfrm>
              <a:off x="90" y="4128"/>
              <a:ext cx="1206" cy="156"/>
            </a:xfrm>
            <a:prstGeom prst="rect">
              <a:avLst/>
            </a:prstGeom>
            <a:noFill/>
            <a:ln w="12700">
              <a:noFill/>
              <a:miter lim="800000"/>
              <a:headEnd/>
              <a:tailEnd/>
            </a:ln>
            <a:effectLst/>
          </p:spPr>
          <p:txBody>
            <a:bodyPr lIns="90488" tIns="44450" rIns="90488" bIns="44450">
              <a:spAutoFit/>
            </a:bodyPr>
            <a:lstStyle/>
            <a:p>
              <a:pPr eaLnBrk="0" hangingPunct="0">
                <a:spcBef>
                  <a:spcPct val="50000"/>
                </a:spcBef>
              </a:pPr>
              <a:r>
                <a:rPr lang="en-US" sz="1200" b="1" i="1">
                  <a:solidFill>
                    <a:schemeClr val="bg1"/>
                  </a:solidFill>
                  <a:latin typeface="Book Antiqua" pitchFamily="18" charset="0"/>
                </a:rPr>
                <a:t>McGraw-Hill/Irwin</a:t>
              </a:r>
            </a:p>
          </p:txBody>
        </p:sp>
        <p:sp>
          <p:nvSpPr>
            <p:cNvPr id="77834" name="Text Box 10"/>
            <p:cNvSpPr txBox="1">
              <a:spLocks noChangeArrowheads="1"/>
            </p:cNvSpPr>
            <p:nvPr/>
          </p:nvSpPr>
          <p:spPr bwMode="auto">
            <a:xfrm>
              <a:off x="2879" y="4153"/>
              <a:ext cx="3313" cy="136"/>
            </a:xfrm>
            <a:prstGeom prst="rect">
              <a:avLst/>
            </a:prstGeom>
            <a:noFill/>
            <a:ln w="9525">
              <a:noFill/>
              <a:miter lim="800000"/>
              <a:headEnd/>
              <a:tailEnd/>
            </a:ln>
            <a:effectLst/>
          </p:spPr>
          <p:txBody>
            <a:bodyPr lIns="71731" tIns="35866" rIns="71731" bIns="35866">
              <a:spAutoFit/>
            </a:bodyPr>
            <a:lstStyle/>
            <a:p>
              <a:pPr defTabSz="717550" eaLnBrk="0" hangingPunct="0">
                <a:lnSpc>
                  <a:spcPct val="90000"/>
                </a:lnSpc>
              </a:pPr>
              <a:r>
                <a:rPr lang="en-US" sz="1200" b="1" i="1">
                  <a:solidFill>
                    <a:schemeClr val="bg1"/>
                  </a:solidFill>
                  <a:latin typeface="Book Antiqua" pitchFamily="18" charset="0"/>
                </a:rPr>
                <a:t>© 2003 The McGraw-Hill Companies, Inc., All Rights Reserved.</a:t>
              </a:r>
              <a:endParaRPr lang="en-US" sz="1200" b="1">
                <a:solidFill>
                  <a:schemeClr val="bg1"/>
                </a:solidFill>
                <a:latin typeface="Book Antiqua" pitchFamily="18" charset="0"/>
              </a:endParaRPr>
            </a:p>
          </p:txBody>
        </p:sp>
      </p:gr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762000" y="533400"/>
            <a:ext cx="7772400" cy="709613"/>
          </a:xfrm>
          <a:ln/>
        </p:spPr>
        <p:txBody>
          <a:bodyPr/>
          <a:lstStyle/>
          <a:p>
            <a:r>
              <a:rPr lang="en-US"/>
              <a:t>Implications for Business</a:t>
            </a:r>
          </a:p>
        </p:txBody>
      </p:sp>
      <p:sp>
        <p:nvSpPr>
          <p:cNvPr id="78851" name="Rectangle 3"/>
          <p:cNvSpPr>
            <a:spLocks noGrp="1" noChangeArrowheads="1"/>
          </p:cNvSpPr>
          <p:nvPr>
            <p:ph type="body" idx="1"/>
          </p:nvPr>
        </p:nvSpPr>
        <p:spPr>
          <a:xfrm>
            <a:off x="685800" y="1524000"/>
            <a:ext cx="8077200" cy="4724400"/>
          </a:xfrm>
          <a:solidFill>
            <a:srgbClr val="EAEAEA"/>
          </a:solidFill>
          <a:ln/>
        </p:spPr>
        <p:txBody>
          <a:bodyPr/>
          <a:lstStyle/>
          <a:p>
            <a:r>
              <a:rPr lang="en-US" sz="2300">
                <a:solidFill>
                  <a:srgbClr val="00CC99"/>
                </a:solidFill>
              </a:rPr>
              <a:t>Location implications:</a:t>
            </a:r>
            <a:r>
              <a:rPr lang="en-US" sz="2300">
                <a:solidFill>
                  <a:srgbClr val="003399"/>
                </a:solidFill>
              </a:rPr>
              <a:t>makes sense to disperse production activities to countries where they can be performed most efficiently.</a:t>
            </a:r>
          </a:p>
          <a:p>
            <a:r>
              <a:rPr lang="en-US" sz="2300">
                <a:solidFill>
                  <a:srgbClr val="00CC99"/>
                </a:solidFill>
              </a:rPr>
              <a:t>First-mover implications:</a:t>
            </a:r>
            <a:r>
              <a:rPr lang="en-US" sz="2300">
                <a:solidFill>
                  <a:srgbClr val="003399"/>
                </a:solidFill>
              </a:rPr>
              <a:t>It pays to invest substantial financial resources in building a first-mover, or early-mover, advantage.</a:t>
            </a:r>
          </a:p>
          <a:p>
            <a:r>
              <a:rPr lang="en-US" sz="2300">
                <a:solidFill>
                  <a:srgbClr val="00CC99"/>
                </a:solidFill>
              </a:rPr>
              <a:t>Policy implications:</a:t>
            </a:r>
            <a:r>
              <a:rPr lang="en-US" sz="2300">
                <a:solidFill>
                  <a:srgbClr val="003399"/>
                </a:solidFill>
              </a:rPr>
              <a:t>promoting free trade is generally in the best interests of the home-country, although not always in the best interests of the firm.  Even though, many firms promote open markets</a:t>
            </a:r>
            <a:r>
              <a:rPr lang="en-US" sz="2300"/>
              <a:t>.</a:t>
            </a:r>
            <a:endParaRPr lang="en-US" sz="2300">
              <a:solidFill>
                <a:srgbClr val="FFFF00"/>
              </a:solidFill>
            </a:endParaRPr>
          </a:p>
        </p:txBody>
      </p:sp>
    </p:spTree>
  </p:cSld>
  <p:clrMapOvr>
    <a:masterClrMapping/>
  </p:clrMapOvr>
  <p:transition/>
</p:sld>
</file>

<file path=ppt/theme/theme1.xml><?xml version="1.0" encoding="utf-8"?>
<a:theme xmlns:a="http://schemas.openxmlformats.org/drawingml/2006/main" name="Bamboo">
  <a:themeElements>
    <a:clrScheme name="Bamboo 2">
      <a:dk1>
        <a:srgbClr val="000000"/>
      </a:dk1>
      <a:lt1>
        <a:srgbClr val="FFFFFF"/>
      </a:lt1>
      <a:dk2>
        <a:srgbClr val="003300"/>
      </a:dk2>
      <a:lt2>
        <a:srgbClr val="5F5F5F"/>
      </a:lt2>
      <a:accent1>
        <a:srgbClr val="009900"/>
      </a:accent1>
      <a:accent2>
        <a:srgbClr val="CC9900"/>
      </a:accent2>
      <a:accent3>
        <a:srgbClr val="FFFFFF"/>
      </a:accent3>
      <a:accent4>
        <a:srgbClr val="000000"/>
      </a:accent4>
      <a:accent5>
        <a:srgbClr val="AACAAA"/>
      </a:accent5>
      <a:accent6>
        <a:srgbClr val="B98A00"/>
      </a:accent6>
      <a:hlink>
        <a:srgbClr val="FF3300"/>
      </a:hlink>
      <a:folHlink>
        <a:srgbClr val="663300"/>
      </a:folHlink>
    </a:clrScheme>
    <a:fontScheme name="Bamboo">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Comic Sans MS" pitchFamily="66"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Comic Sans MS" pitchFamily="66" charset="0"/>
          </a:defRPr>
        </a:defPPr>
      </a:lstStyle>
    </a:lnDef>
  </a:objectDefaults>
  <a:extraClrSchemeLst>
    <a:extraClrScheme>
      <a:clrScheme name="Bamboo 1">
        <a:dk1>
          <a:srgbClr val="000000"/>
        </a:dk1>
        <a:lt1>
          <a:srgbClr val="FFFFFF"/>
        </a:lt1>
        <a:dk2>
          <a:srgbClr val="396F39"/>
        </a:dk2>
        <a:lt2>
          <a:srgbClr val="FFCC00"/>
        </a:lt2>
        <a:accent1>
          <a:srgbClr val="009900"/>
        </a:accent1>
        <a:accent2>
          <a:srgbClr val="CC9900"/>
        </a:accent2>
        <a:accent3>
          <a:srgbClr val="AEBBAE"/>
        </a:accent3>
        <a:accent4>
          <a:srgbClr val="DADADA"/>
        </a:accent4>
        <a:accent5>
          <a:srgbClr val="AACAAA"/>
        </a:accent5>
        <a:accent6>
          <a:srgbClr val="B98A00"/>
        </a:accent6>
        <a:hlink>
          <a:srgbClr val="FF3300"/>
        </a:hlink>
        <a:folHlink>
          <a:srgbClr val="663300"/>
        </a:folHlink>
      </a:clrScheme>
      <a:clrMap bg1="dk2" tx1="lt1" bg2="dk1" tx2="lt2" accent1="accent1" accent2="accent2" accent3="accent3" accent4="accent4" accent5="accent5" accent6="accent6" hlink="hlink" folHlink="folHlink"/>
    </a:extraClrScheme>
    <a:extraClrScheme>
      <a:clrScheme name="Bamboo 2">
        <a:dk1>
          <a:srgbClr val="000000"/>
        </a:dk1>
        <a:lt1>
          <a:srgbClr val="FFFFFF"/>
        </a:lt1>
        <a:dk2>
          <a:srgbClr val="003300"/>
        </a:dk2>
        <a:lt2>
          <a:srgbClr val="5F5F5F"/>
        </a:lt2>
        <a:accent1>
          <a:srgbClr val="009900"/>
        </a:accent1>
        <a:accent2>
          <a:srgbClr val="CC9900"/>
        </a:accent2>
        <a:accent3>
          <a:srgbClr val="FFFFFF"/>
        </a:accent3>
        <a:accent4>
          <a:srgbClr val="000000"/>
        </a:accent4>
        <a:accent5>
          <a:srgbClr val="AACAAA"/>
        </a:accent5>
        <a:accent6>
          <a:srgbClr val="B98A00"/>
        </a:accent6>
        <a:hlink>
          <a:srgbClr val="FF3300"/>
        </a:hlink>
        <a:folHlink>
          <a:srgbClr val="663300"/>
        </a:folHlink>
      </a:clrScheme>
      <a:clrMap bg1="lt1" tx1="dk1" bg2="lt2" tx2="dk2" accent1="accent1" accent2="accent2" accent3="accent3" accent4="accent4" accent5="accent5" accent6="accent6" hlink="hlink" folHlink="folHlink"/>
    </a:extraClrScheme>
    <a:extraClrScheme>
      <a:clrScheme name="Bamboo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969696"/>
        </a:folHlink>
      </a:clrScheme>
      <a:clrMap bg1="lt1" tx1="dk1" bg2="lt2" tx2="dk2" accent1="accent1" accent2="accent2" accent3="accent3" accent4="accent4" accent5="accent5" accent6="accent6" hlink="hlink" folHlink="folHlink"/>
    </a:extraClrScheme>
    <a:extraClrScheme>
      <a:clrScheme name="Bamboo 4">
        <a:dk1>
          <a:srgbClr val="000000"/>
        </a:dk1>
        <a:lt1>
          <a:srgbClr val="FFFFFF"/>
        </a:lt1>
        <a:dk2>
          <a:srgbClr val="FF0000"/>
        </a:dk2>
        <a:lt2>
          <a:srgbClr val="800000"/>
        </a:lt2>
        <a:accent1>
          <a:srgbClr val="008000"/>
        </a:accent1>
        <a:accent2>
          <a:srgbClr val="FF9900"/>
        </a:accent2>
        <a:accent3>
          <a:srgbClr val="FFFFFF"/>
        </a:accent3>
        <a:accent4>
          <a:srgbClr val="000000"/>
        </a:accent4>
        <a:accent5>
          <a:srgbClr val="AAC0AA"/>
        </a:accent5>
        <a:accent6>
          <a:srgbClr val="E78A00"/>
        </a:accent6>
        <a:hlink>
          <a:srgbClr val="CC3300"/>
        </a:hlink>
        <a:folHlink>
          <a:srgbClr val="6633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Designs\Bamboo.pot</Template>
  <TotalTime>622</TotalTime>
  <Words>2845</Words>
  <Application>Microsoft PowerPoint</Application>
  <PresentationFormat>On-screen Show (4:3)</PresentationFormat>
  <Paragraphs>473</Paragraphs>
  <Slides>55</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55</vt:i4>
      </vt:variant>
    </vt:vector>
  </HeadingPairs>
  <TitlesOfParts>
    <vt:vector size="63" baseType="lpstr">
      <vt:lpstr>Times New Roman</vt:lpstr>
      <vt:lpstr>Comic Sans MS</vt:lpstr>
      <vt:lpstr>Monotype Sorts</vt:lpstr>
      <vt:lpstr>Book Antiqua</vt:lpstr>
      <vt:lpstr>Square721 BT</vt:lpstr>
      <vt:lpstr>Century Schoolbook</vt:lpstr>
      <vt:lpstr>Bamboo</vt:lpstr>
      <vt:lpstr>Microsoft Clip Gallery</vt:lpstr>
      <vt:lpstr>Slide 1</vt:lpstr>
      <vt:lpstr>CHAPTER 4</vt:lpstr>
      <vt:lpstr>Chapter Focus</vt:lpstr>
      <vt:lpstr>Chapter Focus</vt:lpstr>
      <vt:lpstr>Slide 5</vt:lpstr>
      <vt:lpstr>Slide 6</vt:lpstr>
      <vt:lpstr>The Impact of Trade Policies</vt:lpstr>
      <vt:lpstr>An Overview of Trade Theory</vt:lpstr>
      <vt:lpstr>An Overview of Trade Theory</vt:lpstr>
      <vt:lpstr>An Overview of Trade Theory</vt:lpstr>
      <vt:lpstr>An Overview of Trade Theory</vt:lpstr>
      <vt:lpstr>Mercantilism: mid-16th century</vt:lpstr>
      <vt:lpstr>Mercantilism: mid-16th century</vt:lpstr>
      <vt:lpstr>Mercantilism: mid-16th century</vt:lpstr>
      <vt:lpstr>Mercantilism: mid-16th century</vt:lpstr>
      <vt:lpstr>Mercantilism: mid-16th century</vt:lpstr>
      <vt:lpstr>Theory of Absolute Advantage Adam Smith: Wealth of Nations (1776).</vt:lpstr>
      <vt:lpstr>Theory of Absolute Advantage Adam Smith: Wealth of Nations (1776).</vt:lpstr>
      <vt:lpstr>Theory of Absolute Advantage Adam Smith: Wealth of Nations (1776).</vt:lpstr>
      <vt:lpstr>The Theory of Absolute Advantage</vt:lpstr>
      <vt:lpstr>The Theory of Absolute Advantage  and the Gains from Trade</vt:lpstr>
      <vt:lpstr>Theory of Comparative Advantage David Ricardo: Principles of Political Economy (1817). </vt:lpstr>
      <vt:lpstr>The Theory of Comparative Advantage</vt:lpstr>
      <vt:lpstr>Comparative Advantage and the Gains from Trade</vt:lpstr>
      <vt:lpstr>Extensions of the Ricardian Model</vt:lpstr>
      <vt:lpstr>Ghana’s PPF under Diminishing Returns</vt:lpstr>
      <vt:lpstr>The Influence of Free Trade on the PPF</vt:lpstr>
      <vt:lpstr>A Link Between Trade and Growth</vt:lpstr>
      <vt:lpstr> Heckscher (1919)-Olin (1933) Theory </vt:lpstr>
      <vt:lpstr> Heckscher (1919)-Olin (1933) Theory </vt:lpstr>
      <vt:lpstr> Heckscher (1919)-Olin (1933) Theory </vt:lpstr>
      <vt:lpstr> Heckscher (1919)-Olin (1933) Theory </vt:lpstr>
      <vt:lpstr> Heckscher (1919)-Olin (1933) Theory </vt:lpstr>
      <vt:lpstr>The Leontief Paradox, 1953</vt:lpstr>
      <vt:lpstr>Product Life-Cycle Theory (Raymond Vernon, 1966)</vt:lpstr>
      <vt:lpstr>The Product Life-Cycle Theory</vt:lpstr>
      <vt:lpstr>The New Trade Theory</vt:lpstr>
      <vt:lpstr>Application of the New Trade Theory</vt:lpstr>
      <vt:lpstr>First-Mover Advantage</vt:lpstr>
      <vt:lpstr>Porter’s Diamond (Harvard Business School, 1990)</vt:lpstr>
      <vt:lpstr>Determinants of National Competitive Advantage</vt:lpstr>
      <vt:lpstr>Determinants of National Competitive Advantage</vt:lpstr>
      <vt:lpstr>Determinants of National Competitive Advantage</vt:lpstr>
      <vt:lpstr>Determinants of National Competitive Advantage</vt:lpstr>
      <vt:lpstr>Porter’s Diamond Determinants of National Competitive Advantage</vt:lpstr>
      <vt:lpstr>The Diamond</vt:lpstr>
      <vt:lpstr>Determinants of  National Competitive Advantage  </vt:lpstr>
      <vt:lpstr>Factor Endowments</vt:lpstr>
      <vt:lpstr>Advanced Factor Endowments</vt:lpstr>
      <vt:lpstr>Relationship of Basic to Advanced Factors</vt:lpstr>
      <vt:lpstr>Demand Conditions</vt:lpstr>
      <vt:lpstr>Related and Supporting Industries</vt:lpstr>
      <vt:lpstr>Firm Strategy, Structure and Rivalry</vt:lpstr>
      <vt:lpstr>Evaluating Porter’s Theory</vt:lpstr>
      <vt:lpstr>Implications for Business</vt:lpstr>
    </vt:vector>
  </TitlesOfParts>
  <Company>The McGraw-Hill Companies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McGraw-Hill Higher Education</dc:creator>
  <cp:lastModifiedBy>user</cp:lastModifiedBy>
  <cp:revision>34</cp:revision>
  <cp:lastPrinted>1601-01-01T00:00:00Z</cp:lastPrinted>
  <dcterms:created xsi:type="dcterms:W3CDTF">2001-12-18T21:21:13Z</dcterms:created>
  <dcterms:modified xsi:type="dcterms:W3CDTF">2013-05-15T02:38:09Z</dcterms:modified>
</cp:coreProperties>
</file>