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2787"/>
    <p:restoredTop sz="90929"/>
  </p:normalViewPr>
  <p:slideViewPr>
    <p:cSldViewPr>
      <p:cViewPr varScale="1">
        <p:scale>
          <a:sx n="67" d="100"/>
          <a:sy n="67" d="100"/>
        </p:scale>
        <p:origin x="-90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 descr="Large confetti"/>
          <p:cNvSpPr>
            <a:spLocks noChangeArrowheads="1"/>
          </p:cNvSpPr>
          <p:nvPr/>
        </p:nvSpPr>
        <p:spPr bwMode="ltGray">
          <a:xfrm>
            <a:off x="484188" y="1549400"/>
            <a:ext cx="8158162" cy="1689100"/>
          </a:xfrm>
          <a:prstGeom prst="rect">
            <a:avLst/>
          </a:prstGeom>
          <a:pattFill prst="lgConfetti">
            <a:fgClr>
              <a:schemeClr val="accent2">
                <a:alpha val="50000"/>
              </a:schemeClr>
            </a:fgClr>
            <a:bgClr>
              <a:schemeClr val="folHlink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22531" name="AutoShape 3"/>
          <p:cNvSpPr>
            <a:spLocks noChangeArrowheads="1"/>
          </p:cNvSpPr>
          <p:nvPr/>
        </p:nvSpPr>
        <p:spPr bwMode="ltGray">
          <a:xfrm>
            <a:off x="228600" y="3206750"/>
            <a:ext cx="8686800" cy="777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22532" name="AutoShape 4"/>
          <p:cNvSpPr>
            <a:spLocks noChangeArrowheads="1"/>
          </p:cNvSpPr>
          <p:nvPr/>
        </p:nvSpPr>
        <p:spPr bwMode="ltGray">
          <a:xfrm>
            <a:off x="228600" y="1482725"/>
            <a:ext cx="8686800" cy="777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22533" name="AutoShape 5"/>
          <p:cNvSpPr>
            <a:spLocks noChangeArrowheads="1"/>
          </p:cNvSpPr>
          <p:nvPr/>
        </p:nvSpPr>
        <p:spPr bwMode="ltGray">
          <a:xfrm>
            <a:off x="8623300" y="1246188"/>
            <a:ext cx="77788" cy="2235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22534" name="AutoShape 6"/>
          <p:cNvSpPr>
            <a:spLocks noChangeArrowheads="1"/>
          </p:cNvSpPr>
          <p:nvPr/>
        </p:nvSpPr>
        <p:spPr bwMode="ltGray">
          <a:xfrm>
            <a:off x="434975" y="1252538"/>
            <a:ext cx="77788" cy="2235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22535" name="AutoShape 7"/>
          <p:cNvSpPr>
            <a:spLocks noChangeArrowheads="1"/>
          </p:cNvSpPr>
          <p:nvPr/>
        </p:nvSpPr>
        <p:spPr bwMode="ltGray">
          <a:xfrm>
            <a:off x="2830513" y="5783263"/>
            <a:ext cx="3481387" cy="77787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22536" name="Rectangle 8" descr="Large confetti"/>
          <p:cNvSpPr>
            <a:spLocks noChangeArrowheads="1"/>
          </p:cNvSpPr>
          <p:nvPr/>
        </p:nvSpPr>
        <p:spPr bwMode="ltGray">
          <a:xfrm>
            <a:off x="4095750" y="5734050"/>
            <a:ext cx="949325" cy="176213"/>
          </a:xfrm>
          <a:prstGeom prst="rect">
            <a:avLst/>
          </a:prstGeom>
          <a:pattFill prst="lgConfetti">
            <a:fgClr>
              <a:schemeClr val="accent2"/>
            </a:fgClr>
            <a:bgClr>
              <a:schemeClr val="folHlink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22537" name="Rectangle 9" descr="Large confetti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143000"/>
          </a:xfrm>
          <a:pattFill prst="lgConfetti">
            <a:fgClr>
              <a:schemeClr val="accent2"/>
            </a:fgClr>
            <a:bgClr>
              <a:schemeClr val="folHlink"/>
            </a:bgClr>
          </a:patt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538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465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539" name="Rectangle 11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2540" name="Rectangle 12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2541" name="Rectangle 13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noFill/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272975-3B68-4B3D-8BA1-C1A152A60A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52AFD1-93DD-47AF-A519-BED379B616F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1ED08F-3501-4400-8AF7-888FB73D7E3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675342-1611-4FF0-8090-3ACB371050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1468D6-CD83-44A6-A5D8-FF34914BF6C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01C6F4-4539-4CA5-95A6-3BCC225F8AF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BC84FE-094F-47CE-BE03-D29445FC133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965A59-9A38-4582-9EEC-A5B88038A3D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6ED5B0-2FE2-494C-9BE6-F596771125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48C71B-A2ED-43CB-9C2C-9A5B8A6DE9F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1488" y="284163"/>
            <a:ext cx="2044700" cy="58118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4163"/>
            <a:ext cx="5983288" cy="58118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8AAD9A-FA6A-4AD7-82C6-B95FA2C48F8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26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093788" y="284163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150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05000"/>
            <a:ext cx="77724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1508" name="Rectangle 102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1509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21510" name="Rectangle 1030"/>
          <p:cNvSpPr>
            <a:spLocks noChangeArrowheads="1"/>
          </p:cNvSpPr>
          <p:nvPr/>
        </p:nvSpPr>
        <p:spPr bwMode="auto">
          <a:xfrm>
            <a:off x="0" y="1512888"/>
            <a:ext cx="8458200" cy="87312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21511" name="Rectangle 1031" descr="Large confetti"/>
          <p:cNvSpPr>
            <a:spLocks noChangeArrowheads="1"/>
          </p:cNvSpPr>
          <p:nvPr/>
        </p:nvSpPr>
        <p:spPr bwMode="ltGray">
          <a:xfrm>
            <a:off x="247650" y="0"/>
            <a:ext cx="793750" cy="1841500"/>
          </a:xfrm>
          <a:prstGeom prst="rect">
            <a:avLst/>
          </a:prstGeom>
          <a:pattFill prst="lgConfetti">
            <a:fgClr>
              <a:schemeClr val="accent2"/>
            </a:fgClr>
            <a:bgClr>
              <a:schemeClr val="folHlink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21512" name="Rectangle 1032"/>
          <p:cNvSpPr>
            <a:spLocks noChangeArrowheads="1"/>
          </p:cNvSpPr>
          <p:nvPr/>
        </p:nvSpPr>
        <p:spPr bwMode="auto">
          <a:xfrm>
            <a:off x="7067550" y="6553200"/>
            <a:ext cx="2076450" cy="793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21513" name="Rectangle 1033" descr="Large confetti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16900" y="6248400"/>
            <a:ext cx="533400" cy="609600"/>
          </a:xfrm>
          <a:prstGeom prst="rect">
            <a:avLst/>
          </a:prstGeom>
          <a:pattFill prst="lgConfetti">
            <a:fgClr>
              <a:schemeClr val="accent2"/>
            </a:fgClr>
            <a:bgClr>
              <a:schemeClr val="folHlink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7180B0CC-A559-44F7-AC8B-80FFDBE121F9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SzPct val="85000"/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to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 descr="Large confetti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Economic Integration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Three levels of economic integration</a:t>
            </a:r>
          </a:p>
          <a:p>
            <a:pPr lvl="1"/>
            <a:r>
              <a:rPr lang="en-US" sz="2400"/>
              <a:t>Global: trade liberalization by GATT or WTO</a:t>
            </a:r>
          </a:p>
          <a:p>
            <a:pPr lvl="1"/>
            <a:r>
              <a:rPr lang="en-US" sz="2400"/>
              <a:t>Regional: preferential treatment of member countries in the group  </a:t>
            </a:r>
          </a:p>
          <a:p>
            <a:pPr lvl="1"/>
            <a:r>
              <a:rPr lang="en-US" sz="2400"/>
              <a:t>Bilateral: preferential treatment between two countries</a:t>
            </a:r>
          </a:p>
          <a:p>
            <a:r>
              <a:rPr lang="en-US" sz="2800"/>
              <a:t>Regional and bilateral agreements are against the MFN clause (normal trading relations), but allowed under WTO.</a:t>
            </a:r>
          </a:p>
          <a:p>
            <a:r>
              <a:rPr lang="en-US" sz="2800"/>
              <a:t>Visit </a:t>
            </a:r>
            <a:r>
              <a:rPr lang="en-US" sz="2800">
                <a:hlinkClick r:id="rId2"/>
              </a:rPr>
              <a:t>www.wto.org</a:t>
            </a:r>
            <a:r>
              <a:rPr lang="en-US" sz="2800"/>
              <a:t> for regional trade agreements.</a:t>
            </a:r>
          </a:p>
          <a:p>
            <a:endParaRPr lang="en-US" sz="280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Four stages (types) of </a:t>
            </a:r>
            <a:br>
              <a:rPr lang="en-US"/>
            </a:br>
            <a:r>
              <a:rPr lang="en-US"/>
              <a:t>economic integration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FTA (free trade area): 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no internal tariffs among members, but each country imposes its own external tariffs to the third country.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NAFTA (North America Free Trade Agreement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AFTA (ASEAN Free Trade Area)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EFTA (European Free Trade Area)</a:t>
            </a:r>
          </a:p>
          <a:p>
            <a:pPr>
              <a:lnSpc>
                <a:spcPct val="90000"/>
              </a:lnSpc>
            </a:pPr>
            <a:r>
              <a:rPr lang="en-US" sz="2800"/>
              <a:t>Customs union: 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no internal tariffs and common external tariffs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Mercosur (Southern Common Market), 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CACM (Central American Common Market)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CARICOM (Caribbean Community and Common Market)</a:t>
            </a:r>
          </a:p>
          <a:p>
            <a:pPr lvl="1">
              <a:lnSpc>
                <a:spcPct val="90000"/>
              </a:lnSpc>
            </a:pPr>
            <a:endParaRPr lang="en-US" sz="240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 bldLvl="2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Four stages (types) of </a:t>
            </a:r>
            <a:br>
              <a:rPr lang="en-US"/>
            </a:br>
            <a:r>
              <a:rPr lang="en-US"/>
              <a:t>economic integration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Common market: </a:t>
            </a:r>
          </a:p>
          <a:p>
            <a:pPr lvl="1">
              <a:lnSpc>
                <a:spcPct val="90000"/>
              </a:lnSpc>
            </a:pPr>
            <a:r>
              <a:rPr lang="en-US"/>
              <a:t>free movement of products and factors (resources), which is customs union plus factor mobility</a:t>
            </a:r>
          </a:p>
          <a:p>
            <a:pPr lvl="1">
              <a:lnSpc>
                <a:spcPct val="90000"/>
              </a:lnSpc>
            </a:pPr>
            <a:r>
              <a:rPr lang="en-US"/>
              <a:t>EU (European Union – previously EEC)</a:t>
            </a:r>
          </a:p>
          <a:p>
            <a:pPr>
              <a:lnSpc>
                <a:spcPct val="90000"/>
              </a:lnSpc>
            </a:pPr>
            <a:r>
              <a:rPr lang="en-US"/>
              <a:t>Economic union: </a:t>
            </a:r>
          </a:p>
          <a:p>
            <a:pPr lvl="1">
              <a:lnSpc>
                <a:spcPct val="90000"/>
              </a:lnSpc>
            </a:pPr>
            <a:r>
              <a:rPr lang="en-US"/>
              <a:t>common market plus common currency </a:t>
            </a:r>
          </a:p>
          <a:p>
            <a:pPr lvl="1">
              <a:lnSpc>
                <a:spcPct val="90000"/>
              </a:lnSpc>
            </a:pPr>
            <a:r>
              <a:rPr lang="en-US"/>
              <a:t>coordination of fiscal and monetary policy</a:t>
            </a:r>
          </a:p>
          <a:p>
            <a:pPr lvl="1">
              <a:lnSpc>
                <a:spcPct val="90000"/>
              </a:lnSpc>
            </a:pPr>
            <a:r>
              <a:rPr lang="en-US"/>
              <a:t>EMU (Economic and Monetary Union)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Economic effects of economic integration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Static effects: Short-term effects (shift of production)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Trade creation: production shifts to more efficient member countries from inefficient domestic or outside countries. 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Trade diversion: production shift to inefficient member countries from more efficient outsiders.</a:t>
            </a:r>
          </a:p>
          <a:p>
            <a:pPr>
              <a:lnSpc>
                <a:spcPct val="90000"/>
              </a:lnSpc>
            </a:pPr>
            <a:r>
              <a:rPr lang="en-US" sz="2800"/>
              <a:t>Dynamic effects: Long-term effects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Cost reduction due to economies of scale 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Cost reduction due to increased competition.</a:t>
            </a: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 bldLvl="2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History of EU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Treaty of Paris (1951)</a:t>
            </a:r>
          </a:p>
          <a:p>
            <a:pPr lvl="1">
              <a:lnSpc>
                <a:spcPct val="90000"/>
              </a:lnSpc>
            </a:pPr>
            <a:r>
              <a:rPr lang="en-US"/>
              <a:t>Formation of ECSC (European coal and steel community) by six countries</a:t>
            </a:r>
          </a:p>
          <a:p>
            <a:pPr>
              <a:lnSpc>
                <a:spcPct val="90000"/>
              </a:lnSpc>
            </a:pPr>
            <a:r>
              <a:rPr lang="en-US"/>
              <a:t>Treaty of Rome (1957)</a:t>
            </a:r>
          </a:p>
          <a:p>
            <a:pPr lvl="1">
              <a:lnSpc>
                <a:spcPct val="90000"/>
              </a:lnSpc>
            </a:pPr>
            <a:r>
              <a:rPr lang="en-US"/>
              <a:t>Formation of EEC (European economic community), initially free trade area, becoming a customs union in 1967.</a:t>
            </a:r>
          </a:p>
          <a:p>
            <a:pPr lvl="1">
              <a:lnSpc>
                <a:spcPct val="90000"/>
              </a:lnSpc>
            </a:pPr>
            <a:r>
              <a:rPr lang="en-US"/>
              <a:t>The Stockholm convention in 1960 created EFTA by seven countries to counteract EEC.</a:t>
            </a: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History of EU</a:t>
            </a:r>
            <a:br>
              <a:rPr lang="en-US"/>
            </a:br>
            <a:r>
              <a:rPr lang="en-US"/>
              <a:t>Continued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Single European Act of 1987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Creation of single market (Common market) effective on Jan. 1, 1993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Rename EEC by EU (15 members)</a:t>
            </a:r>
          </a:p>
          <a:p>
            <a:pPr>
              <a:lnSpc>
                <a:spcPct val="90000"/>
              </a:lnSpc>
            </a:pPr>
            <a:r>
              <a:rPr lang="en-US" sz="2800"/>
              <a:t>Treaty of Maastricht (1992)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Creation of an economic union, EMU (11 members)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Establishment of European Central Bank on July 1998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Introduction of a common currency, euro on Jan. 1, 1999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Circulation of euro on Jan 1, 2002</a:t>
            </a: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bldLvl="2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Organization of EU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European Commission: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administrative body of 20 members 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Initiate proposals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Guardian of the treaties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Implementing policies</a:t>
            </a:r>
          </a:p>
          <a:p>
            <a:pPr>
              <a:lnSpc>
                <a:spcPct val="90000"/>
              </a:lnSpc>
            </a:pPr>
            <a:r>
              <a:rPr lang="en-US" sz="2800"/>
              <a:t>European Parliament 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626 members elected according to population distribution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Legislative body, but final decision by Council of Ministers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Control over budget and supervision of the Commission</a:t>
            </a:r>
          </a:p>
          <a:p>
            <a:pPr lvl="1">
              <a:lnSpc>
                <a:spcPct val="90000"/>
              </a:lnSpc>
            </a:pPr>
            <a:endParaRPr lang="en-US" sz="240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 bldLvl="2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Organization of EU</a:t>
            </a:r>
            <a:br>
              <a:rPr lang="en-US"/>
            </a:br>
            <a:r>
              <a:rPr lang="en-US"/>
              <a:t>Continued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European Council and Council of Ministers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European Council: summit meeting of state heads, providing guidelines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Council of Ministers </a:t>
            </a:r>
          </a:p>
          <a:p>
            <a:pPr lvl="2">
              <a:lnSpc>
                <a:spcPct val="90000"/>
              </a:lnSpc>
            </a:pPr>
            <a:r>
              <a:rPr lang="en-US" sz="2000"/>
              <a:t>25 different councils (agriculture, transport, etc.)</a:t>
            </a:r>
          </a:p>
          <a:p>
            <a:pPr lvl="2">
              <a:lnSpc>
                <a:spcPct val="90000"/>
              </a:lnSpc>
            </a:pPr>
            <a:r>
              <a:rPr lang="en-US" sz="2000"/>
              <a:t>Final say on legislations</a:t>
            </a:r>
          </a:p>
          <a:p>
            <a:pPr lvl="2">
              <a:lnSpc>
                <a:spcPct val="90000"/>
              </a:lnSpc>
            </a:pPr>
            <a:r>
              <a:rPr lang="en-US" sz="2000"/>
              <a:t>Different votes allocated to individual countries (according to population)</a:t>
            </a:r>
          </a:p>
          <a:p>
            <a:pPr lvl="2">
              <a:lnSpc>
                <a:spcPct val="90000"/>
              </a:lnSpc>
            </a:pPr>
            <a:r>
              <a:rPr lang="en-US" sz="2000"/>
              <a:t>Unanimity or qualified majority voting required depending on issues.</a:t>
            </a:r>
          </a:p>
          <a:p>
            <a:pPr>
              <a:lnSpc>
                <a:spcPct val="90000"/>
              </a:lnSpc>
            </a:pPr>
            <a:r>
              <a:rPr lang="en-US" sz="2800"/>
              <a:t>Others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Court of Justice, Court of Auditors, sub-committees</a:t>
            </a:r>
          </a:p>
          <a:p>
            <a:pPr lvl="1">
              <a:lnSpc>
                <a:spcPct val="90000"/>
              </a:lnSpc>
            </a:pPr>
            <a:endParaRPr lang="en-US" sz="240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bldLvl="3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EMU </a:t>
            </a:r>
            <a:r>
              <a:rPr lang="en-US" sz="3600"/>
              <a:t>(Economic &amp; Monetary Union)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Common currency (Euro) area for 11 members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Euro became the official currency unit on Jan. 1, 1999.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Euro will be in circulation from Jan. 1, 2001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U.K, Denmark and Sweden opted out. 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Greece was not qualified. 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European Monetary System in 1979 </a:t>
            </a:r>
            <a:r>
              <a:rPr lang="en-US" sz="2400">
                <a:sym typeface="Wingdings" pitchFamily="2" charset="2"/>
              </a:rPr>
              <a:t> European Monetary Institute in 1994  </a:t>
            </a:r>
            <a:r>
              <a:rPr lang="en-US" sz="2400"/>
              <a:t>European Central Bank in July 1, 1998 </a:t>
            </a:r>
          </a:p>
          <a:p>
            <a:pPr>
              <a:lnSpc>
                <a:spcPct val="90000"/>
              </a:lnSpc>
            </a:pPr>
            <a:r>
              <a:rPr lang="en-US" sz="2800"/>
              <a:t>Convergence criteria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Inflation (no more than 1.5% above the 3 lowest ave.) 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Long-term interest rate (no more than 2% above the 3 best ave.)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Budget deficit: no more than 3% of GDP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Public debt: no more than 60% of GDP</a:t>
            </a:r>
          </a:p>
          <a:p>
            <a:pPr>
              <a:lnSpc>
                <a:spcPct val="90000"/>
              </a:lnSpc>
            </a:pPr>
            <a:endParaRPr lang="en-US" sz="280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Remaining Issues of EU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Further elimination of barriers to common market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Compatible standards and specifications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No barriers to market access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Coordination of VAT and other taxes</a:t>
            </a:r>
          </a:p>
          <a:p>
            <a:pPr>
              <a:lnSpc>
                <a:spcPct val="90000"/>
              </a:lnSpc>
            </a:pPr>
            <a:r>
              <a:rPr lang="en-US" sz="2800"/>
              <a:t>Expansion 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European Economic Area: extension of customs union privileges to EFTA member countries (Norway, Iceland and Liechtenstein accepted. Switzerland voted not to join)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Special agreements with Turkey and others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Expansion to central and eastern European countries </a:t>
            </a:r>
          </a:p>
          <a:p>
            <a:pPr lvl="2">
              <a:lnSpc>
                <a:spcPct val="90000"/>
              </a:lnSpc>
            </a:pPr>
            <a:r>
              <a:rPr lang="en-US" sz="2000"/>
              <a:t>Fast-track applicants</a:t>
            </a:r>
          </a:p>
          <a:p>
            <a:pPr lvl="2">
              <a:lnSpc>
                <a:spcPct val="90000"/>
              </a:lnSpc>
            </a:pPr>
            <a:r>
              <a:rPr lang="en-US" sz="2000"/>
              <a:t>Other applicants</a:t>
            </a: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bldLvl="2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NAFTA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North America Free trade Agreement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Free trade area among the U.S., Canada and Mexico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The largest trading bloc in terms of GNP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A good example of trade diversion (production shifted  from Asia to Mexico)</a:t>
            </a:r>
          </a:p>
          <a:p>
            <a:pPr>
              <a:lnSpc>
                <a:spcPct val="90000"/>
              </a:lnSpc>
            </a:pPr>
            <a:r>
              <a:rPr lang="en-US" sz="2800"/>
              <a:t>History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Automotive products Trade Agreement (1965) between the U.S. and Canada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Canada-U.S. Free Trade Agreement (1989)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NAFTA (1994)</a:t>
            </a: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bldLvl="2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Provisions of NAFTA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Elimination of tariffs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Most tariffs will be eliminated by 2004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The remaining by 2008</a:t>
            </a:r>
          </a:p>
          <a:p>
            <a:pPr>
              <a:lnSpc>
                <a:spcPct val="90000"/>
              </a:lnSpc>
            </a:pPr>
            <a:r>
              <a:rPr lang="en-US" sz="2800"/>
              <a:t>Elimination of nontariff barriers</a:t>
            </a:r>
          </a:p>
          <a:p>
            <a:pPr>
              <a:lnSpc>
                <a:spcPct val="90000"/>
              </a:lnSpc>
            </a:pPr>
            <a:r>
              <a:rPr lang="en-US" sz="2800"/>
              <a:t>Harmonization of trade rules (subsidies, antidumping, safety standards)</a:t>
            </a:r>
          </a:p>
          <a:p>
            <a:pPr>
              <a:lnSpc>
                <a:spcPct val="90000"/>
              </a:lnSpc>
            </a:pPr>
            <a:r>
              <a:rPr lang="en-US" sz="2800"/>
              <a:t>Liberalization of capital movement (FDI)</a:t>
            </a:r>
          </a:p>
          <a:p>
            <a:pPr>
              <a:lnSpc>
                <a:spcPct val="90000"/>
              </a:lnSpc>
            </a:pPr>
            <a:r>
              <a:rPr lang="en-US" sz="2800"/>
              <a:t>Protection of intellectual properties</a:t>
            </a:r>
          </a:p>
          <a:p>
            <a:pPr>
              <a:lnSpc>
                <a:spcPct val="90000"/>
              </a:lnSpc>
            </a:pPr>
            <a:r>
              <a:rPr lang="en-US" sz="2800"/>
              <a:t>Dispute settlement</a:t>
            </a:r>
          </a:p>
          <a:p>
            <a:pPr>
              <a:lnSpc>
                <a:spcPct val="90000"/>
              </a:lnSpc>
            </a:pPr>
            <a:r>
              <a:rPr lang="en-US" sz="2800"/>
              <a:t>Provisions on labor and environmental standards </a:t>
            </a:r>
          </a:p>
          <a:p>
            <a:pPr>
              <a:lnSpc>
                <a:spcPct val="90000"/>
              </a:lnSpc>
            </a:pPr>
            <a:endParaRPr lang="en-US" sz="2800"/>
          </a:p>
          <a:p>
            <a:pPr>
              <a:lnSpc>
                <a:spcPct val="90000"/>
              </a:lnSpc>
            </a:pPr>
            <a:endParaRPr lang="en-US" sz="280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bldLvl="2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Economic Effects of NAFTA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Trade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Trade among members increased faster than trade with the rest of world</a:t>
            </a:r>
          </a:p>
          <a:p>
            <a:pPr>
              <a:lnSpc>
                <a:spcPct val="90000"/>
              </a:lnSpc>
            </a:pPr>
            <a:r>
              <a:rPr lang="en-US" sz="2800"/>
              <a:t>Investment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Mexico is the main beneficiary (FDI not only from the U.S. and Canada, but also from other countries)</a:t>
            </a:r>
          </a:p>
          <a:p>
            <a:pPr>
              <a:lnSpc>
                <a:spcPct val="90000"/>
              </a:lnSpc>
            </a:pPr>
            <a:r>
              <a:rPr lang="en-US" sz="2800"/>
              <a:t>Employment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Difficult to measure because of too many confounding variables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Overall employment effect in the area including the U.S. has been positive</a:t>
            </a:r>
          </a:p>
          <a:p>
            <a:pPr lvl="1">
              <a:lnSpc>
                <a:spcPct val="90000"/>
              </a:lnSpc>
            </a:pPr>
            <a:endParaRPr lang="en-US" sz="240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 bldLvl="2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Issues related to NAFTA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Rule of origin and local content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Rule of origin: products must originate from North America to get preferential treatment.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Local content: the percentage of value of a product that must be from North America to be considered as North American origin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Currently 50% for most products and 62.5% for autos.    Political pressure to increase this percentage </a:t>
            </a:r>
          </a:p>
          <a:p>
            <a:pPr>
              <a:lnSpc>
                <a:spcPct val="90000"/>
              </a:lnSpc>
            </a:pPr>
            <a:r>
              <a:rPr lang="en-US" sz="2800"/>
              <a:t>Expansion of membership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Potential entry by Chile, and some central and south American countries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FTAA (Free Trade Area of America) proposal in 2001</a:t>
            </a: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bldLvl="2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Regional Trade Blocs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ASEAN and AFTA </a:t>
            </a:r>
          </a:p>
          <a:p>
            <a:pPr lvl="1">
              <a:lnSpc>
                <a:spcPct val="90000"/>
              </a:lnSpc>
            </a:pPr>
            <a:r>
              <a:rPr lang="en-US"/>
              <a:t>Originated in 1967</a:t>
            </a:r>
          </a:p>
          <a:p>
            <a:pPr lvl="1">
              <a:lnSpc>
                <a:spcPct val="90000"/>
              </a:lnSpc>
            </a:pPr>
            <a:r>
              <a:rPr lang="en-US"/>
              <a:t>Formation of AFTA in 1993</a:t>
            </a:r>
          </a:p>
          <a:p>
            <a:pPr lvl="1">
              <a:lnSpc>
                <a:spcPct val="90000"/>
              </a:lnSpc>
            </a:pPr>
            <a:r>
              <a:rPr lang="en-US"/>
              <a:t>Reduction of intrazone tariffs to a maximum of 5% by 2008 (by 2004 for some countries)</a:t>
            </a:r>
          </a:p>
          <a:p>
            <a:pPr>
              <a:lnSpc>
                <a:spcPct val="90000"/>
              </a:lnSpc>
            </a:pPr>
            <a:r>
              <a:rPr lang="en-US"/>
              <a:t>Mercosur (Southern Common Market)</a:t>
            </a:r>
          </a:p>
          <a:p>
            <a:pPr lvl="1">
              <a:lnSpc>
                <a:spcPct val="90000"/>
              </a:lnSpc>
            </a:pPr>
            <a:r>
              <a:rPr lang="en-US"/>
              <a:t>Formed in 1991 by Brazil, Argentina, Paraguay and Uruguay.</a:t>
            </a:r>
          </a:p>
          <a:p>
            <a:pPr lvl="1">
              <a:lnSpc>
                <a:spcPct val="90000"/>
              </a:lnSpc>
            </a:pPr>
            <a:r>
              <a:rPr lang="en-US"/>
              <a:t>Aim for a customs union, but not yet</a:t>
            </a: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bldLvl="2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Regional Trade Blocs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Others</a:t>
            </a:r>
          </a:p>
          <a:p>
            <a:pPr lvl="1"/>
            <a:r>
              <a:rPr lang="en-US"/>
              <a:t>Andean group (Andean Common Market)</a:t>
            </a:r>
          </a:p>
          <a:p>
            <a:pPr lvl="1"/>
            <a:r>
              <a:rPr lang="en-US"/>
              <a:t>ALADI (Latin American Integration Association)</a:t>
            </a:r>
          </a:p>
          <a:p>
            <a:pPr lvl="1"/>
            <a:r>
              <a:rPr lang="en-US"/>
              <a:t>CARICOM (Caribbean Community and Common Market)</a:t>
            </a:r>
          </a:p>
          <a:p>
            <a:pPr lvl="1"/>
            <a:r>
              <a:rPr lang="en-US"/>
              <a:t>CACM (Central American Common Market)</a:t>
            </a: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bldLvl="2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APEC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Asia Pacific Economic cooperation</a:t>
            </a:r>
          </a:p>
          <a:p>
            <a:pPr>
              <a:lnSpc>
                <a:spcPct val="90000"/>
              </a:lnSpc>
            </a:pPr>
            <a:r>
              <a:rPr lang="en-US" sz="2800"/>
              <a:t>Formed in 1989 to promote trade and investment</a:t>
            </a:r>
          </a:p>
          <a:p>
            <a:pPr>
              <a:lnSpc>
                <a:spcPct val="90000"/>
              </a:lnSpc>
            </a:pPr>
            <a:r>
              <a:rPr lang="en-US" sz="2800"/>
              <a:t>21 member countries that border the Pacific Rim</a:t>
            </a:r>
          </a:p>
          <a:p>
            <a:pPr>
              <a:lnSpc>
                <a:spcPct val="90000"/>
              </a:lnSpc>
            </a:pPr>
            <a:r>
              <a:rPr lang="en-US" sz="2800"/>
              <a:t>APEC is not a trading bloc</a:t>
            </a:r>
          </a:p>
          <a:p>
            <a:pPr>
              <a:lnSpc>
                <a:spcPct val="90000"/>
              </a:lnSpc>
            </a:pPr>
            <a:r>
              <a:rPr lang="en-US" sz="2800"/>
              <a:t>For trade liberalization and against protectionism</a:t>
            </a:r>
          </a:p>
          <a:p>
            <a:pPr>
              <a:lnSpc>
                <a:spcPct val="90000"/>
              </a:lnSpc>
            </a:pPr>
            <a:r>
              <a:rPr lang="en-US" sz="2800"/>
              <a:t>Prefer open regionalism over closed regionalism</a:t>
            </a:r>
          </a:p>
          <a:p>
            <a:pPr>
              <a:lnSpc>
                <a:spcPct val="90000"/>
              </a:lnSpc>
            </a:pPr>
            <a:r>
              <a:rPr lang="en-US" sz="2800"/>
              <a:t>Goal: Free and open trade 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by 2010 for the industrialized countries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 by 2020 for the rest of the members</a:t>
            </a: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bldLvl="2" autoUpdateAnimBg="0"/>
    </p:bldLst>
  </p:timing>
</p:sld>
</file>

<file path=ppt/theme/theme1.xml><?xml version="1.0" encoding="utf-8"?>
<a:theme xmlns:a="http://schemas.openxmlformats.org/drawingml/2006/main" name="Ricepaper">
  <a:themeElements>
    <a:clrScheme name="Ricepaper 2">
      <a:dk1>
        <a:srgbClr val="00264C"/>
      </a:dk1>
      <a:lt1>
        <a:srgbClr val="FFFFE9"/>
      </a:lt1>
      <a:dk2>
        <a:srgbClr val="333333"/>
      </a:dk2>
      <a:lt2>
        <a:srgbClr val="333333"/>
      </a:lt2>
      <a:accent1>
        <a:srgbClr val="78C0B2"/>
      </a:accent1>
      <a:accent2>
        <a:srgbClr val="262D4C"/>
      </a:accent2>
      <a:accent3>
        <a:srgbClr val="FFFFF2"/>
      </a:accent3>
      <a:accent4>
        <a:srgbClr val="001F40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Designs\Ricepaper.pot</Template>
  <TotalTime>198</TotalTime>
  <Words>1134</Words>
  <Application>Microsoft PowerPoint</Application>
  <PresentationFormat>On-screen Show (4:3)</PresentationFormat>
  <Paragraphs>151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Times New Roman</vt:lpstr>
      <vt:lpstr>Wingdings</vt:lpstr>
      <vt:lpstr>Ricepaper</vt:lpstr>
      <vt:lpstr>Economic Integration</vt:lpstr>
      <vt:lpstr>Introduction</vt:lpstr>
      <vt:lpstr>Four stages (types) of  economic integration</vt:lpstr>
      <vt:lpstr>Four stages (types) of  economic integration</vt:lpstr>
      <vt:lpstr>Economic effects of economic integration</vt:lpstr>
      <vt:lpstr>History of EU</vt:lpstr>
      <vt:lpstr>History of EU Continued</vt:lpstr>
      <vt:lpstr>Organization of EU</vt:lpstr>
      <vt:lpstr>Organization of EU Continued</vt:lpstr>
      <vt:lpstr>EMU (Economic &amp; Monetary Union)</vt:lpstr>
      <vt:lpstr>Remaining Issues of EU</vt:lpstr>
      <vt:lpstr>NAFTA</vt:lpstr>
      <vt:lpstr>Provisions of NAFTA</vt:lpstr>
      <vt:lpstr>Economic Effects of NAFTA</vt:lpstr>
      <vt:lpstr>Issues related to NAFTA</vt:lpstr>
      <vt:lpstr>Other Regional Trade Blocs</vt:lpstr>
      <vt:lpstr>Other Regional Trade Blocs</vt:lpstr>
      <vt:lpstr>APEC</vt:lpstr>
    </vt:vector>
  </TitlesOfParts>
  <Company>Southeast Missouri State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Regional Economic Integration</dc:title>
  <dc:creator>Kang H. Park</dc:creator>
  <cp:lastModifiedBy>user</cp:lastModifiedBy>
  <cp:revision>4</cp:revision>
  <dcterms:created xsi:type="dcterms:W3CDTF">2001-07-12T19:40:02Z</dcterms:created>
  <dcterms:modified xsi:type="dcterms:W3CDTF">2013-05-15T02:24:56Z</dcterms:modified>
</cp:coreProperties>
</file>