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0"/>
  </p:notesMasterIdLst>
  <p:sldIdLst>
    <p:sldId id="267" r:id="rId2"/>
    <p:sldId id="268" r:id="rId3"/>
    <p:sldId id="269" r:id="rId4"/>
    <p:sldId id="270" r:id="rId5"/>
    <p:sldId id="271" r:id="rId6"/>
    <p:sldId id="272" r:id="rId7"/>
    <p:sldId id="274" r:id="rId8"/>
    <p:sldId id="273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0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773DF38-1121-48C3-8681-959FE4753F2D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IN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0C5BA13-21B6-408A-A075-7ED9EA0C98E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78BEBDD-FBC0-4D6A-AC66-3A68F252A15A}" type="slidenum">
              <a:rPr lang="en-IN" smtClean="0"/>
              <a:pPr>
                <a:defRPr/>
              </a:pPr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FC74AE-2829-445F-8E07-E5F81D0BB9C5}" type="slidenum">
              <a:rPr lang="en-IN" smtClean="0"/>
              <a:pPr>
                <a:defRPr/>
              </a:pPr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B3BF50-8DD1-4F16-8810-ADF6367AA765}" type="slidenum">
              <a:rPr lang="en-IN" smtClean="0"/>
              <a:pPr>
                <a:defRPr/>
              </a:pPr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ABFCFF-1447-4132-ABEB-80289F446E2F}" type="slidenum">
              <a:rPr lang="en-IN" smtClean="0"/>
              <a:pPr>
                <a:defRPr/>
              </a:pPr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408216-D44B-48FE-BF02-10D07EDDBA24}" type="slidenum">
              <a:rPr lang="en-IN" smtClean="0"/>
              <a:pPr>
                <a:defRPr/>
              </a:pPr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8BEB7-420A-47B4-91F2-091E35328B83}" type="slidenum">
              <a:rPr lang="en-IN" smtClean="0"/>
              <a:pPr>
                <a:defRPr/>
              </a:pPr>
              <a:t>6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CFA0386-7C57-4F12-8BCA-BBC2FEDC75EA}" type="slidenum">
              <a:rPr lang="en-IN" smtClean="0"/>
              <a:pPr>
                <a:defRPr/>
              </a:pPr>
              <a:t>8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4700" b="1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45790D-8646-42C4-B5CD-1398544CD1D8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8C5D0-DEA9-4BE3-858A-56FBE7BB7CC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CE13D-85EE-466D-B478-022CB83630AC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559F-FF25-493E-B0C8-B25105D5F43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0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3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47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2151F-A884-4E70-BA9C-6064A3B95766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9A98D-0C65-4C99-8197-565BEE0E748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B449C-BC8C-426D-8E72-4C9395BCBE87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84E134-A8CE-4DC0-8C06-BA259A43315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5F05A0-4DBF-42A8-A3D7-19B274477B26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0181E-BB50-44E9-BA6E-994C07F28B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62687-9B54-4F9F-8FAD-1781AB3CB789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A7B95-6C5F-4706-9C7B-B533733BDBD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29B9AB-65FA-46E9-8B88-2A0309F82EC2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CA93D-2A61-4111-AB48-26A6D79ED6A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80C58-293C-4FDC-81F4-6C6B67FA2AAE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22E42-0495-41F8-BEC1-01C560F583E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2855913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65DC5-F1DF-46D8-A3B0-97038D0D7DE2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0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437B6-88FB-4324-837C-4DCBC60AF77A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A8E4C-2481-4C8C-A783-FFEED0B8AF2A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DC718-D94A-4271-9973-DF828C17B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38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03576-672F-452A-86B5-9F985FA3EE09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3" y="6376988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E8FD0D-2FF4-41BB-89F1-F8C6E14C6DA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fld id="{DFB93711-DFEA-4B23-8795-94AD930A0995}" type="datetimeFigureOut">
              <a:rPr lang="en-US"/>
              <a:pPr>
                <a:defRPr/>
              </a:pPr>
              <a:t>5/16/2013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3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0" y="6477000"/>
            <a:ext cx="733425" cy="274638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pPr>
              <a:defRPr/>
            </a:pPr>
            <a:fld id="{3FC4633E-FDE3-4A50-A631-C4605F43979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89" r:id="rId2"/>
    <p:sldLayoutId id="2147483795" r:id="rId3"/>
    <p:sldLayoutId id="2147483790" r:id="rId4"/>
    <p:sldLayoutId id="2147483791" r:id="rId5"/>
    <p:sldLayoutId id="2147483792" r:id="rId6"/>
    <p:sldLayoutId id="2147483796" r:id="rId7"/>
    <p:sldLayoutId id="2147483797" r:id="rId8"/>
    <p:sldLayoutId id="2147483798" r:id="rId9"/>
    <p:sldLayoutId id="2147483793" r:id="rId10"/>
    <p:sldLayoutId id="21474837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500" b="1" kern="1200">
          <a:solidFill>
            <a:srgbClr val="FFC8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500" b="1">
          <a:solidFill>
            <a:srgbClr val="FFC800"/>
          </a:solidFill>
          <a:latin typeface="Corbel" pitchFamily="34" charset="0"/>
        </a:defRPr>
      </a:lvl9pPr>
      <a:extLst/>
    </p:titleStyle>
    <p:bodyStyle>
      <a:lvl1pPr marL="438150" indent="-319088" algn="l" rtl="0" eaLnBrk="0" fontAlgn="base" hangingPunct="0">
        <a:spcBef>
          <a:spcPct val="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spcBef>
          <a:spcPct val="20000"/>
        </a:spcBef>
        <a:spcAft>
          <a:spcPct val="0"/>
        </a:spcAft>
        <a:buClr>
          <a:srgbClr val="E66C7D"/>
        </a:buClr>
        <a:buFont typeface="Arial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025" indent="-182563" algn="l" rtl="0" eaLnBrk="0" fontAlgn="base" hangingPunct="0">
        <a:spcBef>
          <a:spcPct val="20000"/>
        </a:spcBef>
        <a:spcAft>
          <a:spcPct val="0"/>
        </a:spcAft>
        <a:buClr>
          <a:srgbClr val="6BB76D"/>
        </a:buClr>
        <a:buFont typeface="Arial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5575" indent="-182563" algn="l" rtl="0" eaLnBrk="0" fontAlgn="base" hangingPunct="0">
        <a:spcBef>
          <a:spcPct val="20000"/>
        </a:spcBef>
        <a:spcAft>
          <a:spcPct val="0"/>
        </a:spcAft>
        <a:buClr>
          <a:srgbClr val="E88651"/>
        </a:buClr>
        <a:buFont typeface="Wingdings 3" pitchFamily="18" charset="2"/>
        <a:buChar char="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1948" TargetMode="External"/><Relationship Id="rId3" Type="http://schemas.openxmlformats.org/officeDocument/2006/relationships/hyperlink" Target="http://en.wikipedia.org/wiki/WTO" TargetMode="External"/><Relationship Id="rId7" Type="http://schemas.openxmlformats.org/officeDocument/2006/relationships/hyperlink" Target="http://en.wikipedia.org/wiki/1_Januar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/index.php?title=Conference_on_Trade_and_Employment&amp;action=edit&amp;redlink=1" TargetMode="External"/><Relationship Id="rId5" Type="http://schemas.openxmlformats.org/officeDocument/2006/relationships/hyperlink" Target="http://en.wikipedia.org/wiki/United_Nations" TargetMode="External"/><Relationship Id="rId4" Type="http://schemas.openxmlformats.org/officeDocument/2006/relationships/hyperlink" Target="http://en.wikipedia.org/wiki/1947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reat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Most_favored_nation" TargetMode="External"/><Relationship Id="rId5" Type="http://schemas.openxmlformats.org/officeDocument/2006/relationships/hyperlink" Target="http://en.wikipedia.org/wiki/Congressional-executive_agreement" TargetMode="External"/><Relationship Id="rId4" Type="http://schemas.openxmlformats.org/officeDocument/2006/relationships/hyperlink" Target="http://en.wikipedia.org/wiki/United_States_la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Genev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en.wikipedia.org/wiki/European_Community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Geneva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1993" TargetMode="External"/><Relationship Id="rId7" Type="http://schemas.openxmlformats.org/officeDocument/2006/relationships/hyperlink" Target="http://en.wikipedia.org/wiki/199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January_1" TargetMode="External"/><Relationship Id="rId5" Type="http://schemas.openxmlformats.org/officeDocument/2006/relationships/hyperlink" Target="http://en.wikipedia.org/wiki/European_Communities" TargetMode="External"/><Relationship Id="rId4" Type="http://schemas.openxmlformats.org/officeDocument/2006/relationships/hyperlink" Target="http://en.wikipedia.org/wiki/World_Trade_Organization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It was a matter of discussion in Bretton wood Conference</a:t>
            </a:r>
          </a:p>
          <a:p>
            <a:pPr eaLnBrk="1" hangingPunct="1"/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International Trade Organization (</a:t>
            </a:r>
            <a:r>
              <a:rPr lang="en-US" sz="2800" smtClean="0">
                <a:latin typeface="Times New Roman" pitchFamily="18" charset="0"/>
                <a:cs typeface="Times New Roman" pitchFamily="18" charset="0"/>
                <a:hlinkClick r:id="rId3" tooltip="WTO"/>
              </a:rPr>
              <a:t>ITO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) was first proposed in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  <a:hlinkClick r:id="rId4" tooltip="1947"/>
              </a:rPr>
              <a:t>1947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during the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  <a:hlinkClick r:id="rId5" tooltip="United Nations"/>
              </a:rPr>
              <a:t>United Nations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  <a:hlinkClick r:id="rId6" tooltip="Conference on Trade and Employment (page does not exist)"/>
              </a:rPr>
              <a:t>Conference on Trade and Employment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.  </a:t>
            </a:r>
          </a:p>
          <a:p>
            <a:pPr eaLnBrk="1" hangingPunct="1"/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GATT was  signed by 23 countries on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  <a:hlinkClick r:id="rId7" tooltip="1 January"/>
              </a:rPr>
              <a:t>January 1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  <a:hlinkClick r:id="rId8" tooltip="1948"/>
              </a:rPr>
              <a:t>1948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 . 45,000 tariff concessions were made affecting over $10 billion in trade which comprised 20% of the total global market at the time.</a:t>
            </a:r>
            <a:r>
              <a:rPr lang="en-US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/>
            <a:endParaRPr lang="en-IN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0" dirty="0"/>
              <a:t>GATT 1947</a:t>
            </a:r>
            <a:br>
              <a:rPr lang="en-US" b="0" dirty="0"/>
            </a:br>
            <a:endParaRPr 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575"/>
            <a:ext cx="8229600" cy="1252538"/>
          </a:xfrm>
        </p:spPr>
        <p:txBody>
          <a:bodyPr/>
          <a:lstStyle/>
          <a:p>
            <a:pPr eaLnBrk="1" hangingPunct="1">
              <a:defRPr/>
            </a:pPr>
            <a:endParaRPr lang="en-IN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GATT, as an international agreement, is a </a:t>
            </a:r>
            <a:r>
              <a:rPr lang="en-US" smtClean="0">
                <a:hlinkClick r:id="rId3" tooltip="Treaty"/>
              </a:rPr>
              <a:t>treaty</a:t>
            </a:r>
            <a:r>
              <a:rPr lang="en-US" smtClean="0"/>
              <a:t>. </a:t>
            </a:r>
          </a:p>
          <a:p>
            <a:pPr eaLnBrk="1" hangingPunct="1"/>
            <a:r>
              <a:rPr lang="en-US" smtClean="0"/>
              <a:t>Under </a:t>
            </a:r>
            <a:r>
              <a:rPr lang="en-US" smtClean="0">
                <a:hlinkClick r:id="rId4" tooltip="United States law"/>
              </a:rPr>
              <a:t>United States law</a:t>
            </a:r>
            <a:r>
              <a:rPr lang="en-US" smtClean="0"/>
              <a:t> it is classified as a </a:t>
            </a:r>
            <a:r>
              <a:rPr lang="en-US" smtClean="0">
                <a:hlinkClick r:id="rId5" tooltip="Congressional-executive agreement"/>
              </a:rPr>
              <a:t>congressional-executive agreement</a:t>
            </a:r>
            <a:r>
              <a:rPr lang="en-US" smtClean="0"/>
              <a:t>. </a:t>
            </a:r>
          </a:p>
          <a:p>
            <a:pPr eaLnBrk="1" hangingPunct="1"/>
            <a:r>
              <a:rPr lang="en-US" smtClean="0"/>
              <a:t>The agreement is based on the "</a:t>
            </a:r>
            <a:r>
              <a:rPr lang="en-US" i="1" smtClean="0"/>
              <a:t>unconditional </a:t>
            </a:r>
            <a:r>
              <a:rPr lang="en-US" i="1" smtClean="0">
                <a:hlinkClick r:id="rId6" tooltip="Most favored nation"/>
              </a:rPr>
              <a:t>most favored nation</a:t>
            </a:r>
            <a:r>
              <a:rPr lang="en-US" i="1" smtClean="0"/>
              <a:t> principle</a:t>
            </a:r>
            <a:r>
              <a:rPr lang="en-US" smtClean="0"/>
              <a:t>" (the conditions applied to the most favored trading nation (i.e. the one with the least restrictions) apply to all trading nations). </a:t>
            </a:r>
          </a:p>
          <a:p>
            <a:pPr eaLnBrk="1" hangingPunct="1"/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Round </a:t>
            </a:r>
            <a:r>
              <a:rPr lang="en-US" dirty="0" err="1" smtClean="0"/>
              <a:t>conferrence</a:t>
            </a:r>
            <a:endParaRPr lang="en-IN" dirty="0"/>
          </a:p>
        </p:txBody>
      </p:sp>
      <p:sp>
        <p:nvSpPr>
          <p:cNvPr id="1024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238"/>
            <a:ext cx="4038600" cy="4624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IInd round 1949(Annency)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mtClean="0"/>
              <a:t> The main focus of the talks was more tariff reductions, around 5000 total.</a:t>
            </a:r>
            <a:endParaRPr lang="en-US" b="1" smtClean="0"/>
          </a:p>
          <a:p>
            <a:pPr eaLnBrk="1" hangingPunct="1">
              <a:lnSpc>
                <a:spcPct val="90000"/>
              </a:lnSpc>
            </a:pPr>
            <a:r>
              <a:rPr lang="en-US" b="1" smtClean="0"/>
              <a:t>IIIrd  round 1951(Torquay)</a:t>
            </a:r>
            <a:r>
              <a:rPr lang="en-US" smtClean="0"/>
              <a:t>. 8,700 tariff concessions were made</a:t>
            </a:r>
          </a:p>
          <a:p>
            <a:pPr eaLnBrk="1" hangingPunct="1"/>
            <a:endParaRPr lang="en-IN" smtClean="0"/>
          </a:p>
        </p:txBody>
      </p:sp>
      <p:sp>
        <p:nvSpPr>
          <p:cNvPr id="1024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038600" cy="46243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Ivth round GATT 1955-1956</a:t>
            </a:r>
            <a:r>
              <a:rPr lang="en-US" smtClean="0"/>
              <a:t> returned to </a:t>
            </a:r>
            <a:r>
              <a:rPr lang="en-US" smtClean="0">
                <a:hlinkClick r:id="rId3" tooltip="Geneva"/>
              </a:rPr>
              <a:t>Geneva</a:t>
            </a:r>
            <a:r>
              <a:rPr lang="en-US" smtClean="0"/>
              <a:t>. $2.5 billion in tariffs were eliminated or reduced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Vth roundThe fifth round occurred once more in </a:t>
            </a:r>
            <a:r>
              <a:rPr lang="en-US" smtClean="0">
                <a:hlinkClick r:id="rId3" tooltip="Geneva"/>
              </a:rPr>
              <a:t>Geneva</a:t>
            </a:r>
            <a:r>
              <a:rPr lang="en-US" smtClean="0"/>
              <a:t> Along with reducing over $4.9 billion in tariffs, creation of the(</a:t>
            </a:r>
            <a:r>
              <a:rPr lang="en-US" smtClean="0">
                <a:hlinkClick r:id="rId4" tooltip="European Community"/>
              </a:rPr>
              <a:t>EEC</a:t>
            </a:r>
            <a:r>
              <a:rPr lang="en-US" smtClean="0"/>
              <a:t>) </a:t>
            </a:r>
          </a:p>
          <a:p>
            <a:pPr eaLnBrk="1" hangingPunct="1">
              <a:lnSpc>
                <a:spcPct val="90000"/>
              </a:lnSpc>
            </a:pP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Round </a:t>
            </a:r>
            <a:r>
              <a:rPr lang="en-US" dirty="0" err="1" smtClean="0"/>
              <a:t>conferrence</a:t>
            </a:r>
            <a:r>
              <a:rPr lang="en-US" dirty="0" smtClean="0"/>
              <a:t>  </a:t>
            </a:r>
            <a:r>
              <a:rPr lang="en-US" sz="2800" i="1" dirty="0" smtClean="0"/>
              <a:t>continues</a:t>
            </a:r>
            <a:endParaRPr lang="en-IN" sz="2800" i="1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smtClean="0"/>
              <a:t>VI th roundGATT "Kennedy" 1964-1967</a:t>
            </a:r>
          </a:p>
          <a:p>
            <a:pPr eaLnBrk="1" hangingPunct="1">
              <a:lnSpc>
                <a:spcPct val="90000"/>
              </a:lnSpc>
              <a:buFont typeface="Wingdings 2" pitchFamily="18" charset="2"/>
              <a:buNone/>
            </a:pPr>
            <a:r>
              <a:rPr lang="en-US" smtClean="0"/>
              <a:t> take place in </a:t>
            </a:r>
            <a:r>
              <a:rPr lang="en-US" smtClean="0">
                <a:hlinkClick r:id="rId3" tooltip="Geneva"/>
              </a:rPr>
              <a:t>Geneva</a:t>
            </a:r>
            <a:r>
              <a:rPr lang="en-US" smtClean="0"/>
              <a:t> . Concessions were made on $40 billion worth of tariffs. Some of the GATT negotiation rules were also more clearly defined.</a:t>
            </a:r>
            <a:endParaRPr lang="en-US" b="1" smtClean="0"/>
          </a:p>
          <a:p>
            <a:pPr eaLnBrk="1" hangingPunct="1">
              <a:lnSpc>
                <a:spcPct val="90000"/>
              </a:lnSpc>
            </a:pPr>
            <a:r>
              <a:rPr lang="en-US" b="1" smtClean="0"/>
              <a:t> GATT "Tokyo Round" 1973-1979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Reduced tariffs and established new regulations aimed at controlling the proliferation of non-tariff barriers and voluntary export restrictions. Concessions were made on $190 billion worth</a:t>
            </a: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Uruguay round (1986-1993)</a:t>
            </a:r>
            <a:endParaRPr lang="en-IN" dirty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 It was the most ambitious round to date, hoping to expand the competence of the GATT to important new areas such as services, capital, intellectual property, textiles, and agriculture.</a:t>
            </a:r>
          </a:p>
          <a:p>
            <a:pPr eaLnBrk="1" hangingPunct="1">
              <a:lnSpc>
                <a:spcPct val="80000"/>
              </a:lnSpc>
            </a:pPr>
            <a:r>
              <a:rPr lang="en-US" smtClean="0"/>
              <a:t>In </a:t>
            </a:r>
            <a:r>
              <a:rPr lang="en-US" smtClean="0">
                <a:hlinkClick r:id="rId3" tooltip="1993"/>
              </a:rPr>
              <a:t>1993</a:t>
            </a:r>
            <a:r>
              <a:rPr lang="en-US" smtClean="0"/>
              <a:t> the GATT was updated (</a:t>
            </a:r>
            <a:r>
              <a:rPr lang="en-US" i="1" smtClean="0"/>
              <a:t>GATT 1994</a:t>
            </a:r>
            <a:r>
              <a:rPr lang="en-US" smtClean="0"/>
              <a:t>) and </a:t>
            </a:r>
            <a:r>
              <a:rPr lang="en-US" smtClean="0">
                <a:hlinkClick r:id="rId4" tooltip="World Trade Organization"/>
              </a:rPr>
              <a:t>World Trade Organization</a:t>
            </a:r>
            <a:r>
              <a:rPr lang="en-US" smtClean="0"/>
              <a:t> (WTO) was formed. The 75 existing GATT members and the </a:t>
            </a:r>
            <a:r>
              <a:rPr lang="en-US" smtClean="0">
                <a:hlinkClick r:id="rId5" tooltip="European Communities"/>
              </a:rPr>
              <a:t>European Communities</a:t>
            </a:r>
            <a:r>
              <a:rPr lang="en-US" smtClean="0"/>
              <a:t> became the founding members of the WTO on </a:t>
            </a:r>
            <a:r>
              <a:rPr lang="en-US" smtClean="0">
                <a:hlinkClick r:id="rId6" tooltip="January 1"/>
              </a:rPr>
              <a:t>January 1</a:t>
            </a:r>
            <a:r>
              <a:rPr lang="en-US" smtClean="0"/>
              <a:t>, </a:t>
            </a:r>
            <a:r>
              <a:rPr lang="en-US" smtClean="0">
                <a:hlinkClick r:id="rId7" tooltip="1995"/>
              </a:rPr>
              <a:t>1995</a:t>
            </a:r>
            <a:r>
              <a:rPr lang="en-US" smtClean="0"/>
              <a:t>. </a:t>
            </a: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Reasons for failure of GATT</a:t>
            </a:r>
            <a:endParaRPr lang="en-IN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Domestic legislation vs GATT agreement.</a:t>
            </a:r>
          </a:p>
          <a:p>
            <a:pPr eaLnBrk="1" hangingPunct="1"/>
            <a:r>
              <a:rPr lang="en-US" smtClean="0"/>
              <a:t>No proposal for trade in services.</a:t>
            </a:r>
          </a:p>
          <a:p>
            <a:pPr eaLnBrk="1" hangingPunct="1"/>
            <a:r>
              <a:rPr lang="en-US" smtClean="0"/>
              <a:t>No policy for intellectual property rights and investment areas.</a:t>
            </a:r>
          </a:p>
          <a:p>
            <a:pPr eaLnBrk="1" hangingPunct="1"/>
            <a:r>
              <a:rPr lang="en-US" smtClean="0"/>
              <a:t>No platform for settlement of trade disputes, trade reviews etc.</a:t>
            </a:r>
          </a:p>
          <a:p>
            <a:pPr eaLnBrk="1" hangingPunct="1"/>
            <a:r>
              <a:rPr lang="en-US" smtClean="0"/>
              <a:t>No scope for strengthening of multilateral and plurilateral trade agreements.</a:t>
            </a:r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Objectives of WTO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Preamble of MFN principle</a:t>
            </a:r>
          </a:p>
          <a:p>
            <a:r>
              <a:rPr lang="en-US" smtClean="0"/>
              <a:t>Predictable and growing access to markets</a:t>
            </a:r>
          </a:p>
          <a:p>
            <a:r>
              <a:rPr lang="en-US" smtClean="0"/>
              <a:t>Promoting fair competition.</a:t>
            </a:r>
          </a:p>
          <a:p>
            <a:r>
              <a:rPr lang="en-US" smtClean="0"/>
              <a:t> Encouraging development and economic reform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25272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Obligations under WTO</a:t>
            </a:r>
            <a:endParaRPr lang="en-IN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Tariff reductions.</a:t>
            </a:r>
          </a:p>
          <a:p>
            <a:pPr eaLnBrk="1" hangingPunct="1"/>
            <a:r>
              <a:rPr lang="en-US" sz="2800" smtClean="0"/>
              <a:t>Lifting of NTBs(MFA)</a:t>
            </a:r>
          </a:p>
          <a:p>
            <a:pPr eaLnBrk="1" hangingPunct="1"/>
            <a:r>
              <a:rPr lang="en-US" sz="2800" smtClean="0"/>
              <a:t>Inclusion of agriculture.</a:t>
            </a:r>
          </a:p>
          <a:p>
            <a:pPr eaLnBrk="1" hangingPunct="1"/>
            <a:r>
              <a:rPr lang="en-US" sz="2800" smtClean="0"/>
              <a:t>Change in domestic policies on subsidies.</a:t>
            </a:r>
          </a:p>
          <a:p>
            <a:pPr eaLnBrk="1" hangingPunct="1"/>
            <a:r>
              <a:rPr lang="en-US" sz="2800" smtClean="0"/>
              <a:t>MFN obligation.</a:t>
            </a:r>
          </a:p>
          <a:p>
            <a:pPr eaLnBrk="1" hangingPunct="1"/>
            <a:r>
              <a:rPr lang="en-US" sz="2800" smtClean="0"/>
              <a:t>Inclusion of service sector(GATS).</a:t>
            </a:r>
          </a:p>
          <a:p>
            <a:pPr eaLnBrk="1" hangingPunct="1"/>
            <a:r>
              <a:rPr lang="en-US" sz="2800" smtClean="0"/>
              <a:t>TRIMS.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sz="2800" smtClean="0"/>
              <a:t>Agriculture (cairns group- 14 countries)</a:t>
            </a:r>
          </a:p>
          <a:p>
            <a:pPr eaLnBrk="1" hangingPunct="1"/>
            <a:r>
              <a:rPr lang="en-US" sz="2800" smtClean="0"/>
              <a:t>TRIPs.</a:t>
            </a:r>
          </a:p>
          <a:p>
            <a:pPr eaLnBrk="1" hangingPunct="1"/>
            <a:r>
              <a:rPr lang="en-US" sz="2800" smtClean="0"/>
              <a:t>Antidumping measures.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IN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ppt/theme/themeOverride2.xml><?xml version="1.0" encoding="utf-8"?>
<a:themeOverride xmlns:a="http://schemas.openxmlformats.org/drawingml/2006/main">
  <a:clrScheme name="Module">
    <a:dk1>
      <a:sysClr val="windowText" lastClr="000000"/>
    </a:dk1>
    <a:lt1>
      <a:sysClr val="window" lastClr="FFFFFF"/>
    </a:lt1>
    <a:dk2>
      <a:srgbClr val="5A6378"/>
    </a:dk2>
    <a:lt2>
      <a:srgbClr val="D4D4D6"/>
    </a:lt2>
    <a:accent1>
      <a:srgbClr val="F0AD00"/>
    </a:accent1>
    <a:accent2>
      <a:srgbClr val="60B5CC"/>
    </a:accent2>
    <a:accent3>
      <a:srgbClr val="E66C7D"/>
    </a:accent3>
    <a:accent4>
      <a:srgbClr val="6BB76D"/>
    </a:accent4>
    <a:accent5>
      <a:srgbClr val="E88651"/>
    </a:accent5>
    <a:accent6>
      <a:srgbClr val="C64847"/>
    </a:accent6>
    <a:hlink>
      <a:srgbClr val="168BBA"/>
    </a:hlink>
    <a:folHlink>
      <a:srgbClr val="68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264</TotalTime>
  <Words>479</Words>
  <Application>Microsoft Office PowerPoint</Application>
  <PresentationFormat>On-screen Show (4:3)</PresentationFormat>
  <Paragraphs>51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Corbel</vt:lpstr>
      <vt:lpstr>Wingdings 2</vt:lpstr>
      <vt:lpstr>Wingdings</vt:lpstr>
      <vt:lpstr>Wingdings 3</vt:lpstr>
      <vt:lpstr>Calibri</vt:lpstr>
      <vt:lpstr>Times New Roman</vt:lpstr>
      <vt:lpstr>Module</vt:lpstr>
      <vt:lpstr>GATT 1947 </vt:lpstr>
      <vt:lpstr>Slide 2</vt:lpstr>
      <vt:lpstr>Round conferrence</vt:lpstr>
      <vt:lpstr>Round conferrence  continues</vt:lpstr>
      <vt:lpstr>Uruguay round (1986-1993)</vt:lpstr>
      <vt:lpstr>Reasons for failure of GATT</vt:lpstr>
      <vt:lpstr>Objectives of WTO</vt:lpstr>
      <vt:lpstr>Obligations under WTO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BUSINESS</dc:title>
  <dc:creator>viswam</dc:creator>
  <cp:lastModifiedBy>user</cp:lastModifiedBy>
  <cp:revision>26</cp:revision>
  <dcterms:created xsi:type="dcterms:W3CDTF">2009-11-17T16:09:52Z</dcterms:created>
  <dcterms:modified xsi:type="dcterms:W3CDTF">2013-05-16T03:50:03Z</dcterms:modified>
</cp:coreProperties>
</file>