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14" r:id="rId1"/>
  </p:sldMasterIdLst>
  <p:notesMasterIdLst>
    <p:notesMasterId r:id="rId42"/>
  </p:notesMasterIdLst>
  <p:sldIdLst>
    <p:sldId id="380" r:id="rId2"/>
    <p:sldId id="308" r:id="rId3"/>
    <p:sldId id="289" r:id="rId4"/>
    <p:sldId id="420" r:id="rId5"/>
    <p:sldId id="381" r:id="rId6"/>
    <p:sldId id="416" r:id="rId7"/>
    <p:sldId id="382" r:id="rId8"/>
    <p:sldId id="417" r:id="rId9"/>
    <p:sldId id="383" r:id="rId10"/>
    <p:sldId id="418" r:id="rId11"/>
    <p:sldId id="384" r:id="rId12"/>
    <p:sldId id="419" r:id="rId13"/>
    <p:sldId id="385" r:id="rId14"/>
    <p:sldId id="292" r:id="rId15"/>
    <p:sldId id="260" r:id="rId16"/>
    <p:sldId id="258" r:id="rId17"/>
    <p:sldId id="386" r:id="rId18"/>
    <p:sldId id="278" r:id="rId19"/>
    <p:sldId id="274" r:id="rId20"/>
    <p:sldId id="315" r:id="rId21"/>
    <p:sldId id="293" r:id="rId22"/>
    <p:sldId id="320" r:id="rId23"/>
    <p:sldId id="392" r:id="rId24"/>
    <p:sldId id="275" r:id="rId25"/>
    <p:sldId id="298" r:id="rId26"/>
    <p:sldId id="276" r:id="rId27"/>
    <p:sldId id="330" r:id="rId28"/>
    <p:sldId id="277" r:id="rId29"/>
    <p:sldId id="332" r:id="rId30"/>
    <p:sldId id="333" r:id="rId31"/>
    <p:sldId id="334" r:id="rId32"/>
    <p:sldId id="428" r:id="rId33"/>
    <p:sldId id="280" r:id="rId34"/>
    <p:sldId id="429" r:id="rId35"/>
    <p:sldId id="350" r:id="rId36"/>
    <p:sldId id="431" r:id="rId37"/>
    <p:sldId id="303" r:id="rId38"/>
    <p:sldId id="304" r:id="rId39"/>
    <p:sldId id="288" r:id="rId40"/>
    <p:sldId id="305" r:id="rId4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</p:showPr>
  <p:clrMru>
    <a:srgbClr val="D88100"/>
    <a:srgbClr val="FFCC99"/>
    <a:srgbClr val="663300"/>
    <a:srgbClr val="1C2850"/>
    <a:srgbClr val="E7F6FF"/>
    <a:srgbClr val="165E94"/>
    <a:srgbClr val="182244"/>
    <a:srgbClr val="FCFC0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8610" autoAdjust="0"/>
    <p:restoredTop sz="94581" autoAdjust="0"/>
  </p:normalViewPr>
  <p:slideViewPr>
    <p:cSldViewPr>
      <p:cViewPr varScale="1">
        <p:scale>
          <a:sx n="70" d="100"/>
          <a:sy n="70" d="100"/>
        </p:scale>
        <p:origin x="-96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3386"/>
    </p:cViewPr>
  </p:sorterViewPr>
  <p:notesViewPr>
    <p:cSldViewPr>
      <p:cViewPr varScale="1">
        <p:scale>
          <a:sx n="58" d="100"/>
          <a:sy n="58" d="100"/>
        </p:scale>
        <p:origin x="-1812" y="-7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693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2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693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5693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693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42F1E07-BAB0-4B58-B81F-891927DFC7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668" name="Rectangle 20"/>
          <p:cNvSpPr>
            <a:spLocks noGrp="1" noChangeArrowheads="1"/>
          </p:cNvSpPr>
          <p:nvPr>
            <p:ph type="ctrTitle"/>
          </p:nvPr>
        </p:nvSpPr>
        <p:spPr bwMode="auto">
          <a:xfrm>
            <a:off x="1524000" y="1828800"/>
            <a:ext cx="62484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pPr lvl="0"/>
            <a:endParaRPr lang="en-US" noProof="0" smtClean="0"/>
          </a:p>
        </p:txBody>
      </p:sp>
      <p:sp>
        <p:nvSpPr>
          <p:cNvPr id="539669" name="Rectangle 2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429000"/>
            <a:ext cx="64008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>
              <a:buFont typeface="Wingdings" pitchFamily="2" charset="2"/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endParaRPr lang="en-US" noProof="0" smtClean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</a:t>
            </a:r>
            <a:fld id="{E2183EF8-A74E-462D-ABAC-39877957DF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</a:t>
            </a:r>
            <a:fld id="{3C0B6265-BF17-4C47-BAAF-10879CA251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</a:t>
            </a:r>
            <a:fld id="{7D0AF208-2BAE-430B-81E1-030A4EDFCA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</a:t>
            </a:r>
            <a:fld id="{B4A095E1-EC9B-44B5-AF40-E74F1B57FB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</a:t>
            </a:r>
            <a:fld id="{77426F47-952A-450D-A1B9-5CC5649AD2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</a:t>
            </a:r>
            <a:fld id="{E06745D1-83F7-4606-B87B-9FC1AB10B3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</a:t>
            </a:r>
            <a:fld id="{D1F2ED7D-5185-41F2-9F3E-542F5AE244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</a:t>
            </a:r>
            <a:fld id="{DC789C06-FA86-4AE5-85EA-178D0FAB77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</a:t>
            </a:r>
            <a:fld id="{FAD96432-E4C9-43E6-B54F-9F56626875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</a:t>
            </a:r>
            <a:fld id="{4A68ACE6-3580-4A41-B933-493612F07D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</a:t>
            </a:r>
            <a:fld id="{C8739A28-F347-4219-A7A4-F42C305FB2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</a:t>
            </a:r>
            <a:fld id="{5B7DC819-935A-42C6-835B-60F21575D4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</a:t>
            </a:r>
            <a:fld id="{ED5A1501-DBE7-4FE7-ABCF-771AD33D18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938588"/>
            <a:ext cx="8229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3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</a:t>
            </a:r>
            <a:fld id="{EE82F448-A1CA-4507-A2A2-CBEABC521E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57"/>
          <p:cNvGrpSpPr>
            <a:grpSpLocks/>
          </p:cNvGrpSpPr>
          <p:nvPr userDrawn="1"/>
        </p:nvGrpSpPr>
        <p:grpSpPr bwMode="auto">
          <a:xfrm>
            <a:off x="152400" y="6394450"/>
            <a:ext cx="9296400" cy="463550"/>
            <a:chOff x="96" y="4028"/>
            <a:chExt cx="5856" cy="292"/>
          </a:xfrm>
        </p:grpSpPr>
        <p:sp>
          <p:nvSpPr>
            <p:cNvPr id="1031" name="Rectangle 39"/>
            <p:cNvSpPr>
              <a:spLocks noChangeArrowheads="1"/>
            </p:cNvSpPr>
            <p:nvPr userDrawn="1"/>
          </p:nvSpPr>
          <p:spPr bwMode="auto">
            <a:xfrm>
              <a:off x="96" y="4028"/>
              <a:ext cx="1680" cy="2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200" b="1" i="1">
                  <a:solidFill>
                    <a:schemeClr val="hlink"/>
                  </a:solidFill>
                </a:rPr>
                <a:t>McGraw-Hill/Irwin</a:t>
              </a:r>
            </a:p>
            <a:p>
              <a:pPr eaLnBrk="0" hangingPunct="0">
                <a:spcBef>
                  <a:spcPct val="5000"/>
                </a:spcBef>
              </a:pPr>
              <a:r>
                <a:rPr lang="en-US" sz="1200" b="1" i="1">
                  <a:solidFill>
                    <a:schemeClr val="hlink"/>
                  </a:solidFill>
                </a:rPr>
                <a:t>International Business, 5/e</a:t>
              </a:r>
            </a:p>
          </p:txBody>
        </p:sp>
        <p:sp>
          <p:nvSpPr>
            <p:cNvPr id="538664" name="Text Box 40"/>
            <p:cNvSpPr txBox="1">
              <a:spLocks noChangeArrowheads="1"/>
            </p:cNvSpPr>
            <p:nvPr userDrawn="1"/>
          </p:nvSpPr>
          <p:spPr bwMode="auto">
            <a:xfrm>
              <a:off x="3018" y="4076"/>
              <a:ext cx="2934" cy="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6666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71731" tIns="35866" rIns="71731" bIns="35866">
              <a:spAutoFit/>
            </a:bodyPr>
            <a:lstStyle>
              <a:lvl1pPr defTabSz="71755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358775" defTabSz="71755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717550" defTabSz="71755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076325" defTabSz="71755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1433513" defTabSz="71755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1890713" defTabSz="71755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347913" defTabSz="71755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2805113" defTabSz="71755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262313" defTabSz="71755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0" hangingPunct="0">
                <a:lnSpc>
                  <a:spcPct val="90000"/>
                </a:lnSpc>
                <a:defRPr/>
              </a:pPr>
              <a:r>
                <a:rPr kumimoji="0" lang="en-US" sz="1200" b="1" i="1" smtClean="0">
                  <a:solidFill>
                    <a:schemeClr val="hlink"/>
                  </a:solidFill>
                </a:rPr>
                <a:t>© 2005 The McGraw-Hill Companies, Inc., All Rights Reserved.</a:t>
              </a:r>
              <a:endParaRPr kumimoji="0" lang="en-US" sz="1200" b="1" smtClean="0">
                <a:solidFill>
                  <a:schemeClr val="hlink"/>
                </a:solidFill>
              </a:endParaRPr>
            </a:p>
          </p:txBody>
        </p:sp>
      </p:grpSp>
      <p:pic>
        <p:nvPicPr>
          <p:cNvPr id="1027" name="Picture 55" descr="assorted colors "/>
          <p:cNvPicPr>
            <a:picLocks noChangeAspect="1" noChangeArrowheads="1"/>
          </p:cNvPicPr>
          <p:nvPr userDrawn="1"/>
        </p:nvPicPr>
        <p:blipFill>
          <a:blip r:embed="rId17"/>
          <a:srcRect/>
          <a:stretch>
            <a:fillRect/>
          </a:stretch>
        </p:blipFill>
        <p:spPr bwMode="auto">
          <a:xfrm>
            <a:off x="0" y="-15875"/>
            <a:ext cx="9144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AutoShape 56"/>
          <p:cNvSpPr>
            <a:spLocks noChangeArrowheads="1"/>
          </p:cNvSpPr>
          <p:nvPr userDrawn="1"/>
        </p:nvSpPr>
        <p:spPr bwMode="auto">
          <a:xfrm>
            <a:off x="152400" y="250825"/>
            <a:ext cx="8915400" cy="1273175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8659" name="Rectangle 3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4400" y="-1524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>
                <a:solidFill>
                  <a:schemeClr val="hlink"/>
                </a:solidFill>
              </a:defRPr>
            </a:lvl1pPr>
          </a:lstStyle>
          <a:p>
            <a:pPr>
              <a:defRPr/>
            </a:pPr>
            <a:r>
              <a:rPr lang="en-US"/>
              <a:t>8-</a:t>
            </a:r>
            <a:fld id="{1706F4C4-C5CD-4966-81A9-196F0E01B8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0" name="Text Box 59"/>
          <p:cNvSpPr txBox="1">
            <a:spLocks noChangeArrowheads="1"/>
          </p:cNvSpPr>
          <p:nvPr userDrawn="1"/>
        </p:nvSpPr>
        <p:spPr bwMode="auto">
          <a:xfrm>
            <a:off x="228600" y="1981200"/>
            <a:ext cx="15240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en-US" sz="1200" smtClean="0">
              <a:solidFill>
                <a:schemeClr val="hlink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  <p:sldLayoutId id="2147483857" r:id="rId12"/>
    <p:sldLayoutId id="2147483858" r:id="rId13"/>
    <p:sldLayoutId id="2147483859" r:id="rId14"/>
    <p:sldLayoutId id="2147483860" r:id="rId1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Clr>
          <a:srgbClr val="A50021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1027113" indent="-4556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370013" indent="-228600" algn="l" rtl="0" eaLnBrk="0" fontAlgn="base" hangingPunct="0">
        <a:spcBef>
          <a:spcPct val="20000"/>
        </a:spcBef>
        <a:spcAft>
          <a:spcPct val="0"/>
        </a:spcAft>
        <a:buClr>
          <a:srgbClr val="666699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712913" indent="-228600" algn="l" rtl="0" eaLnBrk="0" fontAlgn="base" hangingPunct="0">
        <a:spcBef>
          <a:spcPct val="20000"/>
        </a:spcBef>
        <a:spcAft>
          <a:spcPct val="0"/>
        </a:spcAft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youtube.com/watch?v=Y2X3KPilAt0&amp;feature=channel&amp;list=UL" TargetMode="Externa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401762"/>
          </a:xfrm>
          <a:solidFill>
            <a:schemeClr val="folHlink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4000" b="1" smtClean="0"/>
              <a:t/>
            </a:r>
            <a:br>
              <a:rPr lang="en-US" sz="4000" b="1" smtClean="0"/>
            </a:br>
            <a:r>
              <a:rPr lang="en-US" sz="4000" b="1" smtClean="0"/>
              <a:t>Regional Economic Integration</a:t>
            </a:r>
            <a:br>
              <a:rPr lang="en-US" sz="4000" b="1" smtClean="0"/>
            </a:br>
            <a:r>
              <a:rPr lang="en-US" sz="4000" b="1" smtClean="0"/>
              <a:t/>
            </a:r>
            <a:br>
              <a:rPr lang="en-US" sz="4000" b="1" smtClean="0"/>
            </a:br>
            <a:r>
              <a:rPr lang="en-US" sz="4000" b="1" smtClean="0"/>
              <a:t>Video</a:t>
            </a:r>
            <a:br>
              <a:rPr lang="en-US" sz="4000" b="1" smtClean="0"/>
            </a:br>
            <a:r>
              <a:rPr lang="en-US" sz="2000" smtClean="0">
                <a:hlinkClick r:id="rId2"/>
              </a:rPr>
              <a:t>http://www.youtube.com/watch?v=Y2X3KPilAt0&amp;feature=channel&amp;list=UL</a:t>
            </a:r>
            <a:endParaRPr lang="en-US" sz="2000" b="1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792162"/>
          </a:xfrm>
          <a:solidFill>
            <a:schemeClr val="folHlink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4000" b="1" smtClean="0"/>
              <a:t>Regional Economic Integration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sz="2800" b="1" smtClean="0">
                <a:solidFill>
                  <a:schemeClr val="tx2"/>
                </a:solidFill>
              </a:rPr>
              <a:t>Agreements among countries in a geographic region to reduce, and </a:t>
            </a:r>
            <a:r>
              <a:rPr lang="en-US" sz="2800" b="1" u="sng" smtClean="0">
                <a:solidFill>
                  <a:schemeClr val="tx2"/>
                </a:solidFill>
              </a:rPr>
              <a:t>ultimately </a:t>
            </a:r>
            <a:r>
              <a:rPr lang="en-US" sz="2800" b="1" smtClean="0">
                <a:solidFill>
                  <a:schemeClr val="tx2"/>
                </a:solidFill>
              </a:rPr>
              <a:t>remove, tariff and non-tariff barriers to the free flow of goods, services, and factors of production between each other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534400" cy="715963"/>
          </a:xfrm>
          <a:solidFill>
            <a:schemeClr val="folHlink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4000" b="1" smtClean="0"/>
              <a:t>Levels of Economic Integration</a:t>
            </a:r>
          </a:p>
        </p:txBody>
      </p:sp>
      <p:sp>
        <p:nvSpPr>
          <p:cNvPr id="4099" name="Content Placeholder 1"/>
          <p:cNvSpPr>
            <a:spLocks noGrp="1"/>
          </p:cNvSpPr>
          <p:nvPr>
            <p:ph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Video – Trade Blocs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534400" cy="715963"/>
          </a:xfrm>
          <a:solidFill>
            <a:schemeClr val="folHlink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4000" b="1" smtClean="0"/>
              <a:t>Levels of Economic Integration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1143000" y="1447800"/>
            <a:ext cx="1295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hlink"/>
                </a:solidFill>
              </a:rPr>
              <a:t>Fig 8.1</a:t>
            </a:r>
          </a:p>
        </p:txBody>
      </p:sp>
      <p:pic>
        <p:nvPicPr>
          <p:cNvPr id="5124" name="Picture 4" descr="hil02555_0901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066800"/>
            <a:ext cx="9144000" cy="5791200"/>
          </a:xfrm>
          <a:noFill/>
          <a:ln>
            <a:miter lim="800000"/>
            <a:headEnd/>
            <a:tailEnd/>
          </a:ln>
        </p:spPr>
      </p:pic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3886200" y="3581400"/>
            <a:ext cx="1295400" cy="609600"/>
          </a:xfrm>
          <a:prstGeom prst="rect">
            <a:avLst/>
          </a:prstGeom>
          <a:noFill/>
          <a:ln w="9525">
            <a:solidFill>
              <a:srgbClr val="FCFC0C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715962"/>
          </a:xfrm>
          <a:solidFill>
            <a:schemeClr val="folHlink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4000" b="1" smtClean="0"/>
              <a:t>Free Trade Area</a:t>
            </a:r>
            <a:br>
              <a:rPr lang="en-US" sz="4000" b="1" smtClean="0"/>
            </a:br>
            <a:endParaRPr lang="en-US" sz="4000" b="1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534400" cy="4572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800" b="1" smtClean="0"/>
              <a:t>All barriers to trade among members removed</a:t>
            </a:r>
          </a:p>
          <a:p>
            <a:pPr eaLnBrk="1" hangingPunct="1"/>
            <a:endParaRPr lang="en-US" sz="2800" b="1" smtClean="0"/>
          </a:p>
          <a:p>
            <a:pPr eaLnBrk="1" hangingPunct="1"/>
            <a:r>
              <a:rPr lang="en-US" sz="2800" b="1" smtClean="0"/>
              <a:t>Ideally, no discriminatory tariffs, quotas, subsidies, or administrative difficulties are allowed to restrict trade between members</a:t>
            </a:r>
          </a:p>
          <a:p>
            <a:pPr eaLnBrk="1" hangingPunct="1"/>
            <a:endParaRPr lang="en-US" sz="2800" b="1" smtClean="0"/>
          </a:p>
          <a:p>
            <a:pPr eaLnBrk="1" hangingPunct="1"/>
            <a:r>
              <a:rPr lang="en-US" sz="2800" b="1" smtClean="0"/>
              <a:t>Each country has its own trade policies toward non-members</a:t>
            </a:r>
          </a:p>
          <a:p>
            <a:pPr eaLnBrk="1" hangingPunct="1"/>
            <a:r>
              <a:rPr lang="en-US" sz="2800" b="1" smtClean="0">
                <a:solidFill>
                  <a:srgbClr val="FF0000"/>
                </a:solidFill>
              </a:rPr>
              <a:t>Video -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534400" cy="715963"/>
          </a:xfrm>
          <a:solidFill>
            <a:schemeClr val="folHlink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4000" b="1" smtClean="0"/>
              <a:t>Levels of Economic Integration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1143000" y="1447800"/>
            <a:ext cx="1295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hlink"/>
                </a:solidFill>
              </a:rPr>
              <a:t>Fig 8.1</a:t>
            </a:r>
          </a:p>
        </p:txBody>
      </p:sp>
      <p:pic>
        <p:nvPicPr>
          <p:cNvPr id="7172" name="Picture 4" descr="hil02555_0901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066800"/>
            <a:ext cx="9144000" cy="5791200"/>
          </a:xfrm>
          <a:noFill/>
          <a:ln>
            <a:miter lim="800000"/>
            <a:headEnd/>
            <a:tailEnd/>
          </a:ln>
        </p:spPr>
      </p:pic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3733800" y="2971800"/>
            <a:ext cx="1600200" cy="304800"/>
          </a:xfrm>
          <a:prstGeom prst="rect">
            <a:avLst/>
          </a:prstGeom>
          <a:noFill/>
          <a:ln w="9525">
            <a:solidFill>
              <a:srgbClr val="FCFC0C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715962"/>
          </a:xfrm>
          <a:solidFill>
            <a:schemeClr val="folHlink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4000" b="1" smtClean="0"/>
              <a:t>Customs Union</a:t>
            </a:r>
            <a:br>
              <a:rPr lang="en-US" sz="4000" b="1" smtClean="0"/>
            </a:br>
            <a:endParaRPr lang="en-US" sz="4000" b="1" smtClean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1600200"/>
            <a:ext cx="8991600" cy="45259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800" b="1" smtClean="0"/>
              <a:t>Eliminates barriers among members and has a common external trade policy</a:t>
            </a:r>
          </a:p>
          <a:p>
            <a:pPr eaLnBrk="1" hangingPunct="1"/>
            <a:endParaRPr lang="en-US" sz="2800" b="1" smtClean="0"/>
          </a:p>
          <a:p>
            <a:pPr eaLnBrk="1" hangingPunct="1"/>
            <a:r>
              <a:rPr lang="en-US" sz="2800" b="1" smtClean="0"/>
              <a:t>Establishment of a common external trade policy requires a significant administrative system to oversee trade relations with non-members</a:t>
            </a:r>
          </a:p>
          <a:p>
            <a:pPr eaLnBrk="1" hangingPunct="1"/>
            <a:endParaRPr lang="en-US" sz="2800" b="1" smtClean="0"/>
          </a:p>
          <a:p>
            <a:pPr eaLnBrk="1" hangingPunct="1"/>
            <a:r>
              <a:rPr lang="en-US" sz="2800" b="1" smtClean="0"/>
              <a:t>Most countries who enter a customs union have future aspirations of further economic integration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534400" cy="715963"/>
          </a:xfrm>
          <a:solidFill>
            <a:schemeClr val="folHlink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4000" b="1" smtClean="0"/>
              <a:t>Levels of Economic Integration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1143000" y="1447800"/>
            <a:ext cx="1295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hlink"/>
                </a:solidFill>
              </a:rPr>
              <a:t>Fig 8.1</a:t>
            </a:r>
          </a:p>
        </p:txBody>
      </p:sp>
      <p:pic>
        <p:nvPicPr>
          <p:cNvPr id="9220" name="Picture 4" descr="hil02555_0901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066800"/>
            <a:ext cx="9144000" cy="5791200"/>
          </a:xfrm>
          <a:noFill/>
          <a:ln>
            <a:miter lim="800000"/>
            <a:headEnd/>
            <a:tailEnd/>
          </a:ln>
        </p:spPr>
      </p:pic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3581400" y="2438400"/>
            <a:ext cx="1905000" cy="304800"/>
          </a:xfrm>
          <a:prstGeom prst="rect">
            <a:avLst/>
          </a:prstGeom>
          <a:noFill/>
          <a:ln w="9525">
            <a:solidFill>
              <a:srgbClr val="FCFC0C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52400"/>
            <a:ext cx="8229600" cy="715963"/>
          </a:xfrm>
          <a:solidFill>
            <a:schemeClr val="folHlink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4000" b="1" smtClean="0"/>
              <a:t>Common Market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990600"/>
            <a:ext cx="8991600" cy="54864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800" b="1" smtClean="0"/>
              <a:t>No trade barriers between members, a common external trade policy and allows production factors to move freely among members</a:t>
            </a:r>
          </a:p>
          <a:p>
            <a:pPr eaLnBrk="1" hangingPunct="1"/>
            <a:endParaRPr lang="en-US" sz="2800" b="1" smtClean="0"/>
          </a:p>
          <a:p>
            <a:pPr eaLnBrk="1" hangingPunct="1"/>
            <a:r>
              <a:rPr lang="en-US" sz="2800" b="1" smtClean="0"/>
              <a:t>Labor and capital are free to move because there are no restrictions on immigration, emigration, or cross-border flows of capital between member countries</a:t>
            </a:r>
          </a:p>
          <a:p>
            <a:pPr eaLnBrk="1" hangingPunct="1"/>
            <a:endParaRPr lang="en-US" sz="2800" b="1" smtClean="0"/>
          </a:p>
          <a:p>
            <a:pPr eaLnBrk="1" hangingPunct="1"/>
            <a:r>
              <a:rPr lang="en-US" sz="2800" b="1" smtClean="0"/>
              <a:t>Requires a significant degree of harmony and cooperation on fiscal, monetary, and employment policies</a:t>
            </a:r>
          </a:p>
          <a:p>
            <a:pPr eaLnBrk="1" hangingPunct="1"/>
            <a:endParaRPr lang="en-US" sz="2800" b="1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534400" cy="715963"/>
          </a:xfrm>
          <a:solidFill>
            <a:schemeClr val="folHlink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4000" b="1" smtClean="0"/>
              <a:t>Levels of Economic Integration</a:t>
            </a: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1143000" y="1447800"/>
            <a:ext cx="1295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hlink"/>
                </a:solidFill>
              </a:rPr>
              <a:t>Fig 8.1</a:t>
            </a:r>
          </a:p>
        </p:txBody>
      </p:sp>
      <p:pic>
        <p:nvPicPr>
          <p:cNvPr id="11268" name="Picture 4" descr="hil02555_0901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066800"/>
            <a:ext cx="9144000" cy="5791200"/>
          </a:xfrm>
          <a:noFill/>
          <a:ln>
            <a:miter lim="800000"/>
            <a:headEnd/>
            <a:tailEnd/>
          </a:ln>
        </p:spPr>
      </p:pic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3581400" y="1828800"/>
            <a:ext cx="1828800" cy="381000"/>
          </a:xfrm>
          <a:prstGeom prst="rect">
            <a:avLst/>
          </a:prstGeom>
          <a:noFill/>
          <a:ln w="9525">
            <a:solidFill>
              <a:srgbClr val="FCFC0C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52400"/>
            <a:ext cx="8229600" cy="715963"/>
          </a:xfrm>
          <a:solidFill>
            <a:schemeClr val="folHlink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4000" b="1" smtClean="0"/>
              <a:t>Economic Union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1066800"/>
            <a:ext cx="8763000" cy="50593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800" b="1" smtClean="0"/>
              <a:t>No trade barriers among members, common external policy, free flow of production factors, adoption of common currency, harmonization of tax rates, and a common monetary and fiscal policy</a:t>
            </a:r>
          </a:p>
          <a:p>
            <a:pPr eaLnBrk="1" hangingPunct="1"/>
            <a:endParaRPr lang="en-US" sz="2800" b="1" smtClean="0"/>
          </a:p>
          <a:p>
            <a:pPr eaLnBrk="1" hangingPunct="1"/>
            <a:r>
              <a:rPr lang="en-US" sz="2800" b="1" smtClean="0"/>
              <a:t>Such a high degree of integration </a:t>
            </a:r>
          </a:p>
          <a:p>
            <a:pPr lvl="1" eaLnBrk="1" hangingPunct="1">
              <a:buClr>
                <a:srgbClr val="D88100"/>
              </a:buClr>
            </a:pPr>
            <a:r>
              <a:rPr lang="en-US" b="1" smtClean="0"/>
              <a:t>demands a coordinating bureaucracy</a:t>
            </a:r>
          </a:p>
          <a:p>
            <a:pPr lvl="1" eaLnBrk="1" hangingPunct="1">
              <a:buClr>
                <a:srgbClr val="D88100"/>
              </a:buClr>
            </a:pPr>
            <a:r>
              <a:rPr lang="en-US" b="1" smtClean="0"/>
              <a:t>sacrifice of significant amounts of national sovereignty </a:t>
            </a:r>
          </a:p>
          <a:p>
            <a:pPr eaLnBrk="1" hangingPunct="1">
              <a:buClr>
                <a:srgbClr val="D88100"/>
              </a:buClr>
              <a:buFont typeface="Wingdings" pitchFamily="2" charset="2"/>
              <a:buNone/>
            </a:pPr>
            <a:endParaRPr lang="en-US" sz="2800" smtClean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534400" cy="715963"/>
          </a:xfrm>
          <a:solidFill>
            <a:schemeClr val="folHlink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4000" b="1" smtClean="0"/>
              <a:t>Levels of Economic Integration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1143000" y="1447800"/>
            <a:ext cx="1295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hlink"/>
                </a:solidFill>
              </a:rPr>
              <a:t>Fig 8.1</a:t>
            </a:r>
          </a:p>
        </p:txBody>
      </p:sp>
      <p:pic>
        <p:nvPicPr>
          <p:cNvPr id="13316" name="Picture 4" descr="hil02555_0901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066800"/>
            <a:ext cx="9144000" cy="5791200"/>
          </a:xfrm>
          <a:noFill/>
          <a:ln>
            <a:miter lim="800000"/>
            <a:headEnd/>
            <a:tailEnd/>
          </a:ln>
        </p:spPr>
      </p:pic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3733800" y="1295400"/>
            <a:ext cx="1600200" cy="304800"/>
          </a:xfrm>
          <a:prstGeom prst="rect">
            <a:avLst/>
          </a:prstGeom>
          <a:noFill/>
          <a:ln w="9525">
            <a:solidFill>
              <a:srgbClr val="FCFC0C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792162"/>
          </a:xfrm>
          <a:solidFill>
            <a:schemeClr val="folHlink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4000" b="1" smtClean="0"/>
              <a:t>Political Union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800" b="1" smtClean="0"/>
              <a:t>Coordinating bureaucracy accountable to all citizens of member nations</a:t>
            </a:r>
          </a:p>
          <a:p>
            <a:pPr eaLnBrk="1" hangingPunct="1"/>
            <a:endParaRPr lang="en-US" sz="2800" b="1" smtClean="0"/>
          </a:p>
          <a:p>
            <a:pPr eaLnBrk="1" hangingPunct="1"/>
            <a:r>
              <a:rPr lang="en-US" sz="2800" b="1" smtClean="0"/>
              <a:t>Central political system that coordinates the economic, social, and foreign policy of the member states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52400"/>
            <a:ext cx="8229600" cy="792163"/>
          </a:xfrm>
          <a:solidFill>
            <a:schemeClr val="folHlink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mtClean="0"/>
              <a:t>   </a:t>
            </a:r>
            <a:r>
              <a:rPr lang="en-US" sz="4000" b="1" smtClean="0"/>
              <a:t>Economic Case for Integration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143000"/>
            <a:ext cx="9144000" cy="55626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800" b="1" smtClean="0"/>
              <a:t>Unrestricted trade allows countries specialize in those goods and services they efficiently produce</a:t>
            </a:r>
          </a:p>
          <a:p>
            <a:pPr lvl="1" eaLnBrk="1" hangingPunct="1">
              <a:buClr>
                <a:srgbClr val="D88100"/>
              </a:buClr>
            </a:pPr>
            <a:r>
              <a:rPr lang="en-US" sz="2400" b="1" smtClean="0"/>
              <a:t>increases world production</a:t>
            </a:r>
          </a:p>
          <a:p>
            <a:pPr lvl="1" eaLnBrk="1" hangingPunct="1">
              <a:buClr>
                <a:srgbClr val="D88100"/>
              </a:buClr>
            </a:pPr>
            <a:r>
              <a:rPr lang="en-US" sz="2400" b="1" smtClean="0"/>
              <a:t>stimulates economic growth</a:t>
            </a:r>
          </a:p>
          <a:p>
            <a:pPr lvl="1" eaLnBrk="1" hangingPunct="1"/>
            <a:endParaRPr lang="en-US" sz="2400" b="1" smtClean="0"/>
          </a:p>
          <a:p>
            <a:pPr eaLnBrk="1" hangingPunct="1"/>
            <a:r>
              <a:rPr lang="en-US" sz="2800" b="1" smtClean="0"/>
              <a:t>Unrestricted FDI allows for the transfer of technology and management skills</a:t>
            </a:r>
          </a:p>
          <a:p>
            <a:pPr lvl="1" eaLnBrk="1" hangingPunct="1">
              <a:buClr>
                <a:srgbClr val="D88100"/>
              </a:buClr>
            </a:pPr>
            <a:r>
              <a:rPr lang="en-US" sz="2400" b="1" smtClean="0"/>
              <a:t>increases economic growth</a:t>
            </a:r>
          </a:p>
          <a:p>
            <a:pPr lvl="1" eaLnBrk="1" hangingPunct="1"/>
            <a:endParaRPr lang="en-US" sz="2400" b="1" smtClean="0"/>
          </a:p>
          <a:p>
            <a:pPr eaLnBrk="1" hangingPunct="1"/>
            <a:r>
              <a:rPr lang="en-US" sz="2800" b="1" smtClean="0"/>
              <a:t>Attempt to achieve gains from free trade and FDI that goes beyond the international agreements such as WTO</a:t>
            </a:r>
            <a:endParaRPr lang="en-US" b="1" smtClean="0"/>
          </a:p>
          <a:p>
            <a:pPr eaLnBrk="1" hangingPunct="1"/>
            <a:endParaRPr lang="en-US" sz="2800" b="1" smtClean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304800"/>
            <a:ext cx="8305800" cy="715963"/>
          </a:xfrm>
          <a:solidFill>
            <a:schemeClr val="folHlink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4000" b="1" smtClean="0"/>
              <a:t>Political Case for Integration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524000"/>
            <a:ext cx="8458200" cy="46021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800" b="1" smtClean="0"/>
              <a:t>Economic interdependence </a:t>
            </a:r>
          </a:p>
          <a:p>
            <a:pPr lvl="1" eaLnBrk="1" hangingPunct="1">
              <a:buClr>
                <a:srgbClr val="D88100"/>
              </a:buClr>
            </a:pPr>
            <a:r>
              <a:rPr lang="en-US" b="1" smtClean="0"/>
              <a:t>creates incentives for political cooperation</a:t>
            </a:r>
            <a:r>
              <a:rPr lang="en-US" sz="2400" b="1" smtClean="0"/>
              <a:t> </a:t>
            </a:r>
          </a:p>
          <a:p>
            <a:pPr lvl="1" eaLnBrk="1" hangingPunct="1">
              <a:buClr>
                <a:srgbClr val="D88100"/>
              </a:buClr>
            </a:pPr>
            <a:r>
              <a:rPr lang="en-US" b="1" smtClean="0"/>
              <a:t>reduces potential for violent confrontation</a:t>
            </a:r>
          </a:p>
          <a:p>
            <a:pPr lvl="1" eaLnBrk="1" hangingPunct="1"/>
            <a:endParaRPr lang="en-US" b="1" smtClean="0"/>
          </a:p>
          <a:p>
            <a:pPr eaLnBrk="1" hangingPunct="1"/>
            <a:r>
              <a:rPr lang="en-US" sz="2800" b="1" smtClean="0"/>
              <a:t>Linked countries have more political and economic influence with other countries or trading blocs</a:t>
            </a:r>
          </a:p>
          <a:p>
            <a:pPr eaLnBrk="1" hangingPunct="1"/>
            <a:endParaRPr lang="en-US" sz="2800" b="1" smtClean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52400"/>
            <a:ext cx="8229600" cy="792163"/>
          </a:xfrm>
          <a:solidFill>
            <a:schemeClr val="folHlink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mtClean="0"/>
              <a:t>    </a:t>
            </a:r>
            <a:r>
              <a:rPr lang="en-US" sz="4000" b="1" smtClean="0"/>
              <a:t>Impediments to Integration</a:t>
            </a:r>
          </a:p>
        </p:txBody>
      </p:sp>
      <p:sp>
        <p:nvSpPr>
          <p:cNvPr id="17411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143000"/>
            <a:ext cx="8915400" cy="5715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800" b="1" smtClean="0"/>
              <a:t>Although a nation as a whole may benefit, groups within a nation may be harmed</a:t>
            </a:r>
          </a:p>
          <a:p>
            <a:pPr eaLnBrk="1" hangingPunct="1"/>
            <a:endParaRPr lang="en-US" sz="2800" b="1" smtClean="0"/>
          </a:p>
          <a:p>
            <a:pPr eaLnBrk="1" hangingPunct="1"/>
            <a:r>
              <a:rPr lang="en-US" sz="2800" b="1" smtClean="0"/>
              <a:t>Concerns about national sovereignty</a:t>
            </a:r>
          </a:p>
          <a:p>
            <a:pPr eaLnBrk="1" hangingPunct="1"/>
            <a:endParaRPr lang="en-US" sz="2800" b="1" smtClean="0"/>
          </a:p>
          <a:p>
            <a:pPr eaLnBrk="1" hangingPunct="1"/>
            <a:r>
              <a:rPr lang="en-US" sz="2800" b="1" smtClean="0"/>
              <a:t>Protection of cultural identity</a:t>
            </a:r>
          </a:p>
          <a:p>
            <a:pPr eaLnBrk="1" hangingPunct="1"/>
            <a:endParaRPr lang="en-US" sz="2800" b="1" smtClean="0"/>
          </a:p>
          <a:p>
            <a:pPr eaLnBrk="1" hangingPunct="1"/>
            <a:r>
              <a:rPr lang="en-US" sz="2800" b="1" smtClean="0"/>
              <a:t>Socioeconomic gap between rich and poor nations</a:t>
            </a:r>
          </a:p>
          <a:p>
            <a:pPr eaLnBrk="1" hangingPunct="1"/>
            <a:endParaRPr lang="en-US" sz="2800" b="1" smtClean="0"/>
          </a:p>
          <a:p>
            <a:pPr eaLnBrk="1" hangingPunct="1"/>
            <a:r>
              <a:rPr lang="en-US" sz="2800" b="1" smtClean="0"/>
              <a:t>Impact of new members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52400"/>
            <a:ext cx="8229600" cy="792163"/>
          </a:xfrm>
          <a:solidFill>
            <a:schemeClr val="folHlink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4000" b="1" smtClean="0"/>
              <a:t>Case Against Regional  Integration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990600"/>
            <a:ext cx="8991600" cy="56388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b="1" smtClean="0"/>
              <a:t>The benefits outweigh the costs only if the amount of trade it creates exceeds the amount it diverts.</a:t>
            </a:r>
          </a:p>
          <a:p>
            <a:pPr eaLnBrk="1" hangingPunct="1">
              <a:lnSpc>
                <a:spcPct val="90000"/>
              </a:lnSpc>
            </a:pPr>
            <a:endParaRPr lang="en-US" sz="2800" b="1" u="sng" smtClean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 b="1" u="sng" smtClean="0">
                <a:solidFill>
                  <a:schemeClr val="tx2"/>
                </a:solidFill>
              </a:rPr>
              <a:t>Trade Creation</a:t>
            </a:r>
            <a:endParaRPr lang="en-US" sz="2800" b="1" smtClean="0">
              <a:solidFill>
                <a:srgbClr val="D88100"/>
              </a:solidFill>
            </a:endParaRPr>
          </a:p>
          <a:p>
            <a:pPr lvl="1" eaLnBrk="1" hangingPunct="1">
              <a:lnSpc>
                <a:spcPct val="90000"/>
              </a:lnSpc>
              <a:buClr>
                <a:srgbClr val="D88100"/>
              </a:buClr>
            </a:pPr>
            <a:r>
              <a:rPr lang="en-US" b="1" smtClean="0"/>
              <a:t>low-cost producers within the FTA replace high-cost domestic producers</a:t>
            </a:r>
          </a:p>
          <a:p>
            <a:pPr lvl="1" eaLnBrk="1" hangingPunct="1">
              <a:lnSpc>
                <a:spcPct val="90000"/>
              </a:lnSpc>
              <a:buClr>
                <a:srgbClr val="D88100"/>
              </a:buClr>
            </a:pPr>
            <a:r>
              <a:rPr lang="en-US" b="1" smtClean="0"/>
              <a:t>lower cost external producers within the FTA replace higher cost external producers</a:t>
            </a:r>
          </a:p>
          <a:p>
            <a:pPr lvl="1" eaLnBrk="1" hangingPunct="1">
              <a:lnSpc>
                <a:spcPct val="90000"/>
              </a:lnSpc>
              <a:buClr>
                <a:srgbClr val="D88100"/>
              </a:buClr>
            </a:pPr>
            <a:endParaRPr lang="en-US" sz="2400" b="1" smtClean="0"/>
          </a:p>
          <a:p>
            <a:pPr eaLnBrk="1" hangingPunct="1">
              <a:lnSpc>
                <a:spcPct val="90000"/>
              </a:lnSpc>
            </a:pPr>
            <a:r>
              <a:rPr lang="en-US" sz="2800" b="1" u="sng" smtClean="0">
                <a:solidFill>
                  <a:schemeClr val="tx2"/>
                </a:solidFill>
              </a:rPr>
              <a:t>Trade Diversion</a:t>
            </a:r>
          </a:p>
          <a:p>
            <a:pPr lvl="1" eaLnBrk="1" hangingPunct="1">
              <a:lnSpc>
                <a:spcPct val="90000"/>
              </a:lnSpc>
              <a:buClr>
                <a:srgbClr val="D88100"/>
              </a:buClr>
            </a:pPr>
            <a:r>
              <a:rPr lang="en-US" b="1" smtClean="0"/>
              <a:t>higher cost suppliers replace lower cost external suppliers within the FTA</a:t>
            </a:r>
          </a:p>
          <a:p>
            <a:pPr lvl="1" eaLnBrk="1" hangingPunct="1">
              <a:lnSpc>
                <a:spcPct val="90000"/>
              </a:lnSpc>
              <a:buClr>
                <a:srgbClr val="D88100"/>
              </a:buClr>
              <a:buFont typeface="Wingdings" pitchFamily="2" charset="2"/>
              <a:buNone/>
            </a:pPr>
            <a:endParaRPr lang="en-US" b="1" smtClean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304800"/>
            <a:ext cx="8534400" cy="762000"/>
          </a:xfrm>
          <a:solidFill>
            <a:schemeClr val="folHlink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3600" b="1" smtClean="0"/>
              <a:t>Regional Economic Integration in Europe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371600"/>
            <a:ext cx="8839200" cy="54864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800" b="1" smtClean="0"/>
              <a:t>Europe has two trade blocks</a:t>
            </a:r>
          </a:p>
          <a:p>
            <a:pPr eaLnBrk="1" hangingPunct="1"/>
            <a:endParaRPr lang="en-US" sz="2800" b="1" smtClean="0"/>
          </a:p>
          <a:p>
            <a:pPr eaLnBrk="1" hangingPunct="1"/>
            <a:r>
              <a:rPr lang="en-US" sz="2800" b="1" smtClean="0">
                <a:solidFill>
                  <a:schemeClr val="tx2"/>
                </a:solidFill>
              </a:rPr>
              <a:t>European Union</a:t>
            </a:r>
          </a:p>
          <a:p>
            <a:pPr lvl="1" eaLnBrk="1" hangingPunct="1">
              <a:buClr>
                <a:srgbClr val="D88100"/>
              </a:buClr>
            </a:pPr>
            <a:r>
              <a:rPr lang="en-US" b="1" smtClean="0"/>
              <a:t>27 members</a:t>
            </a:r>
          </a:p>
          <a:p>
            <a:pPr lvl="1" eaLnBrk="1" hangingPunct="1">
              <a:buClr>
                <a:srgbClr val="D88100"/>
              </a:buClr>
            </a:pPr>
            <a:endParaRPr lang="en-US" b="1" smtClean="0"/>
          </a:p>
          <a:p>
            <a:pPr eaLnBrk="1" hangingPunct="1"/>
            <a:r>
              <a:rPr lang="en-US" sz="2800" b="1" smtClean="0">
                <a:solidFill>
                  <a:schemeClr val="tx2"/>
                </a:solidFill>
              </a:rPr>
              <a:t>European Free Trade Association</a:t>
            </a:r>
          </a:p>
          <a:p>
            <a:pPr lvl="1" eaLnBrk="1" hangingPunct="1">
              <a:buClr>
                <a:srgbClr val="D88100"/>
              </a:buClr>
            </a:pPr>
            <a:r>
              <a:rPr lang="en-US" b="1" smtClean="0"/>
              <a:t>4 members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458200" cy="715963"/>
          </a:xfrm>
          <a:solidFill>
            <a:schemeClr val="folHlink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4000" b="1" smtClean="0"/>
              <a:t>Evolution of the European Union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219200"/>
            <a:ext cx="9144000" cy="54864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>
              <a:buFont typeface="Wingdings" pitchFamily="2" charset="2"/>
              <a:buNone/>
            </a:pPr>
            <a:r>
              <a:rPr lang="en-US" sz="2800" b="1" u="sng" smtClean="0">
                <a:solidFill>
                  <a:schemeClr val="tx2"/>
                </a:solidFill>
              </a:rPr>
              <a:t>Drivers of European Regional Integration</a:t>
            </a:r>
          </a:p>
          <a:p>
            <a:pPr eaLnBrk="1" hangingPunct="1">
              <a:buFont typeface="Wingdings" pitchFamily="2" charset="2"/>
              <a:buNone/>
            </a:pPr>
            <a:endParaRPr lang="en-US" sz="2800" b="1" smtClean="0"/>
          </a:p>
          <a:p>
            <a:pPr eaLnBrk="1" hangingPunct="1"/>
            <a:r>
              <a:rPr lang="en-US" sz="2800" b="1" smtClean="0"/>
              <a:t>Devastation of WWI and WWII and desire for lasting peace</a:t>
            </a:r>
          </a:p>
          <a:p>
            <a:pPr lvl="1" eaLnBrk="1" hangingPunct="1">
              <a:buClr>
                <a:srgbClr val="990000"/>
              </a:buClr>
            </a:pPr>
            <a:endParaRPr lang="en-US" b="1" smtClean="0"/>
          </a:p>
          <a:p>
            <a:pPr eaLnBrk="1" hangingPunct="1">
              <a:buClr>
                <a:srgbClr val="990000"/>
              </a:buClr>
            </a:pPr>
            <a:r>
              <a:rPr lang="en-US" sz="2800" b="1" smtClean="0"/>
              <a:t>Desire for European nations to hold their own, politically and economically, on the world stage</a:t>
            </a:r>
          </a:p>
          <a:p>
            <a:pPr lvl="1" eaLnBrk="1" hangingPunct="1">
              <a:buClr>
                <a:srgbClr val="990000"/>
              </a:buClr>
            </a:pPr>
            <a:endParaRPr lang="en-US" b="1" smtClean="0"/>
          </a:p>
          <a:p>
            <a:pPr eaLnBrk="1" hangingPunct="1">
              <a:buClr>
                <a:srgbClr val="990000"/>
              </a:buClr>
            </a:pPr>
            <a:r>
              <a:rPr lang="en-US" sz="2800" b="1" smtClean="0"/>
              <a:t>Desire to receive the economic gains from regional integration</a:t>
            </a:r>
          </a:p>
          <a:p>
            <a:pPr eaLnBrk="1" hangingPunct="1">
              <a:buClr>
                <a:srgbClr val="990000"/>
              </a:buClr>
            </a:pPr>
            <a:endParaRPr lang="en-US" sz="2800" b="1" smtClean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52400"/>
            <a:ext cx="8229600" cy="715963"/>
          </a:xfrm>
          <a:solidFill>
            <a:schemeClr val="folHlink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4000" b="1" smtClean="0"/>
              <a:t>Current Achievements of the EU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914400"/>
            <a:ext cx="9296400" cy="59436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400" b="1" smtClean="0">
                <a:solidFill>
                  <a:schemeClr val="tx2"/>
                </a:solidFill>
              </a:rPr>
              <a:t>Dec 1991</a:t>
            </a:r>
            <a:r>
              <a:rPr lang="en-US" sz="2400" b="1" smtClean="0"/>
              <a:t> 		Maastricht Treaty </a:t>
            </a:r>
          </a:p>
          <a:p>
            <a:pPr lvl="4" eaLnBrk="1" hangingPunct="1">
              <a:buFont typeface="Wingdings" pitchFamily="2" charset="2"/>
              <a:buNone/>
            </a:pPr>
            <a:r>
              <a:rPr lang="en-US" sz="1600" b="1" smtClean="0"/>
              <a:t>			-</a:t>
            </a:r>
            <a:r>
              <a:rPr lang="en-US" sz="2400" b="1" smtClean="0"/>
              <a:t>changed name to European Union 	       	-embarked on creation of Euro</a:t>
            </a:r>
          </a:p>
          <a:p>
            <a:pPr lvl="4" eaLnBrk="1" hangingPunct="1">
              <a:buFont typeface="Wingdings" pitchFamily="2" charset="2"/>
              <a:buNone/>
            </a:pPr>
            <a:endParaRPr lang="en-US" sz="2400" b="1" smtClean="0"/>
          </a:p>
          <a:p>
            <a:pPr eaLnBrk="1" hangingPunct="1"/>
            <a:r>
              <a:rPr lang="en-US" sz="2400" b="1" smtClean="0">
                <a:solidFill>
                  <a:schemeClr val="tx2"/>
                </a:solidFill>
              </a:rPr>
              <a:t>Dec 31, 1992</a:t>
            </a:r>
            <a:r>
              <a:rPr lang="en-US" sz="2400" b="1" smtClean="0"/>
              <a:t> 	Single European Act</a:t>
            </a:r>
          </a:p>
          <a:p>
            <a:pPr eaLnBrk="1" hangingPunct="1"/>
            <a:endParaRPr lang="en-US" sz="2400" b="1" smtClean="0"/>
          </a:p>
          <a:p>
            <a:pPr eaLnBrk="1" hangingPunct="1"/>
            <a:r>
              <a:rPr lang="en-US" sz="2400" b="1" smtClean="0">
                <a:solidFill>
                  <a:schemeClr val="tx2"/>
                </a:solidFill>
              </a:rPr>
              <a:t>Jan 1, 1999</a:t>
            </a:r>
            <a:r>
              <a:rPr lang="en-US" sz="2400" b="1" smtClean="0"/>
              <a:t> 	Euro adopted</a:t>
            </a:r>
          </a:p>
          <a:p>
            <a:pPr eaLnBrk="1" hangingPunct="1"/>
            <a:endParaRPr lang="en-US" sz="2400" b="1" smtClean="0"/>
          </a:p>
          <a:p>
            <a:pPr eaLnBrk="1" hangingPunct="1"/>
            <a:r>
              <a:rPr lang="en-US" sz="2400" b="1" smtClean="0">
                <a:solidFill>
                  <a:schemeClr val="tx2"/>
                </a:solidFill>
              </a:rPr>
              <a:t>Jan 1, 2002</a:t>
            </a:r>
            <a:r>
              <a:rPr lang="en-US" sz="2400" b="1" smtClean="0"/>
              <a:t>	Euro coins and notes issue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400" b="1" smtClean="0"/>
              <a:t> 	</a:t>
            </a:r>
          </a:p>
          <a:p>
            <a:pPr eaLnBrk="1" hangingPunct="1"/>
            <a:r>
              <a:rPr lang="en-US" sz="2400" b="1" smtClean="0">
                <a:solidFill>
                  <a:schemeClr val="tx2"/>
                </a:solidFill>
              </a:rPr>
              <a:t>2004</a:t>
            </a:r>
            <a:r>
              <a:rPr lang="en-US" sz="2400" b="1" smtClean="0"/>
              <a:t>		Expansion with 10 new members</a:t>
            </a:r>
          </a:p>
          <a:p>
            <a:pPr eaLnBrk="1" hangingPunct="1"/>
            <a:endParaRPr lang="en-US" sz="2400" b="1" smtClean="0"/>
          </a:p>
          <a:p>
            <a:pPr eaLnBrk="1" hangingPunct="1"/>
            <a:r>
              <a:rPr lang="en-US" sz="2400" b="1" smtClean="0">
                <a:solidFill>
                  <a:schemeClr val="tx2"/>
                </a:solidFill>
              </a:rPr>
              <a:t>2007</a:t>
            </a:r>
            <a:r>
              <a:rPr lang="en-US" sz="2400" b="1" smtClean="0"/>
              <a:t>		Expansion to 27 members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715963"/>
          </a:xfrm>
          <a:solidFill>
            <a:schemeClr val="folHlink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4000" b="1" smtClean="0"/>
              <a:t>Political Structure of the EU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2819400" y="1752600"/>
            <a:ext cx="4267200" cy="45259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>
              <a:buFont typeface="Wingdings" pitchFamily="2" charset="2"/>
              <a:buNone/>
            </a:pPr>
            <a:r>
              <a:rPr lang="en-US" sz="2800" b="1" u="sng" smtClean="0">
                <a:solidFill>
                  <a:schemeClr val="tx2"/>
                </a:solidFill>
              </a:rPr>
              <a:t>Video</a:t>
            </a:r>
            <a:endParaRPr lang="en-US" sz="2800" b="1" smtClean="0"/>
          </a:p>
          <a:p>
            <a:pPr eaLnBrk="1" hangingPunct="1"/>
            <a:endParaRPr lang="en-US" sz="2800" b="1" smtClean="0"/>
          </a:p>
          <a:p>
            <a:pPr eaLnBrk="1" hangingPunct="1"/>
            <a:endParaRPr lang="en-US" sz="2400" smtClean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715962"/>
          </a:xfrm>
          <a:solidFill>
            <a:schemeClr val="folHlink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4000" b="1" smtClean="0"/>
              <a:t>The Euro</a:t>
            </a:r>
          </a:p>
        </p:txBody>
      </p:sp>
      <p:pic>
        <p:nvPicPr>
          <p:cNvPr id="23555" name="Picture 15" descr="Euro"/>
          <p:cNvPicPr>
            <a:picLocks noGrp="1" noChangeAspect="1" noChangeArrowheads="1" noCrop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124200" y="3124200"/>
            <a:ext cx="1238250" cy="952500"/>
          </a:xfrm>
          <a:noFill/>
          <a:ln>
            <a:miter lim="800000"/>
            <a:headEnd/>
            <a:tailEnd/>
          </a:ln>
        </p:spPr>
      </p:pic>
      <p:pic>
        <p:nvPicPr>
          <p:cNvPr id="23556" name="Picture 12" descr="Euro"/>
          <p:cNvPicPr>
            <a:picLocks noGrp="1" noChangeAspect="1" noChangeArrowheads="1" noCrop="1"/>
          </p:cNvPicPr>
          <p:nvPr>
            <p:ph sz="quarter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86200" y="2971800"/>
            <a:ext cx="1238250" cy="952500"/>
          </a:xfrm>
          <a:noFill/>
          <a:ln>
            <a:miter lim="800000"/>
            <a:headEnd/>
            <a:tailEnd/>
          </a:ln>
        </p:spPr>
      </p:pic>
      <p:pic>
        <p:nvPicPr>
          <p:cNvPr id="23557" name="Picture 17" descr="Euro"/>
          <p:cNvPicPr>
            <a:picLocks noGrp="1" noChangeAspect="1" noChangeArrowheads="1" noCrop="1"/>
          </p:cNvPicPr>
          <p:nvPr>
            <p:ph sz="quarter" idx="3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648200" y="2895600"/>
            <a:ext cx="1238250" cy="952500"/>
          </a:xfrm>
          <a:noFill/>
          <a:ln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715962"/>
          </a:xfrm>
          <a:solidFill>
            <a:schemeClr val="folHlink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4000" b="1" smtClean="0"/>
              <a:t>The Euro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1219200"/>
            <a:ext cx="8991600" cy="54864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>
              <a:buFont typeface="Wingdings" pitchFamily="2" charset="2"/>
              <a:buNone/>
            </a:pPr>
            <a:r>
              <a:rPr lang="en-US" sz="2800" b="1" u="sng" smtClean="0">
                <a:solidFill>
                  <a:schemeClr val="tx2"/>
                </a:solidFill>
              </a:rPr>
              <a:t>Maastricht Treaty</a:t>
            </a:r>
            <a:r>
              <a:rPr lang="en-US" sz="2800" b="1" smtClean="0"/>
              <a:t> </a:t>
            </a:r>
          </a:p>
          <a:p>
            <a:pPr algn="ctr" eaLnBrk="1" hangingPunct="1">
              <a:buFont typeface="Wingdings" pitchFamily="2" charset="2"/>
              <a:buNone/>
            </a:pPr>
            <a:endParaRPr lang="en-US" sz="2800" b="1" smtClean="0"/>
          </a:p>
          <a:p>
            <a:pPr eaLnBrk="1" hangingPunct="1"/>
            <a:r>
              <a:rPr lang="en-US" sz="2800" b="1" smtClean="0"/>
              <a:t>Signed in December 1991</a:t>
            </a:r>
          </a:p>
          <a:p>
            <a:pPr eaLnBrk="1" hangingPunct="1"/>
            <a:endParaRPr lang="en-US" sz="2800" b="1" smtClean="0"/>
          </a:p>
          <a:p>
            <a:pPr eaLnBrk="1" hangingPunct="1"/>
            <a:r>
              <a:rPr lang="en-US" sz="2800" b="1" smtClean="0"/>
              <a:t>Committed members to adopt a common currency</a:t>
            </a:r>
          </a:p>
          <a:p>
            <a:pPr eaLnBrk="1" hangingPunct="1"/>
            <a:endParaRPr lang="en-US" sz="2800" b="1" smtClean="0"/>
          </a:p>
          <a:p>
            <a:pPr eaLnBrk="1" hangingPunct="1"/>
            <a:r>
              <a:rPr lang="en-US" sz="2800" b="1" smtClean="0"/>
              <a:t>Adopted in January 1, 1999 by 12 of the 15 members</a:t>
            </a:r>
          </a:p>
          <a:p>
            <a:pPr eaLnBrk="1" hangingPunct="1"/>
            <a:endParaRPr lang="en-US" sz="2800" b="1" smtClean="0"/>
          </a:p>
          <a:p>
            <a:pPr eaLnBrk="1" hangingPunct="1"/>
            <a:r>
              <a:rPr lang="en-US" sz="2800" b="1" smtClean="0"/>
              <a:t>Other member nations may follow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52400"/>
            <a:ext cx="8229600" cy="715963"/>
          </a:xfrm>
          <a:solidFill>
            <a:schemeClr val="folHlink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4000" b="1" smtClean="0"/>
              <a:t>Benefits of the Euro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0" y="990600"/>
            <a:ext cx="9144000" cy="55927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b="1" smtClean="0"/>
              <a:t>Savings from using only one currency </a:t>
            </a:r>
          </a:p>
          <a:p>
            <a:pPr eaLnBrk="1" hangingPunct="1">
              <a:lnSpc>
                <a:spcPct val="90000"/>
              </a:lnSpc>
            </a:pPr>
            <a:endParaRPr lang="en-US" sz="2800" b="1" smtClean="0"/>
          </a:p>
          <a:p>
            <a:pPr eaLnBrk="1" hangingPunct="1">
              <a:lnSpc>
                <a:spcPct val="90000"/>
              </a:lnSpc>
            </a:pPr>
            <a:r>
              <a:rPr lang="en-US" sz="2800" b="1" smtClean="0"/>
              <a:t>Easier to compare prices across Europe</a:t>
            </a:r>
          </a:p>
          <a:p>
            <a:pPr eaLnBrk="1" hangingPunct="1">
              <a:lnSpc>
                <a:spcPct val="90000"/>
              </a:lnSpc>
            </a:pPr>
            <a:endParaRPr lang="en-US" sz="2800" b="1" smtClean="0"/>
          </a:p>
          <a:p>
            <a:pPr eaLnBrk="1" hangingPunct="1">
              <a:lnSpc>
                <a:spcPct val="90000"/>
              </a:lnSpc>
            </a:pPr>
            <a:r>
              <a:rPr lang="en-US" sz="2800" b="1" smtClean="0"/>
              <a:t>Increases competition</a:t>
            </a:r>
          </a:p>
          <a:p>
            <a:pPr eaLnBrk="1" hangingPunct="1">
              <a:lnSpc>
                <a:spcPct val="90000"/>
              </a:lnSpc>
            </a:pPr>
            <a:endParaRPr lang="en-US" sz="2800" b="1" smtClean="0"/>
          </a:p>
          <a:p>
            <a:pPr eaLnBrk="1" hangingPunct="1">
              <a:lnSpc>
                <a:spcPct val="90000"/>
              </a:lnSpc>
            </a:pPr>
            <a:r>
              <a:rPr lang="en-US" sz="2800" b="1" smtClean="0"/>
              <a:t>Forces  firms to cut costs and increase efficiency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b="1" smtClean="0"/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b="1" smtClean="0"/>
              <a:t>Creates liquid pan-Europe capital market</a:t>
            </a:r>
          </a:p>
          <a:p>
            <a:pPr eaLnBrk="1" hangingPunct="1">
              <a:lnSpc>
                <a:spcPct val="90000"/>
              </a:lnSpc>
            </a:pPr>
            <a:endParaRPr lang="en-US" sz="2800" b="1" smtClean="0"/>
          </a:p>
          <a:p>
            <a:pPr eaLnBrk="1" hangingPunct="1">
              <a:lnSpc>
                <a:spcPct val="90000"/>
              </a:lnSpc>
            </a:pPr>
            <a:r>
              <a:rPr lang="en-US" sz="2800" b="1" smtClean="0"/>
              <a:t>Increases range of investments opportunities for individuals and institutions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52400"/>
            <a:ext cx="8229600" cy="639763"/>
          </a:xfrm>
          <a:solidFill>
            <a:schemeClr val="folHlink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4000" b="1" smtClean="0"/>
              <a:t>Costs of the Euro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0" y="1295400"/>
            <a:ext cx="9144000" cy="51054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800" b="1" smtClean="0"/>
              <a:t>Countries lose national monetary policy control to the European Central Bank </a:t>
            </a:r>
          </a:p>
          <a:p>
            <a:pPr eaLnBrk="1" hangingPunct="1"/>
            <a:endParaRPr lang="en-US" sz="2800" b="1" smtClean="0"/>
          </a:p>
          <a:p>
            <a:pPr eaLnBrk="1" hangingPunct="1"/>
            <a:r>
              <a:rPr lang="en-US" sz="2800" b="1" smtClean="0"/>
              <a:t>EU is not an </a:t>
            </a:r>
            <a:r>
              <a:rPr lang="en-US" sz="2800" b="1" smtClean="0">
                <a:solidFill>
                  <a:schemeClr val="tx2"/>
                </a:solidFill>
              </a:rPr>
              <a:t>“optimal currency area” </a:t>
            </a:r>
          </a:p>
          <a:p>
            <a:pPr lvl="1" eaLnBrk="1" hangingPunct="1"/>
            <a:r>
              <a:rPr lang="en-US" sz="2400" b="1" smtClean="0">
                <a:solidFill>
                  <a:schemeClr val="tx2"/>
                </a:solidFill>
              </a:rPr>
              <a:t>where similarities in the underlying structure of economic activity make it feasible to adopt a single currency and use   a single exchange rate as an instrument of macroeconomic policy</a:t>
            </a:r>
          </a:p>
          <a:p>
            <a:pPr lvl="1" eaLnBrk="1" hangingPunct="1"/>
            <a:r>
              <a:rPr lang="en-US" sz="2400" b="1" smtClean="0"/>
              <a:t>Euro zone country economies are very dissimilar</a:t>
            </a:r>
          </a:p>
          <a:p>
            <a:pPr eaLnBrk="1" hangingPunct="1"/>
            <a:endParaRPr lang="en-US" sz="2800" b="1" smtClean="0"/>
          </a:p>
          <a:p>
            <a:pPr eaLnBrk="1" hangingPunct="1"/>
            <a:r>
              <a:rPr lang="en-US" sz="2800" b="1" smtClean="0"/>
              <a:t>Putting the “economic cart before the political horse”?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305800" cy="1143000"/>
          </a:xfrm>
          <a:solidFill>
            <a:schemeClr val="folHlink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3600" b="1" smtClean="0"/>
              <a:t>Regional Economic Integration </a:t>
            </a:r>
            <a:br>
              <a:rPr lang="en-US" sz="3600" b="1" smtClean="0"/>
            </a:br>
            <a:r>
              <a:rPr lang="en-US" sz="3600" b="1" smtClean="0"/>
              <a:t>in the Americas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228600" y="1447800"/>
            <a:ext cx="8686800" cy="51816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800" b="1" smtClean="0"/>
              <a:t>Some success and nowhere near the level of the EU</a:t>
            </a:r>
          </a:p>
          <a:p>
            <a:pPr eaLnBrk="1" hangingPunct="1"/>
            <a:endParaRPr lang="en-US" sz="2800" b="1" smtClean="0"/>
          </a:p>
          <a:p>
            <a:pPr eaLnBrk="1" hangingPunct="1"/>
            <a:r>
              <a:rPr lang="en-US" sz="2800" b="1" smtClean="0"/>
              <a:t> NAFTA</a:t>
            </a:r>
          </a:p>
          <a:p>
            <a:pPr eaLnBrk="1" hangingPunct="1"/>
            <a:endParaRPr lang="en-US" sz="2800" b="1" smtClean="0"/>
          </a:p>
          <a:p>
            <a:pPr eaLnBrk="1" hangingPunct="1"/>
            <a:r>
              <a:rPr lang="en-US" sz="2800" b="1" smtClean="0"/>
              <a:t>MERCOSUR </a:t>
            </a:r>
          </a:p>
          <a:p>
            <a:pPr eaLnBrk="1" hangingPunct="1"/>
            <a:endParaRPr lang="en-US" sz="2800" b="1" smtClean="0"/>
          </a:p>
          <a:p>
            <a:pPr eaLnBrk="1" hangingPunct="1"/>
            <a:r>
              <a:rPr lang="en-US" sz="2800" b="1" smtClean="0"/>
              <a:t>Andean Community</a:t>
            </a:r>
          </a:p>
          <a:p>
            <a:pPr eaLnBrk="1" hangingPunct="1"/>
            <a:endParaRPr lang="en-US" sz="2800" b="1" smtClean="0"/>
          </a:p>
          <a:p>
            <a:pPr eaLnBrk="1" hangingPunct="1"/>
            <a:r>
              <a:rPr lang="en-US" sz="2800" b="1" smtClean="0"/>
              <a:t>Plans for FTAA</a:t>
            </a:r>
          </a:p>
        </p:txBody>
      </p:sp>
      <p:sp>
        <p:nvSpPr>
          <p:cNvPr id="27652" name="Text Box 6"/>
          <p:cNvSpPr txBox="1">
            <a:spLocks noChangeArrowheads="1"/>
          </p:cNvSpPr>
          <p:nvPr/>
        </p:nvSpPr>
        <p:spPr bwMode="auto">
          <a:xfrm>
            <a:off x="3352800" y="2514600"/>
            <a:ext cx="1841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pic>
        <p:nvPicPr>
          <p:cNvPr id="27653" name="Picture 11" descr="hiL81349_m080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368800" y="1981200"/>
            <a:ext cx="4051300" cy="4876800"/>
          </a:xfrm>
          <a:noFill/>
          <a:ln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371600"/>
            <a:ext cx="8229600" cy="715963"/>
          </a:xfrm>
          <a:solidFill>
            <a:schemeClr val="folHlink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3600" b="1" smtClean="0"/>
              <a:t>North American Free Trade Agreement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52400"/>
            <a:ext cx="8229600" cy="792163"/>
          </a:xfrm>
          <a:solidFill>
            <a:schemeClr val="folHlink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mtClean="0"/>
              <a:t>	  		  </a:t>
            </a:r>
            <a:r>
              <a:rPr lang="en-US" sz="4000" b="1" smtClean="0"/>
              <a:t>NAFTA</a:t>
            </a:r>
            <a:endParaRPr lang="en-US" sz="3600" b="1" smtClean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066800"/>
            <a:ext cx="8991600" cy="55626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Clr>
                <a:srgbClr val="990000"/>
              </a:buClr>
            </a:pPr>
            <a:r>
              <a:rPr lang="en-US" sz="2800" b="1" smtClean="0"/>
              <a:t>Started with Canada and USA in 1989</a:t>
            </a:r>
          </a:p>
          <a:p>
            <a:pPr eaLnBrk="1" hangingPunct="1">
              <a:buClr>
                <a:srgbClr val="990000"/>
              </a:buClr>
            </a:pPr>
            <a:r>
              <a:rPr lang="en-US" sz="2800" b="1" smtClean="0"/>
              <a:t>Followed with NAFTA in January 1, 1994</a:t>
            </a:r>
          </a:p>
          <a:p>
            <a:pPr eaLnBrk="1" hangingPunct="1">
              <a:buClr>
                <a:srgbClr val="990000"/>
              </a:buClr>
            </a:pPr>
            <a:r>
              <a:rPr lang="en-US" sz="2800" b="1" smtClean="0"/>
              <a:t>Tariffs reduced in 10 years (99% of goods traded)</a:t>
            </a:r>
          </a:p>
          <a:p>
            <a:pPr eaLnBrk="1" hangingPunct="1">
              <a:buClr>
                <a:srgbClr val="990000"/>
              </a:buClr>
            </a:pPr>
            <a:r>
              <a:rPr lang="en-US" sz="2800" b="1" smtClean="0"/>
              <a:t>End most barriers on cross border flow of services </a:t>
            </a:r>
          </a:p>
          <a:p>
            <a:pPr eaLnBrk="1" hangingPunct="1">
              <a:buClr>
                <a:srgbClr val="990000"/>
              </a:buClr>
            </a:pPr>
            <a:r>
              <a:rPr lang="en-US" sz="2800" b="1" smtClean="0"/>
              <a:t>Removal of restrictions on FDI except in:</a:t>
            </a:r>
          </a:p>
          <a:p>
            <a:pPr lvl="1" eaLnBrk="1" hangingPunct="1">
              <a:buClr>
                <a:srgbClr val="D88100"/>
              </a:buClr>
            </a:pPr>
            <a:r>
              <a:rPr lang="en-US" b="1" smtClean="0"/>
              <a:t>Mexican railway and energy</a:t>
            </a:r>
          </a:p>
          <a:p>
            <a:pPr lvl="1" eaLnBrk="1" hangingPunct="1">
              <a:buClr>
                <a:srgbClr val="D88100"/>
              </a:buClr>
            </a:pPr>
            <a:r>
              <a:rPr lang="en-US" b="1" smtClean="0"/>
              <a:t>US airline and radio communications</a:t>
            </a:r>
          </a:p>
          <a:p>
            <a:pPr lvl="1" eaLnBrk="1" hangingPunct="1">
              <a:buClr>
                <a:srgbClr val="D88100"/>
              </a:buClr>
            </a:pPr>
            <a:r>
              <a:rPr lang="en-US" b="1" smtClean="0"/>
              <a:t>Canadian culture</a:t>
            </a:r>
          </a:p>
          <a:p>
            <a:pPr eaLnBrk="1" hangingPunct="1">
              <a:buClr>
                <a:srgbClr val="990000"/>
              </a:buClr>
            </a:pPr>
            <a:r>
              <a:rPr lang="en-US" sz="2800" b="1" smtClean="0"/>
              <a:t>Application of national environmental standards</a:t>
            </a:r>
          </a:p>
          <a:p>
            <a:pPr eaLnBrk="1" hangingPunct="1">
              <a:buClr>
                <a:srgbClr val="990000"/>
              </a:buClr>
            </a:pPr>
            <a:r>
              <a:rPr lang="en-US" sz="2800" b="1" smtClean="0"/>
              <a:t>Protection of intellectual property rights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52400"/>
            <a:ext cx="8229600" cy="715963"/>
          </a:xfrm>
          <a:solidFill>
            <a:schemeClr val="folHlink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4000" b="1" smtClean="0"/>
              <a:t>Case </a:t>
            </a:r>
            <a:r>
              <a:rPr lang="en-US" sz="4000" b="1" u="sng" smtClean="0"/>
              <a:t>for</a:t>
            </a:r>
            <a:r>
              <a:rPr lang="en-US" sz="4000" b="1" smtClean="0"/>
              <a:t> NAFTA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990600"/>
            <a:ext cx="9144000" cy="56388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b="1" smtClean="0"/>
              <a:t>Enlarges more efficient regional productive base</a:t>
            </a:r>
          </a:p>
          <a:p>
            <a:pPr eaLnBrk="1" hangingPunct="1">
              <a:lnSpc>
                <a:spcPct val="90000"/>
              </a:lnSpc>
            </a:pPr>
            <a:endParaRPr lang="en-US" sz="2800" b="1" smtClean="0"/>
          </a:p>
          <a:p>
            <a:pPr eaLnBrk="1" hangingPunct="1">
              <a:lnSpc>
                <a:spcPct val="90000"/>
              </a:lnSpc>
            </a:pPr>
            <a:r>
              <a:rPr lang="en-US" sz="2800" b="1" smtClean="0"/>
              <a:t>US and Canadian firms tap labor-intensive low-wages</a:t>
            </a:r>
          </a:p>
          <a:p>
            <a:pPr eaLnBrk="1" hangingPunct="1">
              <a:lnSpc>
                <a:spcPct val="90000"/>
              </a:lnSpc>
            </a:pPr>
            <a:endParaRPr lang="en-US" sz="2800" b="1" smtClean="0"/>
          </a:p>
          <a:p>
            <a:pPr eaLnBrk="1" hangingPunct="1">
              <a:lnSpc>
                <a:spcPct val="90000"/>
              </a:lnSpc>
            </a:pPr>
            <a:r>
              <a:rPr lang="en-US" sz="2800" b="1" smtClean="0"/>
              <a:t>Mexico receives FDI and employment</a:t>
            </a:r>
          </a:p>
          <a:p>
            <a:pPr eaLnBrk="1" hangingPunct="1">
              <a:lnSpc>
                <a:spcPct val="90000"/>
              </a:lnSpc>
            </a:pPr>
            <a:endParaRPr lang="en-US" sz="2800" b="1" smtClean="0"/>
          </a:p>
          <a:p>
            <a:pPr eaLnBrk="1" hangingPunct="1">
              <a:lnSpc>
                <a:spcPct val="90000"/>
              </a:lnSpc>
            </a:pPr>
            <a:r>
              <a:rPr lang="en-US" sz="2800" b="1" smtClean="0"/>
              <a:t>Increases Mexican income to buy US/Canada goods</a:t>
            </a:r>
          </a:p>
          <a:p>
            <a:pPr eaLnBrk="1" hangingPunct="1">
              <a:lnSpc>
                <a:spcPct val="90000"/>
              </a:lnSpc>
            </a:pPr>
            <a:endParaRPr lang="en-US" sz="2800" b="1" smtClean="0"/>
          </a:p>
          <a:p>
            <a:pPr eaLnBrk="1" hangingPunct="1">
              <a:lnSpc>
                <a:spcPct val="90000"/>
              </a:lnSpc>
            </a:pPr>
            <a:r>
              <a:rPr lang="en-US" sz="2800" b="1" smtClean="0"/>
              <a:t>Demand for US/Canada goods increases jobs</a:t>
            </a:r>
          </a:p>
          <a:p>
            <a:pPr eaLnBrk="1" hangingPunct="1">
              <a:lnSpc>
                <a:spcPct val="90000"/>
              </a:lnSpc>
            </a:pPr>
            <a:endParaRPr lang="en-US" sz="2800" b="1" smtClean="0"/>
          </a:p>
          <a:p>
            <a:pPr eaLnBrk="1" hangingPunct="1">
              <a:lnSpc>
                <a:spcPct val="90000"/>
              </a:lnSpc>
            </a:pPr>
            <a:r>
              <a:rPr lang="en-US" sz="2800" b="1" smtClean="0"/>
              <a:t>Increases competitiveness of US/Canadian firms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800" b="1" smtClean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715963"/>
          </a:xfrm>
          <a:solidFill>
            <a:schemeClr val="folHlink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4000" b="1" smtClean="0"/>
              <a:t>Case </a:t>
            </a:r>
            <a:r>
              <a:rPr lang="en-US" sz="4000" b="1" u="sng" smtClean="0"/>
              <a:t>against</a:t>
            </a:r>
            <a:r>
              <a:rPr lang="en-US" sz="4000" b="1" smtClean="0"/>
              <a:t> NAFTA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143000"/>
            <a:ext cx="9144000" cy="54403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800" b="1" smtClean="0"/>
              <a:t>Loss of jobs to Mexico</a:t>
            </a:r>
          </a:p>
          <a:p>
            <a:pPr lvl="1" eaLnBrk="1" hangingPunct="1">
              <a:buClr>
                <a:srgbClr val="D88100"/>
              </a:buClr>
            </a:pPr>
            <a:endParaRPr lang="en-US" b="1" smtClean="0"/>
          </a:p>
          <a:p>
            <a:pPr eaLnBrk="1" hangingPunct="1"/>
            <a:r>
              <a:rPr lang="en-US" sz="2800" b="1" smtClean="0"/>
              <a:t>Mexican firms have to compete against efficient US/Canada firms</a:t>
            </a:r>
          </a:p>
          <a:p>
            <a:pPr eaLnBrk="1" hangingPunct="1"/>
            <a:endParaRPr lang="en-US" sz="2800" b="1" smtClean="0"/>
          </a:p>
          <a:p>
            <a:pPr eaLnBrk="1" hangingPunct="1"/>
            <a:r>
              <a:rPr lang="en-US" sz="2800" b="1" smtClean="0"/>
              <a:t>Environmental degradation</a:t>
            </a:r>
          </a:p>
          <a:p>
            <a:pPr eaLnBrk="1" hangingPunct="1"/>
            <a:endParaRPr lang="en-US" sz="2800" b="1" smtClean="0"/>
          </a:p>
          <a:p>
            <a:pPr eaLnBrk="1" hangingPunct="1"/>
            <a:r>
              <a:rPr lang="en-US" sz="2800" b="1" smtClean="0"/>
              <a:t>Loss of national sovereignty for all countries</a:t>
            </a:r>
          </a:p>
          <a:p>
            <a:pPr eaLnBrk="1" hangingPunct="1"/>
            <a:endParaRPr lang="en-US" sz="2800" b="1" smtClean="0"/>
          </a:p>
          <a:p>
            <a:pPr eaLnBrk="1" hangingPunct="1"/>
            <a:r>
              <a:rPr lang="en-US" sz="2800" b="1" smtClean="0"/>
              <a:t>Creation of a “Northern State” in Mexico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52400"/>
            <a:ext cx="8229600" cy="715963"/>
          </a:xfrm>
          <a:solidFill>
            <a:schemeClr val="folHlink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3800" b="1" smtClean="0"/>
              <a:t>Effects of NAFTA (1993-2005)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990600"/>
            <a:ext cx="9144000" cy="56388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b="1" smtClean="0"/>
              <a:t>Overall impact has been small but positive</a:t>
            </a:r>
          </a:p>
          <a:p>
            <a:pPr eaLnBrk="1" hangingPunct="1">
              <a:lnSpc>
                <a:spcPct val="90000"/>
              </a:lnSpc>
            </a:pPr>
            <a:endParaRPr lang="en-US" sz="2800" b="1" smtClean="0"/>
          </a:p>
          <a:p>
            <a:pPr eaLnBrk="1" hangingPunct="1">
              <a:lnSpc>
                <a:spcPct val="90000"/>
              </a:lnSpc>
            </a:pPr>
            <a:r>
              <a:rPr lang="en-US" sz="2800" b="1" smtClean="0"/>
              <a:t>Trade between NAFTA members increased 250%</a:t>
            </a:r>
          </a:p>
          <a:p>
            <a:pPr eaLnBrk="1" hangingPunct="1">
              <a:lnSpc>
                <a:spcPct val="90000"/>
              </a:lnSpc>
            </a:pPr>
            <a:endParaRPr lang="en-US" sz="2800" b="1" smtClean="0"/>
          </a:p>
          <a:p>
            <a:pPr eaLnBrk="1" hangingPunct="1">
              <a:lnSpc>
                <a:spcPct val="90000"/>
              </a:lnSpc>
            </a:pPr>
            <a:r>
              <a:rPr lang="en-US" sz="2800" b="1" smtClean="0"/>
              <a:t>All 3 members experienced productivity gains</a:t>
            </a:r>
          </a:p>
          <a:p>
            <a:pPr eaLnBrk="1" hangingPunct="1">
              <a:lnSpc>
                <a:spcPct val="90000"/>
              </a:lnSpc>
            </a:pPr>
            <a:endParaRPr lang="en-US" sz="2800" b="1" smtClean="0"/>
          </a:p>
          <a:p>
            <a:pPr eaLnBrk="1" hangingPunct="1">
              <a:lnSpc>
                <a:spcPct val="90000"/>
              </a:lnSpc>
            </a:pPr>
            <a:r>
              <a:rPr lang="en-US" sz="2800" b="1" smtClean="0"/>
              <a:t>Employment effects of NAFTA have been small</a:t>
            </a:r>
          </a:p>
          <a:p>
            <a:pPr eaLnBrk="1" hangingPunct="1">
              <a:lnSpc>
                <a:spcPct val="90000"/>
              </a:lnSpc>
            </a:pPr>
            <a:endParaRPr lang="en-US" sz="2800" b="1" smtClean="0"/>
          </a:p>
          <a:p>
            <a:pPr eaLnBrk="1" hangingPunct="1">
              <a:lnSpc>
                <a:spcPct val="90000"/>
              </a:lnSpc>
            </a:pPr>
            <a:r>
              <a:rPr lang="en-US" sz="2800" b="1" smtClean="0"/>
              <a:t>NAFTA nurtured political stability in Mexico</a:t>
            </a:r>
          </a:p>
          <a:p>
            <a:pPr eaLnBrk="1" hangingPunct="1">
              <a:lnSpc>
                <a:spcPct val="90000"/>
              </a:lnSpc>
            </a:pPr>
            <a:endParaRPr lang="en-US" sz="2800" b="1" smtClean="0"/>
          </a:p>
          <a:p>
            <a:pPr eaLnBrk="1" hangingPunct="1">
              <a:lnSpc>
                <a:spcPct val="90000"/>
              </a:lnSpc>
            </a:pPr>
            <a:r>
              <a:rPr lang="en-US" sz="2800" b="1" smtClean="0"/>
              <a:t>Expansion of NAFTA with Chile?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686800" cy="715963"/>
          </a:xfrm>
          <a:solidFill>
            <a:schemeClr val="folHlink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4000" b="1" smtClean="0"/>
              <a:t>Regional Economic Integration in Asia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686800" cy="715963"/>
          </a:xfrm>
          <a:solidFill>
            <a:schemeClr val="folHlink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4000" b="1" smtClean="0"/>
              <a:t>Regional Economic Integration in Asia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143000"/>
            <a:ext cx="8763000" cy="5135563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buFont typeface="Wingdings" pitchFamily="2" charset="2"/>
              <a:buNone/>
              <a:defRPr/>
            </a:pPr>
            <a:endParaRPr lang="en-US" sz="2800" b="1" dirty="0" smtClean="0"/>
          </a:p>
          <a:p>
            <a:pPr eaLnBrk="1" hangingPunct="1">
              <a:defRPr/>
            </a:pPr>
            <a:r>
              <a:rPr lang="en-US" sz="2800" b="1" dirty="0" smtClean="0"/>
              <a:t>Association of Southeast Asian Nations (ASEAN)</a:t>
            </a:r>
          </a:p>
          <a:p>
            <a:pPr eaLnBrk="1" hangingPunct="1">
              <a:defRPr/>
            </a:pPr>
            <a:endParaRPr lang="en-US" sz="2800" b="1" dirty="0" smtClean="0"/>
          </a:p>
          <a:p>
            <a:pPr eaLnBrk="1" hangingPunct="1">
              <a:defRPr/>
            </a:pPr>
            <a:r>
              <a:rPr lang="en-US" sz="2800" b="1" dirty="0" smtClean="0"/>
              <a:t>Asia-Pacific Economic Cooperation (APEC)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52400"/>
            <a:ext cx="8229600" cy="1066800"/>
          </a:xfrm>
          <a:solidFill>
            <a:schemeClr val="folHlink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3600" b="1" smtClean="0"/>
              <a:t>Association of Southeast Asian Nations</a:t>
            </a:r>
            <a:br>
              <a:rPr lang="en-US" sz="3600" b="1" smtClean="0"/>
            </a:br>
            <a:r>
              <a:rPr lang="en-US" sz="2800" b="1" smtClean="0"/>
              <a:t>(ASEAN)</a:t>
            </a:r>
            <a:endParaRPr lang="en-US" sz="3600" b="1" smtClean="0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600200"/>
            <a:ext cx="9372600" cy="52578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Clr>
                <a:srgbClr val="D88100"/>
              </a:buClr>
            </a:pPr>
            <a:endParaRPr lang="en-US" b="1" smtClean="0"/>
          </a:p>
          <a:p>
            <a:pPr eaLnBrk="1" hangingPunct="1"/>
            <a:endParaRPr lang="en-US" smtClean="0"/>
          </a:p>
        </p:txBody>
      </p:sp>
      <p:pic>
        <p:nvPicPr>
          <p:cNvPr id="35844" name="Picture 4" descr="hiL81349_m080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1339850"/>
            <a:ext cx="6400800" cy="546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1143000"/>
          </a:xfrm>
          <a:solidFill>
            <a:schemeClr val="folHlink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3600" b="1" smtClean="0"/>
              <a:t>Association of Southeast Asian Nations</a:t>
            </a:r>
            <a:br>
              <a:rPr lang="en-US" sz="3600" b="1" smtClean="0"/>
            </a:br>
            <a:r>
              <a:rPr lang="en-US" sz="2800" b="1" smtClean="0"/>
              <a:t>(ASEAN)</a:t>
            </a:r>
            <a:endParaRPr lang="en-US" sz="3600" b="1" smtClean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600200"/>
            <a:ext cx="9144000" cy="52578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Clr>
                <a:srgbClr val="D88100"/>
              </a:buClr>
            </a:pPr>
            <a:r>
              <a:rPr lang="en-US" sz="2400" b="1" smtClean="0"/>
              <a:t>Created in 1967</a:t>
            </a:r>
          </a:p>
          <a:p>
            <a:pPr eaLnBrk="1" hangingPunct="1">
              <a:buClr>
                <a:srgbClr val="D88100"/>
              </a:buClr>
            </a:pPr>
            <a:r>
              <a:rPr lang="en-US" sz="2400" b="1" smtClean="0"/>
              <a:t>500 M people with combined GDP of $740 B</a:t>
            </a:r>
          </a:p>
          <a:p>
            <a:pPr eaLnBrk="1" hangingPunct="1">
              <a:buClr>
                <a:srgbClr val="D88100"/>
              </a:buClr>
            </a:pPr>
            <a:r>
              <a:rPr lang="en-US" sz="2400" b="1" smtClean="0"/>
              <a:t>Goal to foster “</a:t>
            </a:r>
            <a:r>
              <a:rPr lang="en-US" sz="2400" b="1" u="sng" smtClean="0"/>
              <a:t>freer</a:t>
            </a:r>
            <a:r>
              <a:rPr lang="en-US" sz="2400" b="1" smtClean="0"/>
              <a:t> trade” between members and cooperate in their industrial policies</a:t>
            </a:r>
          </a:p>
          <a:p>
            <a:pPr eaLnBrk="1" hangingPunct="1">
              <a:buClr>
                <a:srgbClr val="D88100"/>
              </a:buClr>
            </a:pPr>
            <a:r>
              <a:rPr lang="en-US" sz="2400" b="1" smtClean="0"/>
              <a:t>ASEAN Free Trade Area </a:t>
            </a:r>
            <a:r>
              <a:rPr lang="en-US" sz="2400" b="1" smtClean="0">
                <a:solidFill>
                  <a:schemeClr val="tx2"/>
                </a:solidFill>
              </a:rPr>
              <a:t>(AFTA)</a:t>
            </a:r>
            <a:r>
              <a:rPr lang="en-US" sz="2400" b="1" smtClean="0"/>
              <a:t> by 6 nations formed in 2003</a:t>
            </a:r>
          </a:p>
          <a:p>
            <a:pPr eaLnBrk="1" hangingPunct="1">
              <a:buClr>
                <a:srgbClr val="D88100"/>
              </a:buClr>
            </a:pPr>
            <a:r>
              <a:rPr lang="en-US" sz="2400" b="1" smtClean="0"/>
              <a:t>Progress limited by: </a:t>
            </a:r>
          </a:p>
          <a:p>
            <a:pPr lvl="1" eaLnBrk="1" hangingPunct="1">
              <a:buClr>
                <a:srgbClr val="D88100"/>
              </a:buClr>
            </a:pPr>
            <a:r>
              <a:rPr lang="en-US" sz="2400" b="1" smtClean="0"/>
              <a:t>failure by members to lower tariffs</a:t>
            </a:r>
            <a:r>
              <a:rPr lang="en-US" sz="2000" b="1" smtClean="0"/>
              <a:t> </a:t>
            </a:r>
            <a:endParaRPr lang="en-US" sz="2400" b="1" smtClean="0"/>
          </a:p>
          <a:p>
            <a:pPr lvl="1" eaLnBrk="1" hangingPunct="1">
              <a:buClr>
                <a:srgbClr val="D88100"/>
              </a:buClr>
            </a:pPr>
            <a:r>
              <a:rPr lang="en-US" sz="2400" b="1" smtClean="0"/>
              <a:t>members can’t agree to a common external tariff</a:t>
            </a:r>
          </a:p>
          <a:p>
            <a:pPr lvl="1" eaLnBrk="1" hangingPunct="1">
              <a:buClr>
                <a:srgbClr val="D88100"/>
              </a:buClr>
            </a:pPr>
            <a:r>
              <a:rPr lang="en-US" sz="2400" b="1" smtClean="0"/>
              <a:t>1997 Asian financial crisis </a:t>
            </a:r>
          </a:p>
          <a:p>
            <a:pPr lvl="1" eaLnBrk="1" hangingPunct="1">
              <a:buClr>
                <a:srgbClr val="D88100"/>
              </a:buClr>
            </a:pPr>
            <a:r>
              <a:rPr lang="en-US" sz="2400" b="1" smtClean="0"/>
              <a:t>predominance of old, mediocre private conglomerates</a:t>
            </a:r>
          </a:p>
          <a:p>
            <a:pPr lvl="1" eaLnBrk="1" hangingPunct="1">
              <a:buClr>
                <a:srgbClr val="D88100"/>
              </a:buClr>
            </a:pPr>
            <a:r>
              <a:rPr lang="en-US" sz="2400" b="1" smtClean="0"/>
              <a:t>challenge from China and “shift to the north”</a:t>
            </a:r>
          </a:p>
          <a:p>
            <a:pPr eaLnBrk="1" hangingPunct="1">
              <a:buFont typeface="Wingdings" pitchFamily="2" charset="2"/>
              <a:buNone/>
            </a:pPr>
            <a:endParaRPr lang="en-US" sz="2400" smtClean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763000" cy="685800"/>
          </a:xfrm>
          <a:solidFill>
            <a:schemeClr val="folHlink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3600" b="1" smtClean="0"/>
              <a:t>Asia Pacific Economic Cooperation (APEC)</a:t>
            </a:r>
          </a:p>
        </p:txBody>
      </p:sp>
      <p:pic>
        <p:nvPicPr>
          <p:cNvPr id="37891" name="Picture 5" descr="hiL81349_m080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966788"/>
            <a:ext cx="8686800" cy="575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763000" cy="685800"/>
          </a:xfrm>
          <a:solidFill>
            <a:schemeClr val="folHlink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3600" b="1" smtClean="0"/>
              <a:t>Asia Pacific Economic Cooperation (APEC)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295400"/>
            <a:ext cx="9144000" cy="49831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800" b="1" smtClean="0"/>
              <a:t>Founded in 1990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 b="1" smtClean="0"/>
              <a:t> </a:t>
            </a:r>
          </a:p>
          <a:p>
            <a:pPr eaLnBrk="1" hangingPunct="1"/>
            <a:r>
              <a:rPr lang="en-US" sz="2800" b="1" smtClean="0"/>
              <a:t>21 members that account for:</a:t>
            </a:r>
          </a:p>
          <a:p>
            <a:pPr lvl="1" eaLnBrk="1" hangingPunct="1"/>
            <a:r>
              <a:rPr lang="en-US" b="1" smtClean="0"/>
              <a:t>57% of global GNP</a:t>
            </a:r>
          </a:p>
          <a:p>
            <a:pPr lvl="1" eaLnBrk="1" hangingPunct="1"/>
            <a:r>
              <a:rPr lang="en-US" b="1" smtClean="0"/>
              <a:t>46% of global trade</a:t>
            </a:r>
          </a:p>
          <a:p>
            <a:pPr lvl="1" eaLnBrk="1" hangingPunct="1"/>
            <a:r>
              <a:rPr lang="en-US" b="1" smtClean="0"/>
              <a:t>majority of growth in world economy</a:t>
            </a:r>
          </a:p>
          <a:p>
            <a:pPr eaLnBrk="1" hangingPunct="1"/>
            <a:endParaRPr lang="en-US" sz="2800" b="1" smtClean="0">
              <a:solidFill>
                <a:srgbClr val="003399"/>
              </a:solidFill>
            </a:endParaRPr>
          </a:p>
          <a:p>
            <a:pPr eaLnBrk="1" hangingPunct="1"/>
            <a:r>
              <a:rPr lang="en-US" sz="2800" b="1" smtClean="0"/>
              <a:t>Despite slow progress, if successful, could become the world’s largest free trade area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792162"/>
          </a:xfrm>
          <a:solidFill>
            <a:schemeClr val="folHlink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b="1" smtClean="0"/>
              <a:t>    </a:t>
            </a:r>
            <a:r>
              <a:rPr lang="en-US" sz="4000" b="1" smtClean="0"/>
              <a:t>Regional Trade Blocs in Africa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143000"/>
            <a:ext cx="9144000" cy="51355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Clr>
                <a:srgbClr val="990000"/>
              </a:buClr>
              <a:buSzTx/>
            </a:pPr>
            <a:r>
              <a:rPr lang="en-US" sz="2800" b="1" smtClean="0"/>
              <a:t>9 trade blocs on the continent</a:t>
            </a:r>
          </a:p>
          <a:p>
            <a:pPr eaLnBrk="1" hangingPunct="1">
              <a:buClr>
                <a:srgbClr val="990000"/>
              </a:buClr>
              <a:buSzTx/>
            </a:pPr>
            <a:endParaRPr lang="en-US" sz="2800" b="1" smtClean="0"/>
          </a:p>
          <a:p>
            <a:pPr eaLnBrk="1" hangingPunct="1">
              <a:buClr>
                <a:srgbClr val="990000"/>
              </a:buClr>
              <a:buSzTx/>
            </a:pPr>
            <a:r>
              <a:rPr lang="en-US" sz="2800" b="1" smtClean="0"/>
              <a:t>Many countries are members of more than one bloc</a:t>
            </a:r>
          </a:p>
          <a:p>
            <a:pPr eaLnBrk="1" hangingPunct="1">
              <a:buClr>
                <a:srgbClr val="990000"/>
              </a:buClr>
              <a:buSzTx/>
            </a:pPr>
            <a:endParaRPr lang="en-US" sz="2800" b="1" smtClean="0"/>
          </a:p>
          <a:p>
            <a:pPr eaLnBrk="1" hangingPunct="1">
              <a:buClr>
                <a:srgbClr val="990000"/>
              </a:buClr>
              <a:buSzTx/>
            </a:pPr>
            <a:r>
              <a:rPr lang="en-US" sz="2800" b="1" smtClean="0"/>
              <a:t>Progress slow due to political turmoil and deep suspicion of free trade and impact on poorest nations</a:t>
            </a:r>
          </a:p>
          <a:p>
            <a:pPr eaLnBrk="1" hangingPunct="1">
              <a:buClr>
                <a:srgbClr val="990000"/>
              </a:buClr>
              <a:buSzTx/>
            </a:pPr>
            <a:endParaRPr lang="en-US" sz="2800" b="1" smtClean="0"/>
          </a:p>
          <a:p>
            <a:pPr eaLnBrk="1" hangingPunct="1">
              <a:buClr>
                <a:srgbClr val="990000"/>
              </a:buClr>
              <a:buSzTx/>
            </a:pPr>
            <a:r>
              <a:rPr lang="en-US" sz="2800" b="1" smtClean="0"/>
              <a:t>In 2001, reestablished the East African Community </a:t>
            </a:r>
          </a:p>
          <a:p>
            <a:pPr lvl="1" eaLnBrk="1" hangingPunct="1">
              <a:buClr>
                <a:srgbClr val="D88100"/>
              </a:buClr>
              <a:buSzTx/>
            </a:pPr>
            <a:r>
              <a:rPr lang="en-US" b="1" smtClean="0"/>
              <a:t>Kenya, Uganda and Tanzania </a:t>
            </a:r>
          </a:p>
          <a:p>
            <a:pPr lvl="1" eaLnBrk="1" hangingPunct="1">
              <a:buClr>
                <a:srgbClr val="D88100"/>
              </a:buClr>
              <a:buSzTx/>
            </a:pPr>
            <a:r>
              <a:rPr lang="en-US" b="1" smtClean="0"/>
              <a:t>Goal is customs union 24 years after collapse</a:t>
            </a:r>
          </a:p>
          <a:p>
            <a:pPr eaLnBrk="1" hangingPunct="1"/>
            <a:endParaRPr lang="en-US" sz="2800" b="1" smtClean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52400"/>
            <a:ext cx="8229600" cy="715963"/>
          </a:xfrm>
          <a:solidFill>
            <a:schemeClr val="folHlink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000" smtClean="0"/>
              <a:t>      </a:t>
            </a:r>
            <a:r>
              <a:rPr lang="en-US" sz="3600" b="1" smtClean="0"/>
              <a:t>Regional Trade Blocs in Africa</a:t>
            </a:r>
          </a:p>
        </p:txBody>
      </p:sp>
      <p:pic>
        <p:nvPicPr>
          <p:cNvPr id="40963" name="Picture 3" descr="hil73957_m0805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990600"/>
            <a:ext cx="9144000" cy="5865813"/>
          </a:xfrm>
          <a:noFill/>
          <a:ln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792163"/>
          </a:xfrm>
          <a:solidFill>
            <a:schemeClr val="folHlink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smtClean="0"/>
              <a:t> </a:t>
            </a:r>
            <a:r>
              <a:rPr lang="en-US" sz="4000" b="1" smtClean="0"/>
              <a:t>Regional Economic Integration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228600" y="1143000"/>
            <a:ext cx="8915400" cy="5715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b="1" u="sng" smtClean="0">
                <a:solidFill>
                  <a:schemeClr val="tx2"/>
                </a:solidFill>
              </a:rPr>
              <a:t>Impact on Business</a:t>
            </a:r>
          </a:p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800" b="1" u="sng" smtClean="0">
              <a:solidFill>
                <a:srgbClr val="D881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b="1" u="sng" smtClean="0">
                <a:solidFill>
                  <a:schemeClr val="tx2"/>
                </a:solidFill>
              </a:rPr>
              <a:t>Opportunities</a:t>
            </a:r>
            <a:r>
              <a:rPr lang="en-US" sz="2400" b="1" smtClean="0">
                <a:solidFill>
                  <a:schemeClr val="tx2"/>
                </a:solidFill>
              </a:rPr>
              <a:t> </a:t>
            </a:r>
            <a:r>
              <a:rPr lang="en-US" sz="2400" b="1" smtClean="0"/>
              <a:t> </a:t>
            </a:r>
          </a:p>
          <a:p>
            <a:pPr lvl="1" eaLnBrk="1" hangingPunct="1">
              <a:lnSpc>
                <a:spcPct val="90000"/>
              </a:lnSpc>
              <a:buClr>
                <a:srgbClr val="D88100"/>
              </a:buClr>
            </a:pPr>
            <a:r>
              <a:rPr lang="en-US" sz="2400" b="1" smtClean="0"/>
              <a:t>Creation of large single markets</a:t>
            </a:r>
          </a:p>
          <a:p>
            <a:pPr lvl="1" eaLnBrk="1" hangingPunct="1">
              <a:lnSpc>
                <a:spcPct val="90000"/>
              </a:lnSpc>
              <a:buClr>
                <a:srgbClr val="D88100"/>
              </a:buClr>
            </a:pPr>
            <a:r>
              <a:rPr lang="en-US" sz="2400" b="1" smtClean="0"/>
              <a:t>Protected markets are now open</a:t>
            </a:r>
          </a:p>
          <a:p>
            <a:pPr lvl="1" eaLnBrk="1" hangingPunct="1">
              <a:lnSpc>
                <a:spcPct val="90000"/>
              </a:lnSpc>
              <a:buClr>
                <a:srgbClr val="D88100"/>
              </a:buClr>
            </a:pPr>
            <a:r>
              <a:rPr lang="en-US" sz="2400" b="1" smtClean="0"/>
              <a:t>Lower costs doing business in single market</a:t>
            </a:r>
          </a:p>
          <a:p>
            <a:pPr lvl="1" eaLnBrk="1" hangingPunct="1">
              <a:lnSpc>
                <a:spcPct val="90000"/>
              </a:lnSpc>
              <a:buClr>
                <a:srgbClr val="D88100"/>
              </a:buClr>
            </a:pPr>
            <a:endParaRPr lang="en-US" sz="2400" b="1" smtClean="0"/>
          </a:p>
          <a:p>
            <a:pPr eaLnBrk="1" hangingPunct="1">
              <a:lnSpc>
                <a:spcPct val="90000"/>
              </a:lnSpc>
              <a:buClr>
                <a:srgbClr val="D88100"/>
              </a:buClr>
              <a:buFont typeface="Wingdings" pitchFamily="2" charset="2"/>
              <a:buNone/>
            </a:pPr>
            <a:r>
              <a:rPr lang="en-US" sz="2400" b="1" u="sng" smtClean="0">
                <a:solidFill>
                  <a:schemeClr val="tx2"/>
                </a:solidFill>
              </a:rPr>
              <a:t>Threats</a:t>
            </a:r>
          </a:p>
          <a:p>
            <a:pPr lvl="1" eaLnBrk="1" hangingPunct="1">
              <a:lnSpc>
                <a:spcPct val="90000"/>
              </a:lnSpc>
              <a:buClr>
                <a:srgbClr val="D88100"/>
              </a:buClr>
            </a:pPr>
            <a:r>
              <a:rPr lang="en-US" sz="2400" b="1" smtClean="0"/>
              <a:t>Differences in culture and competitive practices make realizing economies of scale difficult</a:t>
            </a:r>
          </a:p>
          <a:p>
            <a:pPr lvl="1" eaLnBrk="1" hangingPunct="1">
              <a:lnSpc>
                <a:spcPct val="90000"/>
              </a:lnSpc>
              <a:buClr>
                <a:srgbClr val="D88100"/>
              </a:buClr>
            </a:pPr>
            <a:r>
              <a:rPr lang="en-US" sz="2400" b="1" smtClean="0"/>
              <a:t>More price competition </a:t>
            </a:r>
          </a:p>
          <a:p>
            <a:pPr lvl="1" eaLnBrk="1" hangingPunct="1">
              <a:lnSpc>
                <a:spcPct val="90000"/>
              </a:lnSpc>
              <a:buClr>
                <a:srgbClr val="D88100"/>
              </a:buClr>
            </a:pPr>
            <a:r>
              <a:rPr lang="en-US" sz="2400" b="1" smtClean="0"/>
              <a:t>Outside firms shut out of market via “trade fortress”</a:t>
            </a:r>
          </a:p>
          <a:p>
            <a:pPr lvl="1" eaLnBrk="1" hangingPunct="1">
              <a:lnSpc>
                <a:spcPct val="90000"/>
              </a:lnSpc>
              <a:buClr>
                <a:srgbClr val="D88100"/>
              </a:buClr>
            </a:pPr>
            <a:r>
              <a:rPr lang="en-US" sz="2400" b="1" smtClean="0"/>
              <a:t>EU intervention in mergers and acquisitions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ature">
  <a:themeElements>
    <a:clrScheme name="Nature 2">
      <a:dk1>
        <a:srgbClr val="5B5249"/>
      </a:dk1>
      <a:lt1>
        <a:srgbClr val="FFFFFF"/>
      </a:lt1>
      <a:dk2>
        <a:srgbClr val="2A3D7A"/>
      </a:dk2>
      <a:lt2>
        <a:srgbClr val="CEC8BA"/>
      </a:lt2>
      <a:accent1>
        <a:srgbClr val="C9DDF1"/>
      </a:accent1>
      <a:accent2>
        <a:srgbClr val="FAC164"/>
      </a:accent2>
      <a:accent3>
        <a:srgbClr val="FFFFFF"/>
      </a:accent3>
      <a:accent4>
        <a:srgbClr val="4C453D"/>
      </a:accent4>
      <a:accent5>
        <a:srgbClr val="E1EBF7"/>
      </a:accent5>
      <a:accent6>
        <a:srgbClr val="E3AF5A"/>
      </a:accent6>
      <a:hlink>
        <a:srgbClr val="B0AE6A"/>
      </a:hlink>
      <a:folHlink>
        <a:srgbClr val="C3E684"/>
      </a:folHlink>
    </a:clrScheme>
    <a:fontScheme name="Natur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Nature 1">
        <a:dk1>
          <a:srgbClr val="666699"/>
        </a:dk1>
        <a:lt1>
          <a:srgbClr val="FFFFCC"/>
        </a:lt1>
        <a:dk2>
          <a:srgbClr val="687FCA"/>
        </a:dk2>
        <a:lt2>
          <a:srgbClr val="192449"/>
        </a:lt2>
        <a:accent1>
          <a:srgbClr val="C9DDF1"/>
        </a:accent1>
        <a:accent2>
          <a:srgbClr val="FAC164"/>
        </a:accent2>
        <a:accent3>
          <a:srgbClr val="B9C0E1"/>
        </a:accent3>
        <a:accent4>
          <a:srgbClr val="DADAAE"/>
        </a:accent4>
        <a:accent5>
          <a:srgbClr val="E1EBF7"/>
        </a:accent5>
        <a:accent6>
          <a:srgbClr val="E3AF5A"/>
        </a:accent6>
        <a:hlink>
          <a:srgbClr val="B0AE6A"/>
        </a:hlink>
        <a:folHlink>
          <a:srgbClr val="C3E6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ature 2">
        <a:dk1>
          <a:srgbClr val="5B5249"/>
        </a:dk1>
        <a:lt1>
          <a:srgbClr val="FFFFFF"/>
        </a:lt1>
        <a:dk2>
          <a:srgbClr val="2A3D7A"/>
        </a:dk2>
        <a:lt2>
          <a:srgbClr val="CEC8BA"/>
        </a:lt2>
        <a:accent1>
          <a:srgbClr val="C9DDF1"/>
        </a:accent1>
        <a:accent2>
          <a:srgbClr val="FAC164"/>
        </a:accent2>
        <a:accent3>
          <a:srgbClr val="FFFFFF"/>
        </a:accent3>
        <a:accent4>
          <a:srgbClr val="4C453D"/>
        </a:accent4>
        <a:accent5>
          <a:srgbClr val="E1EBF7"/>
        </a:accent5>
        <a:accent6>
          <a:srgbClr val="E3AF5A"/>
        </a:accent6>
        <a:hlink>
          <a:srgbClr val="B0AE6A"/>
        </a:hlink>
        <a:folHlink>
          <a:srgbClr val="C3E68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ature 3">
        <a:dk1>
          <a:srgbClr val="333333"/>
        </a:dk1>
        <a:lt1>
          <a:srgbClr val="FFFFFF"/>
        </a:lt1>
        <a:dk2>
          <a:srgbClr val="000000"/>
        </a:dk2>
        <a:lt2>
          <a:srgbClr val="DDDDDD"/>
        </a:lt2>
        <a:accent1>
          <a:srgbClr val="DDDDDD"/>
        </a:accent1>
        <a:accent2>
          <a:srgbClr val="B2B2B2"/>
        </a:accent2>
        <a:accent3>
          <a:srgbClr val="FFFFFF"/>
        </a:accent3>
        <a:accent4>
          <a:srgbClr val="2A2A2A"/>
        </a:accent4>
        <a:accent5>
          <a:srgbClr val="EBEBEB"/>
        </a:accent5>
        <a:accent6>
          <a:srgbClr val="A1A1A1"/>
        </a:accent6>
        <a:hlink>
          <a:srgbClr val="808080"/>
        </a:hlink>
        <a:folHlink>
          <a:srgbClr val="5F5F5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ature 4">
        <a:dk1>
          <a:srgbClr val="8061A5"/>
        </a:dk1>
        <a:lt1>
          <a:srgbClr val="FFFFCC"/>
        </a:lt1>
        <a:dk2>
          <a:srgbClr val="967DB5"/>
        </a:dk2>
        <a:lt2>
          <a:srgbClr val="192449"/>
        </a:lt2>
        <a:accent1>
          <a:srgbClr val="D6C9F1"/>
        </a:accent1>
        <a:accent2>
          <a:srgbClr val="FAC164"/>
        </a:accent2>
        <a:accent3>
          <a:srgbClr val="C9BFD7"/>
        </a:accent3>
        <a:accent4>
          <a:srgbClr val="DADAAE"/>
        </a:accent4>
        <a:accent5>
          <a:srgbClr val="E8E1F7"/>
        </a:accent5>
        <a:accent6>
          <a:srgbClr val="E3AF5A"/>
        </a:accent6>
        <a:hlink>
          <a:srgbClr val="B0AE6A"/>
        </a:hlink>
        <a:folHlink>
          <a:srgbClr val="C3E6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ature 5">
        <a:dk1>
          <a:srgbClr val="5B5249"/>
        </a:dk1>
        <a:lt1>
          <a:srgbClr val="FFFFFF"/>
        </a:lt1>
        <a:dk2>
          <a:srgbClr val="2A3D7A"/>
        </a:dk2>
        <a:lt2>
          <a:srgbClr val="CEC8BA"/>
        </a:lt2>
        <a:accent1>
          <a:srgbClr val="C9DDF1"/>
        </a:accent1>
        <a:accent2>
          <a:srgbClr val="FAC164"/>
        </a:accent2>
        <a:accent3>
          <a:srgbClr val="FFFFFF"/>
        </a:accent3>
        <a:accent4>
          <a:srgbClr val="4C453D"/>
        </a:accent4>
        <a:accent5>
          <a:srgbClr val="E1EBF7"/>
        </a:accent5>
        <a:accent6>
          <a:srgbClr val="E3AF5A"/>
        </a:accent6>
        <a:hlink>
          <a:srgbClr val="993333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Designs\Nature.pot</Template>
  <TotalTime>2799</TotalTime>
  <Words>1214</Words>
  <Application>Microsoft Office PowerPoint</Application>
  <PresentationFormat>On-screen Show (4:3)</PresentationFormat>
  <Paragraphs>248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Times New Roman</vt:lpstr>
      <vt:lpstr>Arial</vt:lpstr>
      <vt:lpstr>Wingdings</vt:lpstr>
      <vt:lpstr>Arial Narrow</vt:lpstr>
      <vt:lpstr>Nature</vt:lpstr>
      <vt:lpstr> Regional Economic Integration  Video http://www.youtube.com/watch?v=Y2X3KPilAt0&amp;feature=channel&amp;list=UL</vt:lpstr>
      <vt:lpstr>Regional Economic Integration</vt:lpstr>
      <vt:lpstr>Levels of Economic Integration</vt:lpstr>
      <vt:lpstr>Levels of Economic Integration</vt:lpstr>
      <vt:lpstr>Free Trade Area </vt:lpstr>
      <vt:lpstr>Levels of Economic Integration</vt:lpstr>
      <vt:lpstr>Customs Union </vt:lpstr>
      <vt:lpstr>Levels of Economic Integration</vt:lpstr>
      <vt:lpstr>Common Market</vt:lpstr>
      <vt:lpstr>Levels of Economic Integration</vt:lpstr>
      <vt:lpstr>Economic Union</vt:lpstr>
      <vt:lpstr>Levels of Economic Integration</vt:lpstr>
      <vt:lpstr>Political Union</vt:lpstr>
      <vt:lpstr>   Economic Case for Integration</vt:lpstr>
      <vt:lpstr>Political Case for Integration</vt:lpstr>
      <vt:lpstr>    Impediments to Integration</vt:lpstr>
      <vt:lpstr>Case Against Regional  Integration</vt:lpstr>
      <vt:lpstr>Regional Economic Integration in Europe</vt:lpstr>
      <vt:lpstr>Evolution of the European Union</vt:lpstr>
      <vt:lpstr>Current Achievements of the EU</vt:lpstr>
      <vt:lpstr>Political Structure of the EU</vt:lpstr>
      <vt:lpstr>The Euro</vt:lpstr>
      <vt:lpstr>The Euro</vt:lpstr>
      <vt:lpstr>Benefits of the Euro</vt:lpstr>
      <vt:lpstr>Costs of the Euro</vt:lpstr>
      <vt:lpstr>Regional Economic Integration  in the Americas</vt:lpstr>
      <vt:lpstr>North American Free Trade Agreement</vt:lpstr>
      <vt:lpstr>       NAFTA</vt:lpstr>
      <vt:lpstr>Case for NAFTA</vt:lpstr>
      <vt:lpstr>Case against NAFTA</vt:lpstr>
      <vt:lpstr>Effects of NAFTA (1993-2005)</vt:lpstr>
      <vt:lpstr>Regional Economic Integration in Asia</vt:lpstr>
      <vt:lpstr>Regional Economic Integration in Asia</vt:lpstr>
      <vt:lpstr>Association of Southeast Asian Nations (ASEAN)</vt:lpstr>
      <vt:lpstr>Association of Southeast Asian Nations (ASEAN)</vt:lpstr>
      <vt:lpstr>Asia Pacific Economic Cooperation (APEC)</vt:lpstr>
      <vt:lpstr>Asia Pacific Economic Cooperation (APEC)</vt:lpstr>
      <vt:lpstr>    Regional Trade Blocs in Africa</vt:lpstr>
      <vt:lpstr>      Regional Trade Blocs in Africa</vt:lpstr>
      <vt:lpstr> Regional Economic Integration</vt:lpstr>
    </vt:vector>
  </TitlesOfParts>
  <Company>The McGraw-Hill Companies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McGraw-Hill Higher Education</dc:creator>
  <cp:lastModifiedBy>user</cp:lastModifiedBy>
  <cp:revision>328</cp:revision>
  <cp:lastPrinted>1601-01-01T00:00:00Z</cp:lastPrinted>
  <dcterms:created xsi:type="dcterms:W3CDTF">2001-10-30T16:30:01Z</dcterms:created>
  <dcterms:modified xsi:type="dcterms:W3CDTF">2013-05-15T02:29:33Z</dcterms:modified>
</cp:coreProperties>
</file>