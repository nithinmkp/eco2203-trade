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0" r:id="rId3"/>
    <p:sldId id="281" r:id="rId4"/>
    <p:sldId id="282" r:id="rId5"/>
    <p:sldId id="283" r:id="rId6"/>
    <p:sldId id="288" r:id="rId7"/>
    <p:sldId id="289" r:id="rId8"/>
    <p:sldId id="290" r:id="rId9"/>
    <p:sldId id="308" r:id="rId10"/>
    <p:sldId id="309" r:id="rId11"/>
    <p:sldId id="310" r:id="rId12"/>
    <p:sldId id="312" r:id="rId13"/>
    <p:sldId id="313" r:id="rId14"/>
    <p:sldId id="314" r:id="rId15"/>
    <p:sldId id="315" r:id="rId16"/>
    <p:sldId id="316" r:id="rId17"/>
    <p:sldId id="317" r:id="rId18"/>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SimSun" pitchFamily="2" charset="-122"/>
        <a:cs typeface="+mn-cs"/>
      </a:defRPr>
    </a:lvl1pPr>
    <a:lvl2pPr marL="457200" algn="l" rtl="0" fontAlgn="base">
      <a:spcBef>
        <a:spcPct val="0"/>
      </a:spcBef>
      <a:spcAft>
        <a:spcPct val="0"/>
      </a:spcAft>
      <a:defRPr kern="1200">
        <a:solidFill>
          <a:schemeClr val="tx1"/>
        </a:solidFill>
        <a:latin typeface="Arial" pitchFamily="34" charset="0"/>
        <a:ea typeface="SimSun" pitchFamily="2" charset="-122"/>
        <a:cs typeface="+mn-cs"/>
      </a:defRPr>
    </a:lvl2pPr>
    <a:lvl3pPr marL="914400" algn="l" rtl="0" fontAlgn="base">
      <a:spcBef>
        <a:spcPct val="0"/>
      </a:spcBef>
      <a:spcAft>
        <a:spcPct val="0"/>
      </a:spcAft>
      <a:defRPr kern="1200">
        <a:solidFill>
          <a:schemeClr val="tx1"/>
        </a:solidFill>
        <a:latin typeface="Arial" pitchFamily="34" charset="0"/>
        <a:ea typeface="SimSun" pitchFamily="2" charset="-122"/>
        <a:cs typeface="+mn-cs"/>
      </a:defRPr>
    </a:lvl3pPr>
    <a:lvl4pPr marL="1371600" algn="l" rtl="0" fontAlgn="base">
      <a:spcBef>
        <a:spcPct val="0"/>
      </a:spcBef>
      <a:spcAft>
        <a:spcPct val="0"/>
      </a:spcAft>
      <a:defRPr kern="1200">
        <a:solidFill>
          <a:schemeClr val="tx1"/>
        </a:solidFill>
        <a:latin typeface="Arial" pitchFamily="34" charset="0"/>
        <a:ea typeface="SimSun" pitchFamily="2" charset="-122"/>
        <a:cs typeface="+mn-cs"/>
      </a:defRPr>
    </a:lvl4pPr>
    <a:lvl5pPr marL="1828800" algn="l" rtl="0" fontAlgn="base">
      <a:spcBef>
        <a:spcPct val="0"/>
      </a:spcBef>
      <a:spcAft>
        <a:spcPct val="0"/>
      </a:spcAft>
      <a:defRPr kern="1200">
        <a:solidFill>
          <a:schemeClr val="tx1"/>
        </a:solidFill>
        <a:latin typeface="Arial" pitchFamily="34" charset="0"/>
        <a:ea typeface="SimSun" pitchFamily="2" charset="-122"/>
        <a:cs typeface="+mn-cs"/>
      </a:defRPr>
    </a:lvl5pPr>
    <a:lvl6pPr marL="2286000" algn="l" defTabSz="914400" rtl="0" eaLnBrk="1" latinLnBrk="0" hangingPunct="1">
      <a:defRPr kern="1200">
        <a:solidFill>
          <a:schemeClr val="tx1"/>
        </a:solidFill>
        <a:latin typeface="Arial" pitchFamily="34" charset="0"/>
        <a:ea typeface="SimSun" pitchFamily="2" charset="-122"/>
        <a:cs typeface="+mn-cs"/>
      </a:defRPr>
    </a:lvl6pPr>
    <a:lvl7pPr marL="2743200" algn="l" defTabSz="914400" rtl="0" eaLnBrk="1" latinLnBrk="0" hangingPunct="1">
      <a:defRPr kern="1200">
        <a:solidFill>
          <a:schemeClr val="tx1"/>
        </a:solidFill>
        <a:latin typeface="Arial" pitchFamily="34" charset="0"/>
        <a:ea typeface="SimSun" pitchFamily="2" charset="-122"/>
        <a:cs typeface="+mn-cs"/>
      </a:defRPr>
    </a:lvl7pPr>
    <a:lvl8pPr marL="3200400" algn="l" defTabSz="914400" rtl="0" eaLnBrk="1" latinLnBrk="0" hangingPunct="1">
      <a:defRPr kern="1200">
        <a:solidFill>
          <a:schemeClr val="tx1"/>
        </a:solidFill>
        <a:latin typeface="Arial" pitchFamily="34" charset="0"/>
        <a:ea typeface="SimSun" pitchFamily="2" charset="-122"/>
        <a:cs typeface="+mn-cs"/>
      </a:defRPr>
    </a:lvl8pPr>
    <a:lvl9pPr marL="3657600" algn="l" defTabSz="914400" rtl="0" eaLnBrk="1" latinLnBrk="0" hangingPunct="1">
      <a:defRPr kern="1200">
        <a:solidFill>
          <a:schemeClr val="tx1"/>
        </a:solidFill>
        <a:latin typeface="Arial" pitchFamily="34" charset="0"/>
        <a:ea typeface="SimSun"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0" d="100"/>
          <a:sy n="70" d="100"/>
        </p:scale>
        <p:origin x="-108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ltLang="zh-CN"/>
          </a:p>
        </p:txBody>
      </p:sp>
      <p:sp>
        <p:nvSpPr>
          <p:cNvPr id="5" name="Footer Placeholder 4"/>
          <p:cNvSpPr>
            <a:spLocks noGrp="1"/>
          </p:cNvSpPr>
          <p:nvPr>
            <p:ph type="ftr" sz="quarter" idx="11"/>
          </p:nvPr>
        </p:nvSpPr>
        <p:spPr/>
        <p:txBody>
          <a:bodyPr/>
          <a:lstStyle>
            <a:lvl1pPr>
              <a:defRPr/>
            </a:lvl1pPr>
          </a:lstStyle>
          <a:p>
            <a:endParaRPr lang="en-US" altLang="zh-CN"/>
          </a:p>
        </p:txBody>
      </p:sp>
      <p:sp>
        <p:nvSpPr>
          <p:cNvPr id="6" name="Slide Number Placeholder 5"/>
          <p:cNvSpPr>
            <a:spLocks noGrp="1"/>
          </p:cNvSpPr>
          <p:nvPr>
            <p:ph type="sldNum" sz="quarter" idx="12"/>
          </p:nvPr>
        </p:nvSpPr>
        <p:spPr/>
        <p:txBody>
          <a:bodyPr/>
          <a:lstStyle>
            <a:lvl1pPr>
              <a:defRPr/>
            </a:lvl1pPr>
          </a:lstStyle>
          <a:p>
            <a:fld id="{E5EE1B81-C566-4DD4-A4E7-01D8AB57541F}" type="slidenum">
              <a:rPr lang="en-US" altLang="zh-CN"/>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zh-CN"/>
          </a:p>
        </p:txBody>
      </p:sp>
      <p:sp>
        <p:nvSpPr>
          <p:cNvPr id="5" name="Footer Placeholder 4"/>
          <p:cNvSpPr>
            <a:spLocks noGrp="1"/>
          </p:cNvSpPr>
          <p:nvPr>
            <p:ph type="ftr" sz="quarter" idx="11"/>
          </p:nvPr>
        </p:nvSpPr>
        <p:spPr/>
        <p:txBody>
          <a:bodyPr/>
          <a:lstStyle>
            <a:lvl1pPr>
              <a:defRPr/>
            </a:lvl1pPr>
          </a:lstStyle>
          <a:p>
            <a:endParaRPr lang="en-US" altLang="zh-CN"/>
          </a:p>
        </p:txBody>
      </p:sp>
      <p:sp>
        <p:nvSpPr>
          <p:cNvPr id="6" name="Slide Number Placeholder 5"/>
          <p:cNvSpPr>
            <a:spLocks noGrp="1"/>
          </p:cNvSpPr>
          <p:nvPr>
            <p:ph type="sldNum" sz="quarter" idx="12"/>
          </p:nvPr>
        </p:nvSpPr>
        <p:spPr/>
        <p:txBody>
          <a:bodyPr/>
          <a:lstStyle>
            <a:lvl1pPr>
              <a:defRPr/>
            </a:lvl1pPr>
          </a:lstStyle>
          <a:p>
            <a:fld id="{22CE0E8F-1D92-4BA9-858E-B8B5B14F8F50}" type="slidenum">
              <a:rPr lang="en-US" altLang="zh-CN"/>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ltLang="zh-CN"/>
          </a:p>
        </p:txBody>
      </p:sp>
      <p:sp>
        <p:nvSpPr>
          <p:cNvPr id="5" name="Footer Placeholder 4"/>
          <p:cNvSpPr>
            <a:spLocks noGrp="1"/>
          </p:cNvSpPr>
          <p:nvPr>
            <p:ph type="ftr" sz="quarter" idx="11"/>
          </p:nvPr>
        </p:nvSpPr>
        <p:spPr/>
        <p:txBody>
          <a:bodyPr/>
          <a:lstStyle>
            <a:lvl1pPr>
              <a:defRPr/>
            </a:lvl1pPr>
          </a:lstStyle>
          <a:p>
            <a:endParaRPr lang="en-US" altLang="zh-CN"/>
          </a:p>
        </p:txBody>
      </p:sp>
      <p:sp>
        <p:nvSpPr>
          <p:cNvPr id="6" name="Slide Number Placeholder 5"/>
          <p:cNvSpPr>
            <a:spLocks noGrp="1"/>
          </p:cNvSpPr>
          <p:nvPr>
            <p:ph type="sldNum" sz="quarter" idx="12"/>
          </p:nvPr>
        </p:nvSpPr>
        <p:spPr/>
        <p:txBody>
          <a:bodyPr/>
          <a:lstStyle>
            <a:lvl1pPr>
              <a:defRPr/>
            </a:lvl1pPr>
          </a:lstStyle>
          <a:p>
            <a:fld id="{7AB9E0DC-B64E-4965-981E-7624E44266FB}" type="slidenum">
              <a:rPr lang="en-US" altLang="zh-CN"/>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ltLang="zh-CN"/>
          </a:p>
        </p:txBody>
      </p:sp>
      <p:sp>
        <p:nvSpPr>
          <p:cNvPr id="6" name="Footer Placeholder 5"/>
          <p:cNvSpPr>
            <a:spLocks noGrp="1"/>
          </p:cNvSpPr>
          <p:nvPr>
            <p:ph type="ftr" sz="quarter" idx="11"/>
          </p:nvPr>
        </p:nvSpPr>
        <p:spPr/>
        <p:txBody>
          <a:bodyPr/>
          <a:lstStyle>
            <a:lvl1pPr>
              <a:defRPr/>
            </a:lvl1pPr>
          </a:lstStyle>
          <a:p>
            <a:endParaRPr lang="en-US" altLang="zh-CN"/>
          </a:p>
        </p:txBody>
      </p:sp>
      <p:sp>
        <p:nvSpPr>
          <p:cNvPr id="7" name="Slide Number Placeholder 6"/>
          <p:cNvSpPr>
            <a:spLocks noGrp="1"/>
          </p:cNvSpPr>
          <p:nvPr>
            <p:ph type="sldNum" sz="quarter" idx="12"/>
          </p:nvPr>
        </p:nvSpPr>
        <p:spPr/>
        <p:txBody>
          <a:bodyPr/>
          <a:lstStyle>
            <a:lvl1pPr>
              <a:defRPr/>
            </a:lvl1pPr>
          </a:lstStyle>
          <a:p>
            <a:fld id="{54F5B70E-9999-4CA1-A98D-950A97CC31B0}" type="slidenum">
              <a:rPr lang="en-US" altLang="zh-CN"/>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ltLang="zh-CN"/>
          </a:p>
        </p:txBody>
      </p:sp>
      <p:sp>
        <p:nvSpPr>
          <p:cNvPr id="8" name="Footer Placeholder 7"/>
          <p:cNvSpPr>
            <a:spLocks noGrp="1"/>
          </p:cNvSpPr>
          <p:nvPr>
            <p:ph type="ftr" sz="quarter" idx="11"/>
          </p:nvPr>
        </p:nvSpPr>
        <p:spPr/>
        <p:txBody>
          <a:bodyPr/>
          <a:lstStyle>
            <a:lvl1pPr>
              <a:defRPr/>
            </a:lvl1pPr>
          </a:lstStyle>
          <a:p>
            <a:endParaRPr lang="en-US" altLang="zh-CN"/>
          </a:p>
        </p:txBody>
      </p:sp>
      <p:sp>
        <p:nvSpPr>
          <p:cNvPr id="9" name="Slide Number Placeholder 8"/>
          <p:cNvSpPr>
            <a:spLocks noGrp="1"/>
          </p:cNvSpPr>
          <p:nvPr>
            <p:ph type="sldNum" sz="quarter" idx="12"/>
          </p:nvPr>
        </p:nvSpPr>
        <p:spPr/>
        <p:txBody>
          <a:bodyPr/>
          <a:lstStyle>
            <a:lvl1pPr>
              <a:defRPr/>
            </a:lvl1pPr>
          </a:lstStyle>
          <a:p>
            <a:fld id="{82651AB1-295B-45D0-BE50-7FC1699C4CAE}" type="slidenum">
              <a:rPr lang="en-US" altLang="zh-CN"/>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ltLang="zh-CN"/>
          </a:p>
        </p:txBody>
      </p:sp>
      <p:sp>
        <p:nvSpPr>
          <p:cNvPr id="4" name="Footer Placeholder 3"/>
          <p:cNvSpPr>
            <a:spLocks noGrp="1"/>
          </p:cNvSpPr>
          <p:nvPr>
            <p:ph type="ftr" sz="quarter" idx="11"/>
          </p:nvPr>
        </p:nvSpPr>
        <p:spPr/>
        <p:txBody>
          <a:bodyPr/>
          <a:lstStyle>
            <a:lvl1pPr>
              <a:defRPr/>
            </a:lvl1pPr>
          </a:lstStyle>
          <a:p>
            <a:endParaRPr lang="en-US" altLang="zh-CN"/>
          </a:p>
        </p:txBody>
      </p:sp>
      <p:sp>
        <p:nvSpPr>
          <p:cNvPr id="5" name="Slide Number Placeholder 4"/>
          <p:cNvSpPr>
            <a:spLocks noGrp="1"/>
          </p:cNvSpPr>
          <p:nvPr>
            <p:ph type="sldNum" sz="quarter" idx="12"/>
          </p:nvPr>
        </p:nvSpPr>
        <p:spPr/>
        <p:txBody>
          <a:bodyPr/>
          <a:lstStyle>
            <a:lvl1pPr>
              <a:defRPr/>
            </a:lvl1pPr>
          </a:lstStyle>
          <a:p>
            <a:fld id="{E1C02F09-5B79-428F-BE17-F05AE4315E0E}" type="slidenum">
              <a:rPr lang="en-US" altLang="zh-CN"/>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zh-CN"/>
          </a:p>
        </p:txBody>
      </p:sp>
      <p:sp>
        <p:nvSpPr>
          <p:cNvPr id="3" name="Footer Placeholder 2"/>
          <p:cNvSpPr>
            <a:spLocks noGrp="1"/>
          </p:cNvSpPr>
          <p:nvPr>
            <p:ph type="ftr" sz="quarter" idx="11"/>
          </p:nvPr>
        </p:nvSpPr>
        <p:spPr/>
        <p:txBody>
          <a:bodyPr/>
          <a:lstStyle>
            <a:lvl1pPr>
              <a:defRPr/>
            </a:lvl1pPr>
          </a:lstStyle>
          <a:p>
            <a:endParaRPr lang="en-US" altLang="zh-CN"/>
          </a:p>
        </p:txBody>
      </p:sp>
      <p:sp>
        <p:nvSpPr>
          <p:cNvPr id="4" name="Slide Number Placeholder 3"/>
          <p:cNvSpPr>
            <a:spLocks noGrp="1"/>
          </p:cNvSpPr>
          <p:nvPr>
            <p:ph type="sldNum" sz="quarter" idx="12"/>
          </p:nvPr>
        </p:nvSpPr>
        <p:spPr/>
        <p:txBody>
          <a:bodyPr/>
          <a:lstStyle>
            <a:lvl1pPr>
              <a:defRPr/>
            </a:lvl1pPr>
          </a:lstStyle>
          <a:p>
            <a:fld id="{59BCB2F6-C531-44A9-B206-5CE812C84039}" type="slidenum">
              <a:rPr lang="en-US" altLang="zh-CN"/>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zh-CN"/>
          </a:p>
        </p:txBody>
      </p:sp>
      <p:sp>
        <p:nvSpPr>
          <p:cNvPr id="6" name="Footer Placeholder 5"/>
          <p:cNvSpPr>
            <a:spLocks noGrp="1"/>
          </p:cNvSpPr>
          <p:nvPr>
            <p:ph type="ftr" sz="quarter" idx="11"/>
          </p:nvPr>
        </p:nvSpPr>
        <p:spPr/>
        <p:txBody>
          <a:bodyPr/>
          <a:lstStyle>
            <a:lvl1pPr>
              <a:defRPr/>
            </a:lvl1pPr>
          </a:lstStyle>
          <a:p>
            <a:endParaRPr lang="en-US" altLang="zh-CN"/>
          </a:p>
        </p:txBody>
      </p:sp>
      <p:sp>
        <p:nvSpPr>
          <p:cNvPr id="7" name="Slide Number Placeholder 6"/>
          <p:cNvSpPr>
            <a:spLocks noGrp="1"/>
          </p:cNvSpPr>
          <p:nvPr>
            <p:ph type="sldNum" sz="quarter" idx="12"/>
          </p:nvPr>
        </p:nvSpPr>
        <p:spPr/>
        <p:txBody>
          <a:bodyPr/>
          <a:lstStyle>
            <a:lvl1pPr>
              <a:defRPr/>
            </a:lvl1pPr>
          </a:lstStyle>
          <a:p>
            <a:fld id="{6531E5CC-7F3A-416E-AA4A-E356E2922008}" type="slidenum">
              <a:rPr lang="en-US" altLang="zh-CN"/>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zh-CN"/>
          </a:p>
        </p:txBody>
      </p:sp>
      <p:sp>
        <p:nvSpPr>
          <p:cNvPr id="6" name="Footer Placeholder 5"/>
          <p:cNvSpPr>
            <a:spLocks noGrp="1"/>
          </p:cNvSpPr>
          <p:nvPr>
            <p:ph type="ftr" sz="quarter" idx="11"/>
          </p:nvPr>
        </p:nvSpPr>
        <p:spPr/>
        <p:txBody>
          <a:bodyPr/>
          <a:lstStyle>
            <a:lvl1pPr>
              <a:defRPr/>
            </a:lvl1pPr>
          </a:lstStyle>
          <a:p>
            <a:endParaRPr lang="en-US" altLang="zh-CN"/>
          </a:p>
        </p:txBody>
      </p:sp>
      <p:sp>
        <p:nvSpPr>
          <p:cNvPr id="7" name="Slide Number Placeholder 6"/>
          <p:cNvSpPr>
            <a:spLocks noGrp="1"/>
          </p:cNvSpPr>
          <p:nvPr>
            <p:ph type="sldNum" sz="quarter" idx="12"/>
          </p:nvPr>
        </p:nvSpPr>
        <p:spPr/>
        <p:txBody>
          <a:bodyPr/>
          <a:lstStyle>
            <a:lvl1pPr>
              <a:defRPr/>
            </a:lvl1pPr>
          </a:lstStyle>
          <a:p>
            <a:fld id="{2E56E1FE-F82D-4810-9DAE-735E57C4CEFB}" type="slidenum">
              <a:rPr lang="en-US" altLang="zh-CN"/>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zh-CN"/>
          </a:p>
        </p:txBody>
      </p:sp>
      <p:sp>
        <p:nvSpPr>
          <p:cNvPr id="5" name="Footer Placeholder 4"/>
          <p:cNvSpPr>
            <a:spLocks noGrp="1"/>
          </p:cNvSpPr>
          <p:nvPr>
            <p:ph type="ftr" sz="quarter" idx="11"/>
          </p:nvPr>
        </p:nvSpPr>
        <p:spPr/>
        <p:txBody>
          <a:bodyPr/>
          <a:lstStyle>
            <a:lvl1pPr>
              <a:defRPr/>
            </a:lvl1pPr>
          </a:lstStyle>
          <a:p>
            <a:endParaRPr lang="en-US" altLang="zh-CN"/>
          </a:p>
        </p:txBody>
      </p:sp>
      <p:sp>
        <p:nvSpPr>
          <p:cNvPr id="6" name="Slide Number Placeholder 5"/>
          <p:cNvSpPr>
            <a:spLocks noGrp="1"/>
          </p:cNvSpPr>
          <p:nvPr>
            <p:ph type="sldNum" sz="quarter" idx="12"/>
          </p:nvPr>
        </p:nvSpPr>
        <p:spPr/>
        <p:txBody>
          <a:bodyPr/>
          <a:lstStyle>
            <a:lvl1pPr>
              <a:defRPr/>
            </a:lvl1pPr>
          </a:lstStyle>
          <a:p>
            <a:fld id="{FB426E40-7653-419E-AFF3-4FDCF62ABF40}" type="slidenum">
              <a:rPr lang="en-US" altLang="zh-CN"/>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zh-CN"/>
          </a:p>
        </p:txBody>
      </p:sp>
      <p:sp>
        <p:nvSpPr>
          <p:cNvPr id="5" name="Footer Placeholder 4"/>
          <p:cNvSpPr>
            <a:spLocks noGrp="1"/>
          </p:cNvSpPr>
          <p:nvPr>
            <p:ph type="ftr" sz="quarter" idx="11"/>
          </p:nvPr>
        </p:nvSpPr>
        <p:spPr/>
        <p:txBody>
          <a:bodyPr/>
          <a:lstStyle>
            <a:lvl1pPr>
              <a:defRPr/>
            </a:lvl1pPr>
          </a:lstStyle>
          <a:p>
            <a:endParaRPr lang="en-US" altLang="zh-CN"/>
          </a:p>
        </p:txBody>
      </p:sp>
      <p:sp>
        <p:nvSpPr>
          <p:cNvPr id="6" name="Slide Number Placeholder 5"/>
          <p:cNvSpPr>
            <a:spLocks noGrp="1"/>
          </p:cNvSpPr>
          <p:nvPr>
            <p:ph type="sldNum" sz="quarter" idx="12"/>
          </p:nvPr>
        </p:nvSpPr>
        <p:spPr/>
        <p:txBody>
          <a:bodyPr/>
          <a:lstStyle>
            <a:lvl1pPr>
              <a:defRPr/>
            </a:lvl1pPr>
          </a:lstStyle>
          <a:p>
            <a:fld id="{EEEE790A-54CB-4988-ADE0-CE3C3FC5E80F}" type="slidenum">
              <a:rPr lang="en-US" altLang="zh-CN"/>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59C53BF6-01BA-48AF-BF8B-5745C39A259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ea typeface="SimSun" pitchFamily="2" charset="-122"/>
        </a:defRPr>
      </a:lvl2pPr>
      <a:lvl3pPr algn="ctr" rtl="0" fontAlgn="base">
        <a:spcBef>
          <a:spcPct val="0"/>
        </a:spcBef>
        <a:spcAft>
          <a:spcPct val="0"/>
        </a:spcAft>
        <a:defRPr sz="4400">
          <a:solidFill>
            <a:schemeClr val="tx2"/>
          </a:solidFill>
          <a:latin typeface="Arial" pitchFamily="34" charset="0"/>
          <a:ea typeface="SimSun" pitchFamily="2" charset="-122"/>
        </a:defRPr>
      </a:lvl3pPr>
      <a:lvl4pPr algn="ctr" rtl="0" fontAlgn="base">
        <a:spcBef>
          <a:spcPct val="0"/>
        </a:spcBef>
        <a:spcAft>
          <a:spcPct val="0"/>
        </a:spcAft>
        <a:defRPr sz="4400">
          <a:solidFill>
            <a:schemeClr val="tx2"/>
          </a:solidFill>
          <a:latin typeface="Arial" pitchFamily="34" charset="0"/>
          <a:ea typeface="SimSun" pitchFamily="2" charset="-122"/>
        </a:defRPr>
      </a:lvl4pPr>
      <a:lvl5pPr algn="ctr" rtl="0" fontAlgn="base">
        <a:spcBef>
          <a:spcPct val="0"/>
        </a:spcBef>
        <a:spcAft>
          <a:spcPct val="0"/>
        </a:spcAft>
        <a:defRPr sz="4400">
          <a:solidFill>
            <a:schemeClr val="tx2"/>
          </a:solidFill>
          <a:latin typeface="Arial" pitchFamily="34" charset="0"/>
          <a:ea typeface="SimSun" pitchFamily="2" charset="-122"/>
        </a:defRPr>
      </a:lvl5pPr>
      <a:lvl6pPr marL="457200" algn="ctr" rtl="0" fontAlgn="base">
        <a:spcBef>
          <a:spcPct val="0"/>
        </a:spcBef>
        <a:spcAft>
          <a:spcPct val="0"/>
        </a:spcAft>
        <a:defRPr sz="4400">
          <a:solidFill>
            <a:schemeClr val="tx2"/>
          </a:solidFill>
          <a:latin typeface="Arial" pitchFamily="34" charset="0"/>
          <a:ea typeface="SimSun" pitchFamily="2" charset="-122"/>
        </a:defRPr>
      </a:lvl6pPr>
      <a:lvl7pPr marL="914400" algn="ctr" rtl="0" fontAlgn="base">
        <a:spcBef>
          <a:spcPct val="0"/>
        </a:spcBef>
        <a:spcAft>
          <a:spcPct val="0"/>
        </a:spcAft>
        <a:defRPr sz="4400">
          <a:solidFill>
            <a:schemeClr val="tx2"/>
          </a:solidFill>
          <a:latin typeface="Arial" pitchFamily="34" charset="0"/>
          <a:ea typeface="SimSun" pitchFamily="2" charset="-122"/>
        </a:defRPr>
      </a:lvl7pPr>
      <a:lvl8pPr marL="1371600" algn="ctr" rtl="0" fontAlgn="base">
        <a:spcBef>
          <a:spcPct val="0"/>
        </a:spcBef>
        <a:spcAft>
          <a:spcPct val="0"/>
        </a:spcAft>
        <a:defRPr sz="4400">
          <a:solidFill>
            <a:schemeClr val="tx2"/>
          </a:solidFill>
          <a:latin typeface="Arial" pitchFamily="34" charset="0"/>
          <a:ea typeface="SimSun" pitchFamily="2" charset="-122"/>
        </a:defRPr>
      </a:lvl8pPr>
      <a:lvl9pPr marL="1828800" algn="ctr" rtl="0" fontAlgn="base">
        <a:spcBef>
          <a:spcPct val="0"/>
        </a:spcBef>
        <a:spcAft>
          <a:spcPct val="0"/>
        </a:spcAft>
        <a:defRPr sz="4400">
          <a:solidFill>
            <a:schemeClr val="tx2"/>
          </a:solidFill>
          <a:latin typeface="Arial" pitchFamily="34" charset="0"/>
          <a:ea typeface="SimSun"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wto.org/english/docs_e/legal_e/legal_e.ht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www.wto.org/english/docs_e/legal_e/legal_e.ht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250825" y="1268412"/>
            <a:ext cx="8893175" cy="5132387"/>
          </a:xfrm>
        </p:spPr>
        <p:txBody>
          <a:bodyPr/>
          <a:lstStyle/>
          <a:p>
            <a:pPr marL="609600" indent="-609600">
              <a:buFontTx/>
              <a:buNone/>
            </a:pPr>
            <a:r>
              <a:rPr lang="en-US" altLang="zh-CN" b="1" dirty="0" smtClean="0"/>
              <a:t>TRADE AGREEMENTS</a:t>
            </a:r>
            <a:endParaRPr lang="en-US" altLang="zh-CN" b="1" dirty="0"/>
          </a:p>
          <a:p>
            <a:pPr marL="53975" indent="-53975">
              <a:buFontTx/>
              <a:buNone/>
            </a:pPr>
            <a:r>
              <a:rPr lang="en-US" altLang="zh-CN" sz="2400" b="1" dirty="0" smtClean="0"/>
              <a:t>The </a:t>
            </a:r>
            <a:r>
              <a:rPr lang="en-US" altLang="zh-CN" sz="2400" b="1" dirty="0"/>
              <a:t>Results of the Uruguay Round of Multilateral </a:t>
            </a:r>
            <a:r>
              <a:rPr lang="en-US" altLang="zh-CN" sz="2400" b="1" dirty="0" smtClean="0"/>
              <a:t>Trade Negotiations has</a:t>
            </a:r>
            <a:r>
              <a:rPr lang="en-US" altLang="zh-CN" sz="2400" dirty="0" smtClean="0"/>
              <a:t> </a:t>
            </a:r>
            <a:r>
              <a:rPr lang="en-US" altLang="zh-CN" sz="2400" dirty="0"/>
              <a:t>six main parts: </a:t>
            </a:r>
          </a:p>
          <a:p>
            <a:pPr marL="231775" indent="-231775">
              <a:buFont typeface="Wingdings" pitchFamily="2" charset="2"/>
              <a:buChar char="Ø"/>
            </a:pPr>
            <a:r>
              <a:rPr lang="en-US" altLang="zh-CN" sz="2400" dirty="0" smtClean="0"/>
              <a:t>an </a:t>
            </a:r>
            <a:r>
              <a:rPr lang="en-US" altLang="zh-CN" sz="2400" dirty="0"/>
              <a:t>umbrella agreement (the Agreement Establishing the </a:t>
            </a:r>
            <a:r>
              <a:rPr lang="en-US" altLang="zh-CN" sz="2400" dirty="0" smtClean="0"/>
              <a:t>  WTO)</a:t>
            </a:r>
          </a:p>
          <a:p>
            <a:pPr marL="231775" indent="-231775">
              <a:buFont typeface="Wingdings" pitchFamily="2" charset="2"/>
              <a:buChar char="Ø"/>
            </a:pPr>
            <a:r>
              <a:rPr lang="en-US" altLang="zh-CN" sz="2400" dirty="0" smtClean="0">
                <a:hlinkClick r:id="rId2"/>
              </a:rPr>
              <a:t>General Agreement on Tariffs and Trade</a:t>
            </a:r>
            <a:r>
              <a:rPr lang="en-US" altLang="zh-CN" sz="2400" dirty="0" smtClean="0"/>
              <a:t>(GATT) (for goods)</a:t>
            </a:r>
          </a:p>
          <a:p>
            <a:pPr marL="231775" indent="-231775">
              <a:buFont typeface="Wingdings" pitchFamily="2" charset="2"/>
              <a:buChar char="Ø"/>
            </a:pPr>
            <a:r>
              <a:rPr lang="en-US" altLang="zh-CN" sz="2400" dirty="0" smtClean="0">
                <a:hlinkClick r:id="rId2"/>
              </a:rPr>
              <a:t>General Agreement on Trade in Services</a:t>
            </a:r>
            <a:r>
              <a:rPr lang="en-US" altLang="zh-CN" sz="2400" dirty="0" smtClean="0"/>
              <a:t>   (GATS)</a:t>
            </a:r>
          </a:p>
          <a:p>
            <a:pPr marL="231775" indent="-231775">
              <a:buFont typeface="Wingdings" pitchFamily="2" charset="2"/>
              <a:buChar char="Ø"/>
            </a:pPr>
            <a:r>
              <a:rPr lang="en-US" altLang="zh-CN" sz="2400" dirty="0" smtClean="0">
                <a:hlinkClick r:id="rId2"/>
              </a:rPr>
              <a:t>Trade-Related Aspects of Intellectual   Property Rights</a:t>
            </a:r>
            <a:r>
              <a:rPr lang="en-US" altLang="zh-CN" sz="2400" dirty="0" smtClean="0"/>
              <a:t> (TRIPS).</a:t>
            </a:r>
          </a:p>
          <a:p>
            <a:pPr marL="231775" indent="-231775">
              <a:buFont typeface="Wingdings" pitchFamily="2" charset="2"/>
              <a:buChar char="Ø"/>
            </a:pPr>
            <a:r>
              <a:rPr lang="en-US" altLang="zh-CN" sz="2400" dirty="0" smtClean="0"/>
              <a:t> TRIMS</a:t>
            </a:r>
          </a:p>
          <a:p>
            <a:pPr marL="231775" indent="-231775">
              <a:buFont typeface="Wingdings" pitchFamily="2" charset="2"/>
              <a:buChar char="Ø"/>
            </a:pPr>
            <a:r>
              <a:rPr lang="en-US" altLang="zh-CN" sz="2400" dirty="0" smtClean="0"/>
              <a:t> Dispute settlement</a:t>
            </a:r>
          </a:p>
          <a:p>
            <a:pPr marL="231775" indent="-231775">
              <a:buFont typeface="Wingdings" pitchFamily="2" charset="2"/>
              <a:buChar char="Ø"/>
            </a:pPr>
            <a:r>
              <a:rPr lang="en-US" altLang="zh-CN" sz="2400" dirty="0" smtClean="0"/>
              <a:t>governments’ trade policies reviews</a:t>
            </a:r>
          </a:p>
          <a:p>
            <a:pPr marL="231775" indent="-231775">
              <a:buNone/>
            </a:pPr>
            <a:endParaRPr lang="en-US" altLang="zh-CN" sz="2400" dirty="0" smtClean="0"/>
          </a:p>
          <a:p>
            <a:pPr>
              <a:buFontTx/>
              <a:buNone/>
            </a:pPr>
            <a:endParaRPr lang="en-US" altLang="zh-CN"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5122">
                                            <p:txEl>
                                              <p:pRg st="0" end="0"/>
                                            </p:txEl>
                                          </p:spTgt>
                                        </p:tgtEl>
                                        <p:attrNameLst>
                                          <p:attrName>style.visibility</p:attrName>
                                        </p:attrNameLst>
                                      </p:cBhvr>
                                      <p:to>
                                        <p:strVal val="visible"/>
                                      </p:to>
                                    </p:set>
                                    <p:animEffect transition="in" filter="fade">
                                      <p:cBhvr>
                                        <p:cTn id="7" dur="500">
                                          <p:stCondLst>
                                            <p:cond delay="0"/>
                                          </p:stCondLst>
                                        </p:cTn>
                                        <p:tgtEl>
                                          <p:spTgt spid="51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5122">
                                            <p:txEl>
                                              <p:pRg st="1" end="1"/>
                                            </p:txEl>
                                          </p:spTgt>
                                        </p:tgtEl>
                                        <p:attrNameLst>
                                          <p:attrName>style.visibility</p:attrName>
                                        </p:attrNameLst>
                                      </p:cBhvr>
                                      <p:to>
                                        <p:strVal val="visible"/>
                                      </p:to>
                                    </p:set>
                                    <p:animEffect transition="in" filter="fade">
                                      <p:cBhvr>
                                        <p:cTn id="12" dur="500">
                                          <p:stCondLst>
                                            <p:cond delay="0"/>
                                          </p:stCondLst>
                                        </p:cTn>
                                        <p:tgtEl>
                                          <p:spTgt spid="51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5122">
                                            <p:txEl>
                                              <p:pRg st="2" end="2"/>
                                            </p:txEl>
                                          </p:spTgt>
                                        </p:tgtEl>
                                        <p:attrNameLst>
                                          <p:attrName>style.visibility</p:attrName>
                                        </p:attrNameLst>
                                      </p:cBhvr>
                                      <p:to>
                                        <p:strVal val="visible"/>
                                      </p:to>
                                    </p:set>
                                    <p:animEffect transition="in" filter="fade">
                                      <p:cBhvr>
                                        <p:cTn id="17" dur="500">
                                          <p:stCondLst>
                                            <p:cond delay="0"/>
                                          </p:stCondLst>
                                        </p:cTn>
                                        <p:tgtEl>
                                          <p:spTgt spid="51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5122">
                                            <p:txEl>
                                              <p:pRg st="3" end="3"/>
                                            </p:txEl>
                                          </p:spTgt>
                                        </p:tgtEl>
                                        <p:attrNameLst>
                                          <p:attrName>style.visibility</p:attrName>
                                        </p:attrNameLst>
                                      </p:cBhvr>
                                      <p:to>
                                        <p:strVal val="visible"/>
                                      </p:to>
                                    </p:set>
                                    <p:animEffect transition="in" filter="fade">
                                      <p:cBhvr>
                                        <p:cTn id="22" dur="500">
                                          <p:stCondLst>
                                            <p:cond delay="0"/>
                                          </p:stCondLst>
                                        </p:cTn>
                                        <p:tgtEl>
                                          <p:spTgt spid="512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10000"/>
                                  </p:iterate>
                                  <p:childTnLst>
                                    <p:set>
                                      <p:cBhvr>
                                        <p:cTn id="26" dur="1" fill="hold">
                                          <p:stCondLst>
                                            <p:cond delay="0"/>
                                          </p:stCondLst>
                                        </p:cTn>
                                        <p:tgtEl>
                                          <p:spTgt spid="5122">
                                            <p:txEl>
                                              <p:pRg st="4" end="4"/>
                                            </p:txEl>
                                          </p:spTgt>
                                        </p:tgtEl>
                                        <p:attrNameLst>
                                          <p:attrName>style.visibility</p:attrName>
                                        </p:attrNameLst>
                                      </p:cBhvr>
                                      <p:to>
                                        <p:strVal val="visible"/>
                                      </p:to>
                                    </p:set>
                                    <p:animEffect transition="in" filter="fade">
                                      <p:cBhvr>
                                        <p:cTn id="27" dur="500">
                                          <p:stCondLst>
                                            <p:cond delay="0"/>
                                          </p:stCondLst>
                                        </p:cTn>
                                        <p:tgtEl>
                                          <p:spTgt spid="512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lt">
                                    <p:tmPct val="10000"/>
                                  </p:iterate>
                                  <p:childTnLst>
                                    <p:set>
                                      <p:cBhvr>
                                        <p:cTn id="31" dur="1" fill="hold">
                                          <p:stCondLst>
                                            <p:cond delay="0"/>
                                          </p:stCondLst>
                                        </p:cTn>
                                        <p:tgtEl>
                                          <p:spTgt spid="5122">
                                            <p:txEl>
                                              <p:pRg st="5" end="5"/>
                                            </p:txEl>
                                          </p:spTgt>
                                        </p:tgtEl>
                                        <p:attrNameLst>
                                          <p:attrName>style.visibility</p:attrName>
                                        </p:attrNameLst>
                                      </p:cBhvr>
                                      <p:to>
                                        <p:strVal val="visible"/>
                                      </p:to>
                                    </p:set>
                                    <p:animEffect transition="in" filter="fade">
                                      <p:cBhvr>
                                        <p:cTn id="32" dur="500">
                                          <p:stCondLst>
                                            <p:cond delay="0"/>
                                          </p:stCondLst>
                                        </p:cTn>
                                        <p:tgtEl>
                                          <p:spTgt spid="512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iterate type="lt">
                                    <p:tmPct val="10000"/>
                                  </p:iterate>
                                  <p:childTnLst>
                                    <p:set>
                                      <p:cBhvr>
                                        <p:cTn id="36" dur="1" fill="hold">
                                          <p:stCondLst>
                                            <p:cond delay="0"/>
                                          </p:stCondLst>
                                        </p:cTn>
                                        <p:tgtEl>
                                          <p:spTgt spid="5122">
                                            <p:txEl>
                                              <p:pRg st="6" end="6"/>
                                            </p:txEl>
                                          </p:spTgt>
                                        </p:tgtEl>
                                        <p:attrNameLst>
                                          <p:attrName>style.visibility</p:attrName>
                                        </p:attrNameLst>
                                      </p:cBhvr>
                                      <p:to>
                                        <p:strVal val="visible"/>
                                      </p:to>
                                    </p:set>
                                    <p:animEffect transition="in" filter="fade">
                                      <p:cBhvr>
                                        <p:cTn id="37" dur="500">
                                          <p:stCondLst>
                                            <p:cond delay="0"/>
                                          </p:stCondLst>
                                        </p:cTn>
                                        <p:tgtEl>
                                          <p:spTgt spid="512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iterate type="lt">
                                    <p:tmPct val="10000"/>
                                  </p:iterate>
                                  <p:childTnLst>
                                    <p:set>
                                      <p:cBhvr>
                                        <p:cTn id="41" dur="1" fill="hold">
                                          <p:stCondLst>
                                            <p:cond delay="0"/>
                                          </p:stCondLst>
                                        </p:cTn>
                                        <p:tgtEl>
                                          <p:spTgt spid="5122">
                                            <p:txEl>
                                              <p:pRg st="7" end="7"/>
                                            </p:txEl>
                                          </p:spTgt>
                                        </p:tgtEl>
                                        <p:attrNameLst>
                                          <p:attrName>style.visibility</p:attrName>
                                        </p:attrNameLst>
                                      </p:cBhvr>
                                      <p:to>
                                        <p:strVal val="visible"/>
                                      </p:to>
                                    </p:set>
                                    <p:animEffect transition="in" filter="fade">
                                      <p:cBhvr>
                                        <p:cTn id="42" dur="500">
                                          <p:stCondLst>
                                            <p:cond delay="0"/>
                                          </p:stCondLst>
                                        </p:cTn>
                                        <p:tgtEl>
                                          <p:spTgt spid="512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iterate type="lt">
                                    <p:tmPct val="10000"/>
                                  </p:iterate>
                                  <p:childTnLst>
                                    <p:set>
                                      <p:cBhvr>
                                        <p:cTn id="46" dur="1" fill="hold">
                                          <p:stCondLst>
                                            <p:cond delay="0"/>
                                          </p:stCondLst>
                                        </p:cTn>
                                        <p:tgtEl>
                                          <p:spTgt spid="5122">
                                            <p:txEl>
                                              <p:pRg st="8" end="8"/>
                                            </p:txEl>
                                          </p:spTgt>
                                        </p:tgtEl>
                                        <p:attrNameLst>
                                          <p:attrName>style.visibility</p:attrName>
                                        </p:attrNameLst>
                                      </p:cBhvr>
                                      <p:to>
                                        <p:strVal val="visible"/>
                                      </p:to>
                                    </p:set>
                                    <p:animEffect transition="in" filter="fade">
                                      <p:cBhvr>
                                        <p:cTn id="47" dur="500">
                                          <p:stCondLst>
                                            <p:cond delay="0"/>
                                          </p:stCondLst>
                                        </p:cTn>
                                        <p:tgtEl>
                                          <p:spTgt spid="512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uild="p"/>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xfrm>
            <a:off x="179388" y="836613"/>
            <a:ext cx="8964612" cy="4824412"/>
          </a:xfrm>
        </p:spPr>
        <p:txBody>
          <a:bodyPr/>
          <a:lstStyle/>
          <a:p>
            <a:pPr marL="609600" indent="-609600">
              <a:buNone/>
            </a:pPr>
            <a:r>
              <a:rPr lang="en-US" altLang="zh-CN" b="1" dirty="0" smtClean="0">
                <a:hlinkClick r:id="rId2"/>
              </a:rPr>
              <a:t>	General </a:t>
            </a:r>
            <a:r>
              <a:rPr lang="en-US" altLang="zh-CN" b="1" dirty="0">
                <a:hlinkClick r:id="rId2"/>
              </a:rPr>
              <a:t>Agreement on Trade in Services</a:t>
            </a:r>
            <a:r>
              <a:rPr lang="en-US" altLang="zh-CN" dirty="0"/>
              <a:t> (</a:t>
            </a:r>
            <a:r>
              <a:rPr lang="en-US" altLang="zh-CN" b="1" dirty="0"/>
              <a:t>GATS):</a:t>
            </a:r>
          </a:p>
          <a:p>
            <a:pPr marL="609600" indent="-609600">
              <a:buFontTx/>
              <a:buNone/>
            </a:pPr>
            <a:r>
              <a:rPr lang="en-US" altLang="zh-CN" b="1" dirty="0"/>
              <a:t>     </a:t>
            </a:r>
            <a:r>
              <a:rPr lang="en-US" altLang="zh-CN" b="1" dirty="0" smtClean="0"/>
              <a:t>Responding </a:t>
            </a:r>
            <a:r>
              <a:rPr lang="en-US" altLang="zh-CN" b="1" dirty="0"/>
              <a:t>to</a:t>
            </a:r>
            <a:r>
              <a:rPr lang="en-US" altLang="zh-CN" dirty="0"/>
              <a:t> </a:t>
            </a:r>
            <a:r>
              <a:rPr lang="en-US" altLang="zh-CN" b="1" dirty="0"/>
              <a:t>the huge growth of the services economy over the past 30 years and the greater potential for trading services brought about by the communications revolution.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29698">
                                            <p:txEl>
                                              <p:pRg st="0" end="0"/>
                                            </p:txEl>
                                          </p:spTgt>
                                        </p:tgtEl>
                                        <p:attrNameLst>
                                          <p:attrName>style.visibility</p:attrName>
                                        </p:attrNameLst>
                                      </p:cBhvr>
                                      <p:to>
                                        <p:strVal val="visible"/>
                                      </p:to>
                                    </p:set>
                                    <p:animEffect transition="in" filter="fade">
                                      <p:cBhvr>
                                        <p:cTn id="7" dur="500">
                                          <p:stCondLst>
                                            <p:cond delay="0"/>
                                          </p:stCondLst>
                                        </p:cTn>
                                        <p:tgtEl>
                                          <p:spTgt spid="296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29698">
                                            <p:txEl>
                                              <p:pRg st="1" end="1"/>
                                            </p:txEl>
                                          </p:spTgt>
                                        </p:tgtEl>
                                        <p:attrNameLst>
                                          <p:attrName>style.visibility</p:attrName>
                                        </p:attrNameLst>
                                      </p:cBhvr>
                                      <p:to>
                                        <p:strVal val="visible"/>
                                      </p:to>
                                    </p:set>
                                    <p:animEffect transition="in" filter="fade">
                                      <p:cBhvr>
                                        <p:cTn id="12" dur="500">
                                          <p:stCondLst>
                                            <p:cond delay="0"/>
                                          </p:stCondLst>
                                        </p:cTn>
                                        <p:tgtEl>
                                          <p:spTgt spid="2969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xfrm>
            <a:off x="179388" y="836613"/>
            <a:ext cx="8964612" cy="5327650"/>
          </a:xfrm>
        </p:spPr>
        <p:txBody>
          <a:bodyPr/>
          <a:lstStyle/>
          <a:p>
            <a:pPr>
              <a:buFontTx/>
              <a:buNone/>
            </a:pPr>
            <a:r>
              <a:rPr lang="en-US" altLang="zh-CN" b="1"/>
              <a:t>2. Outline of GATS:</a:t>
            </a:r>
          </a:p>
          <a:p>
            <a:pPr>
              <a:buFontTx/>
              <a:buNone/>
            </a:pPr>
            <a:r>
              <a:rPr lang="en-US" altLang="zh-CN"/>
              <a:t>    (1)the main text : general obligations and disciplines; </a:t>
            </a:r>
          </a:p>
          <a:p>
            <a:pPr>
              <a:buFontTx/>
              <a:buNone/>
            </a:pPr>
            <a:r>
              <a:rPr lang="en-US" altLang="zh-CN"/>
              <a:t>    (2)annexes: dealing with rules for specific sectors; </a:t>
            </a:r>
          </a:p>
          <a:p>
            <a:pPr>
              <a:buFontTx/>
              <a:buNone/>
            </a:pPr>
            <a:r>
              <a:rPr lang="en-US" altLang="zh-CN"/>
              <a:t>    (3)individual countries’ specific commitments: to provide access to their markets, including indications of where countries are temporarily not applying the “most-favoured-nation” principle of non-discrimination.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30722">
                                            <p:txEl>
                                              <p:pRg st="0" end="0"/>
                                            </p:txEl>
                                          </p:spTgt>
                                        </p:tgtEl>
                                        <p:attrNameLst>
                                          <p:attrName>style.visibility</p:attrName>
                                        </p:attrNameLst>
                                      </p:cBhvr>
                                      <p:to>
                                        <p:strVal val="visible"/>
                                      </p:to>
                                    </p:set>
                                    <p:animEffect transition="in" filter="fade">
                                      <p:cBhvr>
                                        <p:cTn id="7" dur="500">
                                          <p:stCondLst>
                                            <p:cond delay="0"/>
                                          </p:stCondLst>
                                        </p:cTn>
                                        <p:tgtEl>
                                          <p:spTgt spid="307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30722">
                                            <p:txEl>
                                              <p:pRg st="1" end="1"/>
                                            </p:txEl>
                                          </p:spTgt>
                                        </p:tgtEl>
                                        <p:attrNameLst>
                                          <p:attrName>style.visibility</p:attrName>
                                        </p:attrNameLst>
                                      </p:cBhvr>
                                      <p:to>
                                        <p:strVal val="visible"/>
                                      </p:to>
                                    </p:set>
                                    <p:animEffect transition="in" filter="fade">
                                      <p:cBhvr>
                                        <p:cTn id="12" dur="500">
                                          <p:stCondLst>
                                            <p:cond delay="0"/>
                                          </p:stCondLst>
                                        </p:cTn>
                                        <p:tgtEl>
                                          <p:spTgt spid="307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30722">
                                            <p:txEl>
                                              <p:pRg st="2" end="2"/>
                                            </p:txEl>
                                          </p:spTgt>
                                        </p:tgtEl>
                                        <p:attrNameLst>
                                          <p:attrName>style.visibility</p:attrName>
                                        </p:attrNameLst>
                                      </p:cBhvr>
                                      <p:to>
                                        <p:strVal val="visible"/>
                                      </p:to>
                                    </p:set>
                                    <p:animEffect transition="in" filter="fade">
                                      <p:cBhvr>
                                        <p:cTn id="17" dur="500">
                                          <p:stCondLst>
                                            <p:cond delay="0"/>
                                          </p:stCondLst>
                                        </p:cTn>
                                        <p:tgtEl>
                                          <p:spTgt spid="307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30722">
                                            <p:txEl>
                                              <p:pRg st="3" end="3"/>
                                            </p:txEl>
                                          </p:spTgt>
                                        </p:tgtEl>
                                        <p:attrNameLst>
                                          <p:attrName>style.visibility</p:attrName>
                                        </p:attrNameLst>
                                      </p:cBhvr>
                                      <p:to>
                                        <p:strVal val="visible"/>
                                      </p:to>
                                    </p:set>
                                    <p:animEffect transition="in" filter="fade">
                                      <p:cBhvr>
                                        <p:cTn id="22" dur="500">
                                          <p:stCondLst>
                                            <p:cond delay="0"/>
                                          </p:stCondLst>
                                        </p:cTn>
                                        <p:tgtEl>
                                          <p:spTgt spid="307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xfrm>
            <a:off x="179388" y="1125538"/>
            <a:ext cx="8964612" cy="4608512"/>
          </a:xfrm>
        </p:spPr>
        <p:txBody>
          <a:bodyPr/>
          <a:lstStyle/>
          <a:p>
            <a:pPr>
              <a:buFontTx/>
              <a:buNone/>
            </a:pPr>
            <a:r>
              <a:rPr lang="en-US" altLang="zh-CN" b="1" dirty="0"/>
              <a:t>3.</a:t>
            </a:r>
            <a:r>
              <a:rPr lang="en-US" altLang="zh-CN" dirty="0"/>
              <a:t> </a:t>
            </a:r>
            <a:r>
              <a:rPr lang="en-US" altLang="zh-CN" b="1" dirty="0"/>
              <a:t>General obligations and disciplines</a:t>
            </a:r>
          </a:p>
          <a:p>
            <a:pPr>
              <a:buFontTx/>
              <a:buNone/>
            </a:pPr>
            <a:r>
              <a:rPr lang="en-US" altLang="zh-CN" b="1" dirty="0"/>
              <a:t>   </a:t>
            </a:r>
          </a:p>
          <a:p>
            <a:pPr>
              <a:buFontTx/>
              <a:buNone/>
            </a:pPr>
            <a:r>
              <a:rPr lang="en-US" altLang="zh-CN" b="1" dirty="0"/>
              <a:t>  </a:t>
            </a:r>
            <a:r>
              <a:rPr lang="en-US" altLang="zh-CN" dirty="0"/>
              <a:t>(1) fields covered:</a:t>
            </a:r>
          </a:p>
          <a:p>
            <a:pPr>
              <a:buFontTx/>
              <a:buNone/>
            </a:pPr>
            <a:r>
              <a:rPr lang="en-US" altLang="zh-CN" dirty="0"/>
              <a:t>         all internationally-traded services — for example, banking, telecommunications, tourism, professional services, etc </a:t>
            </a:r>
          </a:p>
          <a:p>
            <a:pPr>
              <a:buFontTx/>
              <a:buNone/>
            </a:pPr>
            <a:r>
              <a:rPr lang="en-US" altLang="zh-CN" dirty="0"/>
              <a:t>  </a:t>
            </a:r>
            <a:r>
              <a:rPr lang="en-US" altLang="zh-CN" dirty="0" smtClean="0"/>
              <a:t> </a:t>
            </a:r>
            <a:endParaRPr lang="en-US" altLang="zh-CN" dirty="0"/>
          </a:p>
          <a:p>
            <a:pPr>
              <a:buFontTx/>
              <a:buNone/>
            </a:pPr>
            <a:r>
              <a:rPr lang="en-US" altLang="zh-CN" dirty="0"/>
              <a:t>  (2) four ways (or “modes”) of trading services: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31746">
                                            <p:txEl>
                                              <p:pRg st="0" end="0"/>
                                            </p:txEl>
                                          </p:spTgt>
                                        </p:tgtEl>
                                        <p:attrNameLst>
                                          <p:attrName>style.visibility</p:attrName>
                                        </p:attrNameLst>
                                      </p:cBhvr>
                                      <p:to>
                                        <p:strVal val="visible"/>
                                      </p:to>
                                    </p:set>
                                    <p:animEffect transition="in" filter="fade">
                                      <p:cBhvr>
                                        <p:cTn id="7" dur="500">
                                          <p:stCondLst>
                                            <p:cond delay="0"/>
                                          </p:stCondLst>
                                        </p:cTn>
                                        <p:tgtEl>
                                          <p:spTgt spid="317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31746">
                                            <p:txEl>
                                              <p:pRg st="1" end="1"/>
                                            </p:txEl>
                                          </p:spTgt>
                                        </p:tgtEl>
                                        <p:attrNameLst>
                                          <p:attrName>style.visibility</p:attrName>
                                        </p:attrNameLst>
                                      </p:cBhvr>
                                      <p:to>
                                        <p:strVal val="visible"/>
                                      </p:to>
                                    </p:set>
                                    <p:animEffect transition="in" filter="fade">
                                      <p:cBhvr>
                                        <p:cTn id="12" dur="500">
                                          <p:stCondLst>
                                            <p:cond delay="0"/>
                                          </p:stCondLst>
                                        </p:cTn>
                                        <p:tgtEl>
                                          <p:spTgt spid="317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31746">
                                            <p:txEl>
                                              <p:pRg st="2" end="2"/>
                                            </p:txEl>
                                          </p:spTgt>
                                        </p:tgtEl>
                                        <p:attrNameLst>
                                          <p:attrName>style.visibility</p:attrName>
                                        </p:attrNameLst>
                                      </p:cBhvr>
                                      <p:to>
                                        <p:strVal val="visible"/>
                                      </p:to>
                                    </p:set>
                                    <p:animEffect transition="in" filter="fade">
                                      <p:cBhvr>
                                        <p:cTn id="17" dur="500">
                                          <p:stCondLst>
                                            <p:cond delay="0"/>
                                          </p:stCondLst>
                                        </p:cTn>
                                        <p:tgtEl>
                                          <p:spTgt spid="3174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31746">
                                            <p:txEl>
                                              <p:pRg st="3" end="3"/>
                                            </p:txEl>
                                          </p:spTgt>
                                        </p:tgtEl>
                                        <p:attrNameLst>
                                          <p:attrName>style.visibility</p:attrName>
                                        </p:attrNameLst>
                                      </p:cBhvr>
                                      <p:to>
                                        <p:strVal val="visible"/>
                                      </p:to>
                                    </p:set>
                                    <p:animEffect transition="in" filter="fade">
                                      <p:cBhvr>
                                        <p:cTn id="22" dur="500">
                                          <p:stCondLst>
                                            <p:cond delay="0"/>
                                          </p:stCondLst>
                                        </p:cTn>
                                        <p:tgtEl>
                                          <p:spTgt spid="3174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10000"/>
                                  </p:iterate>
                                  <p:childTnLst>
                                    <p:set>
                                      <p:cBhvr>
                                        <p:cTn id="26" dur="1" fill="hold">
                                          <p:stCondLst>
                                            <p:cond delay="0"/>
                                          </p:stCondLst>
                                        </p:cTn>
                                        <p:tgtEl>
                                          <p:spTgt spid="31746">
                                            <p:txEl>
                                              <p:pRg st="4" end="4"/>
                                            </p:txEl>
                                          </p:spTgt>
                                        </p:tgtEl>
                                        <p:attrNameLst>
                                          <p:attrName>style.visibility</p:attrName>
                                        </p:attrNameLst>
                                      </p:cBhvr>
                                      <p:to>
                                        <p:strVal val="visible"/>
                                      </p:to>
                                    </p:set>
                                    <p:animEffect transition="in" filter="fade">
                                      <p:cBhvr>
                                        <p:cTn id="27" dur="500">
                                          <p:stCondLst>
                                            <p:cond delay="0"/>
                                          </p:stCondLst>
                                        </p:cTn>
                                        <p:tgtEl>
                                          <p:spTgt spid="3174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lt">
                                    <p:tmPct val="10000"/>
                                  </p:iterate>
                                  <p:childTnLst>
                                    <p:set>
                                      <p:cBhvr>
                                        <p:cTn id="31" dur="1" fill="hold">
                                          <p:stCondLst>
                                            <p:cond delay="0"/>
                                          </p:stCondLst>
                                        </p:cTn>
                                        <p:tgtEl>
                                          <p:spTgt spid="31746">
                                            <p:txEl>
                                              <p:pRg st="5" end="5"/>
                                            </p:txEl>
                                          </p:spTgt>
                                        </p:tgtEl>
                                        <p:attrNameLst>
                                          <p:attrName>style.visibility</p:attrName>
                                        </p:attrNameLst>
                                      </p:cBhvr>
                                      <p:to>
                                        <p:strVal val="visible"/>
                                      </p:to>
                                    </p:set>
                                    <p:animEffect transition="in" filter="fade">
                                      <p:cBhvr>
                                        <p:cTn id="32" dur="500">
                                          <p:stCondLst>
                                            <p:cond delay="0"/>
                                          </p:stCondLst>
                                        </p:cTn>
                                        <p:tgtEl>
                                          <p:spTgt spid="3174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xfrm>
            <a:off x="179388" y="1268413"/>
            <a:ext cx="8964612" cy="4176712"/>
          </a:xfrm>
        </p:spPr>
        <p:txBody>
          <a:bodyPr/>
          <a:lstStyle/>
          <a:p>
            <a:pPr>
              <a:buFontTx/>
              <a:buNone/>
            </a:pPr>
            <a:r>
              <a:rPr lang="en-US" altLang="zh-CN" dirty="0" smtClean="0"/>
              <a:t>-- mode 1: “</a:t>
            </a:r>
            <a:r>
              <a:rPr lang="en-US" altLang="zh-CN" b="1" dirty="0" smtClean="0"/>
              <a:t>cross-border supply</a:t>
            </a:r>
            <a:r>
              <a:rPr lang="en-US" altLang="zh-CN" dirty="0" smtClean="0"/>
              <a:t>” </a:t>
            </a:r>
          </a:p>
          <a:p>
            <a:pPr>
              <a:buFontTx/>
              <a:buNone/>
            </a:pPr>
            <a:r>
              <a:rPr lang="en-US" altLang="zh-CN" dirty="0" smtClean="0"/>
              <a:t>-- mode 2: “</a:t>
            </a:r>
            <a:r>
              <a:rPr lang="en-US" altLang="zh-CN" b="1" dirty="0" smtClean="0"/>
              <a:t>consumption abroad</a:t>
            </a:r>
            <a:r>
              <a:rPr lang="en-US" altLang="zh-CN" dirty="0" smtClean="0"/>
              <a:t>” </a:t>
            </a:r>
          </a:p>
          <a:p>
            <a:pPr>
              <a:buFontTx/>
              <a:buNone/>
            </a:pPr>
            <a:r>
              <a:rPr lang="en-US" altLang="zh-CN" dirty="0" smtClean="0"/>
              <a:t>-- mode 3: “</a:t>
            </a:r>
            <a:r>
              <a:rPr lang="en-US" altLang="zh-CN" b="1" dirty="0" smtClean="0"/>
              <a:t>commercial presence</a:t>
            </a:r>
            <a:r>
              <a:rPr lang="en-US" altLang="zh-CN" dirty="0" smtClean="0"/>
              <a:t>” </a:t>
            </a:r>
          </a:p>
          <a:p>
            <a:pPr>
              <a:buFontTx/>
              <a:buNone/>
            </a:pPr>
            <a:r>
              <a:rPr lang="en-US" altLang="zh-CN" dirty="0" smtClean="0"/>
              <a:t>-- mode 4:“</a:t>
            </a:r>
            <a:r>
              <a:rPr lang="en-US" altLang="zh-CN" b="1" dirty="0" smtClean="0"/>
              <a:t>presence of natural persons</a:t>
            </a:r>
            <a:r>
              <a:rPr lang="en-US" altLang="zh-CN" dirty="0" smtClean="0"/>
              <a:t>” </a:t>
            </a:r>
          </a:p>
          <a:p>
            <a:pPr>
              <a:buFontTx/>
              <a:buNone/>
            </a:pPr>
            <a:endParaRPr lang="en-US" altLang="zh-CN" dirty="0" smtClean="0"/>
          </a:p>
          <a:p>
            <a:pPr>
              <a:buFontTx/>
              <a:buNone/>
            </a:pPr>
            <a:r>
              <a:rPr lang="en-US" altLang="zh-CN" b="1" dirty="0" smtClean="0"/>
              <a:t>(</a:t>
            </a:r>
            <a:r>
              <a:rPr lang="en-US" altLang="zh-CN" b="1" dirty="0"/>
              <a:t>3) Most-</a:t>
            </a:r>
            <a:r>
              <a:rPr lang="en-US" altLang="zh-CN" b="1" dirty="0" err="1"/>
              <a:t>favoured</a:t>
            </a:r>
            <a:r>
              <a:rPr lang="en-US" altLang="zh-CN" b="1" dirty="0"/>
              <a:t>-nation (MFN)  treatment:</a:t>
            </a:r>
          </a:p>
          <a:p>
            <a:pPr>
              <a:buFontTx/>
              <a:buNone/>
            </a:pPr>
            <a:r>
              <a:rPr lang="en-US" altLang="zh-CN" dirty="0"/>
              <a:t>     </a:t>
            </a:r>
            <a:r>
              <a:rPr lang="en-US" altLang="zh-CN" dirty="0" err="1"/>
              <a:t>Favour</a:t>
            </a:r>
            <a:r>
              <a:rPr lang="en-US" altLang="zh-CN" dirty="0"/>
              <a:t> one, </a:t>
            </a:r>
            <a:r>
              <a:rPr lang="en-US" altLang="zh-CN" dirty="0" err="1"/>
              <a:t>favour</a:t>
            </a:r>
            <a:r>
              <a:rPr lang="en-US" altLang="zh-CN" dirty="0"/>
              <a:t> all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32770">
                                            <p:txEl>
                                              <p:pRg st="0" end="0"/>
                                            </p:txEl>
                                          </p:spTgt>
                                        </p:tgtEl>
                                        <p:attrNameLst>
                                          <p:attrName>style.visibility</p:attrName>
                                        </p:attrNameLst>
                                      </p:cBhvr>
                                      <p:to>
                                        <p:strVal val="visible"/>
                                      </p:to>
                                    </p:set>
                                    <p:animEffect transition="in" filter="fade">
                                      <p:cBhvr>
                                        <p:cTn id="7" dur="500">
                                          <p:stCondLst>
                                            <p:cond delay="0"/>
                                          </p:stCondLst>
                                        </p:cTn>
                                        <p:tgtEl>
                                          <p:spTgt spid="327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32770">
                                            <p:txEl>
                                              <p:pRg st="1" end="1"/>
                                            </p:txEl>
                                          </p:spTgt>
                                        </p:tgtEl>
                                        <p:attrNameLst>
                                          <p:attrName>style.visibility</p:attrName>
                                        </p:attrNameLst>
                                      </p:cBhvr>
                                      <p:to>
                                        <p:strVal val="visible"/>
                                      </p:to>
                                    </p:set>
                                    <p:animEffect transition="in" filter="fade">
                                      <p:cBhvr>
                                        <p:cTn id="12" dur="500">
                                          <p:stCondLst>
                                            <p:cond delay="0"/>
                                          </p:stCondLst>
                                        </p:cTn>
                                        <p:tgtEl>
                                          <p:spTgt spid="3277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32770">
                                            <p:txEl>
                                              <p:pRg st="2" end="2"/>
                                            </p:txEl>
                                          </p:spTgt>
                                        </p:tgtEl>
                                        <p:attrNameLst>
                                          <p:attrName>style.visibility</p:attrName>
                                        </p:attrNameLst>
                                      </p:cBhvr>
                                      <p:to>
                                        <p:strVal val="visible"/>
                                      </p:to>
                                    </p:set>
                                    <p:animEffect transition="in" filter="fade">
                                      <p:cBhvr>
                                        <p:cTn id="17" dur="500">
                                          <p:stCondLst>
                                            <p:cond delay="0"/>
                                          </p:stCondLst>
                                        </p:cTn>
                                        <p:tgtEl>
                                          <p:spTgt spid="3277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32770">
                                            <p:txEl>
                                              <p:pRg st="3" end="3"/>
                                            </p:txEl>
                                          </p:spTgt>
                                        </p:tgtEl>
                                        <p:attrNameLst>
                                          <p:attrName>style.visibility</p:attrName>
                                        </p:attrNameLst>
                                      </p:cBhvr>
                                      <p:to>
                                        <p:strVal val="visible"/>
                                      </p:to>
                                    </p:set>
                                    <p:animEffect transition="in" filter="fade">
                                      <p:cBhvr>
                                        <p:cTn id="22" dur="500">
                                          <p:stCondLst>
                                            <p:cond delay="0"/>
                                          </p:stCondLst>
                                        </p:cTn>
                                        <p:tgtEl>
                                          <p:spTgt spid="3277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10000"/>
                                  </p:iterate>
                                  <p:childTnLst>
                                    <p:set>
                                      <p:cBhvr>
                                        <p:cTn id="26" dur="1" fill="hold">
                                          <p:stCondLst>
                                            <p:cond delay="0"/>
                                          </p:stCondLst>
                                        </p:cTn>
                                        <p:tgtEl>
                                          <p:spTgt spid="32770">
                                            <p:txEl>
                                              <p:pRg st="5" end="5"/>
                                            </p:txEl>
                                          </p:spTgt>
                                        </p:tgtEl>
                                        <p:attrNameLst>
                                          <p:attrName>style.visibility</p:attrName>
                                        </p:attrNameLst>
                                      </p:cBhvr>
                                      <p:to>
                                        <p:strVal val="visible"/>
                                      </p:to>
                                    </p:set>
                                    <p:animEffect transition="in" filter="fade">
                                      <p:cBhvr>
                                        <p:cTn id="27" dur="500">
                                          <p:stCondLst>
                                            <p:cond delay="0"/>
                                          </p:stCondLst>
                                        </p:cTn>
                                        <p:tgtEl>
                                          <p:spTgt spid="32770">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lt">
                                    <p:tmPct val="10000"/>
                                  </p:iterate>
                                  <p:childTnLst>
                                    <p:set>
                                      <p:cBhvr>
                                        <p:cTn id="31" dur="1" fill="hold">
                                          <p:stCondLst>
                                            <p:cond delay="0"/>
                                          </p:stCondLst>
                                        </p:cTn>
                                        <p:tgtEl>
                                          <p:spTgt spid="32770">
                                            <p:txEl>
                                              <p:pRg st="6" end="6"/>
                                            </p:txEl>
                                          </p:spTgt>
                                        </p:tgtEl>
                                        <p:attrNameLst>
                                          <p:attrName>style.visibility</p:attrName>
                                        </p:attrNameLst>
                                      </p:cBhvr>
                                      <p:to>
                                        <p:strVal val="visible"/>
                                      </p:to>
                                    </p:set>
                                    <p:animEffect transition="in" filter="fade">
                                      <p:cBhvr>
                                        <p:cTn id="32" dur="500">
                                          <p:stCondLst>
                                            <p:cond delay="0"/>
                                          </p:stCondLst>
                                        </p:cTn>
                                        <p:tgtEl>
                                          <p:spTgt spid="3277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body" idx="1"/>
          </p:nvPr>
        </p:nvSpPr>
        <p:spPr>
          <a:xfrm>
            <a:off x="179388" y="836613"/>
            <a:ext cx="8964612" cy="5184775"/>
          </a:xfrm>
        </p:spPr>
        <p:txBody>
          <a:bodyPr/>
          <a:lstStyle/>
          <a:p>
            <a:pPr marL="609600" indent="-609600">
              <a:lnSpc>
                <a:spcPct val="90000"/>
              </a:lnSpc>
              <a:buFontTx/>
              <a:buNone/>
            </a:pPr>
            <a:r>
              <a:rPr lang="en-US" altLang="zh-CN" b="1" dirty="0" smtClean="0"/>
              <a:t> </a:t>
            </a:r>
            <a:r>
              <a:rPr lang="en-US" altLang="zh-CN" b="1" dirty="0"/>
              <a:t>Intellectual  Property: Protection  and</a:t>
            </a:r>
          </a:p>
          <a:p>
            <a:pPr marL="609600" indent="-609600">
              <a:lnSpc>
                <a:spcPct val="90000"/>
              </a:lnSpc>
              <a:buFontTx/>
              <a:buNone/>
            </a:pPr>
            <a:r>
              <a:rPr lang="en-US" altLang="zh-CN" b="1" dirty="0"/>
              <a:t>                       Enforcement</a:t>
            </a:r>
          </a:p>
          <a:p>
            <a:pPr marL="609600" indent="-609600">
              <a:lnSpc>
                <a:spcPct val="90000"/>
              </a:lnSpc>
              <a:buFontTx/>
              <a:buNone/>
            </a:pPr>
            <a:endParaRPr lang="en-US" altLang="zh-CN" b="1" dirty="0"/>
          </a:p>
          <a:p>
            <a:pPr marL="609600" indent="-609600">
              <a:lnSpc>
                <a:spcPct val="90000"/>
              </a:lnSpc>
              <a:buFontTx/>
              <a:buNone/>
            </a:pPr>
            <a:r>
              <a:rPr lang="en-US" altLang="zh-CN" b="1" dirty="0"/>
              <a:t>Agreement concerned:</a:t>
            </a:r>
          </a:p>
          <a:p>
            <a:pPr marL="609600" indent="-609600">
              <a:lnSpc>
                <a:spcPct val="90000"/>
              </a:lnSpc>
              <a:buFontTx/>
              <a:buNone/>
            </a:pPr>
            <a:r>
              <a:rPr lang="en-US" altLang="zh-CN" b="1" dirty="0"/>
              <a:t>    TRIPS: Agreement on Trade-Related Aspects of Intellectual Property Rights</a:t>
            </a:r>
          </a:p>
          <a:p>
            <a:pPr marL="609600" indent="-609600">
              <a:lnSpc>
                <a:spcPct val="90000"/>
              </a:lnSpc>
              <a:buFontTx/>
              <a:buNone/>
            </a:pPr>
            <a:r>
              <a:rPr lang="en-US" altLang="zh-CN" b="1" dirty="0"/>
              <a:t>1.Coverage:</a:t>
            </a:r>
          </a:p>
          <a:p>
            <a:pPr marL="609600" indent="-609600">
              <a:lnSpc>
                <a:spcPct val="90000"/>
              </a:lnSpc>
              <a:buFontTx/>
              <a:buNone/>
            </a:pPr>
            <a:r>
              <a:rPr lang="en-US" altLang="zh-CN" b="1" dirty="0"/>
              <a:t>     products lies in the amount of invention, innovation, research, design and testing involved</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37890">
                                            <p:txEl>
                                              <p:pRg st="0" end="0"/>
                                            </p:txEl>
                                          </p:spTgt>
                                        </p:tgtEl>
                                        <p:attrNameLst>
                                          <p:attrName>style.visibility</p:attrName>
                                        </p:attrNameLst>
                                      </p:cBhvr>
                                      <p:to>
                                        <p:strVal val="visible"/>
                                      </p:to>
                                    </p:set>
                                    <p:animEffect transition="in" filter="fade">
                                      <p:cBhvr>
                                        <p:cTn id="7" dur="500">
                                          <p:stCondLst>
                                            <p:cond delay="0"/>
                                          </p:stCondLst>
                                        </p:cTn>
                                        <p:tgtEl>
                                          <p:spTgt spid="378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37890">
                                            <p:txEl>
                                              <p:pRg st="1" end="1"/>
                                            </p:txEl>
                                          </p:spTgt>
                                        </p:tgtEl>
                                        <p:attrNameLst>
                                          <p:attrName>style.visibility</p:attrName>
                                        </p:attrNameLst>
                                      </p:cBhvr>
                                      <p:to>
                                        <p:strVal val="visible"/>
                                      </p:to>
                                    </p:set>
                                    <p:animEffect transition="in" filter="fade">
                                      <p:cBhvr>
                                        <p:cTn id="12" dur="500">
                                          <p:stCondLst>
                                            <p:cond delay="0"/>
                                          </p:stCondLst>
                                        </p:cTn>
                                        <p:tgtEl>
                                          <p:spTgt spid="3789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37890">
                                            <p:txEl>
                                              <p:pRg st="3" end="3"/>
                                            </p:txEl>
                                          </p:spTgt>
                                        </p:tgtEl>
                                        <p:attrNameLst>
                                          <p:attrName>style.visibility</p:attrName>
                                        </p:attrNameLst>
                                      </p:cBhvr>
                                      <p:to>
                                        <p:strVal val="visible"/>
                                      </p:to>
                                    </p:set>
                                    <p:animEffect transition="in" filter="fade">
                                      <p:cBhvr>
                                        <p:cTn id="17" dur="500">
                                          <p:stCondLst>
                                            <p:cond delay="0"/>
                                          </p:stCondLst>
                                        </p:cTn>
                                        <p:tgtEl>
                                          <p:spTgt spid="3789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37890">
                                            <p:txEl>
                                              <p:pRg st="4" end="4"/>
                                            </p:txEl>
                                          </p:spTgt>
                                        </p:tgtEl>
                                        <p:attrNameLst>
                                          <p:attrName>style.visibility</p:attrName>
                                        </p:attrNameLst>
                                      </p:cBhvr>
                                      <p:to>
                                        <p:strVal val="visible"/>
                                      </p:to>
                                    </p:set>
                                    <p:animEffect transition="in" filter="fade">
                                      <p:cBhvr>
                                        <p:cTn id="22" dur="500">
                                          <p:stCondLst>
                                            <p:cond delay="0"/>
                                          </p:stCondLst>
                                        </p:cTn>
                                        <p:tgtEl>
                                          <p:spTgt spid="3789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10000"/>
                                  </p:iterate>
                                  <p:childTnLst>
                                    <p:set>
                                      <p:cBhvr>
                                        <p:cTn id="26" dur="1" fill="hold">
                                          <p:stCondLst>
                                            <p:cond delay="0"/>
                                          </p:stCondLst>
                                        </p:cTn>
                                        <p:tgtEl>
                                          <p:spTgt spid="37890">
                                            <p:txEl>
                                              <p:pRg st="5" end="5"/>
                                            </p:txEl>
                                          </p:spTgt>
                                        </p:tgtEl>
                                        <p:attrNameLst>
                                          <p:attrName>style.visibility</p:attrName>
                                        </p:attrNameLst>
                                      </p:cBhvr>
                                      <p:to>
                                        <p:strVal val="visible"/>
                                      </p:to>
                                    </p:set>
                                    <p:animEffect transition="in" filter="fade">
                                      <p:cBhvr>
                                        <p:cTn id="27" dur="500">
                                          <p:stCondLst>
                                            <p:cond delay="0"/>
                                          </p:stCondLst>
                                        </p:cTn>
                                        <p:tgtEl>
                                          <p:spTgt spid="37890">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lt">
                                    <p:tmPct val="10000"/>
                                  </p:iterate>
                                  <p:childTnLst>
                                    <p:set>
                                      <p:cBhvr>
                                        <p:cTn id="31" dur="1" fill="hold">
                                          <p:stCondLst>
                                            <p:cond delay="0"/>
                                          </p:stCondLst>
                                        </p:cTn>
                                        <p:tgtEl>
                                          <p:spTgt spid="37890">
                                            <p:txEl>
                                              <p:pRg st="6" end="6"/>
                                            </p:txEl>
                                          </p:spTgt>
                                        </p:tgtEl>
                                        <p:attrNameLst>
                                          <p:attrName>style.visibility</p:attrName>
                                        </p:attrNameLst>
                                      </p:cBhvr>
                                      <p:to>
                                        <p:strVal val="visible"/>
                                      </p:to>
                                    </p:set>
                                    <p:animEffect transition="in" filter="fade">
                                      <p:cBhvr>
                                        <p:cTn id="32" dur="500">
                                          <p:stCondLst>
                                            <p:cond delay="0"/>
                                          </p:stCondLst>
                                        </p:cTn>
                                        <p:tgtEl>
                                          <p:spTgt spid="3789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body" idx="1"/>
          </p:nvPr>
        </p:nvSpPr>
        <p:spPr>
          <a:xfrm>
            <a:off x="179388" y="1125538"/>
            <a:ext cx="8964612" cy="4968875"/>
          </a:xfrm>
        </p:spPr>
        <p:txBody>
          <a:bodyPr/>
          <a:lstStyle/>
          <a:p>
            <a:pPr>
              <a:buFontTx/>
              <a:buNone/>
            </a:pPr>
            <a:r>
              <a:rPr lang="en-US" altLang="zh-CN"/>
              <a:t>2.What  is “intellectual property rights” ?</a:t>
            </a:r>
          </a:p>
          <a:p>
            <a:pPr>
              <a:buFontTx/>
              <a:buNone/>
            </a:pPr>
            <a:r>
              <a:rPr lang="en-US" altLang="zh-CN"/>
              <a:t>   (1) Definition:</a:t>
            </a:r>
          </a:p>
          <a:p>
            <a:pPr>
              <a:buFontTx/>
              <a:buNone/>
            </a:pPr>
            <a:r>
              <a:rPr lang="en-US" altLang="zh-CN"/>
              <a:t>  The right given to the creators to prevent others from using their inventions, designs or other creations — and to use that right to negotiate payment in return for others using them. </a:t>
            </a:r>
          </a:p>
          <a:p>
            <a:pPr>
              <a:buFontTx/>
              <a:buNone/>
            </a:pPr>
            <a:r>
              <a:rPr lang="en-US" altLang="zh-CN"/>
              <a:t>   (2)Forms: </a:t>
            </a:r>
          </a:p>
          <a:p>
            <a:pPr>
              <a:buFontTx/>
              <a:buNone/>
            </a:pPr>
            <a:r>
              <a:rPr lang="en-US" altLang="zh-CN"/>
              <a:t>      copyright , patent, registered trademarks, </a:t>
            </a:r>
          </a:p>
          <a:p>
            <a:pPr>
              <a:buFontTx/>
              <a:buNone/>
            </a:pPr>
            <a:r>
              <a:rPr lang="en-US" altLang="zh-CN"/>
              <a:t>      and so 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38914">
                                            <p:txEl>
                                              <p:pRg st="0" end="0"/>
                                            </p:txEl>
                                          </p:spTgt>
                                        </p:tgtEl>
                                        <p:attrNameLst>
                                          <p:attrName>style.visibility</p:attrName>
                                        </p:attrNameLst>
                                      </p:cBhvr>
                                      <p:to>
                                        <p:strVal val="visible"/>
                                      </p:to>
                                    </p:set>
                                    <p:animEffect transition="in" filter="fade">
                                      <p:cBhvr>
                                        <p:cTn id="7" dur="500">
                                          <p:stCondLst>
                                            <p:cond delay="0"/>
                                          </p:stCondLst>
                                        </p:cTn>
                                        <p:tgtEl>
                                          <p:spTgt spid="389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38914">
                                            <p:txEl>
                                              <p:pRg st="1" end="1"/>
                                            </p:txEl>
                                          </p:spTgt>
                                        </p:tgtEl>
                                        <p:attrNameLst>
                                          <p:attrName>style.visibility</p:attrName>
                                        </p:attrNameLst>
                                      </p:cBhvr>
                                      <p:to>
                                        <p:strVal val="visible"/>
                                      </p:to>
                                    </p:set>
                                    <p:animEffect transition="in" filter="fade">
                                      <p:cBhvr>
                                        <p:cTn id="12" dur="500">
                                          <p:stCondLst>
                                            <p:cond delay="0"/>
                                          </p:stCondLst>
                                        </p:cTn>
                                        <p:tgtEl>
                                          <p:spTgt spid="389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38914">
                                            <p:txEl>
                                              <p:pRg st="2" end="2"/>
                                            </p:txEl>
                                          </p:spTgt>
                                        </p:tgtEl>
                                        <p:attrNameLst>
                                          <p:attrName>style.visibility</p:attrName>
                                        </p:attrNameLst>
                                      </p:cBhvr>
                                      <p:to>
                                        <p:strVal val="visible"/>
                                      </p:to>
                                    </p:set>
                                    <p:animEffect transition="in" filter="fade">
                                      <p:cBhvr>
                                        <p:cTn id="17" dur="500">
                                          <p:stCondLst>
                                            <p:cond delay="0"/>
                                          </p:stCondLst>
                                        </p:cTn>
                                        <p:tgtEl>
                                          <p:spTgt spid="389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38914">
                                            <p:txEl>
                                              <p:pRg st="3" end="3"/>
                                            </p:txEl>
                                          </p:spTgt>
                                        </p:tgtEl>
                                        <p:attrNameLst>
                                          <p:attrName>style.visibility</p:attrName>
                                        </p:attrNameLst>
                                      </p:cBhvr>
                                      <p:to>
                                        <p:strVal val="visible"/>
                                      </p:to>
                                    </p:set>
                                    <p:animEffect transition="in" filter="fade">
                                      <p:cBhvr>
                                        <p:cTn id="22" dur="500">
                                          <p:stCondLst>
                                            <p:cond delay="0"/>
                                          </p:stCondLst>
                                        </p:cTn>
                                        <p:tgtEl>
                                          <p:spTgt spid="389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10000"/>
                                  </p:iterate>
                                  <p:childTnLst>
                                    <p:set>
                                      <p:cBhvr>
                                        <p:cTn id="26" dur="1" fill="hold">
                                          <p:stCondLst>
                                            <p:cond delay="0"/>
                                          </p:stCondLst>
                                        </p:cTn>
                                        <p:tgtEl>
                                          <p:spTgt spid="38914">
                                            <p:txEl>
                                              <p:pRg st="4" end="4"/>
                                            </p:txEl>
                                          </p:spTgt>
                                        </p:tgtEl>
                                        <p:attrNameLst>
                                          <p:attrName>style.visibility</p:attrName>
                                        </p:attrNameLst>
                                      </p:cBhvr>
                                      <p:to>
                                        <p:strVal val="visible"/>
                                      </p:to>
                                    </p:set>
                                    <p:animEffect transition="in" filter="fade">
                                      <p:cBhvr>
                                        <p:cTn id="27" dur="500">
                                          <p:stCondLst>
                                            <p:cond delay="0"/>
                                          </p:stCondLst>
                                        </p:cTn>
                                        <p:tgtEl>
                                          <p:spTgt spid="389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lt">
                                    <p:tmPct val="10000"/>
                                  </p:iterate>
                                  <p:childTnLst>
                                    <p:set>
                                      <p:cBhvr>
                                        <p:cTn id="31" dur="1" fill="hold">
                                          <p:stCondLst>
                                            <p:cond delay="0"/>
                                          </p:stCondLst>
                                        </p:cTn>
                                        <p:tgtEl>
                                          <p:spTgt spid="38914">
                                            <p:txEl>
                                              <p:pRg st="5" end="5"/>
                                            </p:txEl>
                                          </p:spTgt>
                                        </p:tgtEl>
                                        <p:attrNameLst>
                                          <p:attrName>style.visibility</p:attrName>
                                        </p:attrNameLst>
                                      </p:cBhvr>
                                      <p:to>
                                        <p:strVal val="visible"/>
                                      </p:to>
                                    </p:set>
                                    <p:animEffect transition="in" filter="fade">
                                      <p:cBhvr>
                                        <p:cTn id="32" dur="500">
                                          <p:stCondLst>
                                            <p:cond delay="0"/>
                                          </p:stCondLst>
                                        </p:cTn>
                                        <p:tgtEl>
                                          <p:spTgt spid="389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xfrm>
            <a:off x="179388" y="981075"/>
            <a:ext cx="8964612" cy="5040313"/>
          </a:xfrm>
        </p:spPr>
        <p:txBody>
          <a:bodyPr/>
          <a:lstStyle/>
          <a:p>
            <a:pPr>
              <a:buFontTx/>
              <a:buNone/>
            </a:pPr>
            <a:r>
              <a:rPr lang="en-US" altLang="zh-CN"/>
              <a:t>3.Role/Significancy:</a:t>
            </a:r>
          </a:p>
          <a:p>
            <a:pPr>
              <a:buFontTx/>
              <a:buNone/>
            </a:pPr>
            <a:r>
              <a:rPr lang="en-US" altLang="zh-CN"/>
              <a:t>   as a way to introduce more order and predictability, and for disputes to be settled more systematically</a:t>
            </a:r>
          </a:p>
          <a:p>
            <a:pPr>
              <a:buFontTx/>
              <a:buNone/>
            </a:pPr>
            <a:endParaRPr lang="en-US" altLang="zh-CN"/>
          </a:p>
          <a:p>
            <a:pPr>
              <a:buFontTx/>
              <a:buNone/>
            </a:pPr>
            <a:r>
              <a:rPr lang="en-US" altLang="zh-CN"/>
              <a:t>4.Issues covered:</a:t>
            </a:r>
          </a:p>
          <a:p>
            <a:pPr>
              <a:buFontTx/>
              <a:buNone/>
            </a:pPr>
            <a:r>
              <a:rPr lang="en-US" altLang="zh-CN"/>
              <a:t> (1)how basic principles of the trading system and other international intellectual property agreements should be applied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39938">
                                            <p:txEl>
                                              <p:pRg st="0" end="0"/>
                                            </p:txEl>
                                          </p:spTgt>
                                        </p:tgtEl>
                                        <p:attrNameLst>
                                          <p:attrName>style.visibility</p:attrName>
                                        </p:attrNameLst>
                                      </p:cBhvr>
                                      <p:to>
                                        <p:strVal val="visible"/>
                                      </p:to>
                                    </p:set>
                                    <p:animEffect transition="in" filter="fade">
                                      <p:cBhvr>
                                        <p:cTn id="7" dur="500">
                                          <p:stCondLst>
                                            <p:cond delay="0"/>
                                          </p:stCondLst>
                                        </p:cTn>
                                        <p:tgtEl>
                                          <p:spTgt spid="399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39938">
                                            <p:txEl>
                                              <p:pRg st="1" end="1"/>
                                            </p:txEl>
                                          </p:spTgt>
                                        </p:tgtEl>
                                        <p:attrNameLst>
                                          <p:attrName>style.visibility</p:attrName>
                                        </p:attrNameLst>
                                      </p:cBhvr>
                                      <p:to>
                                        <p:strVal val="visible"/>
                                      </p:to>
                                    </p:set>
                                    <p:animEffect transition="in" filter="fade">
                                      <p:cBhvr>
                                        <p:cTn id="12" dur="500">
                                          <p:stCondLst>
                                            <p:cond delay="0"/>
                                          </p:stCondLst>
                                        </p:cTn>
                                        <p:tgtEl>
                                          <p:spTgt spid="399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39938">
                                            <p:txEl>
                                              <p:pRg st="3" end="3"/>
                                            </p:txEl>
                                          </p:spTgt>
                                        </p:tgtEl>
                                        <p:attrNameLst>
                                          <p:attrName>style.visibility</p:attrName>
                                        </p:attrNameLst>
                                      </p:cBhvr>
                                      <p:to>
                                        <p:strVal val="visible"/>
                                      </p:to>
                                    </p:set>
                                    <p:animEffect transition="in" filter="fade">
                                      <p:cBhvr>
                                        <p:cTn id="17" dur="500">
                                          <p:stCondLst>
                                            <p:cond delay="0"/>
                                          </p:stCondLst>
                                        </p:cTn>
                                        <p:tgtEl>
                                          <p:spTgt spid="3993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39938">
                                            <p:txEl>
                                              <p:pRg st="4" end="4"/>
                                            </p:txEl>
                                          </p:spTgt>
                                        </p:tgtEl>
                                        <p:attrNameLst>
                                          <p:attrName>style.visibility</p:attrName>
                                        </p:attrNameLst>
                                      </p:cBhvr>
                                      <p:to>
                                        <p:strVal val="visible"/>
                                      </p:to>
                                    </p:set>
                                    <p:animEffect transition="in" filter="fade">
                                      <p:cBhvr>
                                        <p:cTn id="22" dur="500">
                                          <p:stCondLst>
                                            <p:cond delay="0"/>
                                          </p:stCondLst>
                                        </p:cTn>
                                        <p:tgtEl>
                                          <p:spTgt spid="3993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body" idx="1"/>
          </p:nvPr>
        </p:nvSpPr>
        <p:spPr>
          <a:xfrm>
            <a:off x="179388" y="836613"/>
            <a:ext cx="8964612" cy="4968875"/>
          </a:xfrm>
        </p:spPr>
        <p:txBody>
          <a:bodyPr/>
          <a:lstStyle/>
          <a:p>
            <a:pPr>
              <a:buFontTx/>
              <a:buNone/>
            </a:pPr>
            <a:r>
              <a:rPr lang="en-US" altLang="zh-CN" b="1" dirty="0" smtClean="0"/>
              <a:t>Investment </a:t>
            </a:r>
            <a:r>
              <a:rPr lang="en-US" altLang="zh-CN" b="1" dirty="0"/>
              <a:t>measures: reducing trade </a:t>
            </a:r>
          </a:p>
          <a:p>
            <a:pPr>
              <a:buFontTx/>
              <a:buNone/>
            </a:pPr>
            <a:r>
              <a:rPr lang="en-US" altLang="zh-CN" b="1" dirty="0"/>
              <a:t>     distortions</a:t>
            </a:r>
            <a:r>
              <a:rPr lang="en-US" altLang="zh-CN" dirty="0"/>
              <a:t> </a:t>
            </a:r>
          </a:p>
          <a:p>
            <a:pPr>
              <a:buFontTx/>
              <a:buNone/>
            </a:pPr>
            <a:r>
              <a:rPr lang="en-US" altLang="zh-CN" dirty="0"/>
              <a:t>   </a:t>
            </a:r>
            <a:r>
              <a:rPr lang="en-US" altLang="zh-CN" dirty="0" smtClean="0"/>
              <a:t>TRIMs: </a:t>
            </a:r>
            <a:r>
              <a:rPr lang="en-US" altLang="zh-CN" b="1" dirty="0" smtClean="0"/>
              <a:t>Trade-Related </a:t>
            </a:r>
            <a:r>
              <a:rPr lang="en-US" altLang="zh-CN" b="1" dirty="0"/>
              <a:t>Investment Measures (TRIMs) Agreement</a:t>
            </a:r>
            <a:r>
              <a:rPr lang="en-US" altLang="zh-CN" dirty="0"/>
              <a:t>  </a:t>
            </a:r>
          </a:p>
          <a:p>
            <a:pPr>
              <a:buFontTx/>
              <a:buNone/>
            </a:pPr>
            <a:r>
              <a:rPr lang="en-US" altLang="zh-CN" dirty="0"/>
              <a:t>   </a:t>
            </a:r>
            <a:r>
              <a:rPr lang="en-US" altLang="zh-CN" dirty="0" smtClean="0"/>
              <a:t>Main </a:t>
            </a:r>
            <a:r>
              <a:rPr lang="en-US" altLang="zh-CN" dirty="0"/>
              <a:t>content of TRIMs:</a:t>
            </a:r>
          </a:p>
          <a:p>
            <a:pPr>
              <a:buFontTx/>
              <a:buNone/>
            </a:pPr>
            <a:r>
              <a:rPr lang="en-US" altLang="zh-CN" dirty="0"/>
              <a:t>      -- no member shall apply any measure that discriminates against foreigners or foreign products (i.e. violates “national treatment” principles in GATT)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58370">
                                            <p:txEl>
                                              <p:pRg st="0" end="0"/>
                                            </p:txEl>
                                          </p:spTgt>
                                        </p:tgtEl>
                                        <p:attrNameLst>
                                          <p:attrName>style.visibility</p:attrName>
                                        </p:attrNameLst>
                                      </p:cBhvr>
                                      <p:to>
                                        <p:strVal val="visible"/>
                                      </p:to>
                                    </p:set>
                                    <p:animEffect transition="in" filter="fade">
                                      <p:cBhvr>
                                        <p:cTn id="7" dur="500">
                                          <p:stCondLst>
                                            <p:cond delay="0"/>
                                          </p:stCondLst>
                                        </p:cTn>
                                        <p:tgtEl>
                                          <p:spTgt spid="583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58370">
                                            <p:txEl>
                                              <p:pRg st="1" end="1"/>
                                            </p:txEl>
                                          </p:spTgt>
                                        </p:tgtEl>
                                        <p:attrNameLst>
                                          <p:attrName>style.visibility</p:attrName>
                                        </p:attrNameLst>
                                      </p:cBhvr>
                                      <p:to>
                                        <p:strVal val="visible"/>
                                      </p:to>
                                    </p:set>
                                    <p:animEffect transition="in" filter="fade">
                                      <p:cBhvr>
                                        <p:cTn id="12" dur="500">
                                          <p:stCondLst>
                                            <p:cond delay="0"/>
                                          </p:stCondLst>
                                        </p:cTn>
                                        <p:tgtEl>
                                          <p:spTgt spid="5837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58370">
                                            <p:txEl>
                                              <p:pRg st="2" end="2"/>
                                            </p:txEl>
                                          </p:spTgt>
                                        </p:tgtEl>
                                        <p:attrNameLst>
                                          <p:attrName>style.visibility</p:attrName>
                                        </p:attrNameLst>
                                      </p:cBhvr>
                                      <p:to>
                                        <p:strVal val="visible"/>
                                      </p:to>
                                    </p:set>
                                    <p:animEffect transition="in" filter="fade">
                                      <p:cBhvr>
                                        <p:cTn id="17" dur="500">
                                          <p:stCondLst>
                                            <p:cond delay="0"/>
                                          </p:stCondLst>
                                        </p:cTn>
                                        <p:tgtEl>
                                          <p:spTgt spid="5837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58370">
                                            <p:txEl>
                                              <p:pRg st="3" end="3"/>
                                            </p:txEl>
                                          </p:spTgt>
                                        </p:tgtEl>
                                        <p:attrNameLst>
                                          <p:attrName>style.visibility</p:attrName>
                                        </p:attrNameLst>
                                      </p:cBhvr>
                                      <p:to>
                                        <p:strVal val="visible"/>
                                      </p:to>
                                    </p:set>
                                    <p:animEffect transition="in" filter="fade">
                                      <p:cBhvr>
                                        <p:cTn id="22" dur="500">
                                          <p:stCondLst>
                                            <p:cond delay="0"/>
                                          </p:stCondLst>
                                        </p:cTn>
                                        <p:tgtEl>
                                          <p:spTgt spid="5837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10000"/>
                                  </p:iterate>
                                  <p:childTnLst>
                                    <p:set>
                                      <p:cBhvr>
                                        <p:cTn id="26" dur="1" fill="hold">
                                          <p:stCondLst>
                                            <p:cond delay="0"/>
                                          </p:stCondLst>
                                        </p:cTn>
                                        <p:tgtEl>
                                          <p:spTgt spid="58370">
                                            <p:txEl>
                                              <p:pRg st="4" end="4"/>
                                            </p:txEl>
                                          </p:spTgt>
                                        </p:tgtEl>
                                        <p:attrNameLst>
                                          <p:attrName>style.visibility</p:attrName>
                                        </p:attrNameLst>
                                      </p:cBhvr>
                                      <p:to>
                                        <p:strVal val="visible"/>
                                      </p:to>
                                    </p:set>
                                    <p:animEffect transition="in" filter="fade">
                                      <p:cBhvr>
                                        <p:cTn id="27" dur="500">
                                          <p:stCondLst>
                                            <p:cond delay="0"/>
                                          </p:stCondLst>
                                        </p:cTn>
                                        <p:tgtEl>
                                          <p:spTgt spid="5837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body" idx="1"/>
          </p:nvPr>
        </p:nvSpPr>
        <p:spPr>
          <a:xfrm>
            <a:off x="179388" y="908050"/>
            <a:ext cx="8964612" cy="4895850"/>
          </a:xfrm>
        </p:spPr>
        <p:txBody>
          <a:bodyPr/>
          <a:lstStyle/>
          <a:p>
            <a:pPr>
              <a:buFontTx/>
              <a:buNone/>
            </a:pPr>
            <a:r>
              <a:rPr lang="en-US" altLang="zh-CN" dirty="0"/>
              <a:t>-- </a:t>
            </a:r>
            <a:r>
              <a:rPr lang="en-US" altLang="zh-CN" dirty="0" smtClean="0"/>
              <a:t>outlaw </a:t>
            </a:r>
            <a:r>
              <a:rPr lang="en-US" altLang="zh-CN" dirty="0"/>
              <a:t>investment measures that lead to restrictions in quantities </a:t>
            </a:r>
          </a:p>
          <a:p>
            <a:pPr>
              <a:buFontTx/>
              <a:buNone/>
            </a:pPr>
            <a:r>
              <a:rPr lang="en-US" altLang="zh-CN" dirty="0"/>
              <a:t>-- measures which require particular levels of local procurement by an enterprise (“local content requirements”) </a:t>
            </a:r>
          </a:p>
          <a:p>
            <a:pPr>
              <a:buFontTx/>
              <a:buNone/>
            </a:pPr>
            <a:r>
              <a:rPr lang="en-US" altLang="zh-CN" dirty="0"/>
              <a:t>--  discourages measures which limit a company’s imports or set targets for the company to export (“trade balancing requirements”).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59394">
                                            <p:txEl>
                                              <p:pRg st="0" end="0"/>
                                            </p:txEl>
                                          </p:spTgt>
                                        </p:tgtEl>
                                        <p:attrNameLst>
                                          <p:attrName>style.visibility</p:attrName>
                                        </p:attrNameLst>
                                      </p:cBhvr>
                                      <p:to>
                                        <p:strVal val="visible"/>
                                      </p:to>
                                    </p:set>
                                    <p:animEffect transition="in" filter="fade">
                                      <p:cBhvr>
                                        <p:cTn id="7" dur="500">
                                          <p:stCondLst>
                                            <p:cond delay="0"/>
                                          </p:stCondLst>
                                        </p:cTn>
                                        <p:tgtEl>
                                          <p:spTgt spid="593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59394">
                                            <p:txEl>
                                              <p:pRg st="1" end="1"/>
                                            </p:txEl>
                                          </p:spTgt>
                                        </p:tgtEl>
                                        <p:attrNameLst>
                                          <p:attrName>style.visibility</p:attrName>
                                        </p:attrNameLst>
                                      </p:cBhvr>
                                      <p:to>
                                        <p:strVal val="visible"/>
                                      </p:to>
                                    </p:set>
                                    <p:animEffect transition="in" filter="fade">
                                      <p:cBhvr>
                                        <p:cTn id="12" dur="500">
                                          <p:stCondLst>
                                            <p:cond delay="0"/>
                                          </p:stCondLst>
                                        </p:cTn>
                                        <p:tgtEl>
                                          <p:spTgt spid="593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59394">
                                            <p:txEl>
                                              <p:pRg st="2" end="2"/>
                                            </p:txEl>
                                          </p:spTgt>
                                        </p:tgtEl>
                                        <p:attrNameLst>
                                          <p:attrName>style.visibility</p:attrName>
                                        </p:attrNameLst>
                                      </p:cBhvr>
                                      <p:to>
                                        <p:strVal val="visible"/>
                                      </p:to>
                                    </p:set>
                                    <p:animEffect transition="in" filter="fade">
                                      <p:cBhvr>
                                        <p:cTn id="17" dur="500">
                                          <p:stCondLst>
                                            <p:cond delay="0"/>
                                          </p:stCondLst>
                                        </p:cTn>
                                        <p:tgtEl>
                                          <p:spTgt spid="5939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body" idx="1"/>
          </p:nvPr>
        </p:nvSpPr>
        <p:spPr>
          <a:xfrm>
            <a:off x="179388" y="908050"/>
            <a:ext cx="8964612" cy="4895850"/>
          </a:xfrm>
        </p:spPr>
        <p:txBody>
          <a:bodyPr/>
          <a:lstStyle/>
          <a:p>
            <a:pPr>
              <a:buFontTx/>
              <a:buNone/>
            </a:pPr>
            <a:r>
              <a:rPr lang="en-US" altLang="zh-CN" dirty="0"/>
              <a:t>-- </a:t>
            </a:r>
            <a:r>
              <a:rPr lang="en-US" altLang="zh-CN" dirty="0" smtClean="0"/>
              <a:t>Market reserve policy: some markets are reserved for local production</a:t>
            </a:r>
            <a:endParaRPr lang="en-US" altLang="zh-CN" dirty="0"/>
          </a:p>
          <a:p>
            <a:pPr>
              <a:buFontTx/>
              <a:buNone/>
            </a:pPr>
            <a:r>
              <a:rPr lang="en-US" altLang="zh-CN" dirty="0"/>
              <a:t>-- </a:t>
            </a:r>
            <a:r>
              <a:rPr lang="en-US" altLang="zh-CN" dirty="0" smtClean="0"/>
              <a:t>Licensing requirements ; obtain </a:t>
            </a:r>
            <a:r>
              <a:rPr lang="en-US" altLang="zh-CN" dirty="0" err="1" smtClean="0"/>
              <a:t>licence</a:t>
            </a:r>
            <a:r>
              <a:rPr lang="en-US" altLang="zh-CN" dirty="0" smtClean="0"/>
              <a:t> for the operations in the host country</a:t>
            </a:r>
            <a:endParaRPr lang="en-US" altLang="zh-CN" dirty="0"/>
          </a:p>
          <a:p>
            <a:pPr>
              <a:buFontTx/>
              <a:buNone/>
            </a:pPr>
            <a:r>
              <a:rPr lang="en-US" altLang="zh-CN" dirty="0"/>
              <a:t>--  </a:t>
            </a:r>
            <a:r>
              <a:rPr lang="en-US" altLang="zh-CN" dirty="0" smtClean="0"/>
              <a:t>Minimum export requirements</a:t>
            </a:r>
          </a:p>
          <a:p>
            <a:pPr>
              <a:buFontTx/>
              <a:buNone/>
            </a:pPr>
            <a:endParaRPr lang="en-US" altLang="zh-CN" dirty="0" smtClean="0"/>
          </a:p>
          <a:p>
            <a:pPr>
              <a:buFontTx/>
              <a:buNone/>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59394">
                                            <p:txEl>
                                              <p:pRg st="0" end="0"/>
                                            </p:txEl>
                                          </p:spTgt>
                                        </p:tgtEl>
                                        <p:attrNameLst>
                                          <p:attrName>style.visibility</p:attrName>
                                        </p:attrNameLst>
                                      </p:cBhvr>
                                      <p:to>
                                        <p:strVal val="visible"/>
                                      </p:to>
                                    </p:set>
                                    <p:animEffect transition="in" filter="fade">
                                      <p:cBhvr>
                                        <p:cTn id="7" dur="500">
                                          <p:stCondLst>
                                            <p:cond delay="0"/>
                                          </p:stCondLst>
                                        </p:cTn>
                                        <p:tgtEl>
                                          <p:spTgt spid="593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59394">
                                            <p:txEl>
                                              <p:pRg st="1" end="1"/>
                                            </p:txEl>
                                          </p:spTgt>
                                        </p:tgtEl>
                                        <p:attrNameLst>
                                          <p:attrName>style.visibility</p:attrName>
                                        </p:attrNameLst>
                                      </p:cBhvr>
                                      <p:to>
                                        <p:strVal val="visible"/>
                                      </p:to>
                                    </p:set>
                                    <p:animEffect transition="in" filter="fade">
                                      <p:cBhvr>
                                        <p:cTn id="12" dur="500">
                                          <p:stCondLst>
                                            <p:cond delay="0"/>
                                          </p:stCondLst>
                                        </p:cTn>
                                        <p:tgtEl>
                                          <p:spTgt spid="593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59394">
                                            <p:txEl>
                                              <p:pRg st="2" end="2"/>
                                            </p:txEl>
                                          </p:spTgt>
                                        </p:tgtEl>
                                        <p:attrNameLst>
                                          <p:attrName>style.visibility</p:attrName>
                                        </p:attrNameLst>
                                      </p:cBhvr>
                                      <p:to>
                                        <p:strVal val="visible"/>
                                      </p:to>
                                    </p:set>
                                    <p:animEffect transition="in" filter="fade">
                                      <p:cBhvr>
                                        <p:cTn id="17" dur="500">
                                          <p:stCondLst>
                                            <p:cond delay="0"/>
                                          </p:stCondLst>
                                        </p:cTn>
                                        <p:tgtEl>
                                          <p:spTgt spid="5939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a:xfrm>
            <a:off x="250825" y="1844675"/>
            <a:ext cx="8893175" cy="3455988"/>
          </a:xfrm>
        </p:spPr>
        <p:txBody>
          <a:bodyPr/>
          <a:lstStyle/>
          <a:p>
            <a:pPr marL="609600" indent="-609600">
              <a:buFontTx/>
              <a:buNone/>
            </a:pPr>
            <a:r>
              <a:rPr lang="en-US" altLang="zh-CN" b="1" dirty="0" smtClean="0"/>
              <a:t>Agreement on Agriculture (AOA): </a:t>
            </a:r>
            <a:r>
              <a:rPr lang="en-US" altLang="zh-CN" b="1" dirty="0"/>
              <a:t>fairer markets for farmers</a:t>
            </a:r>
          </a:p>
          <a:p>
            <a:pPr marL="609600" indent="-609600">
              <a:buFontTx/>
              <a:buAutoNum type="arabicPeriod"/>
            </a:pPr>
            <a:r>
              <a:rPr lang="en-US" altLang="zh-CN" b="1" dirty="0"/>
              <a:t>New rules and commitments</a:t>
            </a:r>
            <a:r>
              <a:rPr lang="en-US" altLang="zh-CN" dirty="0"/>
              <a:t> of </a:t>
            </a:r>
            <a:r>
              <a:rPr lang="en-US" altLang="zh-CN" b="1" dirty="0"/>
              <a:t>The Agriculture Agreement: </a:t>
            </a:r>
            <a:endParaRPr lang="en-US" altLang="zh-CN" dirty="0"/>
          </a:p>
          <a:p>
            <a:pPr marL="609600" indent="-609600">
              <a:buFontTx/>
              <a:buNone/>
            </a:pPr>
            <a:r>
              <a:rPr lang="en-US" altLang="zh-CN" dirty="0"/>
              <a:t>     -- </a:t>
            </a:r>
            <a:r>
              <a:rPr lang="en-US" altLang="zh-CN" b="1" dirty="0"/>
              <a:t>market access</a:t>
            </a:r>
            <a:r>
              <a:rPr lang="en-US" altLang="zh-CN" dirty="0"/>
              <a:t> ,</a:t>
            </a:r>
          </a:p>
          <a:p>
            <a:pPr marL="609600" indent="-609600">
              <a:buFontTx/>
              <a:buNone/>
            </a:pPr>
            <a:r>
              <a:rPr lang="en-US" altLang="zh-CN" dirty="0"/>
              <a:t>     -- </a:t>
            </a:r>
            <a:r>
              <a:rPr lang="en-US" altLang="zh-CN" b="1" dirty="0"/>
              <a:t>domestic support</a:t>
            </a:r>
            <a:r>
              <a:rPr lang="en-US" altLang="zh-CN" dirty="0"/>
              <a:t> ,</a:t>
            </a:r>
          </a:p>
          <a:p>
            <a:pPr marL="609600" indent="-609600">
              <a:buFontTx/>
              <a:buNone/>
            </a:pPr>
            <a:r>
              <a:rPr lang="en-US" altLang="zh-CN" dirty="0"/>
              <a:t>     -- </a:t>
            </a:r>
            <a:r>
              <a:rPr lang="en-US" altLang="zh-CN" b="1" dirty="0"/>
              <a:t>export subsidies</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13314">
                                            <p:txEl>
                                              <p:pRg st="0" end="0"/>
                                            </p:txEl>
                                          </p:spTgt>
                                        </p:tgtEl>
                                        <p:attrNameLst>
                                          <p:attrName>style.visibility</p:attrName>
                                        </p:attrNameLst>
                                      </p:cBhvr>
                                      <p:to>
                                        <p:strVal val="visible"/>
                                      </p:to>
                                    </p:set>
                                    <p:animEffect transition="in" filter="fade">
                                      <p:cBhvr>
                                        <p:cTn id="7" dur="500">
                                          <p:stCondLst>
                                            <p:cond delay="0"/>
                                          </p:stCondLst>
                                        </p:cTn>
                                        <p:tgtEl>
                                          <p:spTgt spid="133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13314">
                                            <p:txEl>
                                              <p:pRg st="1" end="1"/>
                                            </p:txEl>
                                          </p:spTgt>
                                        </p:tgtEl>
                                        <p:attrNameLst>
                                          <p:attrName>style.visibility</p:attrName>
                                        </p:attrNameLst>
                                      </p:cBhvr>
                                      <p:to>
                                        <p:strVal val="visible"/>
                                      </p:to>
                                    </p:set>
                                    <p:animEffect transition="in" filter="fade">
                                      <p:cBhvr>
                                        <p:cTn id="12" dur="500">
                                          <p:stCondLst>
                                            <p:cond delay="0"/>
                                          </p:stCondLst>
                                        </p:cTn>
                                        <p:tgtEl>
                                          <p:spTgt spid="133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13314">
                                            <p:txEl>
                                              <p:pRg st="2" end="2"/>
                                            </p:txEl>
                                          </p:spTgt>
                                        </p:tgtEl>
                                        <p:attrNameLst>
                                          <p:attrName>style.visibility</p:attrName>
                                        </p:attrNameLst>
                                      </p:cBhvr>
                                      <p:to>
                                        <p:strVal val="visible"/>
                                      </p:to>
                                    </p:set>
                                    <p:animEffect transition="in" filter="fade">
                                      <p:cBhvr>
                                        <p:cTn id="17" dur="500">
                                          <p:stCondLst>
                                            <p:cond delay="0"/>
                                          </p:stCondLst>
                                        </p:cTn>
                                        <p:tgtEl>
                                          <p:spTgt spid="133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13314">
                                            <p:txEl>
                                              <p:pRg st="3" end="3"/>
                                            </p:txEl>
                                          </p:spTgt>
                                        </p:tgtEl>
                                        <p:attrNameLst>
                                          <p:attrName>style.visibility</p:attrName>
                                        </p:attrNameLst>
                                      </p:cBhvr>
                                      <p:to>
                                        <p:strVal val="visible"/>
                                      </p:to>
                                    </p:set>
                                    <p:animEffect transition="in" filter="fade">
                                      <p:cBhvr>
                                        <p:cTn id="22" dur="500">
                                          <p:stCondLst>
                                            <p:cond delay="0"/>
                                          </p:stCondLst>
                                        </p:cTn>
                                        <p:tgtEl>
                                          <p:spTgt spid="133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10000"/>
                                  </p:iterate>
                                  <p:childTnLst>
                                    <p:set>
                                      <p:cBhvr>
                                        <p:cTn id="26" dur="1" fill="hold">
                                          <p:stCondLst>
                                            <p:cond delay="0"/>
                                          </p:stCondLst>
                                        </p:cTn>
                                        <p:tgtEl>
                                          <p:spTgt spid="13314">
                                            <p:txEl>
                                              <p:pRg st="4" end="4"/>
                                            </p:txEl>
                                          </p:spTgt>
                                        </p:tgtEl>
                                        <p:attrNameLst>
                                          <p:attrName>style.visibility</p:attrName>
                                        </p:attrNameLst>
                                      </p:cBhvr>
                                      <p:to>
                                        <p:strVal val="visible"/>
                                      </p:to>
                                    </p:set>
                                    <p:animEffect transition="in" filter="fade">
                                      <p:cBhvr>
                                        <p:cTn id="27" dur="500">
                                          <p:stCondLst>
                                            <p:cond delay="0"/>
                                          </p:stCondLst>
                                        </p:cTn>
                                        <p:tgtEl>
                                          <p:spTgt spid="133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a:xfrm>
            <a:off x="250825" y="260350"/>
            <a:ext cx="8893175" cy="6337300"/>
          </a:xfrm>
        </p:spPr>
        <p:txBody>
          <a:bodyPr/>
          <a:lstStyle/>
          <a:p>
            <a:pPr marL="609600" indent="-609600">
              <a:buFontTx/>
              <a:buNone/>
            </a:pPr>
            <a:endParaRPr lang="en-US" altLang="zh-CN"/>
          </a:p>
          <a:p>
            <a:pPr marL="609600" indent="-609600">
              <a:buFontTx/>
              <a:buNone/>
            </a:pPr>
            <a:endParaRPr lang="en-US" altLang="zh-CN" b="1"/>
          </a:p>
          <a:p>
            <a:pPr marL="609600" indent="-609600">
              <a:buFontTx/>
              <a:buNone/>
            </a:pPr>
            <a:r>
              <a:rPr lang="en-US" altLang="zh-CN"/>
              <a:t> (1) </a:t>
            </a:r>
            <a:r>
              <a:rPr lang="en-US" altLang="zh-CN" b="1"/>
              <a:t>Market access: ‘tariffs only’, please</a:t>
            </a:r>
            <a:r>
              <a:rPr lang="en-US" altLang="zh-CN"/>
              <a:t> </a:t>
            </a:r>
          </a:p>
          <a:p>
            <a:pPr marL="609600" indent="-609600">
              <a:buFontTx/>
              <a:buNone/>
            </a:pPr>
            <a:r>
              <a:rPr lang="en-US" altLang="zh-CN"/>
              <a:t>    </a:t>
            </a:r>
            <a:r>
              <a:rPr lang="en-US" altLang="zh-CN" b="1"/>
              <a:t>Numerical targets for agriculture</a:t>
            </a:r>
            <a:r>
              <a:rPr lang="en-US" altLang="zh-CN"/>
              <a:t> :</a:t>
            </a:r>
          </a:p>
          <a:p>
            <a:pPr marL="609600" indent="-609600">
              <a:buFontTx/>
              <a:buNone/>
            </a:pPr>
            <a:endParaRPr lang="en-US" altLang="zh-CN"/>
          </a:p>
          <a:p>
            <a:pPr marL="609600" indent="-609600">
              <a:buFontTx/>
              <a:buNone/>
            </a:pPr>
            <a:r>
              <a:rPr lang="en-US" altLang="zh-CN"/>
              <a:t>(2) </a:t>
            </a:r>
            <a:r>
              <a:rPr lang="en-US" altLang="zh-CN" b="1"/>
              <a:t>Domestic support: some you can, some you can’t</a:t>
            </a:r>
            <a:endParaRPr lang="en-US" altLang="zh-CN"/>
          </a:p>
          <a:p>
            <a:pPr marL="609600" indent="-609600">
              <a:buFontTx/>
              <a:buNone/>
            </a:pPr>
            <a:r>
              <a:rPr lang="en-US" altLang="zh-CN"/>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14338">
                                            <p:txEl>
                                              <p:pRg st="2" end="2"/>
                                            </p:txEl>
                                          </p:spTgt>
                                        </p:tgtEl>
                                        <p:attrNameLst>
                                          <p:attrName>style.visibility</p:attrName>
                                        </p:attrNameLst>
                                      </p:cBhvr>
                                      <p:to>
                                        <p:strVal val="visible"/>
                                      </p:to>
                                    </p:set>
                                    <p:animEffect transition="in" filter="fade">
                                      <p:cBhvr>
                                        <p:cTn id="7" dur="500">
                                          <p:stCondLst>
                                            <p:cond delay="0"/>
                                          </p:stCondLst>
                                        </p:cTn>
                                        <p:tgtEl>
                                          <p:spTgt spid="1433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14338">
                                            <p:txEl>
                                              <p:pRg st="3" end="3"/>
                                            </p:txEl>
                                          </p:spTgt>
                                        </p:tgtEl>
                                        <p:attrNameLst>
                                          <p:attrName>style.visibility</p:attrName>
                                        </p:attrNameLst>
                                      </p:cBhvr>
                                      <p:to>
                                        <p:strVal val="visible"/>
                                      </p:to>
                                    </p:set>
                                    <p:animEffect transition="in" filter="fade">
                                      <p:cBhvr>
                                        <p:cTn id="12" dur="500">
                                          <p:stCondLst>
                                            <p:cond delay="0"/>
                                          </p:stCondLst>
                                        </p:cTn>
                                        <p:tgtEl>
                                          <p:spTgt spid="1433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14338">
                                            <p:txEl>
                                              <p:pRg st="5" end="5"/>
                                            </p:txEl>
                                          </p:spTgt>
                                        </p:tgtEl>
                                        <p:attrNameLst>
                                          <p:attrName>style.visibility</p:attrName>
                                        </p:attrNameLst>
                                      </p:cBhvr>
                                      <p:to>
                                        <p:strVal val="visible"/>
                                      </p:to>
                                    </p:set>
                                    <p:animEffect transition="in" filter="fade">
                                      <p:cBhvr>
                                        <p:cTn id="17" dur="500">
                                          <p:stCondLst>
                                            <p:cond delay="0"/>
                                          </p:stCondLst>
                                        </p:cTn>
                                        <p:tgtEl>
                                          <p:spTgt spid="14338">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14338">
                                            <p:txEl>
                                              <p:pRg st="6" end="6"/>
                                            </p:txEl>
                                          </p:spTgt>
                                        </p:tgtEl>
                                        <p:attrNameLst>
                                          <p:attrName>style.visibility</p:attrName>
                                        </p:attrNameLst>
                                      </p:cBhvr>
                                      <p:to>
                                        <p:strVal val="visible"/>
                                      </p:to>
                                    </p:set>
                                    <p:animEffect transition="in" filter="fade">
                                      <p:cBhvr>
                                        <p:cTn id="22" dur="500">
                                          <p:stCondLst>
                                            <p:cond delay="0"/>
                                          </p:stCondLst>
                                        </p:cTn>
                                        <p:tgtEl>
                                          <p:spTgt spid="1433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body" idx="1"/>
          </p:nvPr>
        </p:nvSpPr>
        <p:spPr>
          <a:xfrm>
            <a:off x="250825" y="260350"/>
            <a:ext cx="8893175" cy="6337300"/>
          </a:xfrm>
        </p:spPr>
        <p:txBody>
          <a:bodyPr/>
          <a:lstStyle/>
          <a:p>
            <a:pPr>
              <a:buFontTx/>
              <a:buNone/>
            </a:pPr>
            <a:r>
              <a:rPr lang="en-US" altLang="zh-CN"/>
              <a:t>-- </a:t>
            </a:r>
            <a:r>
              <a:rPr lang="en-US" altLang="zh-CN" u="sng"/>
              <a:t>“amber box”:</a:t>
            </a:r>
            <a:r>
              <a:rPr lang="en-US" altLang="zh-CN"/>
              <a:t> Domestic policies </a:t>
            </a:r>
          </a:p>
          <a:p>
            <a:pPr>
              <a:buFontTx/>
              <a:buNone/>
            </a:pPr>
            <a:r>
              <a:rPr lang="en-US" altLang="zh-CN"/>
              <a:t>that do have a direct effect on </a:t>
            </a:r>
          </a:p>
          <a:p>
            <a:pPr>
              <a:buFontTx/>
              <a:buNone/>
            </a:pPr>
            <a:r>
              <a:rPr lang="en-US" altLang="zh-CN"/>
              <a:t>production and trade have to</a:t>
            </a:r>
          </a:p>
          <a:p>
            <a:pPr>
              <a:buFontTx/>
              <a:buNone/>
            </a:pPr>
            <a:r>
              <a:rPr lang="en-US" altLang="zh-CN"/>
              <a:t> be cut back. </a:t>
            </a:r>
          </a:p>
          <a:p>
            <a:pPr>
              <a:buFontTx/>
              <a:buNone/>
            </a:pPr>
            <a:r>
              <a:rPr lang="en-US" altLang="zh-CN"/>
              <a:t>--  </a:t>
            </a:r>
            <a:r>
              <a:rPr lang="en-US" altLang="zh-CN" u="sng"/>
              <a:t>“green box”:</a:t>
            </a:r>
            <a:r>
              <a:rPr lang="en-US" altLang="zh-CN"/>
              <a:t>Measures with </a:t>
            </a:r>
          </a:p>
          <a:p>
            <a:pPr>
              <a:buFontTx/>
              <a:buNone/>
            </a:pPr>
            <a:r>
              <a:rPr lang="en-US" altLang="zh-CN"/>
              <a:t>minimal impact on trade can </a:t>
            </a:r>
          </a:p>
          <a:p>
            <a:pPr>
              <a:buFontTx/>
              <a:buNone/>
            </a:pPr>
            <a:r>
              <a:rPr lang="en-US" altLang="zh-CN"/>
              <a:t>be used freely  </a:t>
            </a:r>
          </a:p>
        </p:txBody>
      </p:sp>
      <p:pic>
        <p:nvPicPr>
          <p:cNvPr id="15363" name="Picture 3" descr="Amber box"/>
          <p:cNvPicPr>
            <a:picLocks noChangeAspect="1" noChangeArrowheads="1"/>
          </p:cNvPicPr>
          <p:nvPr/>
        </p:nvPicPr>
        <p:blipFill>
          <a:blip r:embed="rId2"/>
          <a:srcRect/>
          <a:stretch>
            <a:fillRect/>
          </a:stretch>
        </p:blipFill>
        <p:spPr bwMode="auto">
          <a:xfrm>
            <a:off x="6372225" y="1484313"/>
            <a:ext cx="1590675" cy="1381125"/>
          </a:xfrm>
          <a:prstGeom prst="rect">
            <a:avLst/>
          </a:prstGeom>
          <a:noFill/>
        </p:spPr>
      </p:pic>
      <p:pic>
        <p:nvPicPr>
          <p:cNvPr id="15364" name="Picture 4" descr="Green box"/>
          <p:cNvPicPr>
            <a:picLocks noChangeAspect="1" noChangeArrowheads="1"/>
          </p:cNvPicPr>
          <p:nvPr/>
        </p:nvPicPr>
        <p:blipFill>
          <a:blip r:embed="rId3"/>
          <a:srcRect/>
          <a:stretch>
            <a:fillRect/>
          </a:stretch>
        </p:blipFill>
        <p:spPr bwMode="auto">
          <a:xfrm>
            <a:off x="3348038" y="4508500"/>
            <a:ext cx="1638300" cy="14097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15362">
                                            <p:txEl>
                                              <p:pRg st="0" end="0"/>
                                            </p:txEl>
                                          </p:spTgt>
                                        </p:tgtEl>
                                        <p:attrNameLst>
                                          <p:attrName>style.visibility</p:attrName>
                                        </p:attrNameLst>
                                      </p:cBhvr>
                                      <p:to>
                                        <p:strVal val="visible"/>
                                      </p:to>
                                    </p:set>
                                    <p:animEffect transition="in" filter="fade">
                                      <p:cBhvr>
                                        <p:cTn id="7" dur="500">
                                          <p:stCondLst>
                                            <p:cond delay="0"/>
                                          </p:stCondLst>
                                        </p:cTn>
                                        <p:tgtEl>
                                          <p:spTgt spid="153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15362">
                                            <p:txEl>
                                              <p:pRg st="1" end="1"/>
                                            </p:txEl>
                                          </p:spTgt>
                                        </p:tgtEl>
                                        <p:attrNameLst>
                                          <p:attrName>style.visibility</p:attrName>
                                        </p:attrNameLst>
                                      </p:cBhvr>
                                      <p:to>
                                        <p:strVal val="visible"/>
                                      </p:to>
                                    </p:set>
                                    <p:animEffect transition="in" filter="fade">
                                      <p:cBhvr>
                                        <p:cTn id="12" dur="500">
                                          <p:stCondLst>
                                            <p:cond delay="0"/>
                                          </p:stCondLst>
                                        </p:cTn>
                                        <p:tgtEl>
                                          <p:spTgt spid="153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15362">
                                            <p:txEl>
                                              <p:pRg st="2" end="2"/>
                                            </p:txEl>
                                          </p:spTgt>
                                        </p:tgtEl>
                                        <p:attrNameLst>
                                          <p:attrName>style.visibility</p:attrName>
                                        </p:attrNameLst>
                                      </p:cBhvr>
                                      <p:to>
                                        <p:strVal val="visible"/>
                                      </p:to>
                                    </p:set>
                                    <p:animEffect transition="in" filter="fade">
                                      <p:cBhvr>
                                        <p:cTn id="17" dur="500">
                                          <p:stCondLst>
                                            <p:cond delay="0"/>
                                          </p:stCondLst>
                                        </p:cTn>
                                        <p:tgtEl>
                                          <p:spTgt spid="1536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15362">
                                            <p:txEl>
                                              <p:pRg st="3" end="3"/>
                                            </p:txEl>
                                          </p:spTgt>
                                        </p:tgtEl>
                                        <p:attrNameLst>
                                          <p:attrName>style.visibility</p:attrName>
                                        </p:attrNameLst>
                                      </p:cBhvr>
                                      <p:to>
                                        <p:strVal val="visible"/>
                                      </p:to>
                                    </p:set>
                                    <p:animEffect transition="in" filter="fade">
                                      <p:cBhvr>
                                        <p:cTn id="22" dur="500">
                                          <p:stCondLst>
                                            <p:cond delay="0"/>
                                          </p:stCondLst>
                                        </p:cTn>
                                        <p:tgtEl>
                                          <p:spTgt spid="1536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10000"/>
                                  </p:iterate>
                                  <p:childTnLst>
                                    <p:set>
                                      <p:cBhvr>
                                        <p:cTn id="26" dur="1" fill="hold">
                                          <p:stCondLst>
                                            <p:cond delay="0"/>
                                          </p:stCondLst>
                                        </p:cTn>
                                        <p:tgtEl>
                                          <p:spTgt spid="15362">
                                            <p:txEl>
                                              <p:pRg st="4" end="4"/>
                                            </p:txEl>
                                          </p:spTgt>
                                        </p:tgtEl>
                                        <p:attrNameLst>
                                          <p:attrName>style.visibility</p:attrName>
                                        </p:attrNameLst>
                                      </p:cBhvr>
                                      <p:to>
                                        <p:strVal val="visible"/>
                                      </p:to>
                                    </p:set>
                                    <p:animEffect transition="in" filter="fade">
                                      <p:cBhvr>
                                        <p:cTn id="27" dur="500">
                                          <p:stCondLst>
                                            <p:cond delay="0"/>
                                          </p:stCondLst>
                                        </p:cTn>
                                        <p:tgtEl>
                                          <p:spTgt spid="1536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lt">
                                    <p:tmPct val="10000"/>
                                  </p:iterate>
                                  <p:childTnLst>
                                    <p:set>
                                      <p:cBhvr>
                                        <p:cTn id="31" dur="1" fill="hold">
                                          <p:stCondLst>
                                            <p:cond delay="0"/>
                                          </p:stCondLst>
                                        </p:cTn>
                                        <p:tgtEl>
                                          <p:spTgt spid="15362">
                                            <p:txEl>
                                              <p:pRg st="5" end="5"/>
                                            </p:txEl>
                                          </p:spTgt>
                                        </p:tgtEl>
                                        <p:attrNameLst>
                                          <p:attrName>style.visibility</p:attrName>
                                        </p:attrNameLst>
                                      </p:cBhvr>
                                      <p:to>
                                        <p:strVal val="visible"/>
                                      </p:to>
                                    </p:set>
                                    <p:animEffect transition="in" filter="fade">
                                      <p:cBhvr>
                                        <p:cTn id="32" dur="500">
                                          <p:stCondLst>
                                            <p:cond delay="0"/>
                                          </p:stCondLst>
                                        </p:cTn>
                                        <p:tgtEl>
                                          <p:spTgt spid="1536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iterate type="lt">
                                    <p:tmPct val="10000"/>
                                  </p:iterate>
                                  <p:childTnLst>
                                    <p:set>
                                      <p:cBhvr>
                                        <p:cTn id="36" dur="1" fill="hold">
                                          <p:stCondLst>
                                            <p:cond delay="0"/>
                                          </p:stCondLst>
                                        </p:cTn>
                                        <p:tgtEl>
                                          <p:spTgt spid="15362">
                                            <p:txEl>
                                              <p:pRg st="6" end="6"/>
                                            </p:txEl>
                                          </p:spTgt>
                                        </p:tgtEl>
                                        <p:attrNameLst>
                                          <p:attrName>style.visibility</p:attrName>
                                        </p:attrNameLst>
                                      </p:cBhvr>
                                      <p:to>
                                        <p:strVal val="visible"/>
                                      </p:to>
                                    </p:set>
                                    <p:animEffect transition="in" filter="fade">
                                      <p:cBhvr>
                                        <p:cTn id="37" dur="500">
                                          <p:stCondLst>
                                            <p:cond delay="0"/>
                                          </p:stCondLst>
                                        </p:cTn>
                                        <p:tgtEl>
                                          <p:spTgt spid="1536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a:xfrm>
            <a:off x="250825" y="1341438"/>
            <a:ext cx="8893175" cy="4464050"/>
          </a:xfrm>
        </p:spPr>
        <p:txBody>
          <a:bodyPr/>
          <a:lstStyle/>
          <a:p>
            <a:pPr>
              <a:buFontTx/>
              <a:buNone/>
            </a:pPr>
            <a:r>
              <a:rPr lang="en-US" altLang="zh-CN"/>
              <a:t>  -- </a:t>
            </a:r>
            <a:r>
              <a:rPr lang="en-US" altLang="zh-CN" u="sng"/>
              <a:t>“blue box”</a:t>
            </a:r>
            <a:r>
              <a:rPr lang="en-US" altLang="zh-CN"/>
              <a:t> :</a:t>
            </a:r>
          </a:p>
          <a:p>
            <a:pPr>
              <a:buFontTx/>
              <a:buNone/>
            </a:pPr>
            <a:r>
              <a:rPr lang="en-US" altLang="zh-CN"/>
              <a:t>  (a)certain direct payments to </a:t>
            </a:r>
          </a:p>
          <a:p>
            <a:pPr>
              <a:buFontTx/>
              <a:buNone/>
            </a:pPr>
            <a:r>
              <a:rPr lang="en-US" altLang="zh-CN"/>
              <a:t>   farmers where the farmers are </a:t>
            </a:r>
          </a:p>
          <a:p>
            <a:pPr>
              <a:buFontTx/>
              <a:buNone/>
            </a:pPr>
            <a:r>
              <a:rPr lang="en-US" altLang="zh-CN"/>
              <a:t>   required to limit production (sometimes called “blue box” measures), </a:t>
            </a:r>
          </a:p>
          <a:p>
            <a:pPr>
              <a:buFontTx/>
              <a:buNone/>
            </a:pPr>
            <a:r>
              <a:rPr lang="en-US" altLang="zh-CN"/>
              <a:t>  (b) certain government assistance programmes to encourage agricultural and rural development in developing countries, </a:t>
            </a:r>
          </a:p>
        </p:txBody>
      </p:sp>
      <p:pic>
        <p:nvPicPr>
          <p:cNvPr id="16387" name="Picture 3" descr="Blue box"/>
          <p:cNvPicPr>
            <a:picLocks noChangeAspect="1" noChangeArrowheads="1"/>
          </p:cNvPicPr>
          <p:nvPr/>
        </p:nvPicPr>
        <p:blipFill>
          <a:blip r:embed="rId2"/>
          <a:srcRect/>
          <a:stretch>
            <a:fillRect/>
          </a:stretch>
        </p:blipFill>
        <p:spPr bwMode="auto">
          <a:xfrm>
            <a:off x="6372225" y="1052513"/>
            <a:ext cx="1638300" cy="14192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16386">
                                            <p:txEl>
                                              <p:pRg st="0" end="0"/>
                                            </p:txEl>
                                          </p:spTgt>
                                        </p:tgtEl>
                                        <p:attrNameLst>
                                          <p:attrName>style.visibility</p:attrName>
                                        </p:attrNameLst>
                                      </p:cBhvr>
                                      <p:to>
                                        <p:strVal val="visible"/>
                                      </p:to>
                                    </p:set>
                                    <p:animEffect transition="in" filter="fade">
                                      <p:cBhvr>
                                        <p:cTn id="7" dur="500">
                                          <p:stCondLst>
                                            <p:cond delay="0"/>
                                          </p:stCondLst>
                                        </p:cTn>
                                        <p:tgtEl>
                                          <p:spTgt spid="163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16386">
                                            <p:txEl>
                                              <p:pRg st="1" end="1"/>
                                            </p:txEl>
                                          </p:spTgt>
                                        </p:tgtEl>
                                        <p:attrNameLst>
                                          <p:attrName>style.visibility</p:attrName>
                                        </p:attrNameLst>
                                      </p:cBhvr>
                                      <p:to>
                                        <p:strVal val="visible"/>
                                      </p:to>
                                    </p:set>
                                    <p:animEffect transition="in" filter="fade">
                                      <p:cBhvr>
                                        <p:cTn id="12" dur="500">
                                          <p:stCondLst>
                                            <p:cond delay="0"/>
                                          </p:stCondLst>
                                        </p:cTn>
                                        <p:tgtEl>
                                          <p:spTgt spid="163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16386">
                                            <p:txEl>
                                              <p:pRg st="2" end="2"/>
                                            </p:txEl>
                                          </p:spTgt>
                                        </p:tgtEl>
                                        <p:attrNameLst>
                                          <p:attrName>style.visibility</p:attrName>
                                        </p:attrNameLst>
                                      </p:cBhvr>
                                      <p:to>
                                        <p:strVal val="visible"/>
                                      </p:to>
                                    </p:set>
                                    <p:animEffect transition="in" filter="fade">
                                      <p:cBhvr>
                                        <p:cTn id="17" dur="500">
                                          <p:stCondLst>
                                            <p:cond delay="0"/>
                                          </p:stCondLst>
                                        </p:cTn>
                                        <p:tgtEl>
                                          <p:spTgt spid="163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16386">
                                            <p:txEl>
                                              <p:pRg st="3" end="3"/>
                                            </p:txEl>
                                          </p:spTgt>
                                        </p:tgtEl>
                                        <p:attrNameLst>
                                          <p:attrName>style.visibility</p:attrName>
                                        </p:attrNameLst>
                                      </p:cBhvr>
                                      <p:to>
                                        <p:strVal val="visible"/>
                                      </p:to>
                                    </p:set>
                                    <p:animEffect transition="in" filter="fade">
                                      <p:cBhvr>
                                        <p:cTn id="22" dur="500">
                                          <p:stCondLst>
                                            <p:cond delay="0"/>
                                          </p:stCondLst>
                                        </p:cTn>
                                        <p:tgtEl>
                                          <p:spTgt spid="1638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10000"/>
                                  </p:iterate>
                                  <p:childTnLst>
                                    <p:set>
                                      <p:cBhvr>
                                        <p:cTn id="26" dur="1" fill="hold">
                                          <p:stCondLst>
                                            <p:cond delay="0"/>
                                          </p:stCondLst>
                                        </p:cTn>
                                        <p:tgtEl>
                                          <p:spTgt spid="16386">
                                            <p:txEl>
                                              <p:pRg st="4" end="4"/>
                                            </p:txEl>
                                          </p:spTgt>
                                        </p:tgtEl>
                                        <p:attrNameLst>
                                          <p:attrName>style.visibility</p:attrName>
                                        </p:attrNameLst>
                                      </p:cBhvr>
                                      <p:to>
                                        <p:strVal val="visible"/>
                                      </p:to>
                                    </p:set>
                                    <p:animEffect transition="in" filter="fade">
                                      <p:cBhvr>
                                        <p:cTn id="27" dur="500">
                                          <p:stCondLst>
                                            <p:cond delay="0"/>
                                          </p:stCondLst>
                                        </p:cTn>
                                        <p:tgtEl>
                                          <p:spTgt spid="1638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xfrm>
            <a:off x="250825" y="2205038"/>
            <a:ext cx="8893175" cy="2736850"/>
          </a:xfrm>
        </p:spPr>
        <p:txBody>
          <a:bodyPr/>
          <a:lstStyle/>
          <a:p>
            <a:pPr>
              <a:buFontTx/>
              <a:buNone/>
            </a:pPr>
            <a:r>
              <a:rPr lang="en-US" altLang="zh-CN"/>
              <a:t>(3) </a:t>
            </a:r>
            <a:r>
              <a:rPr lang="en-US" altLang="zh-CN" b="1"/>
              <a:t>Export subsidies: limits on spending and quantities</a:t>
            </a:r>
            <a:r>
              <a:rPr lang="en-US" altLang="zh-CN"/>
              <a:t> </a:t>
            </a:r>
          </a:p>
          <a:p>
            <a:pPr>
              <a:buFontTx/>
              <a:buNone/>
            </a:pPr>
            <a:r>
              <a:rPr lang="en-US" altLang="zh-CN"/>
              <a:t>    to cut both the amount of money they spend on export subsidies and the quantities of exports that receive subsidies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18434">
                                            <p:txEl>
                                              <p:pRg st="0" end="0"/>
                                            </p:txEl>
                                          </p:spTgt>
                                        </p:tgtEl>
                                        <p:attrNameLst>
                                          <p:attrName>style.visibility</p:attrName>
                                        </p:attrNameLst>
                                      </p:cBhvr>
                                      <p:to>
                                        <p:strVal val="visible"/>
                                      </p:to>
                                    </p:set>
                                    <p:animEffect transition="in" filter="fade">
                                      <p:cBhvr>
                                        <p:cTn id="7" dur="500">
                                          <p:stCondLst>
                                            <p:cond delay="0"/>
                                          </p:stCondLst>
                                        </p:cTn>
                                        <p:tgtEl>
                                          <p:spTgt spid="184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18434">
                                            <p:txEl>
                                              <p:pRg st="1" end="1"/>
                                            </p:txEl>
                                          </p:spTgt>
                                        </p:tgtEl>
                                        <p:attrNameLst>
                                          <p:attrName>style.visibility</p:attrName>
                                        </p:attrNameLst>
                                      </p:cBhvr>
                                      <p:to>
                                        <p:strVal val="visible"/>
                                      </p:to>
                                    </p:set>
                                    <p:animEffect transition="in" filter="fade">
                                      <p:cBhvr>
                                        <p:cTn id="12" dur="500">
                                          <p:stCondLst>
                                            <p:cond delay="0"/>
                                          </p:stCondLst>
                                        </p:cTn>
                                        <p:tgtEl>
                                          <p:spTgt spid="1843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body" idx="1"/>
          </p:nvPr>
        </p:nvSpPr>
        <p:spPr>
          <a:xfrm>
            <a:off x="250825" y="1052513"/>
            <a:ext cx="8893175" cy="4608512"/>
          </a:xfrm>
        </p:spPr>
        <p:txBody>
          <a:bodyPr/>
          <a:lstStyle/>
          <a:p>
            <a:pPr>
              <a:buFontTx/>
              <a:buNone/>
            </a:pPr>
            <a:r>
              <a:rPr lang="en-US" altLang="zh-CN"/>
              <a:t>2. </a:t>
            </a:r>
            <a:r>
              <a:rPr lang="en-US" altLang="zh-CN" b="1"/>
              <a:t>The least-developed and those depending on food imports</a:t>
            </a:r>
            <a:r>
              <a:rPr lang="en-US" altLang="zh-CN"/>
              <a:t> </a:t>
            </a:r>
          </a:p>
          <a:p>
            <a:pPr>
              <a:buFontTx/>
              <a:buNone/>
            </a:pPr>
            <a:r>
              <a:rPr lang="en-US" altLang="zh-CN"/>
              <a:t>    A special ministerial decision sets out objectives, and certain measures, for the provision of food aid and aid for agricultural development. It also refers to the possibility of assistance from the International Monetary Fund and the World Bank to finance commercial food imports.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fade">
                                      <p:cBhvr>
                                        <p:cTn id="7" dur="500">
                                          <p:stCondLst>
                                            <p:cond delay="0"/>
                                          </p:stCondLst>
                                        </p:cTn>
                                        <p:tgtEl>
                                          <p:spTgt spid="194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19458">
                                            <p:txEl>
                                              <p:pRg st="1" end="1"/>
                                            </p:txEl>
                                          </p:spTgt>
                                        </p:tgtEl>
                                        <p:attrNameLst>
                                          <p:attrName>style.visibility</p:attrName>
                                        </p:attrNameLst>
                                      </p:cBhvr>
                                      <p:to>
                                        <p:strVal val="visible"/>
                                      </p:to>
                                    </p:set>
                                    <p:animEffect transition="in" filter="fade">
                                      <p:cBhvr>
                                        <p:cTn id="12" dur="500">
                                          <p:stCondLst>
                                            <p:cond delay="0"/>
                                          </p:stCondLst>
                                        </p:cTn>
                                        <p:tgtEl>
                                          <p:spTgt spid="194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164</TotalTime>
  <Words>736</Words>
  <Application>Microsoft PowerPoint</Application>
  <PresentationFormat>On-screen Show (4:3)</PresentationFormat>
  <Paragraphs>85</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默认设计模板</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user</cp:lastModifiedBy>
  <cp:revision>10</cp:revision>
  <cp:lastPrinted>1601-01-01T00:00:00Z</cp:lastPrinted>
  <dcterms:created xsi:type="dcterms:W3CDTF">1601-01-01T00:00:00Z</dcterms:created>
  <dcterms:modified xsi:type="dcterms:W3CDTF">2013-05-19T03:14:35Z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