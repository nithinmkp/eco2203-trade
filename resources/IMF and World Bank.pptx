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4615" autoAdjust="0"/>
    <p:restoredTop sz="86477" autoAdjust="0"/>
  </p:normalViewPr>
  <p:slideViewPr>
    <p:cSldViewPr>
      <p:cViewPr varScale="1">
        <p:scale>
          <a:sx n="75" d="100"/>
          <a:sy n="75" d="100"/>
        </p:scale>
        <p:origin x="-153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04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5/15/2013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1371600"/>
            <a:ext cx="7851775" cy="1828800"/>
          </a:xfrm>
        </p:spPr>
        <p:txBody>
          <a:bodyPr>
            <a:normAutofit/>
          </a:bodyPr>
          <a:lstStyle/>
          <a:p>
            <a:r>
              <a:rPr lang="en-US" dirty="0" smtClean="0"/>
              <a:t>IMF - </a:t>
            </a:r>
            <a:r>
              <a:rPr lang="en-US" sz="3200" dirty="0" smtClean="0"/>
              <a:t>Started in 1945 and head quartered in Washington D.C. Now it has about 185 members.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0" y="3228975"/>
            <a:ext cx="7854950" cy="1752600"/>
          </a:xfrm>
        </p:spPr>
        <p:txBody>
          <a:bodyPr>
            <a:normAutofit/>
          </a:bodyPr>
          <a:lstStyle/>
          <a:p>
            <a:r>
              <a:rPr lang="en-US" dirty="0" smtClean="0"/>
              <a:t>Short term wing of the international financial system and act as the central bank of the central banks of the nations in the world.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of IMF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Increased international monetary co operation</a:t>
            </a:r>
          </a:p>
          <a:p>
            <a:r>
              <a:rPr lang="en-US" dirty="0" smtClean="0"/>
              <a:t>Promotion of international trade</a:t>
            </a:r>
          </a:p>
          <a:p>
            <a:r>
              <a:rPr lang="en-US" dirty="0" smtClean="0"/>
              <a:t>Promoting exchange rate stability</a:t>
            </a:r>
          </a:p>
          <a:p>
            <a:r>
              <a:rPr lang="en-US" dirty="0" smtClean="0"/>
              <a:t>Establishing multilateral payments, eliminating exchange restrictions and encouraging progress towards convertibility of member currencies.</a:t>
            </a:r>
          </a:p>
          <a:p>
            <a:r>
              <a:rPr lang="en-US" dirty="0" smtClean="0"/>
              <a:t>Building a reserve base.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Quota</a:t>
            </a:r>
          </a:p>
          <a:p>
            <a:pPr>
              <a:buNone/>
            </a:pPr>
            <a:r>
              <a:rPr lang="en-US" dirty="0" smtClean="0"/>
              <a:t>Every member has a quota in the IMF. Quota  was originally fixed on the basis of –</a:t>
            </a:r>
          </a:p>
          <a:p>
            <a:pPr>
              <a:buNone/>
            </a:pPr>
            <a:r>
              <a:rPr lang="en-US" dirty="0" smtClean="0"/>
              <a:t>2 % of national income</a:t>
            </a:r>
          </a:p>
          <a:p>
            <a:pPr>
              <a:buNone/>
            </a:pPr>
            <a:r>
              <a:rPr lang="en-US" dirty="0" smtClean="0"/>
              <a:t>5% of gold and $ balances</a:t>
            </a:r>
          </a:p>
          <a:p>
            <a:pPr>
              <a:buNone/>
            </a:pPr>
            <a:r>
              <a:rPr lang="en-US" dirty="0" smtClean="0"/>
              <a:t>10% average annual imports</a:t>
            </a:r>
          </a:p>
          <a:p>
            <a:pPr>
              <a:buNone/>
            </a:pPr>
            <a:r>
              <a:rPr lang="en-US" dirty="0" smtClean="0"/>
              <a:t>10% maximum variation in annual exports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Special Drawing Rights</a:t>
            </a:r>
          </a:p>
          <a:p>
            <a:pPr>
              <a:buNone/>
            </a:pPr>
            <a:r>
              <a:rPr lang="en-US" dirty="0" smtClean="0"/>
              <a:t>Quota is denominated in SDR (paper gold)</a:t>
            </a:r>
          </a:p>
          <a:p>
            <a:pPr>
              <a:buNone/>
            </a:pPr>
            <a:r>
              <a:rPr lang="en-US" dirty="0" smtClean="0"/>
              <a:t>It comprised of 4 currencies having the following weights in the basket.</a:t>
            </a:r>
          </a:p>
          <a:p>
            <a:pPr>
              <a:buNone/>
            </a:pPr>
            <a:r>
              <a:rPr lang="en-US" dirty="0" smtClean="0"/>
              <a:t>USD -44%, EUR -33%, JPY – 11% and GBP 11%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IMF facilities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Stand by arrangements(SBA) – to address short term bop problems. (length 12 to 24 months)</a:t>
            </a:r>
          </a:p>
          <a:p>
            <a:r>
              <a:rPr lang="en-US" dirty="0" smtClean="0"/>
              <a:t>Extended Fund Facility</a:t>
            </a:r>
          </a:p>
          <a:p>
            <a:pPr>
              <a:buNone/>
            </a:pPr>
            <a:r>
              <a:rPr lang="en-US" dirty="0" smtClean="0"/>
              <a:t>Longer term BOP problems requiring fundamental economic reforms. (usually for 3 years and repayment is normally expected with in 41/2 – 7 years)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Supplementary </a:t>
            </a:r>
            <a:r>
              <a:rPr lang="en-US" dirty="0" smtClean="0"/>
              <a:t>Reserve facility (sudden loss of market confidence experienced by emerging market economies)</a:t>
            </a:r>
          </a:p>
          <a:p>
            <a:r>
              <a:rPr lang="en-US" dirty="0" smtClean="0"/>
              <a:t>Compensatory Financing Facility- to countries experiencing sudden short fall in export earnings or increased cost of imports</a:t>
            </a:r>
          </a:p>
          <a:p>
            <a:r>
              <a:rPr lang="en-US" dirty="0" smtClean="0"/>
              <a:t>Emergency assistance – Natural disaster or war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World bank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Formed in 1945 for using the resources of the rich countries for the growth of the poor countries.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World bank group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IBRD- to provide loans to </a:t>
            </a:r>
            <a:r>
              <a:rPr lang="en-US" dirty="0" err="1" smtClean="0"/>
              <a:t>Govt</a:t>
            </a:r>
            <a:r>
              <a:rPr lang="en-US" dirty="0" smtClean="0"/>
              <a:t> or public enterprises (under guarantee of </a:t>
            </a:r>
            <a:r>
              <a:rPr lang="en-US" dirty="0" err="1" smtClean="0"/>
              <a:t>govt</a:t>
            </a:r>
            <a:r>
              <a:rPr lang="en-US" dirty="0" smtClean="0"/>
              <a:t>). Funds raised from the issue of world bank bonds on the global capital market.</a:t>
            </a:r>
          </a:p>
          <a:p>
            <a:r>
              <a:rPr lang="en-US" dirty="0" smtClean="0"/>
              <a:t>IFC- Promotes sustainable private sector investment in developing countries as a way to reduce poverty and improve peoples lives.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IDA – to provide long term interest free loans to the poorest of developing countries (per capita below $ 500/year)</a:t>
            </a:r>
          </a:p>
          <a:p>
            <a:r>
              <a:rPr lang="en-US" dirty="0" smtClean="0"/>
              <a:t>MIGA – to promote FDI in to the developing world by insuring against political risks, advising govt. on attracting investments, online information services.</a:t>
            </a:r>
          </a:p>
          <a:p>
            <a:r>
              <a:rPr lang="en-US" dirty="0" smtClean="0"/>
              <a:t>ICSID- Conciliation and arbitration of investment disputes between member countries and individual investors.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44</TotalTime>
  <Words>391</Words>
  <Application>Microsoft Office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Flow</vt:lpstr>
      <vt:lpstr>IMF - Started in 1945 and head quartered in Washington D.C. Now it has about 185 members.</vt:lpstr>
      <vt:lpstr>Objectives of IMF</vt:lpstr>
      <vt:lpstr>Slide 3</vt:lpstr>
      <vt:lpstr>IMF facilities</vt:lpstr>
      <vt:lpstr>World bank</vt:lpstr>
      <vt:lpstr>World bank group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IMF - Started in 1945 and head quartered in Washington D.C. Now it has about 185 members.</dc:title>
  <dc:creator/>
  <cp:lastModifiedBy>user</cp:lastModifiedBy>
  <cp:revision>9</cp:revision>
  <dcterms:created xsi:type="dcterms:W3CDTF">2006-08-16T00:00:00Z</dcterms:created>
  <dcterms:modified xsi:type="dcterms:W3CDTF">2013-05-15T02:09:00Z</dcterms:modified>
</cp:coreProperties>
</file>