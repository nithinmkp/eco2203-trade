
<file path=[Content_Types].xml><?xml version="1.0" encoding="utf-8"?>
<Types xmlns="http://schemas.openxmlformats.org/package/2006/content-types">
  <Override PartName="/ppt/slides/slide6.xml" ContentType="application/vnd.openxmlformats-officedocument.presentationml.slide+xml"/>
  <Override PartName="/ppt/slideLayouts/slideLayout8.xml" ContentType="application/vnd.openxmlformats-officedocument.presentationml.slideLayout+xml"/>
  <Override PartName="/ppt/notesSlides/notesSlide2.xml" ContentType="application/vnd.openxmlformats-officedocument.presentationml.notesSlide+xml"/>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Layouts/slideLayout7.xml" ContentType="application/vnd.openxmlformats-officedocument.presentationml.slideLayout+xml"/>
  <Default Extension="png" ContentType="image/png"/>
  <Override PartName="/ppt/notesSlides/notesSlide1.xml" ContentType="application/vnd.openxmlformats-officedocument.presentationml.notesSlid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9" r:id="rId1"/>
  </p:sldMasterIdLst>
  <p:notesMasterIdLst>
    <p:notesMasterId r:id="rId27"/>
  </p:notesMasterIdLst>
  <p:sldIdLst>
    <p:sldId id="256" r:id="rId2"/>
    <p:sldId id="257" r:id="rId3"/>
    <p:sldId id="277" r:id="rId4"/>
    <p:sldId id="258" r:id="rId5"/>
    <p:sldId id="261" r:id="rId6"/>
    <p:sldId id="259" r:id="rId7"/>
    <p:sldId id="260" r:id="rId8"/>
    <p:sldId id="262" r:id="rId9"/>
    <p:sldId id="263" r:id="rId10"/>
    <p:sldId id="264" r:id="rId11"/>
    <p:sldId id="275" r:id="rId12"/>
    <p:sldId id="266" r:id="rId13"/>
    <p:sldId id="265" r:id="rId14"/>
    <p:sldId id="267" r:id="rId15"/>
    <p:sldId id="268" r:id="rId16"/>
    <p:sldId id="269" r:id="rId17"/>
    <p:sldId id="270" r:id="rId18"/>
    <p:sldId id="276" r:id="rId19"/>
    <p:sldId id="271" r:id="rId20"/>
    <p:sldId id="272" r:id="rId21"/>
    <p:sldId id="273" r:id="rId22"/>
    <p:sldId id="278" r:id="rId23"/>
    <p:sldId id="279" r:id="rId24"/>
    <p:sldId id="280" r:id="rId25"/>
    <p:sldId id="281" r:id="rId26"/>
  </p:sldIdLst>
  <p:sldSz cx="9144000" cy="6858000" type="screen4x3"/>
  <p:notesSz cx="6858000" cy="9144000"/>
  <p:defaultTextStyle>
    <a:defPPr>
      <a:defRPr lang="en-US"/>
    </a:defPPr>
    <a:lvl1pPr algn="l" rtl="0" fontAlgn="base">
      <a:spcBef>
        <a:spcPct val="0"/>
      </a:spcBef>
      <a:spcAft>
        <a:spcPct val="0"/>
      </a:spcAft>
      <a:defRPr sz="2400" kern="1200">
        <a:solidFill>
          <a:schemeClr val="tx1"/>
        </a:solidFill>
        <a:latin typeface="Times New Roman" pitchFamily="18" charset="0"/>
        <a:ea typeface="+mn-ea"/>
        <a:cs typeface="+mn-cs"/>
      </a:defRPr>
    </a:lvl1pPr>
    <a:lvl2pPr marL="457200" algn="l" rtl="0" fontAlgn="base">
      <a:spcBef>
        <a:spcPct val="0"/>
      </a:spcBef>
      <a:spcAft>
        <a:spcPct val="0"/>
      </a:spcAft>
      <a:defRPr sz="2400" kern="1200">
        <a:solidFill>
          <a:schemeClr val="tx1"/>
        </a:solidFill>
        <a:latin typeface="Times New Roman" pitchFamily="18" charset="0"/>
        <a:ea typeface="+mn-ea"/>
        <a:cs typeface="+mn-cs"/>
      </a:defRPr>
    </a:lvl2pPr>
    <a:lvl3pPr marL="914400" algn="l" rtl="0" fontAlgn="base">
      <a:spcBef>
        <a:spcPct val="0"/>
      </a:spcBef>
      <a:spcAft>
        <a:spcPct val="0"/>
      </a:spcAft>
      <a:defRPr sz="2400" kern="1200">
        <a:solidFill>
          <a:schemeClr val="tx1"/>
        </a:solidFill>
        <a:latin typeface="Times New Roman" pitchFamily="18" charset="0"/>
        <a:ea typeface="+mn-ea"/>
        <a:cs typeface="+mn-cs"/>
      </a:defRPr>
    </a:lvl3pPr>
    <a:lvl4pPr marL="1371600" algn="l" rtl="0" fontAlgn="base">
      <a:spcBef>
        <a:spcPct val="0"/>
      </a:spcBef>
      <a:spcAft>
        <a:spcPct val="0"/>
      </a:spcAft>
      <a:defRPr sz="2400" kern="1200">
        <a:solidFill>
          <a:schemeClr val="tx1"/>
        </a:solidFill>
        <a:latin typeface="Times New Roman" pitchFamily="18" charset="0"/>
        <a:ea typeface="+mn-ea"/>
        <a:cs typeface="+mn-cs"/>
      </a:defRPr>
    </a:lvl4pPr>
    <a:lvl5pPr marL="1828800" algn="l" rtl="0" fontAlgn="base">
      <a:spcBef>
        <a:spcPct val="0"/>
      </a:spcBef>
      <a:spcAft>
        <a:spcPct val="0"/>
      </a:spcAft>
      <a:defRPr sz="2400" kern="1200">
        <a:solidFill>
          <a:schemeClr val="tx1"/>
        </a:solidFill>
        <a:latin typeface="Times New Roman" pitchFamily="18" charset="0"/>
        <a:ea typeface="+mn-ea"/>
        <a:cs typeface="+mn-cs"/>
      </a:defRPr>
    </a:lvl5pPr>
    <a:lvl6pPr marL="2286000" algn="l" defTabSz="914400" rtl="0" eaLnBrk="1" latinLnBrk="0" hangingPunct="1">
      <a:defRPr sz="2400" kern="1200">
        <a:solidFill>
          <a:schemeClr val="tx1"/>
        </a:solidFill>
        <a:latin typeface="Times New Roman" pitchFamily="18" charset="0"/>
        <a:ea typeface="+mn-ea"/>
        <a:cs typeface="+mn-cs"/>
      </a:defRPr>
    </a:lvl6pPr>
    <a:lvl7pPr marL="2743200" algn="l" defTabSz="914400" rtl="0" eaLnBrk="1" latinLnBrk="0" hangingPunct="1">
      <a:defRPr sz="2400" kern="1200">
        <a:solidFill>
          <a:schemeClr val="tx1"/>
        </a:solidFill>
        <a:latin typeface="Times New Roman" pitchFamily="18" charset="0"/>
        <a:ea typeface="+mn-ea"/>
        <a:cs typeface="+mn-cs"/>
      </a:defRPr>
    </a:lvl7pPr>
    <a:lvl8pPr marL="3200400" algn="l" defTabSz="914400" rtl="0" eaLnBrk="1" latinLnBrk="0" hangingPunct="1">
      <a:defRPr sz="2400" kern="1200">
        <a:solidFill>
          <a:schemeClr val="tx1"/>
        </a:solidFill>
        <a:latin typeface="Times New Roman" pitchFamily="18" charset="0"/>
        <a:ea typeface="+mn-ea"/>
        <a:cs typeface="+mn-cs"/>
      </a:defRPr>
    </a:lvl8pPr>
    <a:lvl9pPr marL="3657600" algn="l" defTabSz="914400" rtl="0" eaLnBrk="1" latinLnBrk="0" hangingPunct="1">
      <a:defRPr sz="2400" kern="1200">
        <a:solidFill>
          <a:schemeClr val="tx1"/>
        </a:solidFill>
        <a:latin typeface="Times New Roman" pitchFamily="18" charset="0"/>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32787"/>
    <p:restoredTop sz="90929"/>
  </p:normalViewPr>
  <p:slideViewPr>
    <p:cSldViewPr>
      <p:cViewPr varScale="1">
        <p:scale>
          <a:sx n="67" d="100"/>
          <a:sy n="67" d="100"/>
        </p:scale>
        <p:origin x="-900" y="-108"/>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282"/>
    </p:cViewPr>
  </p:sorter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73EB633F-C2FB-414E-A912-5AA9396B11C3}" type="datetimeFigureOut">
              <a:rPr lang="en-US" smtClean="0"/>
              <a:t>5/18/2013</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AA117FED-7F5E-45B8-968F-309F735E2C48}" type="slidenum">
              <a:rPr lang="en-US" smtClean="0"/>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Slide Image Placeholder 1"/>
          <p:cNvSpPr>
            <a:spLocks noGrp="1" noRot="1" noChangeAspect="1" noTextEdit="1"/>
          </p:cNvSpPr>
          <p:nvPr>
            <p:ph type="sldImg"/>
          </p:nvPr>
        </p:nvSpPr>
        <p:spPr bwMode="auto">
          <a:noFill/>
          <a:ln>
            <a:solidFill>
              <a:srgbClr val="000000"/>
            </a:solidFill>
            <a:miter lim="800000"/>
            <a:headEnd/>
            <a:tailEnd/>
          </a:ln>
        </p:spPr>
      </p:sp>
      <p:sp>
        <p:nvSpPr>
          <p:cNvPr id="31747"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en-IN" smtClean="0"/>
          </a:p>
        </p:txBody>
      </p:sp>
      <p:sp>
        <p:nvSpPr>
          <p:cNvPr id="31748" name="Slide Number Placeholder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fld id="{294B0681-F246-4C19-A1AC-25BD08597C05}" type="slidenum">
              <a:rPr lang="en-IN" smtClean="0"/>
              <a:pPr/>
              <a:t>11</a:t>
            </a:fld>
            <a:endParaRPr lang="en-IN" smtClean="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Slide Image Placeholder 1"/>
          <p:cNvSpPr>
            <a:spLocks noGrp="1" noRot="1" noChangeAspect="1" noTextEdit="1"/>
          </p:cNvSpPr>
          <p:nvPr>
            <p:ph type="sldImg"/>
          </p:nvPr>
        </p:nvSpPr>
        <p:spPr bwMode="auto">
          <a:noFill/>
          <a:ln>
            <a:solidFill>
              <a:srgbClr val="000000"/>
            </a:solidFill>
            <a:miter lim="800000"/>
            <a:headEnd/>
            <a:tailEnd/>
          </a:ln>
        </p:spPr>
      </p:sp>
      <p:sp>
        <p:nvSpPr>
          <p:cNvPr id="33795"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en-IN" smtClean="0"/>
          </a:p>
        </p:txBody>
      </p:sp>
      <p:sp>
        <p:nvSpPr>
          <p:cNvPr id="33796" name="Slide Number Placeholder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fld id="{A8E2A217-5AC7-42DB-8B2D-4D69A48884C5}" type="slidenum">
              <a:rPr lang="en-IN" smtClean="0"/>
              <a:pPr/>
              <a:t>18</a:t>
            </a:fld>
            <a:endParaRPr lang="en-IN" smtClean="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2530" name="Rectangle 2" descr="Large confetti"/>
          <p:cNvSpPr>
            <a:spLocks noChangeArrowheads="1"/>
          </p:cNvSpPr>
          <p:nvPr/>
        </p:nvSpPr>
        <p:spPr bwMode="ltGray">
          <a:xfrm>
            <a:off x="484188" y="1549400"/>
            <a:ext cx="8158162" cy="1689100"/>
          </a:xfrm>
          <a:prstGeom prst="rect">
            <a:avLst/>
          </a:prstGeom>
          <a:pattFill prst="lgConfetti">
            <a:fgClr>
              <a:schemeClr val="accent2">
                <a:alpha val="50000"/>
              </a:schemeClr>
            </a:fgClr>
            <a:bgClr>
              <a:schemeClr val="folHlink"/>
            </a:bgClr>
          </a:pattFill>
          <a:ln w="9525">
            <a:noFill/>
            <a:miter lim="800000"/>
            <a:headEnd/>
            <a:tailEnd/>
          </a:ln>
          <a:effectLst/>
        </p:spPr>
        <p:txBody>
          <a:bodyPr wrap="none" anchor="ctr"/>
          <a:lstStyle/>
          <a:p>
            <a:pPr algn="ctr"/>
            <a:endParaRPr kumimoji="1" lang="en-US"/>
          </a:p>
        </p:txBody>
      </p:sp>
      <p:sp>
        <p:nvSpPr>
          <p:cNvPr id="22531" name="AutoShape 3"/>
          <p:cNvSpPr>
            <a:spLocks noChangeArrowheads="1"/>
          </p:cNvSpPr>
          <p:nvPr/>
        </p:nvSpPr>
        <p:spPr bwMode="ltGray">
          <a:xfrm>
            <a:off x="228600" y="3206750"/>
            <a:ext cx="8686800" cy="77788"/>
          </a:xfrm>
          <a:prstGeom prst="roundRect">
            <a:avLst>
              <a:gd name="adj" fmla="val 50000"/>
            </a:avLst>
          </a:prstGeom>
          <a:solidFill>
            <a:schemeClr val="bg2"/>
          </a:solidFill>
          <a:ln w="9525">
            <a:noFill/>
            <a:round/>
            <a:headEnd/>
            <a:tailEnd/>
          </a:ln>
          <a:effectLst/>
        </p:spPr>
        <p:txBody>
          <a:bodyPr wrap="none" anchor="ctr"/>
          <a:lstStyle/>
          <a:p>
            <a:pPr algn="ctr"/>
            <a:endParaRPr kumimoji="1" lang="en-US"/>
          </a:p>
        </p:txBody>
      </p:sp>
      <p:sp>
        <p:nvSpPr>
          <p:cNvPr id="22532" name="AutoShape 4"/>
          <p:cNvSpPr>
            <a:spLocks noChangeArrowheads="1"/>
          </p:cNvSpPr>
          <p:nvPr/>
        </p:nvSpPr>
        <p:spPr bwMode="ltGray">
          <a:xfrm>
            <a:off x="228600" y="1482725"/>
            <a:ext cx="8686800" cy="77788"/>
          </a:xfrm>
          <a:prstGeom prst="roundRect">
            <a:avLst>
              <a:gd name="adj" fmla="val 50000"/>
            </a:avLst>
          </a:prstGeom>
          <a:solidFill>
            <a:schemeClr val="bg2"/>
          </a:solidFill>
          <a:ln w="9525">
            <a:noFill/>
            <a:round/>
            <a:headEnd/>
            <a:tailEnd/>
          </a:ln>
          <a:effectLst/>
        </p:spPr>
        <p:txBody>
          <a:bodyPr wrap="none" anchor="ctr"/>
          <a:lstStyle/>
          <a:p>
            <a:pPr algn="ctr"/>
            <a:endParaRPr kumimoji="1" lang="en-US"/>
          </a:p>
        </p:txBody>
      </p:sp>
      <p:sp>
        <p:nvSpPr>
          <p:cNvPr id="22533" name="AutoShape 5"/>
          <p:cNvSpPr>
            <a:spLocks noChangeArrowheads="1"/>
          </p:cNvSpPr>
          <p:nvPr/>
        </p:nvSpPr>
        <p:spPr bwMode="ltGray">
          <a:xfrm>
            <a:off x="8623300" y="1246188"/>
            <a:ext cx="77788" cy="2235200"/>
          </a:xfrm>
          <a:prstGeom prst="roundRect">
            <a:avLst>
              <a:gd name="adj" fmla="val 50000"/>
            </a:avLst>
          </a:prstGeom>
          <a:solidFill>
            <a:schemeClr val="bg2"/>
          </a:solidFill>
          <a:ln w="9525">
            <a:noFill/>
            <a:round/>
            <a:headEnd/>
            <a:tailEnd/>
          </a:ln>
          <a:effectLst/>
        </p:spPr>
        <p:txBody>
          <a:bodyPr wrap="none" anchor="ctr"/>
          <a:lstStyle/>
          <a:p>
            <a:pPr algn="ctr"/>
            <a:endParaRPr kumimoji="1" lang="en-US"/>
          </a:p>
        </p:txBody>
      </p:sp>
      <p:sp>
        <p:nvSpPr>
          <p:cNvPr id="22534" name="AutoShape 6"/>
          <p:cNvSpPr>
            <a:spLocks noChangeArrowheads="1"/>
          </p:cNvSpPr>
          <p:nvPr/>
        </p:nvSpPr>
        <p:spPr bwMode="ltGray">
          <a:xfrm>
            <a:off x="434975" y="1252538"/>
            <a:ext cx="77788" cy="2235200"/>
          </a:xfrm>
          <a:prstGeom prst="roundRect">
            <a:avLst>
              <a:gd name="adj" fmla="val 50000"/>
            </a:avLst>
          </a:prstGeom>
          <a:solidFill>
            <a:schemeClr val="bg2"/>
          </a:solidFill>
          <a:ln w="9525">
            <a:noFill/>
            <a:round/>
            <a:headEnd/>
            <a:tailEnd/>
          </a:ln>
          <a:effectLst/>
        </p:spPr>
        <p:txBody>
          <a:bodyPr wrap="none" anchor="ctr"/>
          <a:lstStyle/>
          <a:p>
            <a:pPr algn="ctr"/>
            <a:endParaRPr kumimoji="1" lang="en-US"/>
          </a:p>
        </p:txBody>
      </p:sp>
      <p:sp>
        <p:nvSpPr>
          <p:cNvPr id="22535" name="AutoShape 7"/>
          <p:cNvSpPr>
            <a:spLocks noChangeArrowheads="1"/>
          </p:cNvSpPr>
          <p:nvPr/>
        </p:nvSpPr>
        <p:spPr bwMode="ltGray">
          <a:xfrm>
            <a:off x="2830513" y="5783263"/>
            <a:ext cx="3481387" cy="77787"/>
          </a:xfrm>
          <a:prstGeom prst="roundRect">
            <a:avLst>
              <a:gd name="adj" fmla="val 50000"/>
            </a:avLst>
          </a:prstGeom>
          <a:solidFill>
            <a:schemeClr val="bg2"/>
          </a:solidFill>
          <a:ln w="9525">
            <a:noFill/>
            <a:round/>
            <a:headEnd/>
            <a:tailEnd/>
          </a:ln>
          <a:effectLst/>
        </p:spPr>
        <p:txBody>
          <a:bodyPr wrap="none" anchor="ctr"/>
          <a:lstStyle/>
          <a:p>
            <a:pPr algn="ctr"/>
            <a:endParaRPr kumimoji="1" lang="en-US"/>
          </a:p>
        </p:txBody>
      </p:sp>
      <p:sp>
        <p:nvSpPr>
          <p:cNvPr id="22536" name="Rectangle 8" descr="Large confetti"/>
          <p:cNvSpPr>
            <a:spLocks noChangeArrowheads="1"/>
          </p:cNvSpPr>
          <p:nvPr/>
        </p:nvSpPr>
        <p:spPr bwMode="ltGray">
          <a:xfrm>
            <a:off x="4095750" y="5734050"/>
            <a:ext cx="949325" cy="176213"/>
          </a:xfrm>
          <a:prstGeom prst="rect">
            <a:avLst/>
          </a:prstGeom>
          <a:pattFill prst="lgConfetti">
            <a:fgClr>
              <a:schemeClr val="accent2"/>
            </a:fgClr>
            <a:bgClr>
              <a:schemeClr val="folHlink"/>
            </a:bgClr>
          </a:pattFill>
          <a:ln w="9525">
            <a:noFill/>
            <a:miter lim="800000"/>
            <a:headEnd/>
            <a:tailEnd/>
          </a:ln>
          <a:effectLst/>
        </p:spPr>
        <p:txBody>
          <a:bodyPr wrap="none" anchor="ctr"/>
          <a:lstStyle/>
          <a:p>
            <a:pPr algn="ctr"/>
            <a:endParaRPr kumimoji="1" lang="en-US"/>
          </a:p>
        </p:txBody>
      </p:sp>
      <p:sp>
        <p:nvSpPr>
          <p:cNvPr id="22537" name="Rectangle 9" descr="Large confetti"/>
          <p:cNvSpPr>
            <a:spLocks noGrp="1" noChangeArrowheads="1"/>
          </p:cNvSpPr>
          <p:nvPr>
            <p:ph type="ctrTitle"/>
          </p:nvPr>
        </p:nvSpPr>
        <p:spPr>
          <a:xfrm>
            <a:off x="685800" y="1752600"/>
            <a:ext cx="7772400" cy="1143000"/>
          </a:xfrm>
          <a:pattFill prst="lgConfetti">
            <a:fgClr>
              <a:schemeClr val="accent2"/>
            </a:fgClr>
            <a:bgClr>
              <a:schemeClr val="folHlink"/>
            </a:bgClr>
          </a:pattFill>
        </p:spPr>
        <p:txBody>
          <a:bodyPr anchor="ctr"/>
          <a:lstStyle>
            <a:lvl1pPr algn="ctr">
              <a:defRPr>
                <a:solidFill>
                  <a:schemeClr val="bg1"/>
                </a:solidFill>
              </a:defRPr>
            </a:lvl1pPr>
          </a:lstStyle>
          <a:p>
            <a:r>
              <a:rPr lang="en-US"/>
              <a:t>Click to edit Master title style</a:t>
            </a:r>
          </a:p>
        </p:txBody>
      </p:sp>
      <p:sp>
        <p:nvSpPr>
          <p:cNvPr id="22538" name="Rectangle 10"/>
          <p:cNvSpPr>
            <a:spLocks noGrp="1" noChangeArrowheads="1"/>
          </p:cNvSpPr>
          <p:nvPr>
            <p:ph type="subTitle" idx="1"/>
          </p:nvPr>
        </p:nvSpPr>
        <p:spPr>
          <a:xfrm>
            <a:off x="1371600" y="3746500"/>
            <a:ext cx="6400800" cy="1752600"/>
          </a:xfrm>
        </p:spPr>
        <p:txBody>
          <a:bodyPr/>
          <a:lstStyle>
            <a:lvl1pPr marL="0" indent="0" algn="ctr">
              <a:buFontTx/>
              <a:buNone/>
              <a:defRPr/>
            </a:lvl1pPr>
          </a:lstStyle>
          <a:p>
            <a:r>
              <a:rPr lang="en-US"/>
              <a:t>Click to edit Master subtitle style</a:t>
            </a:r>
          </a:p>
        </p:txBody>
      </p:sp>
      <p:sp>
        <p:nvSpPr>
          <p:cNvPr id="22539" name="Rectangle 11"/>
          <p:cNvSpPr>
            <a:spLocks noGrp="1" noChangeArrowheads="1"/>
          </p:cNvSpPr>
          <p:nvPr>
            <p:ph type="dt" sz="half" idx="2"/>
          </p:nvPr>
        </p:nvSpPr>
        <p:spPr/>
        <p:txBody>
          <a:bodyPr/>
          <a:lstStyle>
            <a:lvl1pPr>
              <a:defRPr/>
            </a:lvl1pPr>
          </a:lstStyle>
          <a:p>
            <a:endParaRPr lang="en-US"/>
          </a:p>
        </p:txBody>
      </p:sp>
      <p:sp>
        <p:nvSpPr>
          <p:cNvPr id="22540" name="Rectangle 12"/>
          <p:cNvSpPr>
            <a:spLocks noGrp="1" noChangeArrowheads="1"/>
          </p:cNvSpPr>
          <p:nvPr>
            <p:ph type="ftr" sz="quarter" idx="3"/>
          </p:nvPr>
        </p:nvSpPr>
        <p:spPr/>
        <p:txBody>
          <a:bodyPr/>
          <a:lstStyle>
            <a:lvl1pPr>
              <a:defRPr/>
            </a:lvl1pPr>
          </a:lstStyle>
          <a:p>
            <a:endParaRPr lang="en-US"/>
          </a:p>
        </p:txBody>
      </p:sp>
      <p:sp>
        <p:nvSpPr>
          <p:cNvPr id="22541" name="Rectangle 13"/>
          <p:cNvSpPr>
            <a:spLocks noGrp="1" noChangeArrowheads="1"/>
          </p:cNvSpPr>
          <p:nvPr>
            <p:ph type="sldNum" sz="quarter" idx="4"/>
          </p:nvPr>
        </p:nvSpPr>
        <p:spPr>
          <a:xfrm>
            <a:off x="6553200" y="6248400"/>
            <a:ext cx="1905000" cy="457200"/>
          </a:xfrm>
          <a:noFill/>
        </p:spPr>
        <p:txBody>
          <a:bodyPr anchor="b" anchorCtr="0"/>
          <a:lstStyle>
            <a:lvl1pPr>
              <a:defRPr>
                <a:solidFill>
                  <a:schemeClr val="tx1"/>
                </a:solidFill>
              </a:defRPr>
            </a:lvl1pPr>
          </a:lstStyle>
          <a:p>
            <a:fld id="{59272975-3B68-4B3D-8BA1-C1A152A60A58}" type="slidenum">
              <a:rPr lang="en-US"/>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endParaRPr lang="en-US"/>
          </a:p>
        </p:txBody>
      </p:sp>
      <p:sp>
        <p:nvSpPr>
          <p:cNvPr id="5" name="Footer Placeholder 4"/>
          <p:cNvSpPr>
            <a:spLocks noGrp="1"/>
          </p:cNvSpPr>
          <p:nvPr>
            <p:ph type="ftr" sz="quarter" idx="11"/>
          </p:nvPr>
        </p:nvSpPr>
        <p:spPr/>
        <p:txBody>
          <a:bodyPr/>
          <a:lstStyle>
            <a:lvl1pPr>
              <a:defRPr/>
            </a:lvl1pPr>
          </a:lstStyle>
          <a:p>
            <a:endParaRPr lang="en-US"/>
          </a:p>
        </p:txBody>
      </p:sp>
      <p:sp>
        <p:nvSpPr>
          <p:cNvPr id="6" name="Slide Number Placeholder 5"/>
          <p:cNvSpPr>
            <a:spLocks noGrp="1"/>
          </p:cNvSpPr>
          <p:nvPr>
            <p:ph type="sldNum" sz="quarter" idx="12"/>
          </p:nvPr>
        </p:nvSpPr>
        <p:spPr/>
        <p:txBody>
          <a:bodyPr/>
          <a:lstStyle>
            <a:lvl1pPr>
              <a:defRPr/>
            </a:lvl1pPr>
          </a:lstStyle>
          <a:p>
            <a:fld id="{DF52AFD1-93DD-47AF-A519-BED379B616F5}" type="slidenum">
              <a:rPr lang="en-US"/>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
        <p:nvSpPr>
          <p:cNvPr id="4" name="Date Placeholder 3"/>
          <p:cNvSpPr>
            <a:spLocks noGrp="1"/>
          </p:cNvSpPr>
          <p:nvPr>
            <p:ph type="dt" sz="half" idx="10"/>
          </p:nvPr>
        </p:nvSpPr>
        <p:spPr/>
        <p:txBody>
          <a:bodyPr/>
          <a:lstStyle>
            <a:lvl1pPr>
              <a:defRPr/>
            </a:lvl1pPr>
          </a:lstStyle>
          <a:p>
            <a:endParaRPr lang="en-US"/>
          </a:p>
        </p:txBody>
      </p:sp>
      <p:sp>
        <p:nvSpPr>
          <p:cNvPr id="5" name="Footer Placeholder 4"/>
          <p:cNvSpPr>
            <a:spLocks noGrp="1"/>
          </p:cNvSpPr>
          <p:nvPr>
            <p:ph type="ftr" sz="quarter" idx="11"/>
          </p:nvPr>
        </p:nvSpPr>
        <p:spPr/>
        <p:txBody>
          <a:bodyPr/>
          <a:lstStyle>
            <a:lvl1pPr>
              <a:defRPr/>
            </a:lvl1pPr>
          </a:lstStyle>
          <a:p>
            <a:endParaRPr lang="en-US"/>
          </a:p>
        </p:txBody>
      </p:sp>
      <p:sp>
        <p:nvSpPr>
          <p:cNvPr id="6" name="Slide Number Placeholder 5"/>
          <p:cNvSpPr>
            <a:spLocks noGrp="1"/>
          </p:cNvSpPr>
          <p:nvPr>
            <p:ph type="sldNum" sz="quarter" idx="12"/>
          </p:nvPr>
        </p:nvSpPr>
        <p:spPr/>
        <p:txBody>
          <a:bodyPr/>
          <a:lstStyle>
            <a:lvl1pPr>
              <a:defRPr/>
            </a:lvl1pPr>
          </a:lstStyle>
          <a:p>
            <a:fld id="{F61ED08F-3501-4400-8AF7-888FB73D7E31}" type="slidenum">
              <a:rPr lang="en-US"/>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685800" y="1905000"/>
            <a:ext cx="3810000" cy="41910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905000"/>
            <a:ext cx="3810000" cy="41910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lvl1pPr>
              <a:defRPr/>
            </a:lvl1pPr>
          </a:lstStyle>
          <a:p>
            <a:endParaRPr lang="en-US"/>
          </a:p>
        </p:txBody>
      </p:sp>
      <p:sp>
        <p:nvSpPr>
          <p:cNvPr id="6" name="Footer Placeholder 5"/>
          <p:cNvSpPr>
            <a:spLocks noGrp="1"/>
          </p:cNvSpPr>
          <p:nvPr>
            <p:ph type="ftr" sz="quarter" idx="11"/>
          </p:nvPr>
        </p:nvSpPr>
        <p:spPr/>
        <p:txBody>
          <a:bodyPr/>
          <a:lstStyle>
            <a:lvl1pPr>
              <a:defRPr/>
            </a:lvl1pPr>
          </a:lstStyle>
          <a:p>
            <a:endParaRPr lang="en-US"/>
          </a:p>
        </p:txBody>
      </p:sp>
      <p:sp>
        <p:nvSpPr>
          <p:cNvPr id="7" name="Slide Number Placeholder 6"/>
          <p:cNvSpPr>
            <a:spLocks noGrp="1"/>
          </p:cNvSpPr>
          <p:nvPr>
            <p:ph type="sldNum" sz="quarter" idx="12"/>
          </p:nvPr>
        </p:nvSpPr>
        <p:spPr/>
        <p:txBody>
          <a:bodyPr/>
          <a:lstStyle>
            <a:lvl1pPr>
              <a:defRPr/>
            </a:lvl1pPr>
          </a:lstStyle>
          <a:p>
            <a:fld id="{8B675342-1611-4FF0-8090-3ACB371050E9}" type="slidenum">
              <a:rPr lang="en-US"/>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lvl1pPr>
              <a:defRPr/>
            </a:lvl1pPr>
          </a:lstStyle>
          <a:p>
            <a:endParaRPr lang="en-US"/>
          </a:p>
        </p:txBody>
      </p:sp>
      <p:sp>
        <p:nvSpPr>
          <p:cNvPr id="8" name="Footer Placeholder 7"/>
          <p:cNvSpPr>
            <a:spLocks noGrp="1"/>
          </p:cNvSpPr>
          <p:nvPr>
            <p:ph type="ftr" sz="quarter" idx="11"/>
          </p:nvPr>
        </p:nvSpPr>
        <p:spPr/>
        <p:txBody>
          <a:bodyPr/>
          <a:lstStyle>
            <a:lvl1pPr>
              <a:defRPr/>
            </a:lvl1pPr>
          </a:lstStyle>
          <a:p>
            <a:endParaRPr lang="en-US"/>
          </a:p>
        </p:txBody>
      </p:sp>
      <p:sp>
        <p:nvSpPr>
          <p:cNvPr id="9" name="Slide Number Placeholder 8"/>
          <p:cNvSpPr>
            <a:spLocks noGrp="1"/>
          </p:cNvSpPr>
          <p:nvPr>
            <p:ph type="sldNum" sz="quarter" idx="12"/>
          </p:nvPr>
        </p:nvSpPr>
        <p:spPr/>
        <p:txBody>
          <a:bodyPr/>
          <a:lstStyle>
            <a:lvl1pPr>
              <a:defRPr/>
            </a:lvl1pPr>
          </a:lstStyle>
          <a:p>
            <a:fld id="{9D1468D6-CD83-44A6-A5D8-FF34914BF6C5}" type="slidenum">
              <a:rPr lang="en-US"/>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lvl1pPr>
              <a:defRPr/>
            </a:lvl1pPr>
          </a:lstStyle>
          <a:p>
            <a:endParaRPr lang="en-US"/>
          </a:p>
        </p:txBody>
      </p:sp>
      <p:sp>
        <p:nvSpPr>
          <p:cNvPr id="4" name="Footer Placeholder 3"/>
          <p:cNvSpPr>
            <a:spLocks noGrp="1"/>
          </p:cNvSpPr>
          <p:nvPr>
            <p:ph type="ftr" sz="quarter" idx="11"/>
          </p:nvPr>
        </p:nvSpPr>
        <p:spPr/>
        <p:txBody>
          <a:bodyPr/>
          <a:lstStyle>
            <a:lvl1pPr>
              <a:defRPr/>
            </a:lvl1pPr>
          </a:lstStyle>
          <a:p>
            <a:endParaRPr lang="en-US"/>
          </a:p>
        </p:txBody>
      </p:sp>
      <p:sp>
        <p:nvSpPr>
          <p:cNvPr id="5" name="Slide Number Placeholder 4"/>
          <p:cNvSpPr>
            <a:spLocks noGrp="1"/>
          </p:cNvSpPr>
          <p:nvPr>
            <p:ph type="sldNum" sz="quarter" idx="12"/>
          </p:nvPr>
        </p:nvSpPr>
        <p:spPr/>
        <p:txBody>
          <a:bodyPr/>
          <a:lstStyle>
            <a:lvl1pPr>
              <a:defRPr/>
            </a:lvl1pPr>
          </a:lstStyle>
          <a:p>
            <a:fld id="{2901C6F4-4539-4CA5-95A6-3BCC225F8AF2}" type="slidenum">
              <a:rPr lang="en-US"/>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a:defRPr/>
            </a:lvl1pPr>
          </a:lstStyle>
          <a:p>
            <a:endParaRPr lang="en-US"/>
          </a:p>
        </p:txBody>
      </p:sp>
      <p:sp>
        <p:nvSpPr>
          <p:cNvPr id="3" name="Footer Placeholder 2"/>
          <p:cNvSpPr>
            <a:spLocks noGrp="1"/>
          </p:cNvSpPr>
          <p:nvPr>
            <p:ph type="ftr" sz="quarter" idx="11"/>
          </p:nvPr>
        </p:nvSpPr>
        <p:spPr/>
        <p:txBody>
          <a:bodyPr/>
          <a:lstStyle>
            <a:lvl1pPr>
              <a:defRPr/>
            </a:lvl1pPr>
          </a:lstStyle>
          <a:p>
            <a:endParaRPr lang="en-US"/>
          </a:p>
        </p:txBody>
      </p:sp>
      <p:sp>
        <p:nvSpPr>
          <p:cNvPr id="4" name="Slide Number Placeholder 3"/>
          <p:cNvSpPr>
            <a:spLocks noGrp="1"/>
          </p:cNvSpPr>
          <p:nvPr>
            <p:ph type="sldNum" sz="quarter" idx="12"/>
          </p:nvPr>
        </p:nvSpPr>
        <p:spPr/>
        <p:txBody>
          <a:bodyPr/>
          <a:lstStyle>
            <a:lvl1pPr>
              <a:defRPr/>
            </a:lvl1pPr>
          </a:lstStyle>
          <a:p>
            <a:fld id="{ABBC84FE-094F-47CE-BE03-D29445FC1332}" type="slidenum">
              <a:rPr lang="en-US"/>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lvl1pPr>
              <a:defRPr/>
            </a:lvl1pPr>
          </a:lstStyle>
          <a:p>
            <a:endParaRPr lang="en-US"/>
          </a:p>
        </p:txBody>
      </p:sp>
      <p:sp>
        <p:nvSpPr>
          <p:cNvPr id="6" name="Footer Placeholder 5"/>
          <p:cNvSpPr>
            <a:spLocks noGrp="1"/>
          </p:cNvSpPr>
          <p:nvPr>
            <p:ph type="ftr" sz="quarter" idx="11"/>
          </p:nvPr>
        </p:nvSpPr>
        <p:spPr/>
        <p:txBody>
          <a:bodyPr/>
          <a:lstStyle>
            <a:lvl1pPr>
              <a:defRPr/>
            </a:lvl1pPr>
          </a:lstStyle>
          <a:p>
            <a:endParaRPr lang="en-US"/>
          </a:p>
        </p:txBody>
      </p:sp>
      <p:sp>
        <p:nvSpPr>
          <p:cNvPr id="7" name="Slide Number Placeholder 6"/>
          <p:cNvSpPr>
            <a:spLocks noGrp="1"/>
          </p:cNvSpPr>
          <p:nvPr>
            <p:ph type="sldNum" sz="quarter" idx="12"/>
          </p:nvPr>
        </p:nvSpPr>
        <p:spPr/>
        <p:txBody>
          <a:bodyPr/>
          <a:lstStyle>
            <a:lvl1pPr>
              <a:defRPr/>
            </a:lvl1pPr>
          </a:lstStyle>
          <a:p>
            <a:fld id="{13965A59-9A38-4582-9EEC-A5B88038A3D5}" type="slidenum">
              <a:rPr lang="en-US"/>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lvl1pPr>
              <a:defRPr/>
            </a:lvl1pPr>
          </a:lstStyle>
          <a:p>
            <a:endParaRPr lang="en-US"/>
          </a:p>
        </p:txBody>
      </p:sp>
      <p:sp>
        <p:nvSpPr>
          <p:cNvPr id="6" name="Footer Placeholder 5"/>
          <p:cNvSpPr>
            <a:spLocks noGrp="1"/>
          </p:cNvSpPr>
          <p:nvPr>
            <p:ph type="ftr" sz="quarter" idx="11"/>
          </p:nvPr>
        </p:nvSpPr>
        <p:spPr/>
        <p:txBody>
          <a:bodyPr/>
          <a:lstStyle>
            <a:lvl1pPr>
              <a:defRPr/>
            </a:lvl1pPr>
          </a:lstStyle>
          <a:p>
            <a:endParaRPr lang="en-US"/>
          </a:p>
        </p:txBody>
      </p:sp>
      <p:sp>
        <p:nvSpPr>
          <p:cNvPr id="7" name="Slide Number Placeholder 6"/>
          <p:cNvSpPr>
            <a:spLocks noGrp="1"/>
          </p:cNvSpPr>
          <p:nvPr>
            <p:ph type="sldNum" sz="quarter" idx="12"/>
          </p:nvPr>
        </p:nvSpPr>
        <p:spPr/>
        <p:txBody>
          <a:bodyPr/>
          <a:lstStyle>
            <a:lvl1pPr>
              <a:defRPr/>
            </a:lvl1pPr>
          </a:lstStyle>
          <a:p>
            <a:fld id="{756ED5B0-2FE2-494C-9BE6-F59677112524}" type="slidenum">
              <a:rPr lang="en-US"/>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endParaRPr lang="en-US"/>
          </a:p>
        </p:txBody>
      </p:sp>
      <p:sp>
        <p:nvSpPr>
          <p:cNvPr id="5" name="Footer Placeholder 4"/>
          <p:cNvSpPr>
            <a:spLocks noGrp="1"/>
          </p:cNvSpPr>
          <p:nvPr>
            <p:ph type="ftr" sz="quarter" idx="11"/>
          </p:nvPr>
        </p:nvSpPr>
        <p:spPr/>
        <p:txBody>
          <a:bodyPr/>
          <a:lstStyle>
            <a:lvl1pPr>
              <a:defRPr/>
            </a:lvl1pPr>
          </a:lstStyle>
          <a:p>
            <a:endParaRPr lang="en-US"/>
          </a:p>
        </p:txBody>
      </p:sp>
      <p:sp>
        <p:nvSpPr>
          <p:cNvPr id="6" name="Slide Number Placeholder 5"/>
          <p:cNvSpPr>
            <a:spLocks noGrp="1"/>
          </p:cNvSpPr>
          <p:nvPr>
            <p:ph type="sldNum" sz="quarter" idx="12"/>
          </p:nvPr>
        </p:nvSpPr>
        <p:spPr/>
        <p:txBody>
          <a:bodyPr/>
          <a:lstStyle>
            <a:lvl1pPr>
              <a:defRPr/>
            </a:lvl1pPr>
          </a:lstStyle>
          <a:p>
            <a:fld id="{DC48C71B-A2ED-43CB-9C2C-9A5B8A6DE9FA}" type="slidenum">
              <a:rPr lang="en-US"/>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821488" y="284163"/>
            <a:ext cx="2044700" cy="5811837"/>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685800" y="284163"/>
            <a:ext cx="5983288" cy="5811837"/>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endParaRPr lang="en-US"/>
          </a:p>
        </p:txBody>
      </p:sp>
      <p:sp>
        <p:nvSpPr>
          <p:cNvPr id="5" name="Footer Placeholder 4"/>
          <p:cNvSpPr>
            <a:spLocks noGrp="1"/>
          </p:cNvSpPr>
          <p:nvPr>
            <p:ph type="ftr" sz="quarter" idx="11"/>
          </p:nvPr>
        </p:nvSpPr>
        <p:spPr/>
        <p:txBody>
          <a:bodyPr/>
          <a:lstStyle>
            <a:lvl1pPr>
              <a:defRPr/>
            </a:lvl1pPr>
          </a:lstStyle>
          <a:p>
            <a:endParaRPr lang="en-US"/>
          </a:p>
        </p:txBody>
      </p:sp>
      <p:sp>
        <p:nvSpPr>
          <p:cNvPr id="6" name="Slide Number Placeholder 5"/>
          <p:cNvSpPr>
            <a:spLocks noGrp="1"/>
          </p:cNvSpPr>
          <p:nvPr>
            <p:ph type="sldNum" sz="quarter" idx="12"/>
          </p:nvPr>
        </p:nvSpPr>
        <p:spPr/>
        <p:txBody>
          <a:bodyPr/>
          <a:lstStyle>
            <a:lvl1pPr>
              <a:defRPr/>
            </a:lvl1pPr>
          </a:lstStyle>
          <a:p>
            <a:fld id="{5B8AAD9A-FA6A-4AD7-82C6-B95FA2C48F8D}" type="slidenum">
              <a:rPr lang="en-US"/>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0">
          <a:blip r:embed="rId13"/>
          <a:srcRect/>
          <a:tile tx="0" ty="0" sx="100000" sy="100000" flip="none" algn="tl"/>
        </a:blipFill>
        <a:effectLst/>
      </p:bgPr>
    </p:bg>
    <p:spTree>
      <p:nvGrpSpPr>
        <p:cNvPr id="1" name=""/>
        <p:cNvGrpSpPr/>
        <p:nvPr/>
      </p:nvGrpSpPr>
      <p:grpSpPr>
        <a:xfrm>
          <a:off x="0" y="0"/>
          <a:ext cx="0" cy="0"/>
          <a:chOff x="0" y="0"/>
          <a:chExt cx="0" cy="0"/>
        </a:xfrm>
      </p:grpSpPr>
      <p:sp>
        <p:nvSpPr>
          <p:cNvPr id="21506" name="Rectangle 1026" descr="Large confetti"/>
          <p:cNvSpPr>
            <a:spLocks noGrp="1" noChangeArrowheads="1"/>
          </p:cNvSpPr>
          <p:nvPr>
            <p:ph type="title"/>
          </p:nvPr>
        </p:nvSpPr>
        <p:spPr bwMode="auto">
          <a:xfrm>
            <a:off x="1093788" y="284163"/>
            <a:ext cx="7772400" cy="11430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p>
            <a:pPr lvl="0"/>
            <a:r>
              <a:rPr lang="en-US" smtClean="0"/>
              <a:t>Click to edit Master title style</a:t>
            </a:r>
          </a:p>
        </p:txBody>
      </p:sp>
      <p:sp>
        <p:nvSpPr>
          <p:cNvPr id="21507" name="Rectangle 1027"/>
          <p:cNvSpPr>
            <a:spLocks noGrp="1" noChangeArrowheads="1"/>
          </p:cNvSpPr>
          <p:nvPr>
            <p:ph type="body" idx="1"/>
          </p:nvPr>
        </p:nvSpPr>
        <p:spPr bwMode="auto">
          <a:xfrm>
            <a:off x="685800" y="1905000"/>
            <a:ext cx="7772400" cy="41910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
        <p:nvSpPr>
          <p:cNvPr id="21508" name="Rectangle 1028"/>
          <p:cNvSpPr>
            <a:spLocks noGrp="1" noChangeArrowheads="1"/>
          </p:cNvSpPr>
          <p:nvPr>
            <p:ph type="dt" sz="half" idx="2"/>
          </p:nvPr>
        </p:nvSpPr>
        <p:spPr bwMode="auto">
          <a:xfrm>
            <a:off x="685800" y="6248400"/>
            <a:ext cx="19050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400"/>
            </a:lvl1pPr>
          </a:lstStyle>
          <a:p>
            <a:endParaRPr lang="en-US"/>
          </a:p>
        </p:txBody>
      </p:sp>
      <p:sp>
        <p:nvSpPr>
          <p:cNvPr id="21509" name="Rectangle 1029"/>
          <p:cNvSpPr>
            <a:spLocks noGrp="1" noChangeArrowheads="1"/>
          </p:cNvSpPr>
          <p:nvPr>
            <p:ph type="ftr" sz="quarter" idx="3"/>
          </p:nvPr>
        </p:nvSpPr>
        <p:spPr bwMode="auto">
          <a:xfrm>
            <a:off x="3124200" y="6248400"/>
            <a:ext cx="28956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ctr">
              <a:defRPr sz="1400"/>
            </a:lvl1pPr>
          </a:lstStyle>
          <a:p>
            <a:endParaRPr lang="en-US"/>
          </a:p>
        </p:txBody>
      </p:sp>
      <p:sp>
        <p:nvSpPr>
          <p:cNvPr id="21510" name="Rectangle 1030"/>
          <p:cNvSpPr>
            <a:spLocks noChangeArrowheads="1"/>
          </p:cNvSpPr>
          <p:nvPr/>
        </p:nvSpPr>
        <p:spPr bwMode="auto">
          <a:xfrm>
            <a:off x="0" y="1512888"/>
            <a:ext cx="8458200" cy="87312"/>
          </a:xfrm>
          <a:prstGeom prst="rect">
            <a:avLst/>
          </a:prstGeom>
          <a:solidFill>
            <a:schemeClr val="bg2"/>
          </a:solidFill>
          <a:ln w="9525">
            <a:noFill/>
            <a:miter lim="800000"/>
            <a:headEnd/>
            <a:tailEnd/>
          </a:ln>
          <a:effectLst/>
        </p:spPr>
        <p:txBody>
          <a:bodyPr wrap="none" anchor="ctr"/>
          <a:lstStyle/>
          <a:p>
            <a:pPr algn="ctr"/>
            <a:endParaRPr kumimoji="1" lang="en-US"/>
          </a:p>
        </p:txBody>
      </p:sp>
      <p:sp>
        <p:nvSpPr>
          <p:cNvPr id="21511" name="Rectangle 1031" descr="Large confetti"/>
          <p:cNvSpPr>
            <a:spLocks noChangeArrowheads="1"/>
          </p:cNvSpPr>
          <p:nvPr/>
        </p:nvSpPr>
        <p:spPr bwMode="ltGray">
          <a:xfrm>
            <a:off x="247650" y="0"/>
            <a:ext cx="793750" cy="1841500"/>
          </a:xfrm>
          <a:prstGeom prst="rect">
            <a:avLst/>
          </a:prstGeom>
          <a:pattFill prst="lgConfetti">
            <a:fgClr>
              <a:schemeClr val="accent2"/>
            </a:fgClr>
            <a:bgClr>
              <a:schemeClr val="folHlink"/>
            </a:bgClr>
          </a:pattFill>
          <a:ln w="9525">
            <a:noFill/>
            <a:miter lim="800000"/>
            <a:headEnd/>
            <a:tailEnd/>
          </a:ln>
          <a:effectLst/>
        </p:spPr>
        <p:txBody>
          <a:bodyPr wrap="none" anchor="ctr"/>
          <a:lstStyle/>
          <a:p>
            <a:pPr algn="ctr"/>
            <a:endParaRPr kumimoji="1" lang="en-US"/>
          </a:p>
        </p:txBody>
      </p:sp>
      <p:sp>
        <p:nvSpPr>
          <p:cNvPr id="21512" name="Rectangle 1032"/>
          <p:cNvSpPr>
            <a:spLocks noChangeArrowheads="1"/>
          </p:cNvSpPr>
          <p:nvPr/>
        </p:nvSpPr>
        <p:spPr bwMode="auto">
          <a:xfrm>
            <a:off x="7067550" y="6553200"/>
            <a:ext cx="2076450" cy="79375"/>
          </a:xfrm>
          <a:prstGeom prst="rect">
            <a:avLst/>
          </a:prstGeom>
          <a:solidFill>
            <a:schemeClr val="bg2"/>
          </a:solidFill>
          <a:ln w="9525">
            <a:noFill/>
            <a:miter lim="800000"/>
            <a:headEnd/>
            <a:tailEnd/>
          </a:ln>
          <a:effectLst/>
        </p:spPr>
        <p:txBody>
          <a:bodyPr wrap="none" anchor="ctr"/>
          <a:lstStyle/>
          <a:p>
            <a:pPr algn="ctr"/>
            <a:endParaRPr kumimoji="1" lang="en-US"/>
          </a:p>
        </p:txBody>
      </p:sp>
      <p:sp>
        <p:nvSpPr>
          <p:cNvPr id="21513" name="Rectangle 1033" descr="Large confetti"/>
          <p:cNvSpPr>
            <a:spLocks noGrp="1" noChangeArrowheads="1"/>
          </p:cNvSpPr>
          <p:nvPr>
            <p:ph type="sldNum" sz="quarter" idx="4"/>
          </p:nvPr>
        </p:nvSpPr>
        <p:spPr bwMode="auto">
          <a:xfrm>
            <a:off x="8216900" y="6248400"/>
            <a:ext cx="533400" cy="609600"/>
          </a:xfrm>
          <a:prstGeom prst="rect">
            <a:avLst/>
          </a:prstGeom>
          <a:pattFill prst="lgConfetti">
            <a:fgClr>
              <a:schemeClr val="accent2"/>
            </a:fgClr>
            <a:bgClr>
              <a:schemeClr val="folHlink"/>
            </a:bgClr>
          </a:pattFill>
          <a:ln w="9525">
            <a:noFill/>
            <a:miter lim="800000"/>
            <a:headEnd/>
            <a:tailEnd/>
          </a:ln>
          <a:effectLst/>
        </p:spPr>
        <p:txBody>
          <a:bodyPr vert="horz" wrap="square" lIns="91440" tIns="45720" rIns="91440" bIns="45720" numCol="1" anchor="ctr" anchorCtr="1" compatLnSpc="1">
            <a:prstTxWarp prst="textNoShape">
              <a:avLst/>
            </a:prstTxWarp>
          </a:bodyPr>
          <a:lstStyle>
            <a:lvl1pPr algn="r">
              <a:defRPr sz="1400">
                <a:solidFill>
                  <a:schemeClr val="bg1"/>
                </a:solidFill>
              </a:defRPr>
            </a:lvl1pPr>
          </a:lstStyle>
          <a:p>
            <a:fld id="{7180B0CC-A559-44F7-AC8B-80FFDBE121F9}" type="slidenum">
              <a:rPr lang="en-US"/>
              <a:pPr/>
              <a:t>‹#›</a:t>
            </a:fld>
            <a:endParaRPr lang="en-US"/>
          </a:p>
        </p:txBody>
      </p:sp>
    </p:spTree>
  </p:cSld>
  <p:clrMap bg1="lt1" tx1="dk1" bg2="lt2" tx2="dk2" accent1="accent1" accent2="accent2" accent3="accent3" accent4="accent4" accent5="accent5" accent6="accent6" hlink="hlink" folHlink="folHlink"/>
  <p:sldLayoutIdLst>
    <p:sldLayoutId id="2147483650"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 id="2147483660" r:id="rId11"/>
  </p:sldLayoutIdLst>
  <p:txStyles>
    <p:titleStyle>
      <a:lvl1pPr algn="l" rtl="0" fontAlgn="base">
        <a:spcBef>
          <a:spcPct val="0"/>
        </a:spcBef>
        <a:spcAft>
          <a:spcPct val="0"/>
        </a:spcAft>
        <a:defRPr sz="4400">
          <a:solidFill>
            <a:schemeClr val="tx2"/>
          </a:solidFill>
          <a:latin typeface="+mj-lt"/>
          <a:ea typeface="+mj-ea"/>
          <a:cs typeface="+mj-cs"/>
        </a:defRPr>
      </a:lvl1pPr>
      <a:lvl2pPr algn="l" rtl="0" fontAlgn="base">
        <a:spcBef>
          <a:spcPct val="0"/>
        </a:spcBef>
        <a:spcAft>
          <a:spcPct val="0"/>
        </a:spcAft>
        <a:defRPr sz="4400">
          <a:solidFill>
            <a:schemeClr val="tx2"/>
          </a:solidFill>
          <a:latin typeface="Times New Roman" pitchFamily="18" charset="0"/>
        </a:defRPr>
      </a:lvl2pPr>
      <a:lvl3pPr algn="l" rtl="0" fontAlgn="base">
        <a:spcBef>
          <a:spcPct val="0"/>
        </a:spcBef>
        <a:spcAft>
          <a:spcPct val="0"/>
        </a:spcAft>
        <a:defRPr sz="4400">
          <a:solidFill>
            <a:schemeClr val="tx2"/>
          </a:solidFill>
          <a:latin typeface="Times New Roman" pitchFamily="18" charset="0"/>
        </a:defRPr>
      </a:lvl3pPr>
      <a:lvl4pPr algn="l" rtl="0" fontAlgn="base">
        <a:spcBef>
          <a:spcPct val="0"/>
        </a:spcBef>
        <a:spcAft>
          <a:spcPct val="0"/>
        </a:spcAft>
        <a:defRPr sz="4400">
          <a:solidFill>
            <a:schemeClr val="tx2"/>
          </a:solidFill>
          <a:latin typeface="Times New Roman" pitchFamily="18" charset="0"/>
        </a:defRPr>
      </a:lvl4pPr>
      <a:lvl5pPr algn="l" rtl="0" fontAlgn="base">
        <a:spcBef>
          <a:spcPct val="0"/>
        </a:spcBef>
        <a:spcAft>
          <a:spcPct val="0"/>
        </a:spcAft>
        <a:defRPr sz="4400">
          <a:solidFill>
            <a:schemeClr val="tx2"/>
          </a:solidFill>
          <a:latin typeface="Times New Roman" pitchFamily="18" charset="0"/>
        </a:defRPr>
      </a:lvl5pPr>
      <a:lvl6pPr marL="457200" algn="l" rtl="0" fontAlgn="base">
        <a:spcBef>
          <a:spcPct val="0"/>
        </a:spcBef>
        <a:spcAft>
          <a:spcPct val="0"/>
        </a:spcAft>
        <a:defRPr sz="4400">
          <a:solidFill>
            <a:schemeClr val="tx2"/>
          </a:solidFill>
          <a:latin typeface="Times New Roman" pitchFamily="18" charset="0"/>
        </a:defRPr>
      </a:lvl6pPr>
      <a:lvl7pPr marL="914400" algn="l" rtl="0" fontAlgn="base">
        <a:spcBef>
          <a:spcPct val="0"/>
        </a:spcBef>
        <a:spcAft>
          <a:spcPct val="0"/>
        </a:spcAft>
        <a:defRPr sz="4400">
          <a:solidFill>
            <a:schemeClr val="tx2"/>
          </a:solidFill>
          <a:latin typeface="Times New Roman" pitchFamily="18" charset="0"/>
        </a:defRPr>
      </a:lvl7pPr>
      <a:lvl8pPr marL="1371600" algn="l" rtl="0" fontAlgn="base">
        <a:spcBef>
          <a:spcPct val="0"/>
        </a:spcBef>
        <a:spcAft>
          <a:spcPct val="0"/>
        </a:spcAft>
        <a:defRPr sz="4400">
          <a:solidFill>
            <a:schemeClr val="tx2"/>
          </a:solidFill>
          <a:latin typeface="Times New Roman" pitchFamily="18" charset="0"/>
        </a:defRPr>
      </a:lvl8pPr>
      <a:lvl9pPr marL="1828800" algn="l" rtl="0" fontAlgn="base">
        <a:spcBef>
          <a:spcPct val="0"/>
        </a:spcBef>
        <a:spcAft>
          <a:spcPct val="0"/>
        </a:spcAft>
        <a:defRPr sz="4400">
          <a:solidFill>
            <a:schemeClr val="tx2"/>
          </a:solidFill>
          <a:latin typeface="Times New Roman" pitchFamily="18" charset="0"/>
        </a:defRPr>
      </a:lvl9pPr>
    </p:titleStyle>
    <p:bodyStyle>
      <a:lvl1pPr marL="342900" indent="-342900" algn="l" rtl="0" fontAlgn="base">
        <a:spcBef>
          <a:spcPct val="20000"/>
        </a:spcBef>
        <a:spcAft>
          <a:spcPct val="0"/>
        </a:spcAft>
        <a:buSzPct val="85000"/>
        <a:buBlip>
          <a:blip r:embed="rId14"/>
        </a:buBlip>
        <a:defRPr sz="3200">
          <a:solidFill>
            <a:schemeClr val="tx1"/>
          </a:solidFill>
          <a:latin typeface="+mn-lt"/>
          <a:ea typeface="+mn-ea"/>
          <a:cs typeface="+mn-cs"/>
        </a:defRPr>
      </a:lvl1pPr>
      <a:lvl2pPr marL="742950" indent="-285750" algn="l" rtl="0" fontAlgn="base">
        <a:spcBef>
          <a:spcPct val="20000"/>
        </a:spcBef>
        <a:spcAft>
          <a:spcPct val="0"/>
        </a:spcAft>
        <a:buClr>
          <a:schemeClr val="bg2"/>
        </a:buClr>
        <a:buSzPct val="70000"/>
        <a:buFont typeface="Wingdings" pitchFamily="2" charset="2"/>
        <a:buChar char="n"/>
        <a:defRPr sz="2800">
          <a:solidFill>
            <a:schemeClr val="tx1"/>
          </a:solidFill>
          <a:latin typeface="+mn-lt"/>
        </a:defRPr>
      </a:lvl2pPr>
      <a:lvl3pPr marL="1143000" indent="-228600" algn="l" rtl="0" fontAlgn="base">
        <a:spcBef>
          <a:spcPct val="20000"/>
        </a:spcBef>
        <a:spcAft>
          <a:spcPct val="0"/>
        </a:spcAft>
        <a:buSzPct val="70000"/>
        <a:buFont typeface="Wingdings" pitchFamily="2" charset="2"/>
        <a:buChar char="n"/>
        <a:defRPr sz="2400">
          <a:solidFill>
            <a:schemeClr val="tx1"/>
          </a:solidFill>
          <a:latin typeface="+mn-lt"/>
        </a:defRPr>
      </a:lvl3pPr>
      <a:lvl4pPr marL="1600200" indent="-228600" algn="l" rtl="0" fontAlgn="base">
        <a:spcBef>
          <a:spcPct val="20000"/>
        </a:spcBef>
        <a:spcAft>
          <a:spcPct val="0"/>
        </a:spcAft>
        <a:buSzPct val="70000"/>
        <a:buFont typeface="Wingdings" pitchFamily="2" charset="2"/>
        <a:buChar char="n"/>
        <a:defRPr sz="2000">
          <a:solidFill>
            <a:schemeClr val="tx1"/>
          </a:solidFill>
          <a:latin typeface="+mn-lt"/>
        </a:defRPr>
      </a:lvl4pPr>
      <a:lvl5pPr marL="2057400" indent="-228600" algn="l" rtl="0" fontAlgn="base">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hyperlink" Target="http://en.wikipedia.org/wiki/Internal_market" TargetMode="External"/><Relationship Id="rId2" Type="http://schemas.openxmlformats.org/officeDocument/2006/relationships/notesSlide" Target="../notesSlides/notesSlide1.xml"/><Relationship Id="rId1" Type="http://schemas.openxmlformats.org/officeDocument/2006/relationships/slideLayout" Target="../slideLayouts/slideLayout4.xml"/><Relationship Id="rId4" Type="http://schemas.openxmlformats.org/officeDocument/2006/relationships/hyperlink" Target="http://en.wikipedia.org/wiki/Electricity_distribution" TargetMode="Externa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050" name="Rectangle 2" descr="Large confetti"/>
          <p:cNvSpPr>
            <a:spLocks noGrp="1" noChangeArrowheads="1"/>
          </p:cNvSpPr>
          <p:nvPr>
            <p:ph type="ctrTitle"/>
          </p:nvPr>
        </p:nvSpPr>
        <p:spPr/>
        <p:txBody>
          <a:bodyPr/>
          <a:lstStyle/>
          <a:p>
            <a:r>
              <a:rPr lang="en-US"/>
              <a:t>Economic Integration</a:t>
            </a:r>
          </a:p>
        </p:txBody>
      </p:sp>
      <p:sp>
        <p:nvSpPr>
          <p:cNvPr id="2051" name="Rectangle 3"/>
          <p:cNvSpPr>
            <a:spLocks noGrp="1" noChangeArrowheads="1"/>
          </p:cNvSpPr>
          <p:nvPr>
            <p:ph type="subTitle" idx="1"/>
          </p:nvPr>
        </p:nvSpPr>
        <p:spPr>
          <a:xfrm>
            <a:off x="990600" y="3505200"/>
            <a:ext cx="7696200" cy="1993900"/>
          </a:xfrm>
        </p:spPr>
        <p:txBody>
          <a:bodyPr/>
          <a:lstStyle/>
          <a:p>
            <a:pPr algn="just"/>
            <a:r>
              <a:rPr lang="en-US" sz="2800" b="1" dirty="0" smtClean="0">
                <a:latin typeface="Poor Richard" pitchFamily="18" charset="0"/>
              </a:rPr>
              <a:t>Agreements between group of  countries in a region to reduce and ultimately  remove tariff and Non tariff barriers to the free flow of goods, services and factors of production between each other. By entering in to regional agreements  countries aim to reduce  trade barriers more rapidly than what can be achieved under WTO.</a:t>
            </a:r>
            <a:endParaRPr lang="en-IN" sz="2800" b="1" dirty="0" smtClean="0">
              <a:latin typeface="Poor Richard" pitchFamily="18" charset="0"/>
            </a:endParaRPr>
          </a:p>
          <a:p>
            <a:endParaRPr lang="en-US" dirty="0"/>
          </a:p>
        </p:txBody>
      </p:sp>
    </p:spTree>
  </p:cSld>
  <p:clrMapOvr>
    <a:masterClrMapping/>
  </p:clrMapOvr>
  <p:transition>
    <p:zoom dir="in"/>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2051">
                                            <p:txEl>
                                              <p:pRg st="0" end="0"/>
                                            </p:txEl>
                                          </p:spTgt>
                                        </p:tgtEl>
                                        <p:attrNameLst>
                                          <p:attrName>style.visibility</p:attrName>
                                        </p:attrNameLst>
                                      </p:cBhvr>
                                      <p:to>
                                        <p:strVal val="visible"/>
                                      </p:to>
                                    </p:set>
                                    <p:anim calcmode="lin" valueType="num">
                                      <p:cBhvr additive="base">
                                        <p:cTn id="7" dur="500" fill="hold"/>
                                        <p:tgtEl>
                                          <p:spTgt spid="2051">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2051">
                                            <p:txEl>
                                              <p:pRg st="0" end="0"/>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51" grpId="0" build="p" autoUpdateAnimBg="0"/>
    </p:bldLst>
  </p:timing>
</p:sld>
</file>

<file path=ppt/slides/slide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075" name="Rectangle 3"/>
          <p:cNvSpPr>
            <a:spLocks noGrp="1" noChangeArrowheads="1"/>
          </p:cNvSpPr>
          <p:nvPr>
            <p:ph type="body" idx="4294967295"/>
          </p:nvPr>
        </p:nvSpPr>
        <p:spPr>
          <a:xfrm>
            <a:off x="0" y="1905000"/>
            <a:ext cx="7772400" cy="4191000"/>
          </a:xfrm>
        </p:spPr>
        <p:txBody>
          <a:bodyPr/>
          <a:lstStyle/>
          <a:p>
            <a:r>
              <a:rPr lang="en-US" sz="2800" dirty="0"/>
              <a:t>Three levels of economic integration</a:t>
            </a:r>
          </a:p>
          <a:p>
            <a:pPr lvl="1"/>
            <a:r>
              <a:rPr lang="en-US" dirty="0"/>
              <a:t>Global: trade liberalization by GATT or WTO</a:t>
            </a:r>
          </a:p>
          <a:p>
            <a:pPr lvl="1"/>
            <a:r>
              <a:rPr lang="en-US" dirty="0"/>
              <a:t>Regional: preferential treatment of member countries in the group  </a:t>
            </a:r>
          </a:p>
          <a:p>
            <a:pPr lvl="1"/>
            <a:r>
              <a:rPr lang="en-US" dirty="0"/>
              <a:t>Bilateral: preferential treatment between two countries</a:t>
            </a:r>
          </a:p>
          <a:p>
            <a:r>
              <a:rPr lang="en-US" sz="2800" dirty="0"/>
              <a:t>Regional and bilateral agreements are against the MFN clause (normal trading relations), but allowed under WTO</a:t>
            </a:r>
            <a:r>
              <a:rPr lang="en-US" sz="2800" dirty="0" smtClean="0"/>
              <a:t>.</a:t>
            </a:r>
            <a:endParaRPr lang="en-US" sz="2800" dirty="0"/>
          </a:p>
        </p:txBody>
      </p:sp>
    </p:spTree>
  </p:cSld>
  <p:clrMapOvr>
    <a:masterClrMapping/>
  </p:clrMapOvr>
  <p:transition>
    <p:zoom dir="in"/>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3075">
                                            <p:txEl>
                                              <p:pRg st="0" end="0"/>
                                            </p:txEl>
                                          </p:spTgt>
                                        </p:tgtEl>
                                        <p:attrNameLst>
                                          <p:attrName>style.visibility</p:attrName>
                                        </p:attrNameLst>
                                      </p:cBhvr>
                                      <p:to>
                                        <p:strVal val="visible"/>
                                      </p:to>
                                    </p:set>
                                    <p:anim calcmode="lin" valueType="num">
                                      <p:cBhvr additive="base">
                                        <p:cTn id="7" dur="500" fill="hold"/>
                                        <p:tgtEl>
                                          <p:spTgt spid="3075">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3075">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3075">
                                            <p:txEl>
                                              <p:pRg st="1" end="1"/>
                                            </p:txEl>
                                          </p:spTgt>
                                        </p:tgtEl>
                                        <p:attrNameLst>
                                          <p:attrName>style.visibility</p:attrName>
                                        </p:attrNameLst>
                                      </p:cBhvr>
                                      <p:to>
                                        <p:strVal val="visible"/>
                                      </p:to>
                                    </p:set>
                                    <p:anim calcmode="lin" valueType="num">
                                      <p:cBhvr additive="base">
                                        <p:cTn id="13" dur="500" fill="hold"/>
                                        <p:tgtEl>
                                          <p:spTgt spid="3075">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3075">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3075">
                                            <p:txEl>
                                              <p:pRg st="2" end="2"/>
                                            </p:txEl>
                                          </p:spTgt>
                                        </p:tgtEl>
                                        <p:attrNameLst>
                                          <p:attrName>style.visibility</p:attrName>
                                        </p:attrNameLst>
                                      </p:cBhvr>
                                      <p:to>
                                        <p:strVal val="visible"/>
                                      </p:to>
                                    </p:set>
                                    <p:anim calcmode="lin" valueType="num">
                                      <p:cBhvr additive="base">
                                        <p:cTn id="19" dur="500" fill="hold"/>
                                        <p:tgtEl>
                                          <p:spTgt spid="3075">
                                            <p:txEl>
                                              <p:pRg st="2" end="2"/>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3075">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3075">
                                            <p:txEl>
                                              <p:pRg st="3" end="3"/>
                                            </p:txEl>
                                          </p:spTgt>
                                        </p:tgtEl>
                                        <p:attrNameLst>
                                          <p:attrName>style.visibility</p:attrName>
                                        </p:attrNameLst>
                                      </p:cBhvr>
                                      <p:to>
                                        <p:strVal val="visible"/>
                                      </p:to>
                                    </p:set>
                                    <p:anim calcmode="lin" valueType="num">
                                      <p:cBhvr additive="base">
                                        <p:cTn id="25" dur="500" fill="hold"/>
                                        <p:tgtEl>
                                          <p:spTgt spid="3075">
                                            <p:txEl>
                                              <p:pRg st="3" end="3"/>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3075">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8" fill="hold" grpId="0" nodeType="clickEffect">
                                  <p:stCondLst>
                                    <p:cond delay="0"/>
                                  </p:stCondLst>
                                  <p:childTnLst>
                                    <p:set>
                                      <p:cBhvr>
                                        <p:cTn id="30" dur="1" fill="hold">
                                          <p:stCondLst>
                                            <p:cond delay="0"/>
                                          </p:stCondLst>
                                        </p:cTn>
                                        <p:tgtEl>
                                          <p:spTgt spid="3075">
                                            <p:txEl>
                                              <p:pRg st="4" end="4"/>
                                            </p:txEl>
                                          </p:spTgt>
                                        </p:tgtEl>
                                        <p:attrNameLst>
                                          <p:attrName>style.visibility</p:attrName>
                                        </p:attrNameLst>
                                      </p:cBhvr>
                                      <p:to>
                                        <p:strVal val="visible"/>
                                      </p:to>
                                    </p:set>
                                    <p:anim calcmode="lin" valueType="num">
                                      <p:cBhvr additive="base">
                                        <p:cTn id="31" dur="500" fill="hold"/>
                                        <p:tgtEl>
                                          <p:spTgt spid="3075">
                                            <p:txEl>
                                              <p:pRg st="4" end="4"/>
                                            </p:txEl>
                                          </p:spTgt>
                                        </p:tgtEl>
                                        <p:attrNameLst>
                                          <p:attrName>ppt_x</p:attrName>
                                        </p:attrNameLst>
                                      </p:cBhvr>
                                      <p:tavLst>
                                        <p:tav tm="0">
                                          <p:val>
                                            <p:strVal val="0-#ppt_w/2"/>
                                          </p:val>
                                        </p:tav>
                                        <p:tav tm="100000">
                                          <p:val>
                                            <p:strVal val="#ppt_x"/>
                                          </p:val>
                                        </p:tav>
                                      </p:tavLst>
                                    </p:anim>
                                    <p:anim calcmode="lin" valueType="num">
                                      <p:cBhvr additive="base">
                                        <p:cTn id="32" dur="500" fill="hold"/>
                                        <p:tgtEl>
                                          <p:spTgt spid="3075">
                                            <p:txEl>
                                              <p:pRg st="4" end="4"/>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75" grpId="0" build="p" bldLvl="2" autoUpdateAnimBg="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bwMode="auto">
          <a:xfrm>
            <a:off x="228600" y="152400"/>
            <a:ext cx="8534400" cy="715963"/>
          </a:xfrm>
          <a:solidFill>
            <a:schemeClr val="folHlink"/>
          </a:solidFill>
          <a:ln>
            <a:miter lim="800000"/>
            <a:headEnd/>
            <a:tailEnd/>
          </a:ln>
        </p:spPr>
        <p:txBody>
          <a:bodyPr vert="horz" wrap="square" lIns="91440" tIns="45720" rIns="91440" bIns="45720" numCol="1" anchor="t" anchorCtr="0" compatLnSpc="1">
            <a:prstTxWarp prst="textNoShape">
              <a:avLst/>
            </a:prstTxWarp>
          </a:bodyPr>
          <a:lstStyle/>
          <a:p>
            <a:pPr algn="ctr" eaLnBrk="1" hangingPunct="1"/>
            <a:r>
              <a:rPr lang="en-US" sz="4000" b="1" dirty="0" smtClean="0">
                <a:solidFill>
                  <a:srgbClr val="FF0000"/>
                </a:solidFill>
              </a:rPr>
              <a:t>Levels of Economic Integration</a:t>
            </a:r>
          </a:p>
        </p:txBody>
      </p:sp>
      <p:sp>
        <p:nvSpPr>
          <p:cNvPr id="7171" name="Text Box 3"/>
          <p:cNvSpPr txBox="1">
            <a:spLocks noChangeArrowheads="1"/>
          </p:cNvSpPr>
          <p:nvPr/>
        </p:nvSpPr>
        <p:spPr bwMode="auto">
          <a:xfrm>
            <a:off x="1143000" y="1447800"/>
            <a:ext cx="1295400" cy="336550"/>
          </a:xfrm>
          <a:prstGeom prst="rect">
            <a:avLst/>
          </a:prstGeom>
          <a:noFill/>
          <a:ln w="9525">
            <a:noFill/>
            <a:miter lim="800000"/>
            <a:headEnd/>
            <a:tailEnd/>
          </a:ln>
          <a:effectLst/>
        </p:spPr>
        <p:txBody>
          <a:bodyPr>
            <a:spAutoFit/>
          </a:bodyPr>
          <a:lstStyle/>
          <a:p>
            <a:pPr>
              <a:spcBef>
                <a:spcPct val="50000"/>
              </a:spcBef>
            </a:pPr>
            <a:r>
              <a:rPr lang="en-US">
                <a:solidFill>
                  <a:schemeClr val="hlink"/>
                </a:solidFill>
              </a:rPr>
              <a:t>Fig 8.1</a:t>
            </a:r>
          </a:p>
        </p:txBody>
      </p:sp>
      <p:pic>
        <p:nvPicPr>
          <p:cNvPr id="7172" name="Picture 4" descr="hil02555_0901"/>
          <p:cNvPicPr>
            <a:picLocks noGrp="1" noChangeAspect="1" noChangeArrowheads="1"/>
          </p:cNvPicPr>
          <p:nvPr>
            <p:ph idx="1"/>
          </p:nvPr>
        </p:nvPicPr>
        <p:blipFill>
          <a:blip r:embed="rId2"/>
          <a:srcRect/>
          <a:stretch>
            <a:fillRect/>
          </a:stretch>
        </p:blipFill>
        <p:spPr bwMode="auto">
          <a:xfrm>
            <a:off x="0" y="1066800"/>
            <a:ext cx="9144000" cy="5791200"/>
          </a:xfrm>
          <a:noFill/>
          <a:ln>
            <a:miter lim="800000"/>
            <a:headEnd/>
            <a:tailEnd/>
          </a:ln>
        </p:spPr>
      </p:pic>
      <p:sp>
        <p:nvSpPr>
          <p:cNvPr id="7173" name="Rectangle 5"/>
          <p:cNvSpPr>
            <a:spLocks noChangeArrowheads="1"/>
          </p:cNvSpPr>
          <p:nvPr/>
        </p:nvSpPr>
        <p:spPr bwMode="auto">
          <a:xfrm>
            <a:off x="3733800" y="2971800"/>
            <a:ext cx="1600200" cy="304800"/>
          </a:xfrm>
          <a:prstGeom prst="rect">
            <a:avLst/>
          </a:prstGeom>
          <a:noFill/>
          <a:ln w="9525">
            <a:solidFill>
              <a:srgbClr val="FCFC0C"/>
            </a:solidFill>
            <a:miter lim="800000"/>
            <a:headEnd/>
            <a:tailEnd/>
          </a:ln>
          <a:effectLst/>
        </p:spPr>
        <p:txBody>
          <a:bodyPr wrap="none" anchor="ctr"/>
          <a:lstStyle/>
          <a:p>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098" name="Rectangle 2" descr="Large confetti"/>
          <p:cNvSpPr>
            <a:spLocks noGrp="1" noChangeArrowheads="1"/>
          </p:cNvSpPr>
          <p:nvPr>
            <p:ph type="title"/>
          </p:nvPr>
        </p:nvSpPr>
        <p:spPr>
          <a:xfrm>
            <a:off x="1093788" y="284163"/>
            <a:ext cx="7772400" cy="935037"/>
          </a:xfrm>
        </p:spPr>
        <p:txBody>
          <a:bodyPr/>
          <a:lstStyle/>
          <a:p>
            <a:r>
              <a:rPr lang="en-US" dirty="0" smtClean="0"/>
              <a:t>Six</a:t>
            </a:r>
            <a:r>
              <a:rPr lang="en-US" dirty="0" smtClean="0"/>
              <a:t> </a:t>
            </a:r>
            <a:r>
              <a:rPr lang="en-US" dirty="0"/>
              <a:t>stages (types) of </a:t>
            </a:r>
            <a:br>
              <a:rPr lang="en-US" dirty="0"/>
            </a:br>
            <a:r>
              <a:rPr lang="en-US" dirty="0"/>
              <a:t>economic integration</a:t>
            </a:r>
          </a:p>
        </p:txBody>
      </p:sp>
      <p:sp>
        <p:nvSpPr>
          <p:cNvPr id="4099" name="Rectangle 3"/>
          <p:cNvSpPr>
            <a:spLocks noGrp="1" noChangeArrowheads="1"/>
          </p:cNvSpPr>
          <p:nvPr>
            <p:ph type="body" idx="1"/>
          </p:nvPr>
        </p:nvSpPr>
        <p:spPr>
          <a:xfrm>
            <a:off x="685800" y="1600200"/>
            <a:ext cx="7772400" cy="4495800"/>
          </a:xfrm>
        </p:spPr>
        <p:txBody>
          <a:bodyPr/>
          <a:lstStyle/>
          <a:p>
            <a:pPr>
              <a:lnSpc>
                <a:spcPct val="90000"/>
              </a:lnSpc>
            </a:pPr>
            <a:r>
              <a:rPr lang="en-US" sz="2800" b="1" dirty="0" smtClean="0"/>
              <a:t>PTA (Preferential Trade Area)</a:t>
            </a:r>
          </a:p>
          <a:p>
            <a:pPr indent="114300">
              <a:lnSpc>
                <a:spcPct val="90000"/>
              </a:lnSpc>
              <a:buFont typeface="Wingdings" pitchFamily="2" charset="2"/>
              <a:buChar char="§"/>
            </a:pPr>
            <a:r>
              <a:rPr lang="en-US" sz="2800" dirty="0" smtClean="0"/>
              <a:t> Reduction of tariff on trade among members</a:t>
            </a:r>
          </a:p>
          <a:p>
            <a:pPr>
              <a:lnSpc>
                <a:spcPct val="90000"/>
              </a:lnSpc>
            </a:pPr>
            <a:r>
              <a:rPr lang="en-US" sz="2800" b="1" dirty="0" smtClean="0"/>
              <a:t>FTA </a:t>
            </a:r>
            <a:r>
              <a:rPr lang="en-US" sz="2800" b="1" dirty="0"/>
              <a:t>(free trade area): </a:t>
            </a:r>
          </a:p>
          <a:p>
            <a:pPr lvl="1">
              <a:lnSpc>
                <a:spcPct val="90000"/>
              </a:lnSpc>
            </a:pPr>
            <a:r>
              <a:rPr lang="en-US" sz="2400" dirty="0"/>
              <a:t>no internal tariffs among members, but each country imposes its own external tariffs to the third country.</a:t>
            </a:r>
          </a:p>
          <a:p>
            <a:pPr lvl="1">
              <a:lnSpc>
                <a:spcPct val="90000"/>
              </a:lnSpc>
            </a:pPr>
            <a:r>
              <a:rPr lang="en-US" sz="2400" dirty="0"/>
              <a:t>NAFTA (North America Free Trade Agreement</a:t>
            </a:r>
          </a:p>
          <a:p>
            <a:pPr lvl="1">
              <a:lnSpc>
                <a:spcPct val="90000"/>
              </a:lnSpc>
            </a:pPr>
            <a:r>
              <a:rPr lang="en-US" sz="2400" dirty="0"/>
              <a:t>AFTA (ASEAN Free Trade Area)</a:t>
            </a:r>
          </a:p>
          <a:p>
            <a:pPr lvl="1">
              <a:lnSpc>
                <a:spcPct val="90000"/>
              </a:lnSpc>
            </a:pPr>
            <a:r>
              <a:rPr lang="en-US" sz="2400" dirty="0"/>
              <a:t>EFTA (European Free Trade Area)</a:t>
            </a:r>
          </a:p>
          <a:p>
            <a:pPr>
              <a:lnSpc>
                <a:spcPct val="90000"/>
              </a:lnSpc>
            </a:pPr>
            <a:r>
              <a:rPr lang="en-US" sz="2800" b="1" dirty="0"/>
              <a:t>Customs union: </a:t>
            </a:r>
          </a:p>
          <a:p>
            <a:pPr lvl="1">
              <a:lnSpc>
                <a:spcPct val="90000"/>
              </a:lnSpc>
            </a:pPr>
            <a:r>
              <a:rPr lang="en-US" sz="2400" dirty="0"/>
              <a:t>no internal tariffs and common external tariffs</a:t>
            </a:r>
          </a:p>
          <a:p>
            <a:pPr lvl="1">
              <a:lnSpc>
                <a:spcPct val="90000"/>
              </a:lnSpc>
            </a:pPr>
            <a:r>
              <a:rPr lang="en-US" sz="2400" dirty="0" err="1"/>
              <a:t>Mercosur</a:t>
            </a:r>
            <a:r>
              <a:rPr lang="en-US" sz="2400" dirty="0"/>
              <a:t> (Southern Common Market), </a:t>
            </a:r>
          </a:p>
          <a:p>
            <a:pPr lvl="1">
              <a:lnSpc>
                <a:spcPct val="90000"/>
              </a:lnSpc>
            </a:pPr>
            <a:r>
              <a:rPr lang="en-US" sz="2400" dirty="0"/>
              <a:t>CACM (Central American Common Market)</a:t>
            </a:r>
          </a:p>
          <a:p>
            <a:pPr lvl="1">
              <a:lnSpc>
                <a:spcPct val="90000"/>
              </a:lnSpc>
              <a:buNone/>
            </a:pPr>
            <a:endParaRPr lang="en-US" sz="2400" dirty="0"/>
          </a:p>
        </p:txBody>
      </p:sp>
    </p:spTree>
  </p:cSld>
  <p:clrMapOvr>
    <a:masterClrMapping/>
  </p:clrMapOvr>
  <p:transition>
    <p:zoom dir="in"/>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4099">
                                            <p:txEl>
                                              <p:pRg st="0" end="0"/>
                                            </p:txEl>
                                          </p:spTgt>
                                        </p:tgtEl>
                                        <p:attrNameLst>
                                          <p:attrName>style.visibility</p:attrName>
                                        </p:attrNameLst>
                                      </p:cBhvr>
                                      <p:to>
                                        <p:strVal val="visible"/>
                                      </p:to>
                                    </p:set>
                                    <p:anim calcmode="lin" valueType="num">
                                      <p:cBhvr additive="base">
                                        <p:cTn id="7" dur="500" fill="hold"/>
                                        <p:tgtEl>
                                          <p:spTgt spid="4099">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4099">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4099">
                                            <p:txEl>
                                              <p:pRg st="1" end="1"/>
                                            </p:txEl>
                                          </p:spTgt>
                                        </p:tgtEl>
                                        <p:attrNameLst>
                                          <p:attrName>style.visibility</p:attrName>
                                        </p:attrNameLst>
                                      </p:cBhvr>
                                      <p:to>
                                        <p:strVal val="visible"/>
                                      </p:to>
                                    </p:set>
                                    <p:anim calcmode="lin" valueType="num">
                                      <p:cBhvr additive="base">
                                        <p:cTn id="13" dur="500" fill="hold"/>
                                        <p:tgtEl>
                                          <p:spTgt spid="4099">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4099">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4099">
                                            <p:txEl>
                                              <p:pRg st="2" end="2"/>
                                            </p:txEl>
                                          </p:spTgt>
                                        </p:tgtEl>
                                        <p:attrNameLst>
                                          <p:attrName>style.visibility</p:attrName>
                                        </p:attrNameLst>
                                      </p:cBhvr>
                                      <p:to>
                                        <p:strVal val="visible"/>
                                      </p:to>
                                    </p:set>
                                    <p:anim calcmode="lin" valueType="num">
                                      <p:cBhvr additive="base">
                                        <p:cTn id="19" dur="500" fill="hold"/>
                                        <p:tgtEl>
                                          <p:spTgt spid="4099">
                                            <p:txEl>
                                              <p:pRg st="2" end="2"/>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4099">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4099">
                                            <p:txEl>
                                              <p:pRg st="3" end="3"/>
                                            </p:txEl>
                                          </p:spTgt>
                                        </p:tgtEl>
                                        <p:attrNameLst>
                                          <p:attrName>style.visibility</p:attrName>
                                        </p:attrNameLst>
                                      </p:cBhvr>
                                      <p:to>
                                        <p:strVal val="visible"/>
                                      </p:to>
                                    </p:set>
                                    <p:anim calcmode="lin" valueType="num">
                                      <p:cBhvr additive="base">
                                        <p:cTn id="25" dur="500" fill="hold"/>
                                        <p:tgtEl>
                                          <p:spTgt spid="4099">
                                            <p:txEl>
                                              <p:pRg st="3" end="3"/>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4099">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8" fill="hold" grpId="0" nodeType="clickEffect">
                                  <p:stCondLst>
                                    <p:cond delay="0"/>
                                  </p:stCondLst>
                                  <p:childTnLst>
                                    <p:set>
                                      <p:cBhvr>
                                        <p:cTn id="30" dur="1" fill="hold">
                                          <p:stCondLst>
                                            <p:cond delay="0"/>
                                          </p:stCondLst>
                                        </p:cTn>
                                        <p:tgtEl>
                                          <p:spTgt spid="4099">
                                            <p:txEl>
                                              <p:pRg st="4" end="4"/>
                                            </p:txEl>
                                          </p:spTgt>
                                        </p:tgtEl>
                                        <p:attrNameLst>
                                          <p:attrName>style.visibility</p:attrName>
                                        </p:attrNameLst>
                                      </p:cBhvr>
                                      <p:to>
                                        <p:strVal val="visible"/>
                                      </p:to>
                                    </p:set>
                                    <p:anim calcmode="lin" valueType="num">
                                      <p:cBhvr additive="base">
                                        <p:cTn id="31" dur="500" fill="hold"/>
                                        <p:tgtEl>
                                          <p:spTgt spid="4099">
                                            <p:txEl>
                                              <p:pRg st="4" end="4"/>
                                            </p:txEl>
                                          </p:spTgt>
                                        </p:tgtEl>
                                        <p:attrNameLst>
                                          <p:attrName>ppt_x</p:attrName>
                                        </p:attrNameLst>
                                      </p:cBhvr>
                                      <p:tavLst>
                                        <p:tav tm="0">
                                          <p:val>
                                            <p:strVal val="0-#ppt_w/2"/>
                                          </p:val>
                                        </p:tav>
                                        <p:tav tm="100000">
                                          <p:val>
                                            <p:strVal val="#ppt_x"/>
                                          </p:val>
                                        </p:tav>
                                      </p:tavLst>
                                    </p:anim>
                                    <p:anim calcmode="lin" valueType="num">
                                      <p:cBhvr additive="base">
                                        <p:cTn id="32" dur="500" fill="hold"/>
                                        <p:tgtEl>
                                          <p:spTgt spid="4099">
                                            <p:txEl>
                                              <p:pRg st="4" end="4"/>
                                            </p:txEl>
                                          </p:spTgt>
                                        </p:tgtEl>
                                        <p:attrNameLst>
                                          <p:attrName>ppt_y</p:attrName>
                                        </p:attrNameLst>
                                      </p:cBhvr>
                                      <p:tavLst>
                                        <p:tav tm="0">
                                          <p:val>
                                            <p:strVal val="#ppt_y"/>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8" fill="hold" grpId="0" nodeType="clickEffect">
                                  <p:stCondLst>
                                    <p:cond delay="0"/>
                                  </p:stCondLst>
                                  <p:childTnLst>
                                    <p:set>
                                      <p:cBhvr>
                                        <p:cTn id="36" dur="1" fill="hold">
                                          <p:stCondLst>
                                            <p:cond delay="0"/>
                                          </p:stCondLst>
                                        </p:cTn>
                                        <p:tgtEl>
                                          <p:spTgt spid="4099">
                                            <p:txEl>
                                              <p:pRg st="5" end="5"/>
                                            </p:txEl>
                                          </p:spTgt>
                                        </p:tgtEl>
                                        <p:attrNameLst>
                                          <p:attrName>style.visibility</p:attrName>
                                        </p:attrNameLst>
                                      </p:cBhvr>
                                      <p:to>
                                        <p:strVal val="visible"/>
                                      </p:to>
                                    </p:set>
                                    <p:anim calcmode="lin" valueType="num">
                                      <p:cBhvr additive="base">
                                        <p:cTn id="37" dur="500" fill="hold"/>
                                        <p:tgtEl>
                                          <p:spTgt spid="4099">
                                            <p:txEl>
                                              <p:pRg st="5" end="5"/>
                                            </p:txEl>
                                          </p:spTgt>
                                        </p:tgtEl>
                                        <p:attrNameLst>
                                          <p:attrName>ppt_x</p:attrName>
                                        </p:attrNameLst>
                                      </p:cBhvr>
                                      <p:tavLst>
                                        <p:tav tm="0">
                                          <p:val>
                                            <p:strVal val="0-#ppt_w/2"/>
                                          </p:val>
                                        </p:tav>
                                        <p:tav tm="100000">
                                          <p:val>
                                            <p:strVal val="#ppt_x"/>
                                          </p:val>
                                        </p:tav>
                                      </p:tavLst>
                                    </p:anim>
                                    <p:anim calcmode="lin" valueType="num">
                                      <p:cBhvr additive="base">
                                        <p:cTn id="38" dur="500" fill="hold"/>
                                        <p:tgtEl>
                                          <p:spTgt spid="4099">
                                            <p:txEl>
                                              <p:pRg st="5" end="5"/>
                                            </p:txEl>
                                          </p:spTgt>
                                        </p:tgtEl>
                                        <p:attrNameLst>
                                          <p:attrName>ppt_y</p:attrName>
                                        </p:attrNameLst>
                                      </p:cBhvr>
                                      <p:tavLst>
                                        <p:tav tm="0">
                                          <p:val>
                                            <p:strVal val="#ppt_y"/>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8" fill="hold" grpId="0" nodeType="clickEffect">
                                  <p:stCondLst>
                                    <p:cond delay="0"/>
                                  </p:stCondLst>
                                  <p:childTnLst>
                                    <p:set>
                                      <p:cBhvr>
                                        <p:cTn id="42" dur="1" fill="hold">
                                          <p:stCondLst>
                                            <p:cond delay="0"/>
                                          </p:stCondLst>
                                        </p:cTn>
                                        <p:tgtEl>
                                          <p:spTgt spid="4099">
                                            <p:txEl>
                                              <p:pRg st="6" end="6"/>
                                            </p:txEl>
                                          </p:spTgt>
                                        </p:tgtEl>
                                        <p:attrNameLst>
                                          <p:attrName>style.visibility</p:attrName>
                                        </p:attrNameLst>
                                      </p:cBhvr>
                                      <p:to>
                                        <p:strVal val="visible"/>
                                      </p:to>
                                    </p:set>
                                    <p:anim calcmode="lin" valueType="num">
                                      <p:cBhvr additive="base">
                                        <p:cTn id="43" dur="500" fill="hold"/>
                                        <p:tgtEl>
                                          <p:spTgt spid="4099">
                                            <p:txEl>
                                              <p:pRg st="6" end="6"/>
                                            </p:txEl>
                                          </p:spTgt>
                                        </p:tgtEl>
                                        <p:attrNameLst>
                                          <p:attrName>ppt_x</p:attrName>
                                        </p:attrNameLst>
                                      </p:cBhvr>
                                      <p:tavLst>
                                        <p:tav tm="0">
                                          <p:val>
                                            <p:strVal val="0-#ppt_w/2"/>
                                          </p:val>
                                        </p:tav>
                                        <p:tav tm="100000">
                                          <p:val>
                                            <p:strVal val="#ppt_x"/>
                                          </p:val>
                                        </p:tav>
                                      </p:tavLst>
                                    </p:anim>
                                    <p:anim calcmode="lin" valueType="num">
                                      <p:cBhvr additive="base">
                                        <p:cTn id="44" dur="500" fill="hold"/>
                                        <p:tgtEl>
                                          <p:spTgt spid="4099">
                                            <p:txEl>
                                              <p:pRg st="6" end="6"/>
                                            </p:txEl>
                                          </p:spTgt>
                                        </p:tgtEl>
                                        <p:attrNameLst>
                                          <p:attrName>ppt_y</p:attrName>
                                        </p:attrNameLst>
                                      </p:cBhvr>
                                      <p:tavLst>
                                        <p:tav tm="0">
                                          <p:val>
                                            <p:strVal val="#ppt_y"/>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8" fill="hold" grpId="0" nodeType="clickEffect">
                                  <p:stCondLst>
                                    <p:cond delay="0"/>
                                  </p:stCondLst>
                                  <p:childTnLst>
                                    <p:set>
                                      <p:cBhvr>
                                        <p:cTn id="48" dur="1" fill="hold">
                                          <p:stCondLst>
                                            <p:cond delay="0"/>
                                          </p:stCondLst>
                                        </p:cTn>
                                        <p:tgtEl>
                                          <p:spTgt spid="4099">
                                            <p:txEl>
                                              <p:pRg st="7" end="7"/>
                                            </p:txEl>
                                          </p:spTgt>
                                        </p:tgtEl>
                                        <p:attrNameLst>
                                          <p:attrName>style.visibility</p:attrName>
                                        </p:attrNameLst>
                                      </p:cBhvr>
                                      <p:to>
                                        <p:strVal val="visible"/>
                                      </p:to>
                                    </p:set>
                                    <p:anim calcmode="lin" valueType="num">
                                      <p:cBhvr additive="base">
                                        <p:cTn id="49" dur="500" fill="hold"/>
                                        <p:tgtEl>
                                          <p:spTgt spid="4099">
                                            <p:txEl>
                                              <p:pRg st="7" end="7"/>
                                            </p:txEl>
                                          </p:spTgt>
                                        </p:tgtEl>
                                        <p:attrNameLst>
                                          <p:attrName>ppt_x</p:attrName>
                                        </p:attrNameLst>
                                      </p:cBhvr>
                                      <p:tavLst>
                                        <p:tav tm="0">
                                          <p:val>
                                            <p:strVal val="0-#ppt_w/2"/>
                                          </p:val>
                                        </p:tav>
                                        <p:tav tm="100000">
                                          <p:val>
                                            <p:strVal val="#ppt_x"/>
                                          </p:val>
                                        </p:tav>
                                      </p:tavLst>
                                    </p:anim>
                                    <p:anim calcmode="lin" valueType="num">
                                      <p:cBhvr additive="base">
                                        <p:cTn id="50" dur="500" fill="hold"/>
                                        <p:tgtEl>
                                          <p:spTgt spid="4099">
                                            <p:txEl>
                                              <p:pRg st="7" end="7"/>
                                            </p:txEl>
                                          </p:spTgt>
                                        </p:tgtEl>
                                        <p:attrNameLst>
                                          <p:attrName>ppt_y</p:attrName>
                                        </p:attrNameLst>
                                      </p:cBhvr>
                                      <p:tavLst>
                                        <p:tav tm="0">
                                          <p:val>
                                            <p:strVal val="#ppt_y"/>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 presetClass="entr" presetSubtype="8" fill="hold" grpId="0" nodeType="clickEffect">
                                  <p:stCondLst>
                                    <p:cond delay="0"/>
                                  </p:stCondLst>
                                  <p:childTnLst>
                                    <p:set>
                                      <p:cBhvr>
                                        <p:cTn id="54" dur="1" fill="hold">
                                          <p:stCondLst>
                                            <p:cond delay="0"/>
                                          </p:stCondLst>
                                        </p:cTn>
                                        <p:tgtEl>
                                          <p:spTgt spid="4099">
                                            <p:txEl>
                                              <p:pRg st="8" end="8"/>
                                            </p:txEl>
                                          </p:spTgt>
                                        </p:tgtEl>
                                        <p:attrNameLst>
                                          <p:attrName>style.visibility</p:attrName>
                                        </p:attrNameLst>
                                      </p:cBhvr>
                                      <p:to>
                                        <p:strVal val="visible"/>
                                      </p:to>
                                    </p:set>
                                    <p:anim calcmode="lin" valueType="num">
                                      <p:cBhvr additive="base">
                                        <p:cTn id="55" dur="500" fill="hold"/>
                                        <p:tgtEl>
                                          <p:spTgt spid="4099">
                                            <p:txEl>
                                              <p:pRg st="8" end="8"/>
                                            </p:txEl>
                                          </p:spTgt>
                                        </p:tgtEl>
                                        <p:attrNameLst>
                                          <p:attrName>ppt_x</p:attrName>
                                        </p:attrNameLst>
                                      </p:cBhvr>
                                      <p:tavLst>
                                        <p:tav tm="0">
                                          <p:val>
                                            <p:strVal val="0-#ppt_w/2"/>
                                          </p:val>
                                        </p:tav>
                                        <p:tav tm="100000">
                                          <p:val>
                                            <p:strVal val="#ppt_x"/>
                                          </p:val>
                                        </p:tav>
                                      </p:tavLst>
                                    </p:anim>
                                    <p:anim calcmode="lin" valueType="num">
                                      <p:cBhvr additive="base">
                                        <p:cTn id="56" dur="500" fill="hold"/>
                                        <p:tgtEl>
                                          <p:spTgt spid="4099">
                                            <p:txEl>
                                              <p:pRg st="8" end="8"/>
                                            </p:txEl>
                                          </p:spTgt>
                                        </p:tgtEl>
                                        <p:attrNameLst>
                                          <p:attrName>ppt_y</p:attrName>
                                        </p:attrNameLst>
                                      </p:cBhvr>
                                      <p:tavLst>
                                        <p:tav tm="0">
                                          <p:val>
                                            <p:strVal val="#ppt_y"/>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9" presetID="2" presetClass="entr" presetSubtype="8" fill="hold" grpId="0" nodeType="clickEffect">
                                  <p:stCondLst>
                                    <p:cond delay="0"/>
                                  </p:stCondLst>
                                  <p:childTnLst>
                                    <p:set>
                                      <p:cBhvr>
                                        <p:cTn id="60" dur="1" fill="hold">
                                          <p:stCondLst>
                                            <p:cond delay="0"/>
                                          </p:stCondLst>
                                        </p:cTn>
                                        <p:tgtEl>
                                          <p:spTgt spid="4099">
                                            <p:txEl>
                                              <p:pRg st="9" end="9"/>
                                            </p:txEl>
                                          </p:spTgt>
                                        </p:tgtEl>
                                        <p:attrNameLst>
                                          <p:attrName>style.visibility</p:attrName>
                                        </p:attrNameLst>
                                      </p:cBhvr>
                                      <p:to>
                                        <p:strVal val="visible"/>
                                      </p:to>
                                    </p:set>
                                    <p:anim calcmode="lin" valueType="num">
                                      <p:cBhvr additive="base">
                                        <p:cTn id="61" dur="500" fill="hold"/>
                                        <p:tgtEl>
                                          <p:spTgt spid="4099">
                                            <p:txEl>
                                              <p:pRg st="9" end="9"/>
                                            </p:txEl>
                                          </p:spTgt>
                                        </p:tgtEl>
                                        <p:attrNameLst>
                                          <p:attrName>ppt_x</p:attrName>
                                        </p:attrNameLst>
                                      </p:cBhvr>
                                      <p:tavLst>
                                        <p:tav tm="0">
                                          <p:val>
                                            <p:strVal val="0-#ppt_w/2"/>
                                          </p:val>
                                        </p:tav>
                                        <p:tav tm="100000">
                                          <p:val>
                                            <p:strVal val="#ppt_x"/>
                                          </p:val>
                                        </p:tav>
                                      </p:tavLst>
                                    </p:anim>
                                    <p:anim calcmode="lin" valueType="num">
                                      <p:cBhvr additive="base">
                                        <p:cTn id="62" dur="500" fill="hold"/>
                                        <p:tgtEl>
                                          <p:spTgt spid="4099">
                                            <p:txEl>
                                              <p:pRg st="9" end="9"/>
                                            </p:txEl>
                                          </p:spTgt>
                                        </p:tgtEl>
                                        <p:attrNameLst>
                                          <p:attrName>ppt_y</p:attrName>
                                        </p:attrNameLst>
                                      </p:cBhvr>
                                      <p:tavLst>
                                        <p:tav tm="0">
                                          <p:val>
                                            <p:strVal val="#ppt_y"/>
                                          </p:val>
                                        </p:tav>
                                        <p:tav tm="100000">
                                          <p:val>
                                            <p:strVal val="#ppt_y"/>
                                          </p:val>
                                        </p:tav>
                                      </p:tavLst>
                                    </p:anim>
                                  </p:childTnLst>
                                </p:cTn>
                              </p:par>
                            </p:childTnLst>
                          </p:cTn>
                        </p:par>
                      </p:childTnLst>
                    </p:cTn>
                  </p:par>
                  <p:par>
                    <p:cTn id="63" fill="hold">
                      <p:stCondLst>
                        <p:cond delay="indefinite"/>
                      </p:stCondLst>
                      <p:childTnLst>
                        <p:par>
                          <p:cTn id="64" fill="hold">
                            <p:stCondLst>
                              <p:cond delay="0"/>
                            </p:stCondLst>
                            <p:childTnLst>
                              <p:par>
                                <p:cTn id="65" presetID="2" presetClass="entr" presetSubtype="8" fill="hold" grpId="0" nodeType="clickEffect">
                                  <p:stCondLst>
                                    <p:cond delay="0"/>
                                  </p:stCondLst>
                                  <p:childTnLst>
                                    <p:set>
                                      <p:cBhvr>
                                        <p:cTn id="66" dur="1" fill="hold">
                                          <p:stCondLst>
                                            <p:cond delay="0"/>
                                          </p:stCondLst>
                                        </p:cTn>
                                        <p:tgtEl>
                                          <p:spTgt spid="4099">
                                            <p:txEl>
                                              <p:pRg st="10" end="10"/>
                                            </p:txEl>
                                          </p:spTgt>
                                        </p:tgtEl>
                                        <p:attrNameLst>
                                          <p:attrName>style.visibility</p:attrName>
                                        </p:attrNameLst>
                                      </p:cBhvr>
                                      <p:to>
                                        <p:strVal val="visible"/>
                                      </p:to>
                                    </p:set>
                                    <p:anim calcmode="lin" valueType="num">
                                      <p:cBhvr additive="base">
                                        <p:cTn id="67" dur="500" fill="hold"/>
                                        <p:tgtEl>
                                          <p:spTgt spid="4099">
                                            <p:txEl>
                                              <p:pRg st="10" end="10"/>
                                            </p:txEl>
                                          </p:spTgt>
                                        </p:tgtEl>
                                        <p:attrNameLst>
                                          <p:attrName>ppt_x</p:attrName>
                                        </p:attrNameLst>
                                      </p:cBhvr>
                                      <p:tavLst>
                                        <p:tav tm="0">
                                          <p:val>
                                            <p:strVal val="0-#ppt_w/2"/>
                                          </p:val>
                                        </p:tav>
                                        <p:tav tm="100000">
                                          <p:val>
                                            <p:strVal val="#ppt_x"/>
                                          </p:val>
                                        </p:tav>
                                      </p:tavLst>
                                    </p:anim>
                                    <p:anim calcmode="lin" valueType="num">
                                      <p:cBhvr additive="base">
                                        <p:cTn id="68" dur="500" fill="hold"/>
                                        <p:tgtEl>
                                          <p:spTgt spid="4099">
                                            <p:txEl>
                                              <p:pRg st="10" end="10"/>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99" grpId="0" build="p" bldLvl="2" autoUpdateAnimBg="0"/>
    </p:bldLst>
  </p:timing>
</p:sld>
</file>

<file path=ppt/slides/slide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7170" name="Rectangle 2" descr="Large confetti"/>
          <p:cNvSpPr>
            <a:spLocks noGrp="1" noChangeArrowheads="1"/>
          </p:cNvSpPr>
          <p:nvPr>
            <p:ph type="title"/>
          </p:nvPr>
        </p:nvSpPr>
        <p:spPr/>
        <p:txBody>
          <a:bodyPr/>
          <a:lstStyle/>
          <a:p>
            <a:r>
              <a:rPr lang="en-US" dirty="0" smtClean="0"/>
              <a:t>Six</a:t>
            </a:r>
            <a:r>
              <a:rPr lang="en-US" dirty="0" smtClean="0"/>
              <a:t> </a:t>
            </a:r>
            <a:r>
              <a:rPr lang="en-US" dirty="0"/>
              <a:t>stages (types) of </a:t>
            </a:r>
            <a:br>
              <a:rPr lang="en-US" dirty="0"/>
            </a:br>
            <a:r>
              <a:rPr lang="en-US" dirty="0"/>
              <a:t>economic integration</a:t>
            </a:r>
          </a:p>
        </p:txBody>
      </p:sp>
      <p:sp>
        <p:nvSpPr>
          <p:cNvPr id="7171" name="Rectangle 3"/>
          <p:cNvSpPr>
            <a:spLocks noGrp="1" noChangeArrowheads="1"/>
          </p:cNvSpPr>
          <p:nvPr>
            <p:ph type="body" idx="1"/>
          </p:nvPr>
        </p:nvSpPr>
        <p:spPr/>
        <p:txBody>
          <a:bodyPr/>
          <a:lstStyle/>
          <a:p>
            <a:pPr>
              <a:lnSpc>
                <a:spcPct val="90000"/>
              </a:lnSpc>
            </a:pPr>
            <a:r>
              <a:rPr lang="en-US" sz="2400" b="1" dirty="0"/>
              <a:t>Common market: </a:t>
            </a:r>
          </a:p>
          <a:p>
            <a:pPr lvl="1">
              <a:lnSpc>
                <a:spcPct val="90000"/>
              </a:lnSpc>
            </a:pPr>
            <a:r>
              <a:rPr lang="en-US" sz="2400" dirty="0"/>
              <a:t>free movement of products and factors (resources), which is customs union plus factor mobility</a:t>
            </a:r>
          </a:p>
          <a:p>
            <a:pPr lvl="1">
              <a:lnSpc>
                <a:spcPct val="90000"/>
              </a:lnSpc>
            </a:pPr>
            <a:r>
              <a:rPr lang="en-US" sz="2400" dirty="0"/>
              <a:t>EU (European Union – previously EEC)</a:t>
            </a:r>
          </a:p>
          <a:p>
            <a:pPr>
              <a:lnSpc>
                <a:spcPct val="90000"/>
              </a:lnSpc>
            </a:pPr>
            <a:r>
              <a:rPr lang="en-US" sz="2400" b="1" dirty="0"/>
              <a:t>Economic union: </a:t>
            </a:r>
          </a:p>
          <a:p>
            <a:pPr lvl="1">
              <a:lnSpc>
                <a:spcPct val="90000"/>
              </a:lnSpc>
            </a:pPr>
            <a:r>
              <a:rPr lang="en-US" sz="2400" dirty="0"/>
              <a:t>common market plus common currency </a:t>
            </a:r>
          </a:p>
          <a:p>
            <a:pPr lvl="1">
              <a:lnSpc>
                <a:spcPct val="90000"/>
              </a:lnSpc>
            </a:pPr>
            <a:r>
              <a:rPr lang="en-US" sz="2400" dirty="0"/>
              <a:t>coordination of fiscal and monetary policy</a:t>
            </a:r>
          </a:p>
          <a:p>
            <a:pPr lvl="1">
              <a:lnSpc>
                <a:spcPct val="90000"/>
              </a:lnSpc>
            </a:pPr>
            <a:r>
              <a:rPr lang="en-US" sz="2400" dirty="0"/>
              <a:t>EMU (Economic and Monetary Union</a:t>
            </a:r>
            <a:r>
              <a:rPr lang="en-US" sz="2400" dirty="0" smtClean="0"/>
              <a:t>)</a:t>
            </a:r>
            <a:endParaRPr lang="en-US" sz="2400" dirty="0"/>
          </a:p>
          <a:p>
            <a:pPr>
              <a:lnSpc>
                <a:spcPct val="90000"/>
              </a:lnSpc>
            </a:pPr>
            <a:r>
              <a:rPr lang="en-US" sz="2400" b="1" dirty="0" smtClean="0"/>
              <a:t>Political Union</a:t>
            </a:r>
          </a:p>
          <a:p>
            <a:pPr>
              <a:lnSpc>
                <a:spcPct val="90000"/>
              </a:lnSpc>
              <a:buNone/>
            </a:pPr>
            <a:r>
              <a:rPr lang="en-US" sz="2400" dirty="0" smtClean="0"/>
              <a:t>	Central political system that coordinates the economic, social, and foreign policy of the member states</a:t>
            </a:r>
          </a:p>
          <a:p>
            <a:pPr>
              <a:lnSpc>
                <a:spcPct val="90000"/>
              </a:lnSpc>
              <a:buNone/>
            </a:pPr>
            <a:endParaRPr lang="en-US" sz="2400" dirty="0"/>
          </a:p>
        </p:txBody>
      </p:sp>
    </p:spTree>
  </p:cSld>
  <p:clrMapOvr>
    <a:masterClrMapping/>
  </p:clrMapOvr>
  <p:transition>
    <p:zoom dir="in"/>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7171">
                                            <p:txEl>
                                              <p:pRg st="0" end="0"/>
                                            </p:txEl>
                                          </p:spTgt>
                                        </p:tgtEl>
                                        <p:attrNameLst>
                                          <p:attrName>style.visibility</p:attrName>
                                        </p:attrNameLst>
                                      </p:cBhvr>
                                      <p:to>
                                        <p:strVal val="visible"/>
                                      </p:to>
                                    </p:set>
                                    <p:anim calcmode="lin" valueType="num">
                                      <p:cBhvr additive="base">
                                        <p:cTn id="7" dur="500" fill="hold"/>
                                        <p:tgtEl>
                                          <p:spTgt spid="7171">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7171">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7171">
                                            <p:txEl>
                                              <p:pRg st="1" end="1"/>
                                            </p:txEl>
                                          </p:spTgt>
                                        </p:tgtEl>
                                        <p:attrNameLst>
                                          <p:attrName>style.visibility</p:attrName>
                                        </p:attrNameLst>
                                      </p:cBhvr>
                                      <p:to>
                                        <p:strVal val="visible"/>
                                      </p:to>
                                    </p:set>
                                    <p:anim calcmode="lin" valueType="num">
                                      <p:cBhvr additive="base">
                                        <p:cTn id="13" dur="500" fill="hold"/>
                                        <p:tgtEl>
                                          <p:spTgt spid="7171">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7171">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7171">
                                            <p:txEl>
                                              <p:pRg st="2" end="2"/>
                                            </p:txEl>
                                          </p:spTgt>
                                        </p:tgtEl>
                                        <p:attrNameLst>
                                          <p:attrName>style.visibility</p:attrName>
                                        </p:attrNameLst>
                                      </p:cBhvr>
                                      <p:to>
                                        <p:strVal val="visible"/>
                                      </p:to>
                                    </p:set>
                                    <p:anim calcmode="lin" valueType="num">
                                      <p:cBhvr additive="base">
                                        <p:cTn id="19" dur="500" fill="hold"/>
                                        <p:tgtEl>
                                          <p:spTgt spid="7171">
                                            <p:txEl>
                                              <p:pRg st="2" end="2"/>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7171">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7171">
                                            <p:txEl>
                                              <p:pRg st="3" end="3"/>
                                            </p:txEl>
                                          </p:spTgt>
                                        </p:tgtEl>
                                        <p:attrNameLst>
                                          <p:attrName>style.visibility</p:attrName>
                                        </p:attrNameLst>
                                      </p:cBhvr>
                                      <p:to>
                                        <p:strVal val="visible"/>
                                      </p:to>
                                    </p:set>
                                    <p:anim calcmode="lin" valueType="num">
                                      <p:cBhvr additive="base">
                                        <p:cTn id="25" dur="500" fill="hold"/>
                                        <p:tgtEl>
                                          <p:spTgt spid="7171">
                                            <p:txEl>
                                              <p:pRg st="3" end="3"/>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7171">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8" fill="hold" grpId="0" nodeType="clickEffect">
                                  <p:stCondLst>
                                    <p:cond delay="0"/>
                                  </p:stCondLst>
                                  <p:childTnLst>
                                    <p:set>
                                      <p:cBhvr>
                                        <p:cTn id="30" dur="1" fill="hold">
                                          <p:stCondLst>
                                            <p:cond delay="0"/>
                                          </p:stCondLst>
                                        </p:cTn>
                                        <p:tgtEl>
                                          <p:spTgt spid="7171">
                                            <p:txEl>
                                              <p:pRg st="4" end="4"/>
                                            </p:txEl>
                                          </p:spTgt>
                                        </p:tgtEl>
                                        <p:attrNameLst>
                                          <p:attrName>style.visibility</p:attrName>
                                        </p:attrNameLst>
                                      </p:cBhvr>
                                      <p:to>
                                        <p:strVal val="visible"/>
                                      </p:to>
                                    </p:set>
                                    <p:anim calcmode="lin" valueType="num">
                                      <p:cBhvr additive="base">
                                        <p:cTn id="31" dur="500" fill="hold"/>
                                        <p:tgtEl>
                                          <p:spTgt spid="7171">
                                            <p:txEl>
                                              <p:pRg st="4" end="4"/>
                                            </p:txEl>
                                          </p:spTgt>
                                        </p:tgtEl>
                                        <p:attrNameLst>
                                          <p:attrName>ppt_x</p:attrName>
                                        </p:attrNameLst>
                                      </p:cBhvr>
                                      <p:tavLst>
                                        <p:tav tm="0">
                                          <p:val>
                                            <p:strVal val="0-#ppt_w/2"/>
                                          </p:val>
                                        </p:tav>
                                        <p:tav tm="100000">
                                          <p:val>
                                            <p:strVal val="#ppt_x"/>
                                          </p:val>
                                        </p:tav>
                                      </p:tavLst>
                                    </p:anim>
                                    <p:anim calcmode="lin" valueType="num">
                                      <p:cBhvr additive="base">
                                        <p:cTn id="32" dur="500" fill="hold"/>
                                        <p:tgtEl>
                                          <p:spTgt spid="7171">
                                            <p:txEl>
                                              <p:pRg st="4" end="4"/>
                                            </p:txEl>
                                          </p:spTgt>
                                        </p:tgtEl>
                                        <p:attrNameLst>
                                          <p:attrName>ppt_y</p:attrName>
                                        </p:attrNameLst>
                                      </p:cBhvr>
                                      <p:tavLst>
                                        <p:tav tm="0">
                                          <p:val>
                                            <p:strVal val="#ppt_y"/>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8" fill="hold" grpId="0" nodeType="clickEffect">
                                  <p:stCondLst>
                                    <p:cond delay="0"/>
                                  </p:stCondLst>
                                  <p:childTnLst>
                                    <p:set>
                                      <p:cBhvr>
                                        <p:cTn id="36" dur="1" fill="hold">
                                          <p:stCondLst>
                                            <p:cond delay="0"/>
                                          </p:stCondLst>
                                        </p:cTn>
                                        <p:tgtEl>
                                          <p:spTgt spid="7171">
                                            <p:txEl>
                                              <p:pRg st="5" end="5"/>
                                            </p:txEl>
                                          </p:spTgt>
                                        </p:tgtEl>
                                        <p:attrNameLst>
                                          <p:attrName>style.visibility</p:attrName>
                                        </p:attrNameLst>
                                      </p:cBhvr>
                                      <p:to>
                                        <p:strVal val="visible"/>
                                      </p:to>
                                    </p:set>
                                    <p:anim calcmode="lin" valueType="num">
                                      <p:cBhvr additive="base">
                                        <p:cTn id="37" dur="500" fill="hold"/>
                                        <p:tgtEl>
                                          <p:spTgt spid="7171">
                                            <p:txEl>
                                              <p:pRg st="5" end="5"/>
                                            </p:txEl>
                                          </p:spTgt>
                                        </p:tgtEl>
                                        <p:attrNameLst>
                                          <p:attrName>ppt_x</p:attrName>
                                        </p:attrNameLst>
                                      </p:cBhvr>
                                      <p:tavLst>
                                        <p:tav tm="0">
                                          <p:val>
                                            <p:strVal val="0-#ppt_w/2"/>
                                          </p:val>
                                        </p:tav>
                                        <p:tav tm="100000">
                                          <p:val>
                                            <p:strVal val="#ppt_x"/>
                                          </p:val>
                                        </p:tav>
                                      </p:tavLst>
                                    </p:anim>
                                    <p:anim calcmode="lin" valueType="num">
                                      <p:cBhvr additive="base">
                                        <p:cTn id="38" dur="500" fill="hold"/>
                                        <p:tgtEl>
                                          <p:spTgt spid="7171">
                                            <p:txEl>
                                              <p:pRg st="5" end="5"/>
                                            </p:txEl>
                                          </p:spTgt>
                                        </p:tgtEl>
                                        <p:attrNameLst>
                                          <p:attrName>ppt_y</p:attrName>
                                        </p:attrNameLst>
                                      </p:cBhvr>
                                      <p:tavLst>
                                        <p:tav tm="0">
                                          <p:val>
                                            <p:strVal val="#ppt_y"/>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8" fill="hold" grpId="0" nodeType="clickEffect">
                                  <p:stCondLst>
                                    <p:cond delay="0"/>
                                  </p:stCondLst>
                                  <p:childTnLst>
                                    <p:set>
                                      <p:cBhvr>
                                        <p:cTn id="42" dur="1" fill="hold">
                                          <p:stCondLst>
                                            <p:cond delay="0"/>
                                          </p:stCondLst>
                                        </p:cTn>
                                        <p:tgtEl>
                                          <p:spTgt spid="7171">
                                            <p:txEl>
                                              <p:pRg st="6" end="6"/>
                                            </p:txEl>
                                          </p:spTgt>
                                        </p:tgtEl>
                                        <p:attrNameLst>
                                          <p:attrName>style.visibility</p:attrName>
                                        </p:attrNameLst>
                                      </p:cBhvr>
                                      <p:to>
                                        <p:strVal val="visible"/>
                                      </p:to>
                                    </p:set>
                                    <p:anim calcmode="lin" valueType="num">
                                      <p:cBhvr additive="base">
                                        <p:cTn id="43" dur="500" fill="hold"/>
                                        <p:tgtEl>
                                          <p:spTgt spid="7171">
                                            <p:txEl>
                                              <p:pRg st="6" end="6"/>
                                            </p:txEl>
                                          </p:spTgt>
                                        </p:tgtEl>
                                        <p:attrNameLst>
                                          <p:attrName>ppt_x</p:attrName>
                                        </p:attrNameLst>
                                      </p:cBhvr>
                                      <p:tavLst>
                                        <p:tav tm="0">
                                          <p:val>
                                            <p:strVal val="0-#ppt_w/2"/>
                                          </p:val>
                                        </p:tav>
                                        <p:tav tm="100000">
                                          <p:val>
                                            <p:strVal val="#ppt_x"/>
                                          </p:val>
                                        </p:tav>
                                      </p:tavLst>
                                    </p:anim>
                                    <p:anim calcmode="lin" valueType="num">
                                      <p:cBhvr additive="base">
                                        <p:cTn id="44" dur="500" fill="hold"/>
                                        <p:tgtEl>
                                          <p:spTgt spid="7171">
                                            <p:txEl>
                                              <p:pRg st="6" end="6"/>
                                            </p:txEl>
                                          </p:spTgt>
                                        </p:tgtEl>
                                        <p:attrNameLst>
                                          <p:attrName>ppt_y</p:attrName>
                                        </p:attrNameLst>
                                      </p:cBhvr>
                                      <p:tavLst>
                                        <p:tav tm="0">
                                          <p:val>
                                            <p:strVal val="#ppt_y"/>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8" fill="hold" grpId="0" nodeType="clickEffect">
                                  <p:stCondLst>
                                    <p:cond delay="0"/>
                                  </p:stCondLst>
                                  <p:childTnLst>
                                    <p:set>
                                      <p:cBhvr>
                                        <p:cTn id="48" dur="1" fill="hold">
                                          <p:stCondLst>
                                            <p:cond delay="0"/>
                                          </p:stCondLst>
                                        </p:cTn>
                                        <p:tgtEl>
                                          <p:spTgt spid="7171">
                                            <p:txEl>
                                              <p:pRg st="7" end="7"/>
                                            </p:txEl>
                                          </p:spTgt>
                                        </p:tgtEl>
                                        <p:attrNameLst>
                                          <p:attrName>style.visibility</p:attrName>
                                        </p:attrNameLst>
                                      </p:cBhvr>
                                      <p:to>
                                        <p:strVal val="visible"/>
                                      </p:to>
                                    </p:set>
                                    <p:anim calcmode="lin" valueType="num">
                                      <p:cBhvr additive="base">
                                        <p:cTn id="49" dur="500" fill="hold"/>
                                        <p:tgtEl>
                                          <p:spTgt spid="7171">
                                            <p:txEl>
                                              <p:pRg st="7" end="7"/>
                                            </p:txEl>
                                          </p:spTgt>
                                        </p:tgtEl>
                                        <p:attrNameLst>
                                          <p:attrName>ppt_x</p:attrName>
                                        </p:attrNameLst>
                                      </p:cBhvr>
                                      <p:tavLst>
                                        <p:tav tm="0">
                                          <p:val>
                                            <p:strVal val="0-#ppt_w/2"/>
                                          </p:val>
                                        </p:tav>
                                        <p:tav tm="100000">
                                          <p:val>
                                            <p:strVal val="#ppt_x"/>
                                          </p:val>
                                        </p:tav>
                                      </p:tavLst>
                                    </p:anim>
                                    <p:anim calcmode="lin" valueType="num">
                                      <p:cBhvr additive="base">
                                        <p:cTn id="50" dur="500" fill="hold"/>
                                        <p:tgtEl>
                                          <p:spTgt spid="7171">
                                            <p:txEl>
                                              <p:pRg st="7" end="7"/>
                                            </p:txEl>
                                          </p:spTgt>
                                        </p:tgtEl>
                                        <p:attrNameLst>
                                          <p:attrName>ppt_y</p:attrName>
                                        </p:attrNameLst>
                                      </p:cBhvr>
                                      <p:tavLst>
                                        <p:tav tm="0">
                                          <p:val>
                                            <p:strVal val="#ppt_y"/>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 presetClass="entr" presetSubtype="8" fill="hold" grpId="0" nodeType="clickEffect">
                                  <p:stCondLst>
                                    <p:cond delay="0"/>
                                  </p:stCondLst>
                                  <p:childTnLst>
                                    <p:set>
                                      <p:cBhvr>
                                        <p:cTn id="54" dur="1" fill="hold">
                                          <p:stCondLst>
                                            <p:cond delay="0"/>
                                          </p:stCondLst>
                                        </p:cTn>
                                        <p:tgtEl>
                                          <p:spTgt spid="7171">
                                            <p:txEl>
                                              <p:pRg st="8" end="8"/>
                                            </p:txEl>
                                          </p:spTgt>
                                        </p:tgtEl>
                                        <p:attrNameLst>
                                          <p:attrName>style.visibility</p:attrName>
                                        </p:attrNameLst>
                                      </p:cBhvr>
                                      <p:to>
                                        <p:strVal val="visible"/>
                                      </p:to>
                                    </p:set>
                                    <p:anim calcmode="lin" valueType="num">
                                      <p:cBhvr additive="base">
                                        <p:cTn id="55" dur="500" fill="hold"/>
                                        <p:tgtEl>
                                          <p:spTgt spid="7171">
                                            <p:txEl>
                                              <p:pRg st="8" end="8"/>
                                            </p:txEl>
                                          </p:spTgt>
                                        </p:tgtEl>
                                        <p:attrNameLst>
                                          <p:attrName>ppt_x</p:attrName>
                                        </p:attrNameLst>
                                      </p:cBhvr>
                                      <p:tavLst>
                                        <p:tav tm="0">
                                          <p:val>
                                            <p:strVal val="0-#ppt_w/2"/>
                                          </p:val>
                                        </p:tav>
                                        <p:tav tm="100000">
                                          <p:val>
                                            <p:strVal val="#ppt_x"/>
                                          </p:val>
                                        </p:tav>
                                      </p:tavLst>
                                    </p:anim>
                                    <p:anim calcmode="lin" valueType="num">
                                      <p:cBhvr additive="base">
                                        <p:cTn id="56" dur="500" fill="hold"/>
                                        <p:tgtEl>
                                          <p:spTgt spid="7171">
                                            <p:txEl>
                                              <p:pRg st="8" end="8"/>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171" grpId="0" build="p" bldLvl="2" autoUpdateAnimBg="0"/>
    </p:bldLst>
  </p:timing>
</p:sld>
</file>

<file path=ppt/slides/slide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122" name="Rectangle 2" descr="Large confetti"/>
          <p:cNvSpPr>
            <a:spLocks noGrp="1" noChangeArrowheads="1"/>
          </p:cNvSpPr>
          <p:nvPr>
            <p:ph type="title"/>
          </p:nvPr>
        </p:nvSpPr>
        <p:spPr/>
        <p:txBody>
          <a:bodyPr/>
          <a:lstStyle/>
          <a:p>
            <a:r>
              <a:rPr lang="en-US"/>
              <a:t>Economic effects of economic integration</a:t>
            </a:r>
          </a:p>
        </p:txBody>
      </p:sp>
      <p:sp>
        <p:nvSpPr>
          <p:cNvPr id="5123" name="Rectangle 3"/>
          <p:cNvSpPr>
            <a:spLocks noGrp="1" noChangeArrowheads="1"/>
          </p:cNvSpPr>
          <p:nvPr>
            <p:ph type="body" idx="1"/>
          </p:nvPr>
        </p:nvSpPr>
        <p:spPr/>
        <p:txBody>
          <a:bodyPr/>
          <a:lstStyle/>
          <a:p>
            <a:pPr>
              <a:lnSpc>
                <a:spcPct val="90000"/>
              </a:lnSpc>
            </a:pPr>
            <a:r>
              <a:rPr lang="en-US" sz="2800" dirty="0"/>
              <a:t>Static effects: Short-term effects (shift of production)</a:t>
            </a:r>
          </a:p>
          <a:p>
            <a:pPr lvl="1">
              <a:lnSpc>
                <a:spcPct val="90000"/>
              </a:lnSpc>
            </a:pPr>
            <a:r>
              <a:rPr lang="en-US" sz="2400" dirty="0"/>
              <a:t>Trade creation: production shifts to more efficient member countries from inefficient domestic or outside countries. </a:t>
            </a:r>
          </a:p>
          <a:p>
            <a:pPr lvl="1">
              <a:lnSpc>
                <a:spcPct val="90000"/>
              </a:lnSpc>
            </a:pPr>
            <a:r>
              <a:rPr lang="en-US" sz="2400" dirty="0"/>
              <a:t>Trade diversion: production shift to inefficient member countries from more efficient outsiders.</a:t>
            </a:r>
          </a:p>
          <a:p>
            <a:pPr>
              <a:lnSpc>
                <a:spcPct val="90000"/>
              </a:lnSpc>
            </a:pPr>
            <a:r>
              <a:rPr lang="en-US" sz="2800" dirty="0"/>
              <a:t>Dynamic effects: Long-term effects</a:t>
            </a:r>
          </a:p>
          <a:p>
            <a:pPr lvl="1">
              <a:lnSpc>
                <a:spcPct val="90000"/>
              </a:lnSpc>
            </a:pPr>
            <a:r>
              <a:rPr lang="en-US" sz="2400" dirty="0"/>
              <a:t>Cost reduction due to economies of scale </a:t>
            </a:r>
          </a:p>
          <a:p>
            <a:pPr lvl="1">
              <a:lnSpc>
                <a:spcPct val="90000"/>
              </a:lnSpc>
            </a:pPr>
            <a:r>
              <a:rPr lang="en-US" sz="2400" dirty="0"/>
              <a:t>Cost reduction due to increased competition.</a:t>
            </a:r>
          </a:p>
        </p:txBody>
      </p:sp>
    </p:spTree>
  </p:cSld>
  <p:clrMapOvr>
    <a:masterClrMapping/>
  </p:clrMapOvr>
  <p:transition>
    <p:zoom dir="in"/>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5123">
                                            <p:txEl>
                                              <p:pRg st="0" end="0"/>
                                            </p:txEl>
                                          </p:spTgt>
                                        </p:tgtEl>
                                        <p:attrNameLst>
                                          <p:attrName>style.visibility</p:attrName>
                                        </p:attrNameLst>
                                      </p:cBhvr>
                                      <p:to>
                                        <p:strVal val="visible"/>
                                      </p:to>
                                    </p:set>
                                    <p:anim calcmode="lin" valueType="num">
                                      <p:cBhvr additive="base">
                                        <p:cTn id="7" dur="500" fill="hold"/>
                                        <p:tgtEl>
                                          <p:spTgt spid="5123">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5123">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5123">
                                            <p:txEl>
                                              <p:pRg st="1" end="1"/>
                                            </p:txEl>
                                          </p:spTgt>
                                        </p:tgtEl>
                                        <p:attrNameLst>
                                          <p:attrName>style.visibility</p:attrName>
                                        </p:attrNameLst>
                                      </p:cBhvr>
                                      <p:to>
                                        <p:strVal val="visible"/>
                                      </p:to>
                                    </p:set>
                                    <p:anim calcmode="lin" valueType="num">
                                      <p:cBhvr additive="base">
                                        <p:cTn id="13" dur="500" fill="hold"/>
                                        <p:tgtEl>
                                          <p:spTgt spid="5123">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5123">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5123">
                                            <p:txEl>
                                              <p:pRg st="2" end="2"/>
                                            </p:txEl>
                                          </p:spTgt>
                                        </p:tgtEl>
                                        <p:attrNameLst>
                                          <p:attrName>style.visibility</p:attrName>
                                        </p:attrNameLst>
                                      </p:cBhvr>
                                      <p:to>
                                        <p:strVal val="visible"/>
                                      </p:to>
                                    </p:set>
                                    <p:anim calcmode="lin" valueType="num">
                                      <p:cBhvr additive="base">
                                        <p:cTn id="19" dur="500" fill="hold"/>
                                        <p:tgtEl>
                                          <p:spTgt spid="5123">
                                            <p:txEl>
                                              <p:pRg st="2" end="2"/>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5123">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5123">
                                            <p:txEl>
                                              <p:pRg st="3" end="3"/>
                                            </p:txEl>
                                          </p:spTgt>
                                        </p:tgtEl>
                                        <p:attrNameLst>
                                          <p:attrName>style.visibility</p:attrName>
                                        </p:attrNameLst>
                                      </p:cBhvr>
                                      <p:to>
                                        <p:strVal val="visible"/>
                                      </p:to>
                                    </p:set>
                                    <p:anim calcmode="lin" valueType="num">
                                      <p:cBhvr additive="base">
                                        <p:cTn id="25" dur="500" fill="hold"/>
                                        <p:tgtEl>
                                          <p:spTgt spid="5123">
                                            <p:txEl>
                                              <p:pRg st="3" end="3"/>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5123">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8" fill="hold" grpId="0" nodeType="clickEffect">
                                  <p:stCondLst>
                                    <p:cond delay="0"/>
                                  </p:stCondLst>
                                  <p:childTnLst>
                                    <p:set>
                                      <p:cBhvr>
                                        <p:cTn id="30" dur="1" fill="hold">
                                          <p:stCondLst>
                                            <p:cond delay="0"/>
                                          </p:stCondLst>
                                        </p:cTn>
                                        <p:tgtEl>
                                          <p:spTgt spid="5123">
                                            <p:txEl>
                                              <p:pRg st="4" end="4"/>
                                            </p:txEl>
                                          </p:spTgt>
                                        </p:tgtEl>
                                        <p:attrNameLst>
                                          <p:attrName>style.visibility</p:attrName>
                                        </p:attrNameLst>
                                      </p:cBhvr>
                                      <p:to>
                                        <p:strVal val="visible"/>
                                      </p:to>
                                    </p:set>
                                    <p:anim calcmode="lin" valueType="num">
                                      <p:cBhvr additive="base">
                                        <p:cTn id="31" dur="500" fill="hold"/>
                                        <p:tgtEl>
                                          <p:spTgt spid="5123">
                                            <p:txEl>
                                              <p:pRg st="4" end="4"/>
                                            </p:txEl>
                                          </p:spTgt>
                                        </p:tgtEl>
                                        <p:attrNameLst>
                                          <p:attrName>ppt_x</p:attrName>
                                        </p:attrNameLst>
                                      </p:cBhvr>
                                      <p:tavLst>
                                        <p:tav tm="0">
                                          <p:val>
                                            <p:strVal val="0-#ppt_w/2"/>
                                          </p:val>
                                        </p:tav>
                                        <p:tav tm="100000">
                                          <p:val>
                                            <p:strVal val="#ppt_x"/>
                                          </p:val>
                                        </p:tav>
                                      </p:tavLst>
                                    </p:anim>
                                    <p:anim calcmode="lin" valueType="num">
                                      <p:cBhvr additive="base">
                                        <p:cTn id="32" dur="500" fill="hold"/>
                                        <p:tgtEl>
                                          <p:spTgt spid="5123">
                                            <p:txEl>
                                              <p:pRg st="4" end="4"/>
                                            </p:txEl>
                                          </p:spTgt>
                                        </p:tgtEl>
                                        <p:attrNameLst>
                                          <p:attrName>ppt_y</p:attrName>
                                        </p:attrNameLst>
                                      </p:cBhvr>
                                      <p:tavLst>
                                        <p:tav tm="0">
                                          <p:val>
                                            <p:strVal val="#ppt_y"/>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8" fill="hold" grpId="0" nodeType="clickEffect">
                                  <p:stCondLst>
                                    <p:cond delay="0"/>
                                  </p:stCondLst>
                                  <p:childTnLst>
                                    <p:set>
                                      <p:cBhvr>
                                        <p:cTn id="36" dur="1" fill="hold">
                                          <p:stCondLst>
                                            <p:cond delay="0"/>
                                          </p:stCondLst>
                                        </p:cTn>
                                        <p:tgtEl>
                                          <p:spTgt spid="5123">
                                            <p:txEl>
                                              <p:pRg st="5" end="5"/>
                                            </p:txEl>
                                          </p:spTgt>
                                        </p:tgtEl>
                                        <p:attrNameLst>
                                          <p:attrName>style.visibility</p:attrName>
                                        </p:attrNameLst>
                                      </p:cBhvr>
                                      <p:to>
                                        <p:strVal val="visible"/>
                                      </p:to>
                                    </p:set>
                                    <p:anim calcmode="lin" valueType="num">
                                      <p:cBhvr additive="base">
                                        <p:cTn id="37" dur="500" fill="hold"/>
                                        <p:tgtEl>
                                          <p:spTgt spid="5123">
                                            <p:txEl>
                                              <p:pRg st="5" end="5"/>
                                            </p:txEl>
                                          </p:spTgt>
                                        </p:tgtEl>
                                        <p:attrNameLst>
                                          <p:attrName>ppt_x</p:attrName>
                                        </p:attrNameLst>
                                      </p:cBhvr>
                                      <p:tavLst>
                                        <p:tav tm="0">
                                          <p:val>
                                            <p:strVal val="0-#ppt_w/2"/>
                                          </p:val>
                                        </p:tav>
                                        <p:tav tm="100000">
                                          <p:val>
                                            <p:strVal val="#ppt_x"/>
                                          </p:val>
                                        </p:tav>
                                      </p:tavLst>
                                    </p:anim>
                                    <p:anim calcmode="lin" valueType="num">
                                      <p:cBhvr additive="base">
                                        <p:cTn id="38" dur="500" fill="hold"/>
                                        <p:tgtEl>
                                          <p:spTgt spid="5123">
                                            <p:txEl>
                                              <p:pRg st="5" end="5"/>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23" grpId="0" build="p" bldLvl="2" autoUpdateAnimBg="0"/>
    </p:bldLst>
  </p:timing>
</p:sld>
</file>

<file path=ppt/slides/slide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146" name="Rectangle 2" descr="Large confetti"/>
          <p:cNvSpPr>
            <a:spLocks noGrp="1" noChangeArrowheads="1"/>
          </p:cNvSpPr>
          <p:nvPr>
            <p:ph type="title"/>
          </p:nvPr>
        </p:nvSpPr>
        <p:spPr/>
        <p:txBody>
          <a:bodyPr/>
          <a:lstStyle/>
          <a:p>
            <a:r>
              <a:rPr lang="en-US"/>
              <a:t>History of EU</a:t>
            </a:r>
          </a:p>
        </p:txBody>
      </p:sp>
      <p:sp>
        <p:nvSpPr>
          <p:cNvPr id="6147" name="Rectangle 3"/>
          <p:cNvSpPr>
            <a:spLocks noGrp="1" noChangeArrowheads="1"/>
          </p:cNvSpPr>
          <p:nvPr>
            <p:ph type="body" idx="1"/>
          </p:nvPr>
        </p:nvSpPr>
        <p:spPr/>
        <p:txBody>
          <a:bodyPr/>
          <a:lstStyle/>
          <a:p>
            <a:pPr>
              <a:lnSpc>
                <a:spcPct val="90000"/>
              </a:lnSpc>
            </a:pPr>
            <a:r>
              <a:rPr lang="en-US" dirty="0"/>
              <a:t>Treaty of Paris (1951)</a:t>
            </a:r>
          </a:p>
          <a:p>
            <a:pPr lvl="1">
              <a:lnSpc>
                <a:spcPct val="90000"/>
              </a:lnSpc>
            </a:pPr>
            <a:r>
              <a:rPr lang="en-US" dirty="0"/>
              <a:t>Formation of ECSC (European coal and steel community) by six countries</a:t>
            </a:r>
          </a:p>
          <a:p>
            <a:pPr>
              <a:lnSpc>
                <a:spcPct val="90000"/>
              </a:lnSpc>
            </a:pPr>
            <a:r>
              <a:rPr lang="en-US" dirty="0"/>
              <a:t>Treaty of Rome (1957)</a:t>
            </a:r>
          </a:p>
          <a:p>
            <a:pPr lvl="1">
              <a:lnSpc>
                <a:spcPct val="90000"/>
              </a:lnSpc>
            </a:pPr>
            <a:r>
              <a:rPr lang="en-US" dirty="0"/>
              <a:t>Formation of EEC (European economic community), initially free trade area, becoming a customs union in 1967.</a:t>
            </a:r>
          </a:p>
          <a:p>
            <a:pPr lvl="1">
              <a:lnSpc>
                <a:spcPct val="90000"/>
              </a:lnSpc>
            </a:pPr>
            <a:r>
              <a:rPr lang="en-US" dirty="0"/>
              <a:t>The Stockholm convention in 1960 created EFTA by seven countries to counteract EEC.</a:t>
            </a:r>
          </a:p>
        </p:txBody>
      </p:sp>
    </p:spTree>
  </p:cSld>
  <p:clrMapOvr>
    <a:masterClrMapping/>
  </p:clrMapOvr>
  <p:transition>
    <p:zoom dir="in"/>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6147">
                                            <p:txEl>
                                              <p:pRg st="0" end="0"/>
                                            </p:txEl>
                                          </p:spTgt>
                                        </p:tgtEl>
                                        <p:attrNameLst>
                                          <p:attrName>style.visibility</p:attrName>
                                        </p:attrNameLst>
                                      </p:cBhvr>
                                      <p:to>
                                        <p:strVal val="visible"/>
                                      </p:to>
                                    </p:set>
                                    <p:anim calcmode="lin" valueType="num">
                                      <p:cBhvr additive="base">
                                        <p:cTn id="7" dur="500" fill="hold"/>
                                        <p:tgtEl>
                                          <p:spTgt spid="6147">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6147">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6147">
                                            <p:txEl>
                                              <p:pRg st="1" end="1"/>
                                            </p:txEl>
                                          </p:spTgt>
                                        </p:tgtEl>
                                        <p:attrNameLst>
                                          <p:attrName>style.visibility</p:attrName>
                                        </p:attrNameLst>
                                      </p:cBhvr>
                                      <p:to>
                                        <p:strVal val="visible"/>
                                      </p:to>
                                    </p:set>
                                    <p:anim calcmode="lin" valueType="num">
                                      <p:cBhvr additive="base">
                                        <p:cTn id="13" dur="500" fill="hold"/>
                                        <p:tgtEl>
                                          <p:spTgt spid="6147">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6147">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6147">
                                            <p:txEl>
                                              <p:pRg st="2" end="2"/>
                                            </p:txEl>
                                          </p:spTgt>
                                        </p:tgtEl>
                                        <p:attrNameLst>
                                          <p:attrName>style.visibility</p:attrName>
                                        </p:attrNameLst>
                                      </p:cBhvr>
                                      <p:to>
                                        <p:strVal val="visible"/>
                                      </p:to>
                                    </p:set>
                                    <p:anim calcmode="lin" valueType="num">
                                      <p:cBhvr additive="base">
                                        <p:cTn id="19" dur="500" fill="hold"/>
                                        <p:tgtEl>
                                          <p:spTgt spid="6147">
                                            <p:txEl>
                                              <p:pRg st="2" end="2"/>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6147">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6147">
                                            <p:txEl>
                                              <p:pRg st="3" end="3"/>
                                            </p:txEl>
                                          </p:spTgt>
                                        </p:tgtEl>
                                        <p:attrNameLst>
                                          <p:attrName>style.visibility</p:attrName>
                                        </p:attrNameLst>
                                      </p:cBhvr>
                                      <p:to>
                                        <p:strVal val="visible"/>
                                      </p:to>
                                    </p:set>
                                    <p:anim calcmode="lin" valueType="num">
                                      <p:cBhvr additive="base">
                                        <p:cTn id="25" dur="500" fill="hold"/>
                                        <p:tgtEl>
                                          <p:spTgt spid="6147">
                                            <p:txEl>
                                              <p:pRg st="3" end="3"/>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6147">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8" fill="hold" grpId="0" nodeType="clickEffect">
                                  <p:stCondLst>
                                    <p:cond delay="0"/>
                                  </p:stCondLst>
                                  <p:childTnLst>
                                    <p:set>
                                      <p:cBhvr>
                                        <p:cTn id="30" dur="1" fill="hold">
                                          <p:stCondLst>
                                            <p:cond delay="0"/>
                                          </p:stCondLst>
                                        </p:cTn>
                                        <p:tgtEl>
                                          <p:spTgt spid="6147">
                                            <p:txEl>
                                              <p:pRg st="4" end="4"/>
                                            </p:txEl>
                                          </p:spTgt>
                                        </p:tgtEl>
                                        <p:attrNameLst>
                                          <p:attrName>style.visibility</p:attrName>
                                        </p:attrNameLst>
                                      </p:cBhvr>
                                      <p:to>
                                        <p:strVal val="visible"/>
                                      </p:to>
                                    </p:set>
                                    <p:anim calcmode="lin" valueType="num">
                                      <p:cBhvr additive="base">
                                        <p:cTn id="31" dur="500" fill="hold"/>
                                        <p:tgtEl>
                                          <p:spTgt spid="6147">
                                            <p:txEl>
                                              <p:pRg st="4" end="4"/>
                                            </p:txEl>
                                          </p:spTgt>
                                        </p:tgtEl>
                                        <p:attrNameLst>
                                          <p:attrName>ppt_x</p:attrName>
                                        </p:attrNameLst>
                                      </p:cBhvr>
                                      <p:tavLst>
                                        <p:tav tm="0">
                                          <p:val>
                                            <p:strVal val="0-#ppt_w/2"/>
                                          </p:val>
                                        </p:tav>
                                        <p:tav tm="100000">
                                          <p:val>
                                            <p:strVal val="#ppt_x"/>
                                          </p:val>
                                        </p:tav>
                                      </p:tavLst>
                                    </p:anim>
                                    <p:anim calcmode="lin" valueType="num">
                                      <p:cBhvr additive="base">
                                        <p:cTn id="32" dur="500" fill="hold"/>
                                        <p:tgtEl>
                                          <p:spTgt spid="6147">
                                            <p:txEl>
                                              <p:pRg st="4" end="4"/>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47" grpId="0" build="p" bldLvl="2" autoUpdateAnimBg="0"/>
    </p:bldLst>
  </p:timing>
</p:sld>
</file>

<file path=ppt/slides/slide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8194" name="Rectangle 2" descr="Large confetti"/>
          <p:cNvSpPr>
            <a:spLocks noGrp="1" noChangeArrowheads="1"/>
          </p:cNvSpPr>
          <p:nvPr>
            <p:ph type="title"/>
          </p:nvPr>
        </p:nvSpPr>
        <p:spPr/>
        <p:txBody>
          <a:bodyPr/>
          <a:lstStyle/>
          <a:p>
            <a:r>
              <a:rPr lang="en-US"/>
              <a:t>History of EU</a:t>
            </a:r>
            <a:br>
              <a:rPr lang="en-US"/>
            </a:br>
            <a:r>
              <a:rPr lang="en-US"/>
              <a:t>Continued</a:t>
            </a:r>
          </a:p>
        </p:txBody>
      </p:sp>
      <p:sp>
        <p:nvSpPr>
          <p:cNvPr id="8195" name="Rectangle 3"/>
          <p:cNvSpPr>
            <a:spLocks noGrp="1" noChangeArrowheads="1"/>
          </p:cNvSpPr>
          <p:nvPr>
            <p:ph type="body" idx="1"/>
          </p:nvPr>
        </p:nvSpPr>
        <p:spPr/>
        <p:txBody>
          <a:bodyPr/>
          <a:lstStyle/>
          <a:p>
            <a:pPr>
              <a:lnSpc>
                <a:spcPct val="90000"/>
              </a:lnSpc>
            </a:pPr>
            <a:r>
              <a:rPr lang="en-US" sz="2800"/>
              <a:t>Single European Act of 1987</a:t>
            </a:r>
          </a:p>
          <a:p>
            <a:pPr lvl="1">
              <a:lnSpc>
                <a:spcPct val="90000"/>
              </a:lnSpc>
            </a:pPr>
            <a:r>
              <a:rPr lang="en-US" sz="2400"/>
              <a:t>Creation of single market (Common market) effective on Jan. 1, 1993</a:t>
            </a:r>
          </a:p>
          <a:p>
            <a:pPr lvl="1">
              <a:lnSpc>
                <a:spcPct val="90000"/>
              </a:lnSpc>
            </a:pPr>
            <a:r>
              <a:rPr lang="en-US" sz="2400"/>
              <a:t>Rename EEC by EU (15 members)</a:t>
            </a:r>
          </a:p>
          <a:p>
            <a:pPr>
              <a:lnSpc>
                <a:spcPct val="90000"/>
              </a:lnSpc>
            </a:pPr>
            <a:r>
              <a:rPr lang="en-US" sz="2800"/>
              <a:t>Treaty of Maastricht (1992)</a:t>
            </a:r>
          </a:p>
          <a:p>
            <a:pPr lvl="1">
              <a:lnSpc>
                <a:spcPct val="90000"/>
              </a:lnSpc>
            </a:pPr>
            <a:r>
              <a:rPr lang="en-US" sz="2400"/>
              <a:t>Creation of an economic union, EMU (11 members)</a:t>
            </a:r>
          </a:p>
          <a:p>
            <a:pPr lvl="1">
              <a:lnSpc>
                <a:spcPct val="90000"/>
              </a:lnSpc>
            </a:pPr>
            <a:r>
              <a:rPr lang="en-US" sz="2400"/>
              <a:t>Establishment of European Central Bank on July 1998</a:t>
            </a:r>
          </a:p>
          <a:p>
            <a:pPr lvl="1">
              <a:lnSpc>
                <a:spcPct val="90000"/>
              </a:lnSpc>
            </a:pPr>
            <a:r>
              <a:rPr lang="en-US" sz="2400"/>
              <a:t>Introduction of a common currency, euro on Jan. 1, 1999</a:t>
            </a:r>
          </a:p>
          <a:p>
            <a:pPr lvl="1">
              <a:lnSpc>
                <a:spcPct val="90000"/>
              </a:lnSpc>
            </a:pPr>
            <a:r>
              <a:rPr lang="en-US" sz="2400"/>
              <a:t>Circulation of euro on Jan 1, 2002</a:t>
            </a:r>
          </a:p>
        </p:txBody>
      </p:sp>
    </p:spTree>
  </p:cSld>
  <p:clrMapOvr>
    <a:masterClrMapping/>
  </p:clrMapOvr>
  <p:transition>
    <p:zoom dir="in"/>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8195">
                                            <p:txEl>
                                              <p:pRg st="0" end="0"/>
                                            </p:txEl>
                                          </p:spTgt>
                                        </p:tgtEl>
                                        <p:attrNameLst>
                                          <p:attrName>style.visibility</p:attrName>
                                        </p:attrNameLst>
                                      </p:cBhvr>
                                      <p:to>
                                        <p:strVal val="visible"/>
                                      </p:to>
                                    </p:set>
                                    <p:anim calcmode="lin" valueType="num">
                                      <p:cBhvr additive="base">
                                        <p:cTn id="7" dur="500" fill="hold"/>
                                        <p:tgtEl>
                                          <p:spTgt spid="8195">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8195">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8195">
                                            <p:txEl>
                                              <p:pRg st="1" end="1"/>
                                            </p:txEl>
                                          </p:spTgt>
                                        </p:tgtEl>
                                        <p:attrNameLst>
                                          <p:attrName>style.visibility</p:attrName>
                                        </p:attrNameLst>
                                      </p:cBhvr>
                                      <p:to>
                                        <p:strVal val="visible"/>
                                      </p:to>
                                    </p:set>
                                    <p:anim calcmode="lin" valueType="num">
                                      <p:cBhvr additive="base">
                                        <p:cTn id="13" dur="500" fill="hold"/>
                                        <p:tgtEl>
                                          <p:spTgt spid="8195">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8195">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8195">
                                            <p:txEl>
                                              <p:pRg st="2" end="2"/>
                                            </p:txEl>
                                          </p:spTgt>
                                        </p:tgtEl>
                                        <p:attrNameLst>
                                          <p:attrName>style.visibility</p:attrName>
                                        </p:attrNameLst>
                                      </p:cBhvr>
                                      <p:to>
                                        <p:strVal val="visible"/>
                                      </p:to>
                                    </p:set>
                                    <p:anim calcmode="lin" valueType="num">
                                      <p:cBhvr additive="base">
                                        <p:cTn id="19" dur="500" fill="hold"/>
                                        <p:tgtEl>
                                          <p:spTgt spid="8195">
                                            <p:txEl>
                                              <p:pRg st="2" end="2"/>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8195">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8195">
                                            <p:txEl>
                                              <p:pRg st="3" end="3"/>
                                            </p:txEl>
                                          </p:spTgt>
                                        </p:tgtEl>
                                        <p:attrNameLst>
                                          <p:attrName>style.visibility</p:attrName>
                                        </p:attrNameLst>
                                      </p:cBhvr>
                                      <p:to>
                                        <p:strVal val="visible"/>
                                      </p:to>
                                    </p:set>
                                    <p:anim calcmode="lin" valueType="num">
                                      <p:cBhvr additive="base">
                                        <p:cTn id="25" dur="500" fill="hold"/>
                                        <p:tgtEl>
                                          <p:spTgt spid="8195">
                                            <p:txEl>
                                              <p:pRg st="3" end="3"/>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8195">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8" fill="hold" grpId="0" nodeType="clickEffect">
                                  <p:stCondLst>
                                    <p:cond delay="0"/>
                                  </p:stCondLst>
                                  <p:childTnLst>
                                    <p:set>
                                      <p:cBhvr>
                                        <p:cTn id="30" dur="1" fill="hold">
                                          <p:stCondLst>
                                            <p:cond delay="0"/>
                                          </p:stCondLst>
                                        </p:cTn>
                                        <p:tgtEl>
                                          <p:spTgt spid="8195">
                                            <p:txEl>
                                              <p:pRg st="4" end="4"/>
                                            </p:txEl>
                                          </p:spTgt>
                                        </p:tgtEl>
                                        <p:attrNameLst>
                                          <p:attrName>style.visibility</p:attrName>
                                        </p:attrNameLst>
                                      </p:cBhvr>
                                      <p:to>
                                        <p:strVal val="visible"/>
                                      </p:to>
                                    </p:set>
                                    <p:anim calcmode="lin" valueType="num">
                                      <p:cBhvr additive="base">
                                        <p:cTn id="31" dur="500" fill="hold"/>
                                        <p:tgtEl>
                                          <p:spTgt spid="8195">
                                            <p:txEl>
                                              <p:pRg st="4" end="4"/>
                                            </p:txEl>
                                          </p:spTgt>
                                        </p:tgtEl>
                                        <p:attrNameLst>
                                          <p:attrName>ppt_x</p:attrName>
                                        </p:attrNameLst>
                                      </p:cBhvr>
                                      <p:tavLst>
                                        <p:tav tm="0">
                                          <p:val>
                                            <p:strVal val="0-#ppt_w/2"/>
                                          </p:val>
                                        </p:tav>
                                        <p:tav tm="100000">
                                          <p:val>
                                            <p:strVal val="#ppt_x"/>
                                          </p:val>
                                        </p:tav>
                                      </p:tavLst>
                                    </p:anim>
                                    <p:anim calcmode="lin" valueType="num">
                                      <p:cBhvr additive="base">
                                        <p:cTn id="32" dur="500" fill="hold"/>
                                        <p:tgtEl>
                                          <p:spTgt spid="8195">
                                            <p:txEl>
                                              <p:pRg st="4" end="4"/>
                                            </p:txEl>
                                          </p:spTgt>
                                        </p:tgtEl>
                                        <p:attrNameLst>
                                          <p:attrName>ppt_y</p:attrName>
                                        </p:attrNameLst>
                                      </p:cBhvr>
                                      <p:tavLst>
                                        <p:tav tm="0">
                                          <p:val>
                                            <p:strVal val="#ppt_y"/>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8" fill="hold" grpId="0" nodeType="clickEffect">
                                  <p:stCondLst>
                                    <p:cond delay="0"/>
                                  </p:stCondLst>
                                  <p:childTnLst>
                                    <p:set>
                                      <p:cBhvr>
                                        <p:cTn id="36" dur="1" fill="hold">
                                          <p:stCondLst>
                                            <p:cond delay="0"/>
                                          </p:stCondLst>
                                        </p:cTn>
                                        <p:tgtEl>
                                          <p:spTgt spid="8195">
                                            <p:txEl>
                                              <p:pRg st="5" end="5"/>
                                            </p:txEl>
                                          </p:spTgt>
                                        </p:tgtEl>
                                        <p:attrNameLst>
                                          <p:attrName>style.visibility</p:attrName>
                                        </p:attrNameLst>
                                      </p:cBhvr>
                                      <p:to>
                                        <p:strVal val="visible"/>
                                      </p:to>
                                    </p:set>
                                    <p:anim calcmode="lin" valueType="num">
                                      <p:cBhvr additive="base">
                                        <p:cTn id="37" dur="500" fill="hold"/>
                                        <p:tgtEl>
                                          <p:spTgt spid="8195">
                                            <p:txEl>
                                              <p:pRg st="5" end="5"/>
                                            </p:txEl>
                                          </p:spTgt>
                                        </p:tgtEl>
                                        <p:attrNameLst>
                                          <p:attrName>ppt_x</p:attrName>
                                        </p:attrNameLst>
                                      </p:cBhvr>
                                      <p:tavLst>
                                        <p:tav tm="0">
                                          <p:val>
                                            <p:strVal val="0-#ppt_w/2"/>
                                          </p:val>
                                        </p:tav>
                                        <p:tav tm="100000">
                                          <p:val>
                                            <p:strVal val="#ppt_x"/>
                                          </p:val>
                                        </p:tav>
                                      </p:tavLst>
                                    </p:anim>
                                    <p:anim calcmode="lin" valueType="num">
                                      <p:cBhvr additive="base">
                                        <p:cTn id="38" dur="500" fill="hold"/>
                                        <p:tgtEl>
                                          <p:spTgt spid="8195">
                                            <p:txEl>
                                              <p:pRg st="5" end="5"/>
                                            </p:txEl>
                                          </p:spTgt>
                                        </p:tgtEl>
                                        <p:attrNameLst>
                                          <p:attrName>ppt_y</p:attrName>
                                        </p:attrNameLst>
                                      </p:cBhvr>
                                      <p:tavLst>
                                        <p:tav tm="0">
                                          <p:val>
                                            <p:strVal val="#ppt_y"/>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8" fill="hold" grpId="0" nodeType="clickEffect">
                                  <p:stCondLst>
                                    <p:cond delay="0"/>
                                  </p:stCondLst>
                                  <p:childTnLst>
                                    <p:set>
                                      <p:cBhvr>
                                        <p:cTn id="42" dur="1" fill="hold">
                                          <p:stCondLst>
                                            <p:cond delay="0"/>
                                          </p:stCondLst>
                                        </p:cTn>
                                        <p:tgtEl>
                                          <p:spTgt spid="8195">
                                            <p:txEl>
                                              <p:pRg st="6" end="6"/>
                                            </p:txEl>
                                          </p:spTgt>
                                        </p:tgtEl>
                                        <p:attrNameLst>
                                          <p:attrName>style.visibility</p:attrName>
                                        </p:attrNameLst>
                                      </p:cBhvr>
                                      <p:to>
                                        <p:strVal val="visible"/>
                                      </p:to>
                                    </p:set>
                                    <p:anim calcmode="lin" valueType="num">
                                      <p:cBhvr additive="base">
                                        <p:cTn id="43" dur="500" fill="hold"/>
                                        <p:tgtEl>
                                          <p:spTgt spid="8195">
                                            <p:txEl>
                                              <p:pRg st="6" end="6"/>
                                            </p:txEl>
                                          </p:spTgt>
                                        </p:tgtEl>
                                        <p:attrNameLst>
                                          <p:attrName>ppt_x</p:attrName>
                                        </p:attrNameLst>
                                      </p:cBhvr>
                                      <p:tavLst>
                                        <p:tav tm="0">
                                          <p:val>
                                            <p:strVal val="0-#ppt_w/2"/>
                                          </p:val>
                                        </p:tav>
                                        <p:tav tm="100000">
                                          <p:val>
                                            <p:strVal val="#ppt_x"/>
                                          </p:val>
                                        </p:tav>
                                      </p:tavLst>
                                    </p:anim>
                                    <p:anim calcmode="lin" valueType="num">
                                      <p:cBhvr additive="base">
                                        <p:cTn id="44" dur="500" fill="hold"/>
                                        <p:tgtEl>
                                          <p:spTgt spid="8195">
                                            <p:txEl>
                                              <p:pRg st="6" end="6"/>
                                            </p:txEl>
                                          </p:spTgt>
                                        </p:tgtEl>
                                        <p:attrNameLst>
                                          <p:attrName>ppt_y</p:attrName>
                                        </p:attrNameLst>
                                      </p:cBhvr>
                                      <p:tavLst>
                                        <p:tav tm="0">
                                          <p:val>
                                            <p:strVal val="#ppt_y"/>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8" fill="hold" grpId="0" nodeType="clickEffect">
                                  <p:stCondLst>
                                    <p:cond delay="0"/>
                                  </p:stCondLst>
                                  <p:childTnLst>
                                    <p:set>
                                      <p:cBhvr>
                                        <p:cTn id="48" dur="1" fill="hold">
                                          <p:stCondLst>
                                            <p:cond delay="0"/>
                                          </p:stCondLst>
                                        </p:cTn>
                                        <p:tgtEl>
                                          <p:spTgt spid="8195">
                                            <p:txEl>
                                              <p:pRg st="7" end="7"/>
                                            </p:txEl>
                                          </p:spTgt>
                                        </p:tgtEl>
                                        <p:attrNameLst>
                                          <p:attrName>style.visibility</p:attrName>
                                        </p:attrNameLst>
                                      </p:cBhvr>
                                      <p:to>
                                        <p:strVal val="visible"/>
                                      </p:to>
                                    </p:set>
                                    <p:anim calcmode="lin" valueType="num">
                                      <p:cBhvr additive="base">
                                        <p:cTn id="49" dur="500" fill="hold"/>
                                        <p:tgtEl>
                                          <p:spTgt spid="8195">
                                            <p:txEl>
                                              <p:pRg st="7" end="7"/>
                                            </p:txEl>
                                          </p:spTgt>
                                        </p:tgtEl>
                                        <p:attrNameLst>
                                          <p:attrName>ppt_x</p:attrName>
                                        </p:attrNameLst>
                                      </p:cBhvr>
                                      <p:tavLst>
                                        <p:tav tm="0">
                                          <p:val>
                                            <p:strVal val="0-#ppt_w/2"/>
                                          </p:val>
                                        </p:tav>
                                        <p:tav tm="100000">
                                          <p:val>
                                            <p:strVal val="#ppt_x"/>
                                          </p:val>
                                        </p:tav>
                                      </p:tavLst>
                                    </p:anim>
                                    <p:anim calcmode="lin" valueType="num">
                                      <p:cBhvr additive="base">
                                        <p:cTn id="50" dur="500" fill="hold"/>
                                        <p:tgtEl>
                                          <p:spTgt spid="8195">
                                            <p:txEl>
                                              <p:pRg st="7" end="7"/>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195" grpId="0" build="p" bldLvl="2" autoUpdateAnimBg="0"/>
    </p:bldLst>
  </p:timing>
</p:sld>
</file>

<file path=ppt/slides/slide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9218" name="Rectangle 2" descr="Large confetti"/>
          <p:cNvSpPr>
            <a:spLocks noGrp="1" noChangeArrowheads="1"/>
          </p:cNvSpPr>
          <p:nvPr>
            <p:ph type="title"/>
          </p:nvPr>
        </p:nvSpPr>
        <p:spPr/>
        <p:txBody>
          <a:bodyPr/>
          <a:lstStyle/>
          <a:p>
            <a:r>
              <a:rPr lang="en-US"/>
              <a:t>Organization of EU</a:t>
            </a:r>
          </a:p>
        </p:txBody>
      </p:sp>
      <p:sp>
        <p:nvSpPr>
          <p:cNvPr id="9219" name="Rectangle 3"/>
          <p:cNvSpPr>
            <a:spLocks noGrp="1" noChangeArrowheads="1"/>
          </p:cNvSpPr>
          <p:nvPr>
            <p:ph type="body" idx="1"/>
          </p:nvPr>
        </p:nvSpPr>
        <p:spPr/>
        <p:txBody>
          <a:bodyPr/>
          <a:lstStyle/>
          <a:p>
            <a:pPr>
              <a:lnSpc>
                <a:spcPct val="90000"/>
              </a:lnSpc>
            </a:pPr>
            <a:r>
              <a:rPr lang="en-US" sz="2800"/>
              <a:t>European Commission:</a:t>
            </a:r>
          </a:p>
          <a:p>
            <a:pPr lvl="1">
              <a:lnSpc>
                <a:spcPct val="90000"/>
              </a:lnSpc>
            </a:pPr>
            <a:r>
              <a:rPr lang="en-US" sz="2400"/>
              <a:t>administrative body of 20 members </a:t>
            </a:r>
          </a:p>
          <a:p>
            <a:pPr lvl="1">
              <a:lnSpc>
                <a:spcPct val="90000"/>
              </a:lnSpc>
            </a:pPr>
            <a:r>
              <a:rPr lang="en-US" sz="2400"/>
              <a:t>Initiate proposals</a:t>
            </a:r>
          </a:p>
          <a:p>
            <a:pPr lvl="1">
              <a:lnSpc>
                <a:spcPct val="90000"/>
              </a:lnSpc>
            </a:pPr>
            <a:r>
              <a:rPr lang="en-US" sz="2400"/>
              <a:t>Guardian of the treaties</a:t>
            </a:r>
          </a:p>
          <a:p>
            <a:pPr lvl="1">
              <a:lnSpc>
                <a:spcPct val="90000"/>
              </a:lnSpc>
            </a:pPr>
            <a:r>
              <a:rPr lang="en-US" sz="2400"/>
              <a:t>Implementing policies</a:t>
            </a:r>
          </a:p>
          <a:p>
            <a:pPr>
              <a:lnSpc>
                <a:spcPct val="90000"/>
              </a:lnSpc>
            </a:pPr>
            <a:r>
              <a:rPr lang="en-US" sz="2800"/>
              <a:t>European Parliament </a:t>
            </a:r>
          </a:p>
          <a:p>
            <a:pPr lvl="1">
              <a:lnSpc>
                <a:spcPct val="90000"/>
              </a:lnSpc>
            </a:pPr>
            <a:r>
              <a:rPr lang="en-US" sz="2400"/>
              <a:t>626 members elected according to population distribution</a:t>
            </a:r>
          </a:p>
          <a:p>
            <a:pPr lvl="1">
              <a:lnSpc>
                <a:spcPct val="90000"/>
              </a:lnSpc>
            </a:pPr>
            <a:r>
              <a:rPr lang="en-US" sz="2400"/>
              <a:t>Legislative body, but final decision by Council of Ministers</a:t>
            </a:r>
          </a:p>
          <a:p>
            <a:pPr lvl="1">
              <a:lnSpc>
                <a:spcPct val="90000"/>
              </a:lnSpc>
            </a:pPr>
            <a:r>
              <a:rPr lang="en-US" sz="2400"/>
              <a:t>Control over budget and supervision of the Commission</a:t>
            </a:r>
          </a:p>
          <a:p>
            <a:pPr lvl="1">
              <a:lnSpc>
                <a:spcPct val="90000"/>
              </a:lnSpc>
            </a:pPr>
            <a:endParaRPr lang="en-US" sz="2400"/>
          </a:p>
        </p:txBody>
      </p:sp>
    </p:spTree>
  </p:cSld>
  <p:clrMapOvr>
    <a:masterClrMapping/>
  </p:clrMapOvr>
  <p:transition>
    <p:zoom dir="in"/>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9219">
                                            <p:txEl>
                                              <p:pRg st="0" end="0"/>
                                            </p:txEl>
                                          </p:spTgt>
                                        </p:tgtEl>
                                        <p:attrNameLst>
                                          <p:attrName>style.visibility</p:attrName>
                                        </p:attrNameLst>
                                      </p:cBhvr>
                                      <p:to>
                                        <p:strVal val="visible"/>
                                      </p:to>
                                    </p:set>
                                    <p:anim calcmode="lin" valueType="num">
                                      <p:cBhvr additive="base">
                                        <p:cTn id="7" dur="500" fill="hold"/>
                                        <p:tgtEl>
                                          <p:spTgt spid="9219">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9219">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9219">
                                            <p:txEl>
                                              <p:pRg st="1" end="1"/>
                                            </p:txEl>
                                          </p:spTgt>
                                        </p:tgtEl>
                                        <p:attrNameLst>
                                          <p:attrName>style.visibility</p:attrName>
                                        </p:attrNameLst>
                                      </p:cBhvr>
                                      <p:to>
                                        <p:strVal val="visible"/>
                                      </p:to>
                                    </p:set>
                                    <p:anim calcmode="lin" valueType="num">
                                      <p:cBhvr additive="base">
                                        <p:cTn id="13" dur="500" fill="hold"/>
                                        <p:tgtEl>
                                          <p:spTgt spid="9219">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9219">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9219">
                                            <p:txEl>
                                              <p:pRg st="2" end="2"/>
                                            </p:txEl>
                                          </p:spTgt>
                                        </p:tgtEl>
                                        <p:attrNameLst>
                                          <p:attrName>style.visibility</p:attrName>
                                        </p:attrNameLst>
                                      </p:cBhvr>
                                      <p:to>
                                        <p:strVal val="visible"/>
                                      </p:to>
                                    </p:set>
                                    <p:anim calcmode="lin" valueType="num">
                                      <p:cBhvr additive="base">
                                        <p:cTn id="19" dur="500" fill="hold"/>
                                        <p:tgtEl>
                                          <p:spTgt spid="9219">
                                            <p:txEl>
                                              <p:pRg st="2" end="2"/>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9219">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9219">
                                            <p:txEl>
                                              <p:pRg st="3" end="3"/>
                                            </p:txEl>
                                          </p:spTgt>
                                        </p:tgtEl>
                                        <p:attrNameLst>
                                          <p:attrName>style.visibility</p:attrName>
                                        </p:attrNameLst>
                                      </p:cBhvr>
                                      <p:to>
                                        <p:strVal val="visible"/>
                                      </p:to>
                                    </p:set>
                                    <p:anim calcmode="lin" valueType="num">
                                      <p:cBhvr additive="base">
                                        <p:cTn id="25" dur="500" fill="hold"/>
                                        <p:tgtEl>
                                          <p:spTgt spid="9219">
                                            <p:txEl>
                                              <p:pRg st="3" end="3"/>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9219">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8" fill="hold" grpId="0" nodeType="clickEffect">
                                  <p:stCondLst>
                                    <p:cond delay="0"/>
                                  </p:stCondLst>
                                  <p:childTnLst>
                                    <p:set>
                                      <p:cBhvr>
                                        <p:cTn id="30" dur="1" fill="hold">
                                          <p:stCondLst>
                                            <p:cond delay="0"/>
                                          </p:stCondLst>
                                        </p:cTn>
                                        <p:tgtEl>
                                          <p:spTgt spid="9219">
                                            <p:txEl>
                                              <p:pRg st="4" end="4"/>
                                            </p:txEl>
                                          </p:spTgt>
                                        </p:tgtEl>
                                        <p:attrNameLst>
                                          <p:attrName>style.visibility</p:attrName>
                                        </p:attrNameLst>
                                      </p:cBhvr>
                                      <p:to>
                                        <p:strVal val="visible"/>
                                      </p:to>
                                    </p:set>
                                    <p:anim calcmode="lin" valueType="num">
                                      <p:cBhvr additive="base">
                                        <p:cTn id="31" dur="500" fill="hold"/>
                                        <p:tgtEl>
                                          <p:spTgt spid="9219">
                                            <p:txEl>
                                              <p:pRg st="4" end="4"/>
                                            </p:txEl>
                                          </p:spTgt>
                                        </p:tgtEl>
                                        <p:attrNameLst>
                                          <p:attrName>ppt_x</p:attrName>
                                        </p:attrNameLst>
                                      </p:cBhvr>
                                      <p:tavLst>
                                        <p:tav tm="0">
                                          <p:val>
                                            <p:strVal val="0-#ppt_w/2"/>
                                          </p:val>
                                        </p:tav>
                                        <p:tav tm="100000">
                                          <p:val>
                                            <p:strVal val="#ppt_x"/>
                                          </p:val>
                                        </p:tav>
                                      </p:tavLst>
                                    </p:anim>
                                    <p:anim calcmode="lin" valueType="num">
                                      <p:cBhvr additive="base">
                                        <p:cTn id="32" dur="500" fill="hold"/>
                                        <p:tgtEl>
                                          <p:spTgt spid="9219">
                                            <p:txEl>
                                              <p:pRg st="4" end="4"/>
                                            </p:txEl>
                                          </p:spTgt>
                                        </p:tgtEl>
                                        <p:attrNameLst>
                                          <p:attrName>ppt_y</p:attrName>
                                        </p:attrNameLst>
                                      </p:cBhvr>
                                      <p:tavLst>
                                        <p:tav tm="0">
                                          <p:val>
                                            <p:strVal val="#ppt_y"/>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8" fill="hold" grpId="0" nodeType="clickEffect">
                                  <p:stCondLst>
                                    <p:cond delay="0"/>
                                  </p:stCondLst>
                                  <p:childTnLst>
                                    <p:set>
                                      <p:cBhvr>
                                        <p:cTn id="36" dur="1" fill="hold">
                                          <p:stCondLst>
                                            <p:cond delay="0"/>
                                          </p:stCondLst>
                                        </p:cTn>
                                        <p:tgtEl>
                                          <p:spTgt spid="9219">
                                            <p:txEl>
                                              <p:pRg st="5" end="5"/>
                                            </p:txEl>
                                          </p:spTgt>
                                        </p:tgtEl>
                                        <p:attrNameLst>
                                          <p:attrName>style.visibility</p:attrName>
                                        </p:attrNameLst>
                                      </p:cBhvr>
                                      <p:to>
                                        <p:strVal val="visible"/>
                                      </p:to>
                                    </p:set>
                                    <p:anim calcmode="lin" valueType="num">
                                      <p:cBhvr additive="base">
                                        <p:cTn id="37" dur="500" fill="hold"/>
                                        <p:tgtEl>
                                          <p:spTgt spid="9219">
                                            <p:txEl>
                                              <p:pRg st="5" end="5"/>
                                            </p:txEl>
                                          </p:spTgt>
                                        </p:tgtEl>
                                        <p:attrNameLst>
                                          <p:attrName>ppt_x</p:attrName>
                                        </p:attrNameLst>
                                      </p:cBhvr>
                                      <p:tavLst>
                                        <p:tav tm="0">
                                          <p:val>
                                            <p:strVal val="0-#ppt_w/2"/>
                                          </p:val>
                                        </p:tav>
                                        <p:tav tm="100000">
                                          <p:val>
                                            <p:strVal val="#ppt_x"/>
                                          </p:val>
                                        </p:tav>
                                      </p:tavLst>
                                    </p:anim>
                                    <p:anim calcmode="lin" valueType="num">
                                      <p:cBhvr additive="base">
                                        <p:cTn id="38" dur="500" fill="hold"/>
                                        <p:tgtEl>
                                          <p:spTgt spid="9219">
                                            <p:txEl>
                                              <p:pRg st="5" end="5"/>
                                            </p:txEl>
                                          </p:spTgt>
                                        </p:tgtEl>
                                        <p:attrNameLst>
                                          <p:attrName>ppt_y</p:attrName>
                                        </p:attrNameLst>
                                      </p:cBhvr>
                                      <p:tavLst>
                                        <p:tav tm="0">
                                          <p:val>
                                            <p:strVal val="#ppt_y"/>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8" fill="hold" grpId="0" nodeType="clickEffect">
                                  <p:stCondLst>
                                    <p:cond delay="0"/>
                                  </p:stCondLst>
                                  <p:childTnLst>
                                    <p:set>
                                      <p:cBhvr>
                                        <p:cTn id="42" dur="1" fill="hold">
                                          <p:stCondLst>
                                            <p:cond delay="0"/>
                                          </p:stCondLst>
                                        </p:cTn>
                                        <p:tgtEl>
                                          <p:spTgt spid="9219">
                                            <p:txEl>
                                              <p:pRg st="6" end="6"/>
                                            </p:txEl>
                                          </p:spTgt>
                                        </p:tgtEl>
                                        <p:attrNameLst>
                                          <p:attrName>style.visibility</p:attrName>
                                        </p:attrNameLst>
                                      </p:cBhvr>
                                      <p:to>
                                        <p:strVal val="visible"/>
                                      </p:to>
                                    </p:set>
                                    <p:anim calcmode="lin" valueType="num">
                                      <p:cBhvr additive="base">
                                        <p:cTn id="43" dur="500" fill="hold"/>
                                        <p:tgtEl>
                                          <p:spTgt spid="9219">
                                            <p:txEl>
                                              <p:pRg st="6" end="6"/>
                                            </p:txEl>
                                          </p:spTgt>
                                        </p:tgtEl>
                                        <p:attrNameLst>
                                          <p:attrName>ppt_x</p:attrName>
                                        </p:attrNameLst>
                                      </p:cBhvr>
                                      <p:tavLst>
                                        <p:tav tm="0">
                                          <p:val>
                                            <p:strVal val="0-#ppt_w/2"/>
                                          </p:val>
                                        </p:tav>
                                        <p:tav tm="100000">
                                          <p:val>
                                            <p:strVal val="#ppt_x"/>
                                          </p:val>
                                        </p:tav>
                                      </p:tavLst>
                                    </p:anim>
                                    <p:anim calcmode="lin" valueType="num">
                                      <p:cBhvr additive="base">
                                        <p:cTn id="44" dur="500" fill="hold"/>
                                        <p:tgtEl>
                                          <p:spTgt spid="9219">
                                            <p:txEl>
                                              <p:pRg st="6" end="6"/>
                                            </p:txEl>
                                          </p:spTgt>
                                        </p:tgtEl>
                                        <p:attrNameLst>
                                          <p:attrName>ppt_y</p:attrName>
                                        </p:attrNameLst>
                                      </p:cBhvr>
                                      <p:tavLst>
                                        <p:tav tm="0">
                                          <p:val>
                                            <p:strVal val="#ppt_y"/>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8" fill="hold" grpId="0" nodeType="clickEffect">
                                  <p:stCondLst>
                                    <p:cond delay="0"/>
                                  </p:stCondLst>
                                  <p:childTnLst>
                                    <p:set>
                                      <p:cBhvr>
                                        <p:cTn id="48" dur="1" fill="hold">
                                          <p:stCondLst>
                                            <p:cond delay="0"/>
                                          </p:stCondLst>
                                        </p:cTn>
                                        <p:tgtEl>
                                          <p:spTgt spid="9219">
                                            <p:txEl>
                                              <p:pRg st="7" end="7"/>
                                            </p:txEl>
                                          </p:spTgt>
                                        </p:tgtEl>
                                        <p:attrNameLst>
                                          <p:attrName>style.visibility</p:attrName>
                                        </p:attrNameLst>
                                      </p:cBhvr>
                                      <p:to>
                                        <p:strVal val="visible"/>
                                      </p:to>
                                    </p:set>
                                    <p:anim calcmode="lin" valueType="num">
                                      <p:cBhvr additive="base">
                                        <p:cTn id="49" dur="500" fill="hold"/>
                                        <p:tgtEl>
                                          <p:spTgt spid="9219">
                                            <p:txEl>
                                              <p:pRg st="7" end="7"/>
                                            </p:txEl>
                                          </p:spTgt>
                                        </p:tgtEl>
                                        <p:attrNameLst>
                                          <p:attrName>ppt_x</p:attrName>
                                        </p:attrNameLst>
                                      </p:cBhvr>
                                      <p:tavLst>
                                        <p:tav tm="0">
                                          <p:val>
                                            <p:strVal val="0-#ppt_w/2"/>
                                          </p:val>
                                        </p:tav>
                                        <p:tav tm="100000">
                                          <p:val>
                                            <p:strVal val="#ppt_x"/>
                                          </p:val>
                                        </p:tav>
                                      </p:tavLst>
                                    </p:anim>
                                    <p:anim calcmode="lin" valueType="num">
                                      <p:cBhvr additive="base">
                                        <p:cTn id="50" dur="500" fill="hold"/>
                                        <p:tgtEl>
                                          <p:spTgt spid="9219">
                                            <p:txEl>
                                              <p:pRg st="7" end="7"/>
                                            </p:txEl>
                                          </p:spTgt>
                                        </p:tgtEl>
                                        <p:attrNameLst>
                                          <p:attrName>ppt_y</p:attrName>
                                        </p:attrNameLst>
                                      </p:cBhvr>
                                      <p:tavLst>
                                        <p:tav tm="0">
                                          <p:val>
                                            <p:strVal val="#ppt_y"/>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 presetClass="entr" presetSubtype="8" fill="hold" grpId="0" nodeType="clickEffect">
                                  <p:stCondLst>
                                    <p:cond delay="0"/>
                                  </p:stCondLst>
                                  <p:childTnLst>
                                    <p:set>
                                      <p:cBhvr>
                                        <p:cTn id="54" dur="1" fill="hold">
                                          <p:stCondLst>
                                            <p:cond delay="0"/>
                                          </p:stCondLst>
                                        </p:cTn>
                                        <p:tgtEl>
                                          <p:spTgt spid="9219">
                                            <p:txEl>
                                              <p:pRg st="8" end="8"/>
                                            </p:txEl>
                                          </p:spTgt>
                                        </p:tgtEl>
                                        <p:attrNameLst>
                                          <p:attrName>style.visibility</p:attrName>
                                        </p:attrNameLst>
                                      </p:cBhvr>
                                      <p:to>
                                        <p:strVal val="visible"/>
                                      </p:to>
                                    </p:set>
                                    <p:anim calcmode="lin" valueType="num">
                                      <p:cBhvr additive="base">
                                        <p:cTn id="55" dur="500" fill="hold"/>
                                        <p:tgtEl>
                                          <p:spTgt spid="9219">
                                            <p:txEl>
                                              <p:pRg st="8" end="8"/>
                                            </p:txEl>
                                          </p:spTgt>
                                        </p:tgtEl>
                                        <p:attrNameLst>
                                          <p:attrName>ppt_x</p:attrName>
                                        </p:attrNameLst>
                                      </p:cBhvr>
                                      <p:tavLst>
                                        <p:tav tm="0">
                                          <p:val>
                                            <p:strVal val="0-#ppt_w/2"/>
                                          </p:val>
                                        </p:tav>
                                        <p:tav tm="100000">
                                          <p:val>
                                            <p:strVal val="#ppt_x"/>
                                          </p:val>
                                        </p:tav>
                                      </p:tavLst>
                                    </p:anim>
                                    <p:anim calcmode="lin" valueType="num">
                                      <p:cBhvr additive="base">
                                        <p:cTn id="56" dur="500" fill="hold"/>
                                        <p:tgtEl>
                                          <p:spTgt spid="9219">
                                            <p:txEl>
                                              <p:pRg st="8" end="8"/>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219" grpId="0" build="p" bldLvl="2" autoUpdateAnimBg="0"/>
    </p:bldLst>
  </p:timing>
</p:sld>
</file>

<file path=ppt/slides/slide1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0242" name="Rectangle 2" descr="Large confetti"/>
          <p:cNvSpPr>
            <a:spLocks noGrp="1" noChangeArrowheads="1"/>
          </p:cNvSpPr>
          <p:nvPr>
            <p:ph type="title"/>
          </p:nvPr>
        </p:nvSpPr>
        <p:spPr/>
        <p:txBody>
          <a:bodyPr/>
          <a:lstStyle/>
          <a:p>
            <a:r>
              <a:rPr lang="en-US"/>
              <a:t>Organization of EU</a:t>
            </a:r>
            <a:br>
              <a:rPr lang="en-US"/>
            </a:br>
            <a:r>
              <a:rPr lang="en-US"/>
              <a:t>Continued</a:t>
            </a:r>
          </a:p>
        </p:txBody>
      </p:sp>
      <p:sp>
        <p:nvSpPr>
          <p:cNvPr id="10243" name="Rectangle 3"/>
          <p:cNvSpPr>
            <a:spLocks noGrp="1" noChangeArrowheads="1"/>
          </p:cNvSpPr>
          <p:nvPr>
            <p:ph type="body" idx="1"/>
          </p:nvPr>
        </p:nvSpPr>
        <p:spPr/>
        <p:txBody>
          <a:bodyPr/>
          <a:lstStyle/>
          <a:p>
            <a:pPr>
              <a:lnSpc>
                <a:spcPct val="90000"/>
              </a:lnSpc>
            </a:pPr>
            <a:r>
              <a:rPr lang="en-US" sz="2800"/>
              <a:t>European Council and Council of Ministers</a:t>
            </a:r>
          </a:p>
          <a:p>
            <a:pPr lvl="1">
              <a:lnSpc>
                <a:spcPct val="90000"/>
              </a:lnSpc>
            </a:pPr>
            <a:r>
              <a:rPr lang="en-US" sz="2400"/>
              <a:t>European Council: summit meeting of state heads, providing guidelines</a:t>
            </a:r>
          </a:p>
          <a:p>
            <a:pPr lvl="1">
              <a:lnSpc>
                <a:spcPct val="90000"/>
              </a:lnSpc>
            </a:pPr>
            <a:r>
              <a:rPr lang="en-US" sz="2400"/>
              <a:t>Council of Ministers </a:t>
            </a:r>
          </a:p>
          <a:p>
            <a:pPr lvl="2">
              <a:lnSpc>
                <a:spcPct val="90000"/>
              </a:lnSpc>
            </a:pPr>
            <a:r>
              <a:rPr lang="en-US" sz="2000"/>
              <a:t>25 different councils (agriculture, transport, etc.)</a:t>
            </a:r>
          </a:p>
          <a:p>
            <a:pPr lvl="2">
              <a:lnSpc>
                <a:spcPct val="90000"/>
              </a:lnSpc>
            </a:pPr>
            <a:r>
              <a:rPr lang="en-US" sz="2000"/>
              <a:t>Final say on legislations</a:t>
            </a:r>
          </a:p>
          <a:p>
            <a:pPr lvl="2">
              <a:lnSpc>
                <a:spcPct val="90000"/>
              </a:lnSpc>
            </a:pPr>
            <a:r>
              <a:rPr lang="en-US" sz="2000"/>
              <a:t>Different votes allocated to individual countries (according to population)</a:t>
            </a:r>
          </a:p>
          <a:p>
            <a:pPr lvl="2">
              <a:lnSpc>
                <a:spcPct val="90000"/>
              </a:lnSpc>
            </a:pPr>
            <a:r>
              <a:rPr lang="en-US" sz="2000"/>
              <a:t>Unanimity or qualified majority voting required depending on issues.</a:t>
            </a:r>
          </a:p>
          <a:p>
            <a:pPr>
              <a:lnSpc>
                <a:spcPct val="90000"/>
              </a:lnSpc>
            </a:pPr>
            <a:r>
              <a:rPr lang="en-US" sz="2800"/>
              <a:t>Others</a:t>
            </a:r>
          </a:p>
          <a:p>
            <a:pPr lvl="1">
              <a:lnSpc>
                <a:spcPct val="90000"/>
              </a:lnSpc>
            </a:pPr>
            <a:r>
              <a:rPr lang="en-US" sz="2400"/>
              <a:t>Court of Justice, Court of Auditors, sub-committees</a:t>
            </a:r>
          </a:p>
          <a:p>
            <a:pPr lvl="1">
              <a:lnSpc>
                <a:spcPct val="90000"/>
              </a:lnSpc>
            </a:pPr>
            <a:endParaRPr lang="en-US" sz="2400"/>
          </a:p>
        </p:txBody>
      </p:sp>
    </p:spTree>
  </p:cSld>
  <p:clrMapOvr>
    <a:masterClrMapping/>
  </p:clrMapOvr>
  <p:transition>
    <p:zoom dir="in"/>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0243">
                                            <p:txEl>
                                              <p:pRg st="0" end="0"/>
                                            </p:txEl>
                                          </p:spTgt>
                                        </p:tgtEl>
                                        <p:attrNameLst>
                                          <p:attrName>style.visibility</p:attrName>
                                        </p:attrNameLst>
                                      </p:cBhvr>
                                      <p:to>
                                        <p:strVal val="visible"/>
                                      </p:to>
                                    </p:set>
                                    <p:anim calcmode="lin" valueType="num">
                                      <p:cBhvr additive="base">
                                        <p:cTn id="7" dur="500" fill="hold"/>
                                        <p:tgtEl>
                                          <p:spTgt spid="10243">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10243">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10243">
                                            <p:txEl>
                                              <p:pRg st="1" end="1"/>
                                            </p:txEl>
                                          </p:spTgt>
                                        </p:tgtEl>
                                        <p:attrNameLst>
                                          <p:attrName>style.visibility</p:attrName>
                                        </p:attrNameLst>
                                      </p:cBhvr>
                                      <p:to>
                                        <p:strVal val="visible"/>
                                      </p:to>
                                    </p:set>
                                    <p:anim calcmode="lin" valueType="num">
                                      <p:cBhvr additive="base">
                                        <p:cTn id="13" dur="500" fill="hold"/>
                                        <p:tgtEl>
                                          <p:spTgt spid="10243">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10243">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10243">
                                            <p:txEl>
                                              <p:pRg st="2" end="2"/>
                                            </p:txEl>
                                          </p:spTgt>
                                        </p:tgtEl>
                                        <p:attrNameLst>
                                          <p:attrName>style.visibility</p:attrName>
                                        </p:attrNameLst>
                                      </p:cBhvr>
                                      <p:to>
                                        <p:strVal val="visible"/>
                                      </p:to>
                                    </p:set>
                                    <p:anim calcmode="lin" valueType="num">
                                      <p:cBhvr additive="base">
                                        <p:cTn id="19" dur="500" fill="hold"/>
                                        <p:tgtEl>
                                          <p:spTgt spid="10243">
                                            <p:txEl>
                                              <p:pRg st="2" end="2"/>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10243">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10243">
                                            <p:txEl>
                                              <p:pRg st="3" end="3"/>
                                            </p:txEl>
                                          </p:spTgt>
                                        </p:tgtEl>
                                        <p:attrNameLst>
                                          <p:attrName>style.visibility</p:attrName>
                                        </p:attrNameLst>
                                      </p:cBhvr>
                                      <p:to>
                                        <p:strVal val="visible"/>
                                      </p:to>
                                    </p:set>
                                    <p:anim calcmode="lin" valueType="num">
                                      <p:cBhvr additive="base">
                                        <p:cTn id="25" dur="500" fill="hold"/>
                                        <p:tgtEl>
                                          <p:spTgt spid="10243">
                                            <p:txEl>
                                              <p:pRg st="3" end="3"/>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10243">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8" fill="hold" grpId="0" nodeType="clickEffect">
                                  <p:stCondLst>
                                    <p:cond delay="0"/>
                                  </p:stCondLst>
                                  <p:childTnLst>
                                    <p:set>
                                      <p:cBhvr>
                                        <p:cTn id="30" dur="1" fill="hold">
                                          <p:stCondLst>
                                            <p:cond delay="0"/>
                                          </p:stCondLst>
                                        </p:cTn>
                                        <p:tgtEl>
                                          <p:spTgt spid="10243">
                                            <p:txEl>
                                              <p:pRg st="4" end="4"/>
                                            </p:txEl>
                                          </p:spTgt>
                                        </p:tgtEl>
                                        <p:attrNameLst>
                                          <p:attrName>style.visibility</p:attrName>
                                        </p:attrNameLst>
                                      </p:cBhvr>
                                      <p:to>
                                        <p:strVal val="visible"/>
                                      </p:to>
                                    </p:set>
                                    <p:anim calcmode="lin" valueType="num">
                                      <p:cBhvr additive="base">
                                        <p:cTn id="31" dur="500" fill="hold"/>
                                        <p:tgtEl>
                                          <p:spTgt spid="10243">
                                            <p:txEl>
                                              <p:pRg st="4" end="4"/>
                                            </p:txEl>
                                          </p:spTgt>
                                        </p:tgtEl>
                                        <p:attrNameLst>
                                          <p:attrName>ppt_x</p:attrName>
                                        </p:attrNameLst>
                                      </p:cBhvr>
                                      <p:tavLst>
                                        <p:tav tm="0">
                                          <p:val>
                                            <p:strVal val="0-#ppt_w/2"/>
                                          </p:val>
                                        </p:tav>
                                        <p:tav tm="100000">
                                          <p:val>
                                            <p:strVal val="#ppt_x"/>
                                          </p:val>
                                        </p:tav>
                                      </p:tavLst>
                                    </p:anim>
                                    <p:anim calcmode="lin" valueType="num">
                                      <p:cBhvr additive="base">
                                        <p:cTn id="32" dur="500" fill="hold"/>
                                        <p:tgtEl>
                                          <p:spTgt spid="10243">
                                            <p:txEl>
                                              <p:pRg st="4" end="4"/>
                                            </p:txEl>
                                          </p:spTgt>
                                        </p:tgtEl>
                                        <p:attrNameLst>
                                          <p:attrName>ppt_y</p:attrName>
                                        </p:attrNameLst>
                                      </p:cBhvr>
                                      <p:tavLst>
                                        <p:tav tm="0">
                                          <p:val>
                                            <p:strVal val="#ppt_y"/>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8" fill="hold" grpId="0" nodeType="clickEffect">
                                  <p:stCondLst>
                                    <p:cond delay="0"/>
                                  </p:stCondLst>
                                  <p:childTnLst>
                                    <p:set>
                                      <p:cBhvr>
                                        <p:cTn id="36" dur="1" fill="hold">
                                          <p:stCondLst>
                                            <p:cond delay="0"/>
                                          </p:stCondLst>
                                        </p:cTn>
                                        <p:tgtEl>
                                          <p:spTgt spid="10243">
                                            <p:txEl>
                                              <p:pRg st="5" end="5"/>
                                            </p:txEl>
                                          </p:spTgt>
                                        </p:tgtEl>
                                        <p:attrNameLst>
                                          <p:attrName>style.visibility</p:attrName>
                                        </p:attrNameLst>
                                      </p:cBhvr>
                                      <p:to>
                                        <p:strVal val="visible"/>
                                      </p:to>
                                    </p:set>
                                    <p:anim calcmode="lin" valueType="num">
                                      <p:cBhvr additive="base">
                                        <p:cTn id="37" dur="500" fill="hold"/>
                                        <p:tgtEl>
                                          <p:spTgt spid="10243">
                                            <p:txEl>
                                              <p:pRg st="5" end="5"/>
                                            </p:txEl>
                                          </p:spTgt>
                                        </p:tgtEl>
                                        <p:attrNameLst>
                                          <p:attrName>ppt_x</p:attrName>
                                        </p:attrNameLst>
                                      </p:cBhvr>
                                      <p:tavLst>
                                        <p:tav tm="0">
                                          <p:val>
                                            <p:strVal val="0-#ppt_w/2"/>
                                          </p:val>
                                        </p:tav>
                                        <p:tav tm="100000">
                                          <p:val>
                                            <p:strVal val="#ppt_x"/>
                                          </p:val>
                                        </p:tav>
                                      </p:tavLst>
                                    </p:anim>
                                    <p:anim calcmode="lin" valueType="num">
                                      <p:cBhvr additive="base">
                                        <p:cTn id="38" dur="500" fill="hold"/>
                                        <p:tgtEl>
                                          <p:spTgt spid="10243">
                                            <p:txEl>
                                              <p:pRg st="5" end="5"/>
                                            </p:txEl>
                                          </p:spTgt>
                                        </p:tgtEl>
                                        <p:attrNameLst>
                                          <p:attrName>ppt_y</p:attrName>
                                        </p:attrNameLst>
                                      </p:cBhvr>
                                      <p:tavLst>
                                        <p:tav tm="0">
                                          <p:val>
                                            <p:strVal val="#ppt_y"/>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8" fill="hold" grpId="0" nodeType="clickEffect">
                                  <p:stCondLst>
                                    <p:cond delay="0"/>
                                  </p:stCondLst>
                                  <p:childTnLst>
                                    <p:set>
                                      <p:cBhvr>
                                        <p:cTn id="42" dur="1" fill="hold">
                                          <p:stCondLst>
                                            <p:cond delay="0"/>
                                          </p:stCondLst>
                                        </p:cTn>
                                        <p:tgtEl>
                                          <p:spTgt spid="10243">
                                            <p:txEl>
                                              <p:pRg st="6" end="6"/>
                                            </p:txEl>
                                          </p:spTgt>
                                        </p:tgtEl>
                                        <p:attrNameLst>
                                          <p:attrName>style.visibility</p:attrName>
                                        </p:attrNameLst>
                                      </p:cBhvr>
                                      <p:to>
                                        <p:strVal val="visible"/>
                                      </p:to>
                                    </p:set>
                                    <p:anim calcmode="lin" valueType="num">
                                      <p:cBhvr additive="base">
                                        <p:cTn id="43" dur="500" fill="hold"/>
                                        <p:tgtEl>
                                          <p:spTgt spid="10243">
                                            <p:txEl>
                                              <p:pRg st="6" end="6"/>
                                            </p:txEl>
                                          </p:spTgt>
                                        </p:tgtEl>
                                        <p:attrNameLst>
                                          <p:attrName>ppt_x</p:attrName>
                                        </p:attrNameLst>
                                      </p:cBhvr>
                                      <p:tavLst>
                                        <p:tav tm="0">
                                          <p:val>
                                            <p:strVal val="0-#ppt_w/2"/>
                                          </p:val>
                                        </p:tav>
                                        <p:tav tm="100000">
                                          <p:val>
                                            <p:strVal val="#ppt_x"/>
                                          </p:val>
                                        </p:tav>
                                      </p:tavLst>
                                    </p:anim>
                                    <p:anim calcmode="lin" valueType="num">
                                      <p:cBhvr additive="base">
                                        <p:cTn id="44" dur="500" fill="hold"/>
                                        <p:tgtEl>
                                          <p:spTgt spid="10243">
                                            <p:txEl>
                                              <p:pRg st="6" end="6"/>
                                            </p:txEl>
                                          </p:spTgt>
                                        </p:tgtEl>
                                        <p:attrNameLst>
                                          <p:attrName>ppt_y</p:attrName>
                                        </p:attrNameLst>
                                      </p:cBhvr>
                                      <p:tavLst>
                                        <p:tav tm="0">
                                          <p:val>
                                            <p:strVal val="#ppt_y"/>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8" fill="hold" grpId="0" nodeType="clickEffect">
                                  <p:stCondLst>
                                    <p:cond delay="0"/>
                                  </p:stCondLst>
                                  <p:childTnLst>
                                    <p:set>
                                      <p:cBhvr>
                                        <p:cTn id="48" dur="1" fill="hold">
                                          <p:stCondLst>
                                            <p:cond delay="0"/>
                                          </p:stCondLst>
                                        </p:cTn>
                                        <p:tgtEl>
                                          <p:spTgt spid="10243">
                                            <p:txEl>
                                              <p:pRg st="7" end="7"/>
                                            </p:txEl>
                                          </p:spTgt>
                                        </p:tgtEl>
                                        <p:attrNameLst>
                                          <p:attrName>style.visibility</p:attrName>
                                        </p:attrNameLst>
                                      </p:cBhvr>
                                      <p:to>
                                        <p:strVal val="visible"/>
                                      </p:to>
                                    </p:set>
                                    <p:anim calcmode="lin" valueType="num">
                                      <p:cBhvr additive="base">
                                        <p:cTn id="49" dur="500" fill="hold"/>
                                        <p:tgtEl>
                                          <p:spTgt spid="10243">
                                            <p:txEl>
                                              <p:pRg st="7" end="7"/>
                                            </p:txEl>
                                          </p:spTgt>
                                        </p:tgtEl>
                                        <p:attrNameLst>
                                          <p:attrName>ppt_x</p:attrName>
                                        </p:attrNameLst>
                                      </p:cBhvr>
                                      <p:tavLst>
                                        <p:tav tm="0">
                                          <p:val>
                                            <p:strVal val="0-#ppt_w/2"/>
                                          </p:val>
                                        </p:tav>
                                        <p:tav tm="100000">
                                          <p:val>
                                            <p:strVal val="#ppt_x"/>
                                          </p:val>
                                        </p:tav>
                                      </p:tavLst>
                                    </p:anim>
                                    <p:anim calcmode="lin" valueType="num">
                                      <p:cBhvr additive="base">
                                        <p:cTn id="50" dur="500" fill="hold"/>
                                        <p:tgtEl>
                                          <p:spTgt spid="10243">
                                            <p:txEl>
                                              <p:pRg st="7" end="7"/>
                                            </p:txEl>
                                          </p:spTgt>
                                        </p:tgtEl>
                                        <p:attrNameLst>
                                          <p:attrName>ppt_y</p:attrName>
                                        </p:attrNameLst>
                                      </p:cBhvr>
                                      <p:tavLst>
                                        <p:tav tm="0">
                                          <p:val>
                                            <p:strVal val="#ppt_y"/>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 presetClass="entr" presetSubtype="8" fill="hold" grpId="0" nodeType="clickEffect">
                                  <p:stCondLst>
                                    <p:cond delay="0"/>
                                  </p:stCondLst>
                                  <p:childTnLst>
                                    <p:set>
                                      <p:cBhvr>
                                        <p:cTn id="54" dur="1" fill="hold">
                                          <p:stCondLst>
                                            <p:cond delay="0"/>
                                          </p:stCondLst>
                                        </p:cTn>
                                        <p:tgtEl>
                                          <p:spTgt spid="10243">
                                            <p:txEl>
                                              <p:pRg st="8" end="8"/>
                                            </p:txEl>
                                          </p:spTgt>
                                        </p:tgtEl>
                                        <p:attrNameLst>
                                          <p:attrName>style.visibility</p:attrName>
                                        </p:attrNameLst>
                                      </p:cBhvr>
                                      <p:to>
                                        <p:strVal val="visible"/>
                                      </p:to>
                                    </p:set>
                                    <p:anim calcmode="lin" valueType="num">
                                      <p:cBhvr additive="base">
                                        <p:cTn id="55" dur="500" fill="hold"/>
                                        <p:tgtEl>
                                          <p:spTgt spid="10243">
                                            <p:txEl>
                                              <p:pRg st="8" end="8"/>
                                            </p:txEl>
                                          </p:spTgt>
                                        </p:tgtEl>
                                        <p:attrNameLst>
                                          <p:attrName>ppt_x</p:attrName>
                                        </p:attrNameLst>
                                      </p:cBhvr>
                                      <p:tavLst>
                                        <p:tav tm="0">
                                          <p:val>
                                            <p:strVal val="0-#ppt_w/2"/>
                                          </p:val>
                                        </p:tav>
                                        <p:tav tm="100000">
                                          <p:val>
                                            <p:strVal val="#ppt_x"/>
                                          </p:val>
                                        </p:tav>
                                      </p:tavLst>
                                    </p:anim>
                                    <p:anim calcmode="lin" valueType="num">
                                      <p:cBhvr additive="base">
                                        <p:cTn id="56" dur="500" fill="hold"/>
                                        <p:tgtEl>
                                          <p:spTgt spid="10243">
                                            <p:txEl>
                                              <p:pRg st="8" end="8"/>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43" grpId="0" build="p" bldLvl="3" autoUpdateAnimBg="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Title 1"/>
          <p:cNvSpPr>
            <a:spLocks noGrp="1"/>
          </p:cNvSpPr>
          <p:nvPr>
            <p:ph type="title"/>
          </p:nvPr>
        </p:nvSpPr>
        <p:spPr>
          <a:xfrm>
            <a:off x="457200" y="512763"/>
            <a:ext cx="8229600" cy="914400"/>
          </a:xfrm>
        </p:spPr>
        <p:txBody>
          <a:bodyPr/>
          <a:lstStyle/>
          <a:p>
            <a:pPr eaLnBrk="1" fontAlgn="auto" hangingPunct="1">
              <a:spcAft>
                <a:spcPts val="0"/>
              </a:spcAft>
              <a:defRPr/>
            </a:pPr>
            <a:r>
              <a:rPr lang="en-US" dirty="0" smtClean="0">
                <a:solidFill>
                  <a:schemeClr val="tx2">
                    <a:satMod val="200000"/>
                  </a:schemeClr>
                </a:solidFill>
              </a:rPr>
              <a:t>     Special </a:t>
            </a:r>
            <a:r>
              <a:rPr lang="en-US" dirty="0" smtClean="0">
                <a:solidFill>
                  <a:schemeClr val="tx2">
                    <a:satMod val="200000"/>
                  </a:schemeClr>
                </a:solidFill>
              </a:rPr>
              <a:t>focus of EU</a:t>
            </a:r>
            <a:endParaRPr lang="en-IN" dirty="0" smtClean="0">
              <a:solidFill>
                <a:schemeClr val="tx2">
                  <a:satMod val="200000"/>
                </a:schemeClr>
              </a:solidFill>
            </a:endParaRPr>
          </a:p>
        </p:txBody>
      </p:sp>
      <p:sp>
        <p:nvSpPr>
          <p:cNvPr id="3" name="Content Placeholder 2"/>
          <p:cNvSpPr>
            <a:spLocks noGrp="1"/>
          </p:cNvSpPr>
          <p:nvPr>
            <p:ph sz="half" idx="1"/>
          </p:nvPr>
        </p:nvSpPr>
        <p:spPr>
          <a:xfrm>
            <a:off x="0" y="1752600"/>
            <a:ext cx="4648200" cy="5105400"/>
          </a:xfrm>
        </p:spPr>
        <p:txBody>
          <a:bodyPr rtlCol="0">
            <a:normAutofit fontScale="92500" lnSpcReduction="10000"/>
          </a:bodyPr>
          <a:lstStyle/>
          <a:p>
            <a:pPr marL="411480" eaLnBrk="1" fontAlgn="auto" hangingPunct="1">
              <a:spcAft>
                <a:spcPts val="0"/>
              </a:spcAft>
              <a:buFont typeface="Wingdings"/>
              <a:buChar char=""/>
              <a:defRPr/>
            </a:pPr>
            <a:r>
              <a:rPr lang="en-US" dirty="0" smtClean="0"/>
              <a:t>CAP(common Agricultural policy) aims to better production, certainty in food supplies, quality of life and stabilized market.</a:t>
            </a:r>
          </a:p>
          <a:p>
            <a:pPr marL="411480" eaLnBrk="1" fontAlgn="auto" hangingPunct="1">
              <a:spcAft>
                <a:spcPts val="0"/>
              </a:spcAft>
              <a:buFont typeface="Wingdings"/>
              <a:buChar char=""/>
              <a:defRPr/>
            </a:pPr>
            <a:r>
              <a:rPr lang="en-US" dirty="0" smtClean="0"/>
              <a:t>Energy policy- </a:t>
            </a:r>
            <a:r>
              <a:rPr lang="en-IN" dirty="0" smtClean="0"/>
              <a:t>increase competition in the </a:t>
            </a:r>
            <a:r>
              <a:rPr lang="en-IN" dirty="0" smtClean="0">
                <a:hlinkClick r:id="rId3" action="ppaction://hlinkfile" tooltip="Internal market"/>
              </a:rPr>
              <a:t>internal market</a:t>
            </a:r>
            <a:r>
              <a:rPr lang="en-IN" dirty="0" smtClean="0"/>
              <a:t>, encourage investment and boost interconnections between </a:t>
            </a:r>
            <a:r>
              <a:rPr lang="en-IN" dirty="0" smtClean="0">
                <a:hlinkClick r:id="rId4" action="ppaction://hlinkfile" tooltip="Electricity distribution"/>
              </a:rPr>
              <a:t>electricity grids</a:t>
            </a:r>
            <a:r>
              <a:rPr lang="en-IN" dirty="0" smtClean="0"/>
              <a:t>; diversify energy resources with better systems to respond to a crisis;</a:t>
            </a:r>
            <a:endParaRPr lang="en-IN" dirty="0"/>
          </a:p>
        </p:txBody>
      </p:sp>
      <p:sp>
        <p:nvSpPr>
          <p:cNvPr id="4" name="Content Placeholder 3"/>
          <p:cNvSpPr>
            <a:spLocks noGrp="1"/>
          </p:cNvSpPr>
          <p:nvPr>
            <p:ph sz="half" idx="2"/>
          </p:nvPr>
        </p:nvSpPr>
        <p:spPr>
          <a:xfrm>
            <a:off x="4656138" y="1770063"/>
            <a:ext cx="4038600" cy="4525962"/>
          </a:xfrm>
        </p:spPr>
        <p:txBody>
          <a:bodyPr rtlCol="0">
            <a:normAutofit fontScale="92500" lnSpcReduction="10000"/>
          </a:bodyPr>
          <a:lstStyle/>
          <a:p>
            <a:pPr marL="411480" eaLnBrk="1" fontAlgn="auto" hangingPunct="1">
              <a:spcAft>
                <a:spcPts val="0"/>
              </a:spcAft>
              <a:buFont typeface="Wingdings"/>
              <a:buChar char=""/>
              <a:defRPr/>
            </a:pPr>
            <a:r>
              <a:rPr lang="en-US" dirty="0" smtClean="0"/>
              <a:t>Infrastructure development.</a:t>
            </a:r>
          </a:p>
          <a:p>
            <a:pPr marL="411480" eaLnBrk="1" fontAlgn="auto" hangingPunct="1">
              <a:spcAft>
                <a:spcPts val="0"/>
              </a:spcAft>
              <a:buFont typeface="Wingdings"/>
              <a:buChar char=""/>
              <a:defRPr/>
            </a:pPr>
            <a:r>
              <a:rPr lang="en-US" dirty="0" smtClean="0"/>
              <a:t>Balanced regional growth.</a:t>
            </a:r>
          </a:p>
          <a:p>
            <a:pPr marL="411480" eaLnBrk="1" fontAlgn="auto" hangingPunct="1">
              <a:spcAft>
                <a:spcPts val="0"/>
              </a:spcAft>
              <a:buFont typeface="Wingdings"/>
              <a:buChar char=""/>
              <a:defRPr/>
            </a:pPr>
            <a:r>
              <a:rPr lang="en-US" dirty="0" smtClean="0"/>
              <a:t>Environmental protective measures.</a:t>
            </a:r>
            <a:endParaRPr lang="en-IN" dirty="0"/>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2290" name="Rectangle 2" descr="Large confetti"/>
          <p:cNvSpPr>
            <a:spLocks noGrp="1" noChangeArrowheads="1"/>
          </p:cNvSpPr>
          <p:nvPr>
            <p:ph type="title"/>
          </p:nvPr>
        </p:nvSpPr>
        <p:spPr/>
        <p:txBody>
          <a:bodyPr/>
          <a:lstStyle/>
          <a:p>
            <a:r>
              <a:rPr lang="en-US"/>
              <a:t>EMU </a:t>
            </a:r>
            <a:r>
              <a:rPr lang="en-US" sz="3600"/>
              <a:t>(Economic &amp; Monetary Union)</a:t>
            </a:r>
          </a:p>
        </p:txBody>
      </p:sp>
      <p:sp>
        <p:nvSpPr>
          <p:cNvPr id="12291" name="Rectangle 3"/>
          <p:cNvSpPr>
            <a:spLocks noGrp="1" noChangeArrowheads="1"/>
          </p:cNvSpPr>
          <p:nvPr>
            <p:ph type="body" idx="1"/>
          </p:nvPr>
        </p:nvSpPr>
        <p:spPr>
          <a:xfrm>
            <a:off x="685800" y="1752600"/>
            <a:ext cx="7772400" cy="4343400"/>
          </a:xfrm>
        </p:spPr>
        <p:txBody>
          <a:bodyPr/>
          <a:lstStyle/>
          <a:p>
            <a:pPr>
              <a:lnSpc>
                <a:spcPct val="90000"/>
              </a:lnSpc>
            </a:pPr>
            <a:r>
              <a:rPr lang="en-US" sz="2200" dirty="0"/>
              <a:t>Common currency (Euro) area for 11 members</a:t>
            </a:r>
          </a:p>
          <a:p>
            <a:pPr lvl="1">
              <a:lnSpc>
                <a:spcPct val="90000"/>
              </a:lnSpc>
            </a:pPr>
            <a:r>
              <a:rPr lang="en-US" sz="2200" dirty="0"/>
              <a:t>Euro became the official currency unit on Jan. 1, 1999.</a:t>
            </a:r>
          </a:p>
          <a:p>
            <a:pPr lvl="1">
              <a:lnSpc>
                <a:spcPct val="90000"/>
              </a:lnSpc>
            </a:pPr>
            <a:r>
              <a:rPr lang="en-US" sz="2200" dirty="0"/>
              <a:t>Euro will be in circulation from Jan. 1, 2001</a:t>
            </a:r>
          </a:p>
          <a:p>
            <a:pPr lvl="1">
              <a:lnSpc>
                <a:spcPct val="90000"/>
              </a:lnSpc>
            </a:pPr>
            <a:r>
              <a:rPr lang="en-US" sz="2200" dirty="0"/>
              <a:t>U.K, Denmark and Sweden opted out. </a:t>
            </a:r>
          </a:p>
          <a:p>
            <a:pPr lvl="1">
              <a:lnSpc>
                <a:spcPct val="90000"/>
              </a:lnSpc>
            </a:pPr>
            <a:r>
              <a:rPr lang="en-US" sz="2200" dirty="0"/>
              <a:t>Greece was not qualified. </a:t>
            </a:r>
          </a:p>
          <a:p>
            <a:pPr lvl="1">
              <a:lnSpc>
                <a:spcPct val="90000"/>
              </a:lnSpc>
            </a:pPr>
            <a:r>
              <a:rPr lang="en-US" sz="2200" dirty="0"/>
              <a:t>European Monetary System in 1979 </a:t>
            </a:r>
            <a:r>
              <a:rPr lang="en-US" sz="2200" dirty="0">
                <a:sym typeface="Wingdings" pitchFamily="2" charset="2"/>
              </a:rPr>
              <a:t> European Monetary Institute in 1994  </a:t>
            </a:r>
            <a:r>
              <a:rPr lang="en-US" sz="2200" dirty="0"/>
              <a:t>European Central Bank in July 1, 1998 </a:t>
            </a:r>
          </a:p>
          <a:p>
            <a:pPr>
              <a:lnSpc>
                <a:spcPct val="90000"/>
              </a:lnSpc>
            </a:pPr>
            <a:r>
              <a:rPr lang="en-US" sz="2200" dirty="0"/>
              <a:t>Convergence criteria</a:t>
            </a:r>
          </a:p>
          <a:p>
            <a:pPr lvl="1">
              <a:lnSpc>
                <a:spcPct val="90000"/>
              </a:lnSpc>
            </a:pPr>
            <a:r>
              <a:rPr lang="en-US" sz="2200" dirty="0"/>
              <a:t>Inflation (no more than 1.5% above the 3 lowest </a:t>
            </a:r>
            <a:r>
              <a:rPr lang="en-US" sz="2200" dirty="0" err="1"/>
              <a:t>ave</a:t>
            </a:r>
            <a:r>
              <a:rPr lang="en-US" sz="2200" dirty="0"/>
              <a:t>.) </a:t>
            </a:r>
          </a:p>
          <a:p>
            <a:pPr lvl="1">
              <a:lnSpc>
                <a:spcPct val="90000"/>
              </a:lnSpc>
            </a:pPr>
            <a:r>
              <a:rPr lang="en-US" sz="2200" dirty="0"/>
              <a:t>Long-term interest rate (no more than 2% above the 3 best </a:t>
            </a:r>
            <a:r>
              <a:rPr lang="en-US" sz="2200" dirty="0" err="1"/>
              <a:t>ave</a:t>
            </a:r>
            <a:r>
              <a:rPr lang="en-US" sz="2200" dirty="0"/>
              <a:t>.)</a:t>
            </a:r>
          </a:p>
          <a:p>
            <a:pPr lvl="1">
              <a:lnSpc>
                <a:spcPct val="90000"/>
              </a:lnSpc>
            </a:pPr>
            <a:r>
              <a:rPr lang="en-US" sz="2200" dirty="0"/>
              <a:t>Budget deficit: no more than 3% of GDP</a:t>
            </a:r>
          </a:p>
          <a:p>
            <a:pPr lvl="1">
              <a:lnSpc>
                <a:spcPct val="90000"/>
              </a:lnSpc>
            </a:pPr>
            <a:r>
              <a:rPr lang="en-US" sz="2200" dirty="0"/>
              <a:t>Public debt: no more than 60% of GDP</a:t>
            </a:r>
          </a:p>
          <a:p>
            <a:pPr>
              <a:lnSpc>
                <a:spcPct val="90000"/>
              </a:lnSpc>
            </a:pPr>
            <a:endParaRPr lang="en-US" sz="2800" dirty="0"/>
          </a:p>
        </p:txBody>
      </p:sp>
    </p:spTree>
  </p:cSld>
  <p:clrMapOvr>
    <a:masterClrMapping/>
  </p:clrMapOvr>
  <p:transition>
    <p:zoom dir="in"/>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2291">
                                            <p:txEl>
                                              <p:pRg st="0" end="0"/>
                                            </p:txEl>
                                          </p:spTgt>
                                        </p:tgtEl>
                                        <p:attrNameLst>
                                          <p:attrName>style.visibility</p:attrName>
                                        </p:attrNameLst>
                                      </p:cBhvr>
                                      <p:to>
                                        <p:strVal val="visible"/>
                                      </p:to>
                                    </p:set>
                                    <p:anim calcmode="lin" valueType="num">
                                      <p:cBhvr additive="base">
                                        <p:cTn id="7" dur="500" fill="hold"/>
                                        <p:tgtEl>
                                          <p:spTgt spid="12291">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12291">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12291">
                                            <p:txEl>
                                              <p:pRg st="1" end="1"/>
                                            </p:txEl>
                                          </p:spTgt>
                                        </p:tgtEl>
                                        <p:attrNameLst>
                                          <p:attrName>style.visibility</p:attrName>
                                        </p:attrNameLst>
                                      </p:cBhvr>
                                      <p:to>
                                        <p:strVal val="visible"/>
                                      </p:to>
                                    </p:set>
                                    <p:anim calcmode="lin" valueType="num">
                                      <p:cBhvr additive="base">
                                        <p:cTn id="13" dur="500" fill="hold"/>
                                        <p:tgtEl>
                                          <p:spTgt spid="12291">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12291">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12291">
                                            <p:txEl>
                                              <p:pRg st="2" end="2"/>
                                            </p:txEl>
                                          </p:spTgt>
                                        </p:tgtEl>
                                        <p:attrNameLst>
                                          <p:attrName>style.visibility</p:attrName>
                                        </p:attrNameLst>
                                      </p:cBhvr>
                                      <p:to>
                                        <p:strVal val="visible"/>
                                      </p:to>
                                    </p:set>
                                    <p:anim calcmode="lin" valueType="num">
                                      <p:cBhvr additive="base">
                                        <p:cTn id="19" dur="500" fill="hold"/>
                                        <p:tgtEl>
                                          <p:spTgt spid="12291">
                                            <p:txEl>
                                              <p:pRg st="2" end="2"/>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12291">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12291">
                                            <p:txEl>
                                              <p:pRg st="3" end="3"/>
                                            </p:txEl>
                                          </p:spTgt>
                                        </p:tgtEl>
                                        <p:attrNameLst>
                                          <p:attrName>style.visibility</p:attrName>
                                        </p:attrNameLst>
                                      </p:cBhvr>
                                      <p:to>
                                        <p:strVal val="visible"/>
                                      </p:to>
                                    </p:set>
                                    <p:anim calcmode="lin" valueType="num">
                                      <p:cBhvr additive="base">
                                        <p:cTn id="25" dur="500" fill="hold"/>
                                        <p:tgtEl>
                                          <p:spTgt spid="12291">
                                            <p:txEl>
                                              <p:pRg st="3" end="3"/>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12291">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8" fill="hold" grpId="0" nodeType="clickEffect">
                                  <p:stCondLst>
                                    <p:cond delay="0"/>
                                  </p:stCondLst>
                                  <p:childTnLst>
                                    <p:set>
                                      <p:cBhvr>
                                        <p:cTn id="30" dur="1" fill="hold">
                                          <p:stCondLst>
                                            <p:cond delay="0"/>
                                          </p:stCondLst>
                                        </p:cTn>
                                        <p:tgtEl>
                                          <p:spTgt spid="12291">
                                            <p:txEl>
                                              <p:pRg st="4" end="4"/>
                                            </p:txEl>
                                          </p:spTgt>
                                        </p:tgtEl>
                                        <p:attrNameLst>
                                          <p:attrName>style.visibility</p:attrName>
                                        </p:attrNameLst>
                                      </p:cBhvr>
                                      <p:to>
                                        <p:strVal val="visible"/>
                                      </p:to>
                                    </p:set>
                                    <p:anim calcmode="lin" valueType="num">
                                      <p:cBhvr additive="base">
                                        <p:cTn id="31" dur="500" fill="hold"/>
                                        <p:tgtEl>
                                          <p:spTgt spid="12291">
                                            <p:txEl>
                                              <p:pRg st="4" end="4"/>
                                            </p:txEl>
                                          </p:spTgt>
                                        </p:tgtEl>
                                        <p:attrNameLst>
                                          <p:attrName>ppt_x</p:attrName>
                                        </p:attrNameLst>
                                      </p:cBhvr>
                                      <p:tavLst>
                                        <p:tav tm="0">
                                          <p:val>
                                            <p:strVal val="0-#ppt_w/2"/>
                                          </p:val>
                                        </p:tav>
                                        <p:tav tm="100000">
                                          <p:val>
                                            <p:strVal val="#ppt_x"/>
                                          </p:val>
                                        </p:tav>
                                      </p:tavLst>
                                    </p:anim>
                                    <p:anim calcmode="lin" valueType="num">
                                      <p:cBhvr additive="base">
                                        <p:cTn id="32" dur="500" fill="hold"/>
                                        <p:tgtEl>
                                          <p:spTgt spid="12291">
                                            <p:txEl>
                                              <p:pRg st="4" end="4"/>
                                            </p:txEl>
                                          </p:spTgt>
                                        </p:tgtEl>
                                        <p:attrNameLst>
                                          <p:attrName>ppt_y</p:attrName>
                                        </p:attrNameLst>
                                      </p:cBhvr>
                                      <p:tavLst>
                                        <p:tav tm="0">
                                          <p:val>
                                            <p:strVal val="#ppt_y"/>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8" fill="hold" grpId="0" nodeType="clickEffect">
                                  <p:stCondLst>
                                    <p:cond delay="0"/>
                                  </p:stCondLst>
                                  <p:childTnLst>
                                    <p:set>
                                      <p:cBhvr>
                                        <p:cTn id="36" dur="1" fill="hold">
                                          <p:stCondLst>
                                            <p:cond delay="0"/>
                                          </p:stCondLst>
                                        </p:cTn>
                                        <p:tgtEl>
                                          <p:spTgt spid="12291">
                                            <p:txEl>
                                              <p:pRg st="5" end="5"/>
                                            </p:txEl>
                                          </p:spTgt>
                                        </p:tgtEl>
                                        <p:attrNameLst>
                                          <p:attrName>style.visibility</p:attrName>
                                        </p:attrNameLst>
                                      </p:cBhvr>
                                      <p:to>
                                        <p:strVal val="visible"/>
                                      </p:to>
                                    </p:set>
                                    <p:anim calcmode="lin" valueType="num">
                                      <p:cBhvr additive="base">
                                        <p:cTn id="37" dur="500" fill="hold"/>
                                        <p:tgtEl>
                                          <p:spTgt spid="12291">
                                            <p:txEl>
                                              <p:pRg st="5" end="5"/>
                                            </p:txEl>
                                          </p:spTgt>
                                        </p:tgtEl>
                                        <p:attrNameLst>
                                          <p:attrName>ppt_x</p:attrName>
                                        </p:attrNameLst>
                                      </p:cBhvr>
                                      <p:tavLst>
                                        <p:tav tm="0">
                                          <p:val>
                                            <p:strVal val="0-#ppt_w/2"/>
                                          </p:val>
                                        </p:tav>
                                        <p:tav tm="100000">
                                          <p:val>
                                            <p:strVal val="#ppt_x"/>
                                          </p:val>
                                        </p:tav>
                                      </p:tavLst>
                                    </p:anim>
                                    <p:anim calcmode="lin" valueType="num">
                                      <p:cBhvr additive="base">
                                        <p:cTn id="38" dur="500" fill="hold"/>
                                        <p:tgtEl>
                                          <p:spTgt spid="12291">
                                            <p:txEl>
                                              <p:pRg st="5" end="5"/>
                                            </p:txEl>
                                          </p:spTgt>
                                        </p:tgtEl>
                                        <p:attrNameLst>
                                          <p:attrName>ppt_y</p:attrName>
                                        </p:attrNameLst>
                                      </p:cBhvr>
                                      <p:tavLst>
                                        <p:tav tm="0">
                                          <p:val>
                                            <p:strVal val="#ppt_y"/>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8" fill="hold" grpId="0" nodeType="clickEffect">
                                  <p:stCondLst>
                                    <p:cond delay="0"/>
                                  </p:stCondLst>
                                  <p:childTnLst>
                                    <p:set>
                                      <p:cBhvr>
                                        <p:cTn id="42" dur="1" fill="hold">
                                          <p:stCondLst>
                                            <p:cond delay="0"/>
                                          </p:stCondLst>
                                        </p:cTn>
                                        <p:tgtEl>
                                          <p:spTgt spid="12291">
                                            <p:txEl>
                                              <p:pRg st="6" end="6"/>
                                            </p:txEl>
                                          </p:spTgt>
                                        </p:tgtEl>
                                        <p:attrNameLst>
                                          <p:attrName>style.visibility</p:attrName>
                                        </p:attrNameLst>
                                      </p:cBhvr>
                                      <p:to>
                                        <p:strVal val="visible"/>
                                      </p:to>
                                    </p:set>
                                    <p:anim calcmode="lin" valueType="num">
                                      <p:cBhvr additive="base">
                                        <p:cTn id="43" dur="500" fill="hold"/>
                                        <p:tgtEl>
                                          <p:spTgt spid="12291">
                                            <p:txEl>
                                              <p:pRg st="6" end="6"/>
                                            </p:txEl>
                                          </p:spTgt>
                                        </p:tgtEl>
                                        <p:attrNameLst>
                                          <p:attrName>ppt_x</p:attrName>
                                        </p:attrNameLst>
                                      </p:cBhvr>
                                      <p:tavLst>
                                        <p:tav tm="0">
                                          <p:val>
                                            <p:strVal val="0-#ppt_w/2"/>
                                          </p:val>
                                        </p:tav>
                                        <p:tav tm="100000">
                                          <p:val>
                                            <p:strVal val="#ppt_x"/>
                                          </p:val>
                                        </p:tav>
                                      </p:tavLst>
                                    </p:anim>
                                    <p:anim calcmode="lin" valueType="num">
                                      <p:cBhvr additive="base">
                                        <p:cTn id="44" dur="500" fill="hold"/>
                                        <p:tgtEl>
                                          <p:spTgt spid="12291">
                                            <p:txEl>
                                              <p:pRg st="6" end="6"/>
                                            </p:txEl>
                                          </p:spTgt>
                                        </p:tgtEl>
                                        <p:attrNameLst>
                                          <p:attrName>ppt_y</p:attrName>
                                        </p:attrNameLst>
                                      </p:cBhvr>
                                      <p:tavLst>
                                        <p:tav tm="0">
                                          <p:val>
                                            <p:strVal val="#ppt_y"/>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8" fill="hold" grpId="0" nodeType="clickEffect">
                                  <p:stCondLst>
                                    <p:cond delay="0"/>
                                  </p:stCondLst>
                                  <p:childTnLst>
                                    <p:set>
                                      <p:cBhvr>
                                        <p:cTn id="48" dur="1" fill="hold">
                                          <p:stCondLst>
                                            <p:cond delay="0"/>
                                          </p:stCondLst>
                                        </p:cTn>
                                        <p:tgtEl>
                                          <p:spTgt spid="12291">
                                            <p:txEl>
                                              <p:pRg st="7" end="7"/>
                                            </p:txEl>
                                          </p:spTgt>
                                        </p:tgtEl>
                                        <p:attrNameLst>
                                          <p:attrName>style.visibility</p:attrName>
                                        </p:attrNameLst>
                                      </p:cBhvr>
                                      <p:to>
                                        <p:strVal val="visible"/>
                                      </p:to>
                                    </p:set>
                                    <p:anim calcmode="lin" valueType="num">
                                      <p:cBhvr additive="base">
                                        <p:cTn id="49" dur="500" fill="hold"/>
                                        <p:tgtEl>
                                          <p:spTgt spid="12291">
                                            <p:txEl>
                                              <p:pRg st="7" end="7"/>
                                            </p:txEl>
                                          </p:spTgt>
                                        </p:tgtEl>
                                        <p:attrNameLst>
                                          <p:attrName>ppt_x</p:attrName>
                                        </p:attrNameLst>
                                      </p:cBhvr>
                                      <p:tavLst>
                                        <p:tav tm="0">
                                          <p:val>
                                            <p:strVal val="0-#ppt_w/2"/>
                                          </p:val>
                                        </p:tav>
                                        <p:tav tm="100000">
                                          <p:val>
                                            <p:strVal val="#ppt_x"/>
                                          </p:val>
                                        </p:tav>
                                      </p:tavLst>
                                    </p:anim>
                                    <p:anim calcmode="lin" valueType="num">
                                      <p:cBhvr additive="base">
                                        <p:cTn id="50" dur="500" fill="hold"/>
                                        <p:tgtEl>
                                          <p:spTgt spid="12291">
                                            <p:txEl>
                                              <p:pRg st="7" end="7"/>
                                            </p:txEl>
                                          </p:spTgt>
                                        </p:tgtEl>
                                        <p:attrNameLst>
                                          <p:attrName>ppt_y</p:attrName>
                                        </p:attrNameLst>
                                      </p:cBhvr>
                                      <p:tavLst>
                                        <p:tav tm="0">
                                          <p:val>
                                            <p:strVal val="#ppt_y"/>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 presetClass="entr" presetSubtype="8" fill="hold" grpId="0" nodeType="clickEffect">
                                  <p:stCondLst>
                                    <p:cond delay="0"/>
                                  </p:stCondLst>
                                  <p:childTnLst>
                                    <p:set>
                                      <p:cBhvr>
                                        <p:cTn id="54" dur="1" fill="hold">
                                          <p:stCondLst>
                                            <p:cond delay="0"/>
                                          </p:stCondLst>
                                        </p:cTn>
                                        <p:tgtEl>
                                          <p:spTgt spid="12291">
                                            <p:txEl>
                                              <p:pRg st="8" end="8"/>
                                            </p:txEl>
                                          </p:spTgt>
                                        </p:tgtEl>
                                        <p:attrNameLst>
                                          <p:attrName>style.visibility</p:attrName>
                                        </p:attrNameLst>
                                      </p:cBhvr>
                                      <p:to>
                                        <p:strVal val="visible"/>
                                      </p:to>
                                    </p:set>
                                    <p:anim calcmode="lin" valueType="num">
                                      <p:cBhvr additive="base">
                                        <p:cTn id="55" dur="500" fill="hold"/>
                                        <p:tgtEl>
                                          <p:spTgt spid="12291">
                                            <p:txEl>
                                              <p:pRg st="8" end="8"/>
                                            </p:txEl>
                                          </p:spTgt>
                                        </p:tgtEl>
                                        <p:attrNameLst>
                                          <p:attrName>ppt_x</p:attrName>
                                        </p:attrNameLst>
                                      </p:cBhvr>
                                      <p:tavLst>
                                        <p:tav tm="0">
                                          <p:val>
                                            <p:strVal val="0-#ppt_w/2"/>
                                          </p:val>
                                        </p:tav>
                                        <p:tav tm="100000">
                                          <p:val>
                                            <p:strVal val="#ppt_x"/>
                                          </p:val>
                                        </p:tav>
                                      </p:tavLst>
                                    </p:anim>
                                    <p:anim calcmode="lin" valueType="num">
                                      <p:cBhvr additive="base">
                                        <p:cTn id="56" dur="500" fill="hold"/>
                                        <p:tgtEl>
                                          <p:spTgt spid="12291">
                                            <p:txEl>
                                              <p:pRg st="8" end="8"/>
                                            </p:txEl>
                                          </p:spTgt>
                                        </p:tgtEl>
                                        <p:attrNameLst>
                                          <p:attrName>ppt_y</p:attrName>
                                        </p:attrNameLst>
                                      </p:cBhvr>
                                      <p:tavLst>
                                        <p:tav tm="0">
                                          <p:val>
                                            <p:strVal val="#ppt_y"/>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9" presetID="2" presetClass="entr" presetSubtype="8" fill="hold" grpId="0" nodeType="clickEffect">
                                  <p:stCondLst>
                                    <p:cond delay="0"/>
                                  </p:stCondLst>
                                  <p:childTnLst>
                                    <p:set>
                                      <p:cBhvr>
                                        <p:cTn id="60" dur="1" fill="hold">
                                          <p:stCondLst>
                                            <p:cond delay="0"/>
                                          </p:stCondLst>
                                        </p:cTn>
                                        <p:tgtEl>
                                          <p:spTgt spid="12291">
                                            <p:txEl>
                                              <p:pRg st="9" end="9"/>
                                            </p:txEl>
                                          </p:spTgt>
                                        </p:tgtEl>
                                        <p:attrNameLst>
                                          <p:attrName>style.visibility</p:attrName>
                                        </p:attrNameLst>
                                      </p:cBhvr>
                                      <p:to>
                                        <p:strVal val="visible"/>
                                      </p:to>
                                    </p:set>
                                    <p:anim calcmode="lin" valueType="num">
                                      <p:cBhvr additive="base">
                                        <p:cTn id="61" dur="500" fill="hold"/>
                                        <p:tgtEl>
                                          <p:spTgt spid="12291">
                                            <p:txEl>
                                              <p:pRg st="9" end="9"/>
                                            </p:txEl>
                                          </p:spTgt>
                                        </p:tgtEl>
                                        <p:attrNameLst>
                                          <p:attrName>ppt_x</p:attrName>
                                        </p:attrNameLst>
                                      </p:cBhvr>
                                      <p:tavLst>
                                        <p:tav tm="0">
                                          <p:val>
                                            <p:strVal val="0-#ppt_w/2"/>
                                          </p:val>
                                        </p:tav>
                                        <p:tav tm="100000">
                                          <p:val>
                                            <p:strVal val="#ppt_x"/>
                                          </p:val>
                                        </p:tav>
                                      </p:tavLst>
                                    </p:anim>
                                    <p:anim calcmode="lin" valueType="num">
                                      <p:cBhvr additive="base">
                                        <p:cTn id="62" dur="500" fill="hold"/>
                                        <p:tgtEl>
                                          <p:spTgt spid="12291">
                                            <p:txEl>
                                              <p:pRg st="9" end="9"/>
                                            </p:txEl>
                                          </p:spTgt>
                                        </p:tgtEl>
                                        <p:attrNameLst>
                                          <p:attrName>ppt_y</p:attrName>
                                        </p:attrNameLst>
                                      </p:cBhvr>
                                      <p:tavLst>
                                        <p:tav tm="0">
                                          <p:val>
                                            <p:strVal val="#ppt_y"/>
                                          </p:val>
                                        </p:tav>
                                        <p:tav tm="100000">
                                          <p:val>
                                            <p:strVal val="#ppt_y"/>
                                          </p:val>
                                        </p:tav>
                                      </p:tavLst>
                                    </p:anim>
                                  </p:childTnLst>
                                </p:cTn>
                              </p:par>
                            </p:childTnLst>
                          </p:cTn>
                        </p:par>
                      </p:childTnLst>
                    </p:cTn>
                  </p:par>
                  <p:par>
                    <p:cTn id="63" fill="hold">
                      <p:stCondLst>
                        <p:cond delay="indefinite"/>
                      </p:stCondLst>
                      <p:childTnLst>
                        <p:par>
                          <p:cTn id="64" fill="hold">
                            <p:stCondLst>
                              <p:cond delay="0"/>
                            </p:stCondLst>
                            <p:childTnLst>
                              <p:par>
                                <p:cTn id="65" presetID="2" presetClass="entr" presetSubtype="8" fill="hold" grpId="0" nodeType="clickEffect">
                                  <p:stCondLst>
                                    <p:cond delay="0"/>
                                  </p:stCondLst>
                                  <p:childTnLst>
                                    <p:set>
                                      <p:cBhvr>
                                        <p:cTn id="66" dur="1" fill="hold">
                                          <p:stCondLst>
                                            <p:cond delay="0"/>
                                          </p:stCondLst>
                                        </p:cTn>
                                        <p:tgtEl>
                                          <p:spTgt spid="12291">
                                            <p:txEl>
                                              <p:pRg st="10" end="10"/>
                                            </p:txEl>
                                          </p:spTgt>
                                        </p:tgtEl>
                                        <p:attrNameLst>
                                          <p:attrName>style.visibility</p:attrName>
                                        </p:attrNameLst>
                                      </p:cBhvr>
                                      <p:to>
                                        <p:strVal val="visible"/>
                                      </p:to>
                                    </p:set>
                                    <p:anim calcmode="lin" valueType="num">
                                      <p:cBhvr additive="base">
                                        <p:cTn id="67" dur="500" fill="hold"/>
                                        <p:tgtEl>
                                          <p:spTgt spid="12291">
                                            <p:txEl>
                                              <p:pRg st="10" end="10"/>
                                            </p:txEl>
                                          </p:spTgt>
                                        </p:tgtEl>
                                        <p:attrNameLst>
                                          <p:attrName>ppt_x</p:attrName>
                                        </p:attrNameLst>
                                      </p:cBhvr>
                                      <p:tavLst>
                                        <p:tav tm="0">
                                          <p:val>
                                            <p:strVal val="0-#ppt_w/2"/>
                                          </p:val>
                                        </p:tav>
                                        <p:tav tm="100000">
                                          <p:val>
                                            <p:strVal val="#ppt_x"/>
                                          </p:val>
                                        </p:tav>
                                      </p:tavLst>
                                    </p:anim>
                                    <p:anim calcmode="lin" valueType="num">
                                      <p:cBhvr additive="base">
                                        <p:cTn id="68" dur="500" fill="hold"/>
                                        <p:tgtEl>
                                          <p:spTgt spid="12291">
                                            <p:txEl>
                                              <p:pRg st="10" end="10"/>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291" grpId="0" build="p" bldLvl="2" autoUpdateAnimBg="0"/>
    </p:bldLst>
  </p:timing>
</p:sld>
</file>

<file path=ppt/slides/slide1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1266" name="Rectangle 2" descr="Large confetti"/>
          <p:cNvSpPr>
            <a:spLocks noGrp="1" noChangeArrowheads="1"/>
          </p:cNvSpPr>
          <p:nvPr>
            <p:ph type="title"/>
          </p:nvPr>
        </p:nvSpPr>
        <p:spPr/>
        <p:txBody>
          <a:bodyPr/>
          <a:lstStyle/>
          <a:p>
            <a:r>
              <a:rPr lang="en-US"/>
              <a:t>Remaining Issues of EU</a:t>
            </a:r>
          </a:p>
        </p:txBody>
      </p:sp>
      <p:sp>
        <p:nvSpPr>
          <p:cNvPr id="11267" name="Rectangle 3"/>
          <p:cNvSpPr>
            <a:spLocks noGrp="1" noChangeArrowheads="1"/>
          </p:cNvSpPr>
          <p:nvPr>
            <p:ph type="body" idx="1"/>
          </p:nvPr>
        </p:nvSpPr>
        <p:spPr/>
        <p:txBody>
          <a:bodyPr/>
          <a:lstStyle/>
          <a:p>
            <a:pPr>
              <a:lnSpc>
                <a:spcPct val="90000"/>
              </a:lnSpc>
            </a:pPr>
            <a:r>
              <a:rPr lang="en-US" sz="2800"/>
              <a:t>Further elimination of barriers to common market</a:t>
            </a:r>
          </a:p>
          <a:p>
            <a:pPr lvl="1">
              <a:lnSpc>
                <a:spcPct val="90000"/>
              </a:lnSpc>
            </a:pPr>
            <a:r>
              <a:rPr lang="en-US" sz="2400"/>
              <a:t>Compatible standards and specifications</a:t>
            </a:r>
          </a:p>
          <a:p>
            <a:pPr lvl="1">
              <a:lnSpc>
                <a:spcPct val="90000"/>
              </a:lnSpc>
            </a:pPr>
            <a:r>
              <a:rPr lang="en-US" sz="2400"/>
              <a:t>No barriers to market access</a:t>
            </a:r>
          </a:p>
          <a:p>
            <a:pPr lvl="1">
              <a:lnSpc>
                <a:spcPct val="90000"/>
              </a:lnSpc>
            </a:pPr>
            <a:r>
              <a:rPr lang="en-US" sz="2400"/>
              <a:t>Coordination of VAT and other taxes</a:t>
            </a:r>
          </a:p>
          <a:p>
            <a:pPr>
              <a:lnSpc>
                <a:spcPct val="90000"/>
              </a:lnSpc>
            </a:pPr>
            <a:r>
              <a:rPr lang="en-US" sz="2800"/>
              <a:t>Expansion </a:t>
            </a:r>
          </a:p>
          <a:p>
            <a:pPr lvl="1">
              <a:lnSpc>
                <a:spcPct val="90000"/>
              </a:lnSpc>
            </a:pPr>
            <a:r>
              <a:rPr lang="en-US" sz="2400"/>
              <a:t>European Economic Area: extension of customs union privileges to EFTA member countries (Norway, Iceland and Liechtenstein accepted. Switzerland voted not to join)</a:t>
            </a:r>
          </a:p>
          <a:p>
            <a:pPr lvl="1">
              <a:lnSpc>
                <a:spcPct val="90000"/>
              </a:lnSpc>
            </a:pPr>
            <a:r>
              <a:rPr lang="en-US" sz="2400"/>
              <a:t>Special agreements with Turkey and others</a:t>
            </a:r>
          </a:p>
          <a:p>
            <a:pPr lvl="1">
              <a:lnSpc>
                <a:spcPct val="90000"/>
              </a:lnSpc>
            </a:pPr>
            <a:r>
              <a:rPr lang="en-US" sz="2400"/>
              <a:t>Expansion to central and eastern European countries </a:t>
            </a:r>
          </a:p>
          <a:p>
            <a:pPr lvl="2">
              <a:lnSpc>
                <a:spcPct val="90000"/>
              </a:lnSpc>
            </a:pPr>
            <a:r>
              <a:rPr lang="en-US" sz="2000"/>
              <a:t>Fast-track applicants</a:t>
            </a:r>
          </a:p>
          <a:p>
            <a:pPr lvl="2">
              <a:lnSpc>
                <a:spcPct val="90000"/>
              </a:lnSpc>
            </a:pPr>
            <a:r>
              <a:rPr lang="en-US" sz="2000"/>
              <a:t>Other applicants</a:t>
            </a:r>
          </a:p>
        </p:txBody>
      </p:sp>
    </p:spTree>
  </p:cSld>
  <p:clrMapOvr>
    <a:masterClrMapping/>
  </p:clrMapOvr>
  <p:transition>
    <p:zoom dir="in"/>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1267">
                                            <p:txEl>
                                              <p:pRg st="0" end="0"/>
                                            </p:txEl>
                                          </p:spTgt>
                                        </p:tgtEl>
                                        <p:attrNameLst>
                                          <p:attrName>style.visibility</p:attrName>
                                        </p:attrNameLst>
                                      </p:cBhvr>
                                      <p:to>
                                        <p:strVal val="visible"/>
                                      </p:to>
                                    </p:set>
                                    <p:anim calcmode="lin" valueType="num">
                                      <p:cBhvr additive="base">
                                        <p:cTn id="7" dur="500" fill="hold"/>
                                        <p:tgtEl>
                                          <p:spTgt spid="11267">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11267">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11267">
                                            <p:txEl>
                                              <p:pRg st="1" end="1"/>
                                            </p:txEl>
                                          </p:spTgt>
                                        </p:tgtEl>
                                        <p:attrNameLst>
                                          <p:attrName>style.visibility</p:attrName>
                                        </p:attrNameLst>
                                      </p:cBhvr>
                                      <p:to>
                                        <p:strVal val="visible"/>
                                      </p:to>
                                    </p:set>
                                    <p:anim calcmode="lin" valueType="num">
                                      <p:cBhvr additive="base">
                                        <p:cTn id="13" dur="500" fill="hold"/>
                                        <p:tgtEl>
                                          <p:spTgt spid="11267">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11267">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11267">
                                            <p:txEl>
                                              <p:pRg st="2" end="2"/>
                                            </p:txEl>
                                          </p:spTgt>
                                        </p:tgtEl>
                                        <p:attrNameLst>
                                          <p:attrName>style.visibility</p:attrName>
                                        </p:attrNameLst>
                                      </p:cBhvr>
                                      <p:to>
                                        <p:strVal val="visible"/>
                                      </p:to>
                                    </p:set>
                                    <p:anim calcmode="lin" valueType="num">
                                      <p:cBhvr additive="base">
                                        <p:cTn id="19" dur="500" fill="hold"/>
                                        <p:tgtEl>
                                          <p:spTgt spid="11267">
                                            <p:txEl>
                                              <p:pRg st="2" end="2"/>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11267">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11267">
                                            <p:txEl>
                                              <p:pRg st="3" end="3"/>
                                            </p:txEl>
                                          </p:spTgt>
                                        </p:tgtEl>
                                        <p:attrNameLst>
                                          <p:attrName>style.visibility</p:attrName>
                                        </p:attrNameLst>
                                      </p:cBhvr>
                                      <p:to>
                                        <p:strVal val="visible"/>
                                      </p:to>
                                    </p:set>
                                    <p:anim calcmode="lin" valueType="num">
                                      <p:cBhvr additive="base">
                                        <p:cTn id="25" dur="500" fill="hold"/>
                                        <p:tgtEl>
                                          <p:spTgt spid="11267">
                                            <p:txEl>
                                              <p:pRg st="3" end="3"/>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11267">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8" fill="hold" grpId="0" nodeType="clickEffect">
                                  <p:stCondLst>
                                    <p:cond delay="0"/>
                                  </p:stCondLst>
                                  <p:childTnLst>
                                    <p:set>
                                      <p:cBhvr>
                                        <p:cTn id="30" dur="1" fill="hold">
                                          <p:stCondLst>
                                            <p:cond delay="0"/>
                                          </p:stCondLst>
                                        </p:cTn>
                                        <p:tgtEl>
                                          <p:spTgt spid="11267">
                                            <p:txEl>
                                              <p:pRg st="4" end="4"/>
                                            </p:txEl>
                                          </p:spTgt>
                                        </p:tgtEl>
                                        <p:attrNameLst>
                                          <p:attrName>style.visibility</p:attrName>
                                        </p:attrNameLst>
                                      </p:cBhvr>
                                      <p:to>
                                        <p:strVal val="visible"/>
                                      </p:to>
                                    </p:set>
                                    <p:anim calcmode="lin" valueType="num">
                                      <p:cBhvr additive="base">
                                        <p:cTn id="31" dur="500" fill="hold"/>
                                        <p:tgtEl>
                                          <p:spTgt spid="11267">
                                            <p:txEl>
                                              <p:pRg st="4" end="4"/>
                                            </p:txEl>
                                          </p:spTgt>
                                        </p:tgtEl>
                                        <p:attrNameLst>
                                          <p:attrName>ppt_x</p:attrName>
                                        </p:attrNameLst>
                                      </p:cBhvr>
                                      <p:tavLst>
                                        <p:tav tm="0">
                                          <p:val>
                                            <p:strVal val="0-#ppt_w/2"/>
                                          </p:val>
                                        </p:tav>
                                        <p:tav tm="100000">
                                          <p:val>
                                            <p:strVal val="#ppt_x"/>
                                          </p:val>
                                        </p:tav>
                                      </p:tavLst>
                                    </p:anim>
                                    <p:anim calcmode="lin" valueType="num">
                                      <p:cBhvr additive="base">
                                        <p:cTn id="32" dur="500" fill="hold"/>
                                        <p:tgtEl>
                                          <p:spTgt spid="11267">
                                            <p:txEl>
                                              <p:pRg st="4" end="4"/>
                                            </p:txEl>
                                          </p:spTgt>
                                        </p:tgtEl>
                                        <p:attrNameLst>
                                          <p:attrName>ppt_y</p:attrName>
                                        </p:attrNameLst>
                                      </p:cBhvr>
                                      <p:tavLst>
                                        <p:tav tm="0">
                                          <p:val>
                                            <p:strVal val="#ppt_y"/>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8" fill="hold" grpId="0" nodeType="clickEffect">
                                  <p:stCondLst>
                                    <p:cond delay="0"/>
                                  </p:stCondLst>
                                  <p:childTnLst>
                                    <p:set>
                                      <p:cBhvr>
                                        <p:cTn id="36" dur="1" fill="hold">
                                          <p:stCondLst>
                                            <p:cond delay="0"/>
                                          </p:stCondLst>
                                        </p:cTn>
                                        <p:tgtEl>
                                          <p:spTgt spid="11267">
                                            <p:txEl>
                                              <p:pRg st="5" end="5"/>
                                            </p:txEl>
                                          </p:spTgt>
                                        </p:tgtEl>
                                        <p:attrNameLst>
                                          <p:attrName>style.visibility</p:attrName>
                                        </p:attrNameLst>
                                      </p:cBhvr>
                                      <p:to>
                                        <p:strVal val="visible"/>
                                      </p:to>
                                    </p:set>
                                    <p:anim calcmode="lin" valueType="num">
                                      <p:cBhvr additive="base">
                                        <p:cTn id="37" dur="500" fill="hold"/>
                                        <p:tgtEl>
                                          <p:spTgt spid="11267">
                                            <p:txEl>
                                              <p:pRg st="5" end="5"/>
                                            </p:txEl>
                                          </p:spTgt>
                                        </p:tgtEl>
                                        <p:attrNameLst>
                                          <p:attrName>ppt_x</p:attrName>
                                        </p:attrNameLst>
                                      </p:cBhvr>
                                      <p:tavLst>
                                        <p:tav tm="0">
                                          <p:val>
                                            <p:strVal val="0-#ppt_w/2"/>
                                          </p:val>
                                        </p:tav>
                                        <p:tav tm="100000">
                                          <p:val>
                                            <p:strVal val="#ppt_x"/>
                                          </p:val>
                                        </p:tav>
                                      </p:tavLst>
                                    </p:anim>
                                    <p:anim calcmode="lin" valueType="num">
                                      <p:cBhvr additive="base">
                                        <p:cTn id="38" dur="500" fill="hold"/>
                                        <p:tgtEl>
                                          <p:spTgt spid="11267">
                                            <p:txEl>
                                              <p:pRg st="5" end="5"/>
                                            </p:txEl>
                                          </p:spTgt>
                                        </p:tgtEl>
                                        <p:attrNameLst>
                                          <p:attrName>ppt_y</p:attrName>
                                        </p:attrNameLst>
                                      </p:cBhvr>
                                      <p:tavLst>
                                        <p:tav tm="0">
                                          <p:val>
                                            <p:strVal val="#ppt_y"/>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8" fill="hold" grpId="0" nodeType="clickEffect">
                                  <p:stCondLst>
                                    <p:cond delay="0"/>
                                  </p:stCondLst>
                                  <p:childTnLst>
                                    <p:set>
                                      <p:cBhvr>
                                        <p:cTn id="42" dur="1" fill="hold">
                                          <p:stCondLst>
                                            <p:cond delay="0"/>
                                          </p:stCondLst>
                                        </p:cTn>
                                        <p:tgtEl>
                                          <p:spTgt spid="11267">
                                            <p:txEl>
                                              <p:pRg st="6" end="6"/>
                                            </p:txEl>
                                          </p:spTgt>
                                        </p:tgtEl>
                                        <p:attrNameLst>
                                          <p:attrName>style.visibility</p:attrName>
                                        </p:attrNameLst>
                                      </p:cBhvr>
                                      <p:to>
                                        <p:strVal val="visible"/>
                                      </p:to>
                                    </p:set>
                                    <p:anim calcmode="lin" valueType="num">
                                      <p:cBhvr additive="base">
                                        <p:cTn id="43" dur="500" fill="hold"/>
                                        <p:tgtEl>
                                          <p:spTgt spid="11267">
                                            <p:txEl>
                                              <p:pRg st="6" end="6"/>
                                            </p:txEl>
                                          </p:spTgt>
                                        </p:tgtEl>
                                        <p:attrNameLst>
                                          <p:attrName>ppt_x</p:attrName>
                                        </p:attrNameLst>
                                      </p:cBhvr>
                                      <p:tavLst>
                                        <p:tav tm="0">
                                          <p:val>
                                            <p:strVal val="0-#ppt_w/2"/>
                                          </p:val>
                                        </p:tav>
                                        <p:tav tm="100000">
                                          <p:val>
                                            <p:strVal val="#ppt_x"/>
                                          </p:val>
                                        </p:tav>
                                      </p:tavLst>
                                    </p:anim>
                                    <p:anim calcmode="lin" valueType="num">
                                      <p:cBhvr additive="base">
                                        <p:cTn id="44" dur="500" fill="hold"/>
                                        <p:tgtEl>
                                          <p:spTgt spid="11267">
                                            <p:txEl>
                                              <p:pRg st="6" end="6"/>
                                            </p:txEl>
                                          </p:spTgt>
                                        </p:tgtEl>
                                        <p:attrNameLst>
                                          <p:attrName>ppt_y</p:attrName>
                                        </p:attrNameLst>
                                      </p:cBhvr>
                                      <p:tavLst>
                                        <p:tav tm="0">
                                          <p:val>
                                            <p:strVal val="#ppt_y"/>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8" fill="hold" grpId="0" nodeType="clickEffect">
                                  <p:stCondLst>
                                    <p:cond delay="0"/>
                                  </p:stCondLst>
                                  <p:childTnLst>
                                    <p:set>
                                      <p:cBhvr>
                                        <p:cTn id="48" dur="1" fill="hold">
                                          <p:stCondLst>
                                            <p:cond delay="0"/>
                                          </p:stCondLst>
                                        </p:cTn>
                                        <p:tgtEl>
                                          <p:spTgt spid="11267">
                                            <p:txEl>
                                              <p:pRg st="7" end="7"/>
                                            </p:txEl>
                                          </p:spTgt>
                                        </p:tgtEl>
                                        <p:attrNameLst>
                                          <p:attrName>style.visibility</p:attrName>
                                        </p:attrNameLst>
                                      </p:cBhvr>
                                      <p:to>
                                        <p:strVal val="visible"/>
                                      </p:to>
                                    </p:set>
                                    <p:anim calcmode="lin" valueType="num">
                                      <p:cBhvr additive="base">
                                        <p:cTn id="49" dur="500" fill="hold"/>
                                        <p:tgtEl>
                                          <p:spTgt spid="11267">
                                            <p:txEl>
                                              <p:pRg st="7" end="7"/>
                                            </p:txEl>
                                          </p:spTgt>
                                        </p:tgtEl>
                                        <p:attrNameLst>
                                          <p:attrName>ppt_x</p:attrName>
                                        </p:attrNameLst>
                                      </p:cBhvr>
                                      <p:tavLst>
                                        <p:tav tm="0">
                                          <p:val>
                                            <p:strVal val="0-#ppt_w/2"/>
                                          </p:val>
                                        </p:tav>
                                        <p:tav tm="100000">
                                          <p:val>
                                            <p:strVal val="#ppt_x"/>
                                          </p:val>
                                        </p:tav>
                                      </p:tavLst>
                                    </p:anim>
                                    <p:anim calcmode="lin" valueType="num">
                                      <p:cBhvr additive="base">
                                        <p:cTn id="50" dur="500" fill="hold"/>
                                        <p:tgtEl>
                                          <p:spTgt spid="11267">
                                            <p:txEl>
                                              <p:pRg st="7" end="7"/>
                                            </p:txEl>
                                          </p:spTgt>
                                        </p:tgtEl>
                                        <p:attrNameLst>
                                          <p:attrName>ppt_y</p:attrName>
                                        </p:attrNameLst>
                                      </p:cBhvr>
                                      <p:tavLst>
                                        <p:tav tm="0">
                                          <p:val>
                                            <p:strVal val="#ppt_y"/>
                                          </p:val>
                                        </p:tav>
                                        <p:tav tm="100000">
                                          <p:val>
                                            <p:strVal val="#ppt_y"/>
                                          </p:val>
                                        </p:tav>
                                      </p:tavLst>
                                    </p:anim>
                                  </p:childTnLst>
                                </p:cTn>
                              </p:par>
                              <p:par>
                                <p:cTn id="51" presetID="2" presetClass="entr" presetSubtype="8" fill="hold" grpId="0" nodeType="withEffect">
                                  <p:stCondLst>
                                    <p:cond delay="0"/>
                                  </p:stCondLst>
                                  <p:childTnLst>
                                    <p:set>
                                      <p:cBhvr>
                                        <p:cTn id="52" dur="1" fill="hold">
                                          <p:stCondLst>
                                            <p:cond delay="0"/>
                                          </p:stCondLst>
                                        </p:cTn>
                                        <p:tgtEl>
                                          <p:spTgt spid="11267">
                                            <p:txEl>
                                              <p:pRg st="8" end="8"/>
                                            </p:txEl>
                                          </p:spTgt>
                                        </p:tgtEl>
                                        <p:attrNameLst>
                                          <p:attrName>style.visibility</p:attrName>
                                        </p:attrNameLst>
                                      </p:cBhvr>
                                      <p:to>
                                        <p:strVal val="visible"/>
                                      </p:to>
                                    </p:set>
                                    <p:anim calcmode="lin" valueType="num">
                                      <p:cBhvr additive="base">
                                        <p:cTn id="53" dur="500" fill="hold"/>
                                        <p:tgtEl>
                                          <p:spTgt spid="11267">
                                            <p:txEl>
                                              <p:pRg st="8" end="8"/>
                                            </p:txEl>
                                          </p:spTgt>
                                        </p:tgtEl>
                                        <p:attrNameLst>
                                          <p:attrName>ppt_x</p:attrName>
                                        </p:attrNameLst>
                                      </p:cBhvr>
                                      <p:tavLst>
                                        <p:tav tm="0">
                                          <p:val>
                                            <p:strVal val="0-#ppt_w/2"/>
                                          </p:val>
                                        </p:tav>
                                        <p:tav tm="100000">
                                          <p:val>
                                            <p:strVal val="#ppt_x"/>
                                          </p:val>
                                        </p:tav>
                                      </p:tavLst>
                                    </p:anim>
                                    <p:anim calcmode="lin" valueType="num">
                                      <p:cBhvr additive="base">
                                        <p:cTn id="54" dur="500" fill="hold"/>
                                        <p:tgtEl>
                                          <p:spTgt spid="11267">
                                            <p:txEl>
                                              <p:pRg st="8" end="8"/>
                                            </p:txEl>
                                          </p:spTgt>
                                        </p:tgtEl>
                                        <p:attrNameLst>
                                          <p:attrName>ppt_y</p:attrName>
                                        </p:attrNameLst>
                                      </p:cBhvr>
                                      <p:tavLst>
                                        <p:tav tm="0">
                                          <p:val>
                                            <p:strVal val="#ppt_y"/>
                                          </p:val>
                                        </p:tav>
                                        <p:tav tm="100000">
                                          <p:val>
                                            <p:strVal val="#ppt_y"/>
                                          </p:val>
                                        </p:tav>
                                      </p:tavLst>
                                    </p:anim>
                                  </p:childTnLst>
                                </p:cTn>
                              </p:par>
                              <p:par>
                                <p:cTn id="55" presetID="2" presetClass="entr" presetSubtype="8" fill="hold" grpId="0" nodeType="withEffect">
                                  <p:stCondLst>
                                    <p:cond delay="0"/>
                                  </p:stCondLst>
                                  <p:childTnLst>
                                    <p:set>
                                      <p:cBhvr>
                                        <p:cTn id="56" dur="1" fill="hold">
                                          <p:stCondLst>
                                            <p:cond delay="0"/>
                                          </p:stCondLst>
                                        </p:cTn>
                                        <p:tgtEl>
                                          <p:spTgt spid="11267">
                                            <p:txEl>
                                              <p:pRg st="9" end="9"/>
                                            </p:txEl>
                                          </p:spTgt>
                                        </p:tgtEl>
                                        <p:attrNameLst>
                                          <p:attrName>style.visibility</p:attrName>
                                        </p:attrNameLst>
                                      </p:cBhvr>
                                      <p:to>
                                        <p:strVal val="visible"/>
                                      </p:to>
                                    </p:set>
                                    <p:anim calcmode="lin" valueType="num">
                                      <p:cBhvr additive="base">
                                        <p:cTn id="57" dur="500" fill="hold"/>
                                        <p:tgtEl>
                                          <p:spTgt spid="11267">
                                            <p:txEl>
                                              <p:pRg st="9" end="9"/>
                                            </p:txEl>
                                          </p:spTgt>
                                        </p:tgtEl>
                                        <p:attrNameLst>
                                          <p:attrName>ppt_x</p:attrName>
                                        </p:attrNameLst>
                                      </p:cBhvr>
                                      <p:tavLst>
                                        <p:tav tm="0">
                                          <p:val>
                                            <p:strVal val="0-#ppt_w/2"/>
                                          </p:val>
                                        </p:tav>
                                        <p:tav tm="100000">
                                          <p:val>
                                            <p:strVal val="#ppt_x"/>
                                          </p:val>
                                        </p:tav>
                                      </p:tavLst>
                                    </p:anim>
                                    <p:anim calcmode="lin" valueType="num">
                                      <p:cBhvr additive="base">
                                        <p:cTn id="58" dur="500" fill="hold"/>
                                        <p:tgtEl>
                                          <p:spTgt spid="11267">
                                            <p:txEl>
                                              <p:pRg st="9" end="9"/>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267" grpId="0" build="p" bldLvl="2" autoUpdateAnimBg="0"/>
    </p:bldLst>
  </p:timing>
</p:sld>
</file>

<file path=ppt/slides/slide1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3314" name="Rectangle 2" descr="Large confetti"/>
          <p:cNvSpPr>
            <a:spLocks noGrp="1" noChangeArrowheads="1"/>
          </p:cNvSpPr>
          <p:nvPr>
            <p:ph type="title"/>
          </p:nvPr>
        </p:nvSpPr>
        <p:spPr/>
        <p:txBody>
          <a:bodyPr/>
          <a:lstStyle/>
          <a:p>
            <a:r>
              <a:rPr lang="en-US"/>
              <a:t>NAFTA</a:t>
            </a:r>
          </a:p>
        </p:txBody>
      </p:sp>
      <p:sp>
        <p:nvSpPr>
          <p:cNvPr id="13315" name="Rectangle 3"/>
          <p:cNvSpPr>
            <a:spLocks noGrp="1" noChangeArrowheads="1"/>
          </p:cNvSpPr>
          <p:nvPr>
            <p:ph type="body" idx="1"/>
          </p:nvPr>
        </p:nvSpPr>
        <p:spPr/>
        <p:txBody>
          <a:bodyPr/>
          <a:lstStyle/>
          <a:p>
            <a:pPr>
              <a:lnSpc>
                <a:spcPct val="90000"/>
              </a:lnSpc>
            </a:pPr>
            <a:r>
              <a:rPr lang="en-US" sz="2800"/>
              <a:t>North America Free trade Agreement</a:t>
            </a:r>
          </a:p>
          <a:p>
            <a:pPr lvl="1">
              <a:lnSpc>
                <a:spcPct val="90000"/>
              </a:lnSpc>
            </a:pPr>
            <a:r>
              <a:rPr lang="en-US" sz="2400"/>
              <a:t>Free trade area among the U.S., Canada and Mexico</a:t>
            </a:r>
          </a:p>
          <a:p>
            <a:pPr lvl="1">
              <a:lnSpc>
                <a:spcPct val="90000"/>
              </a:lnSpc>
            </a:pPr>
            <a:r>
              <a:rPr lang="en-US" sz="2400"/>
              <a:t>The largest trading bloc in terms of GNP</a:t>
            </a:r>
          </a:p>
          <a:p>
            <a:pPr lvl="1">
              <a:lnSpc>
                <a:spcPct val="90000"/>
              </a:lnSpc>
            </a:pPr>
            <a:r>
              <a:rPr lang="en-US" sz="2400"/>
              <a:t>A good example of trade diversion (production shifted  from Asia to Mexico)</a:t>
            </a:r>
          </a:p>
          <a:p>
            <a:pPr>
              <a:lnSpc>
                <a:spcPct val="90000"/>
              </a:lnSpc>
            </a:pPr>
            <a:r>
              <a:rPr lang="en-US" sz="2800"/>
              <a:t>History</a:t>
            </a:r>
          </a:p>
          <a:p>
            <a:pPr lvl="1">
              <a:lnSpc>
                <a:spcPct val="90000"/>
              </a:lnSpc>
            </a:pPr>
            <a:r>
              <a:rPr lang="en-US" sz="2400"/>
              <a:t>Automotive products Trade Agreement (1965) between the U.S. and Canada</a:t>
            </a:r>
          </a:p>
          <a:p>
            <a:pPr lvl="1">
              <a:lnSpc>
                <a:spcPct val="90000"/>
              </a:lnSpc>
            </a:pPr>
            <a:r>
              <a:rPr lang="en-US" sz="2400"/>
              <a:t>Canada-U.S. Free Trade Agreement (1989)</a:t>
            </a:r>
          </a:p>
          <a:p>
            <a:pPr lvl="1">
              <a:lnSpc>
                <a:spcPct val="90000"/>
              </a:lnSpc>
            </a:pPr>
            <a:r>
              <a:rPr lang="en-US" sz="2400"/>
              <a:t>NAFTA (1994)</a:t>
            </a:r>
          </a:p>
        </p:txBody>
      </p:sp>
    </p:spTree>
  </p:cSld>
  <p:clrMapOvr>
    <a:masterClrMapping/>
  </p:clrMapOvr>
  <p:transition>
    <p:zoom dir="in"/>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3315">
                                            <p:txEl>
                                              <p:pRg st="0" end="0"/>
                                            </p:txEl>
                                          </p:spTgt>
                                        </p:tgtEl>
                                        <p:attrNameLst>
                                          <p:attrName>style.visibility</p:attrName>
                                        </p:attrNameLst>
                                      </p:cBhvr>
                                      <p:to>
                                        <p:strVal val="visible"/>
                                      </p:to>
                                    </p:set>
                                    <p:anim calcmode="lin" valueType="num">
                                      <p:cBhvr additive="base">
                                        <p:cTn id="7" dur="500" fill="hold"/>
                                        <p:tgtEl>
                                          <p:spTgt spid="13315">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13315">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13315">
                                            <p:txEl>
                                              <p:pRg st="1" end="1"/>
                                            </p:txEl>
                                          </p:spTgt>
                                        </p:tgtEl>
                                        <p:attrNameLst>
                                          <p:attrName>style.visibility</p:attrName>
                                        </p:attrNameLst>
                                      </p:cBhvr>
                                      <p:to>
                                        <p:strVal val="visible"/>
                                      </p:to>
                                    </p:set>
                                    <p:anim calcmode="lin" valueType="num">
                                      <p:cBhvr additive="base">
                                        <p:cTn id="13" dur="500" fill="hold"/>
                                        <p:tgtEl>
                                          <p:spTgt spid="13315">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13315">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13315">
                                            <p:txEl>
                                              <p:pRg st="2" end="2"/>
                                            </p:txEl>
                                          </p:spTgt>
                                        </p:tgtEl>
                                        <p:attrNameLst>
                                          <p:attrName>style.visibility</p:attrName>
                                        </p:attrNameLst>
                                      </p:cBhvr>
                                      <p:to>
                                        <p:strVal val="visible"/>
                                      </p:to>
                                    </p:set>
                                    <p:anim calcmode="lin" valueType="num">
                                      <p:cBhvr additive="base">
                                        <p:cTn id="19" dur="500" fill="hold"/>
                                        <p:tgtEl>
                                          <p:spTgt spid="13315">
                                            <p:txEl>
                                              <p:pRg st="2" end="2"/>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13315">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13315">
                                            <p:txEl>
                                              <p:pRg st="3" end="3"/>
                                            </p:txEl>
                                          </p:spTgt>
                                        </p:tgtEl>
                                        <p:attrNameLst>
                                          <p:attrName>style.visibility</p:attrName>
                                        </p:attrNameLst>
                                      </p:cBhvr>
                                      <p:to>
                                        <p:strVal val="visible"/>
                                      </p:to>
                                    </p:set>
                                    <p:anim calcmode="lin" valueType="num">
                                      <p:cBhvr additive="base">
                                        <p:cTn id="25" dur="500" fill="hold"/>
                                        <p:tgtEl>
                                          <p:spTgt spid="13315">
                                            <p:txEl>
                                              <p:pRg st="3" end="3"/>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13315">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8" fill="hold" grpId="0" nodeType="clickEffect">
                                  <p:stCondLst>
                                    <p:cond delay="0"/>
                                  </p:stCondLst>
                                  <p:childTnLst>
                                    <p:set>
                                      <p:cBhvr>
                                        <p:cTn id="30" dur="1" fill="hold">
                                          <p:stCondLst>
                                            <p:cond delay="0"/>
                                          </p:stCondLst>
                                        </p:cTn>
                                        <p:tgtEl>
                                          <p:spTgt spid="13315">
                                            <p:txEl>
                                              <p:pRg st="4" end="4"/>
                                            </p:txEl>
                                          </p:spTgt>
                                        </p:tgtEl>
                                        <p:attrNameLst>
                                          <p:attrName>style.visibility</p:attrName>
                                        </p:attrNameLst>
                                      </p:cBhvr>
                                      <p:to>
                                        <p:strVal val="visible"/>
                                      </p:to>
                                    </p:set>
                                    <p:anim calcmode="lin" valueType="num">
                                      <p:cBhvr additive="base">
                                        <p:cTn id="31" dur="500" fill="hold"/>
                                        <p:tgtEl>
                                          <p:spTgt spid="13315">
                                            <p:txEl>
                                              <p:pRg st="4" end="4"/>
                                            </p:txEl>
                                          </p:spTgt>
                                        </p:tgtEl>
                                        <p:attrNameLst>
                                          <p:attrName>ppt_x</p:attrName>
                                        </p:attrNameLst>
                                      </p:cBhvr>
                                      <p:tavLst>
                                        <p:tav tm="0">
                                          <p:val>
                                            <p:strVal val="0-#ppt_w/2"/>
                                          </p:val>
                                        </p:tav>
                                        <p:tav tm="100000">
                                          <p:val>
                                            <p:strVal val="#ppt_x"/>
                                          </p:val>
                                        </p:tav>
                                      </p:tavLst>
                                    </p:anim>
                                    <p:anim calcmode="lin" valueType="num">
                                      <p:cBhvr additive="base">
                                        <p:cTn id="32" dur="500" fill="hold"/>
                                        <p:tgtEl>
                                          <p:spTgt spid="13315">
                                            <p:txEl>
                                              <p:pRg st="4" end="4"/>
                                            </p:txEl>
                                          </p:spTgt>
                                        </p:tgtEl>
                                        <p:attrNameLst>
                                          <p:attrName>ppt_y</p:attrName>
                                        </p:attrNameLst>
                                      </p:cBhvr>
                                      <p:tavLst>
                                        <p:tav tm="0">
                                          <p:val>
                                            <p:strVal val="#ppt_y"/>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8" fill="hold" grpId="0" nodeType="clickEffect">
                                  <p:stCondLst>
                                    <p:cond delay="0"/>
                                  </p:stCondLst>
                                  <p:childTnLst>
                                    <p:set>
                                      <p:cBhvr>
                                        <p:cTn id="36" dur="1" fill="hold">
                                          <p:stCondLst>
                                            <p:cond delay="0"/>
                                          </p:stCondLst>
                                        </p:cTn>
                                        <p:tgtEl>
                                          <p:spTgt spid="13315">
                                            <p:txEl>
                                              <p:pRg st="5" end="5"/>
                                            </p:txEl>
                                          </p:spTgt>
                                        </p:tgtEl>
                                        <p:attrNameLst>
                                          <p:attrName>style.visibility</p:attrName>
                                        </p:attrNameLst>
                                      </p:cBhvr>
                                      <p:to>
                                        <p:strVal val="visible"/>
                                      </p:to>
                                    </p:set>
                                    <p:anim calcmode="lin" valueType="num">
                                      <p:cBhvr additive="base">
                                        <p:cTn id="37" dur="500" fill="hold"/>
                                        <p:tgtEl>
                                          <p:spTgt spid="13315">
                                            <p:txEl>
                                              <p:pRg st="5" end="5"/>
                                            </p:txEl>
                                          </p:spTgt>
                                        </p:tgtEl>
                                        <p:attrNameLst>
                                          <p:attrName>ppt_x</p:attrName>
                                        </p:attrNameLst>
                                      </p:cBhvr>
                                      <p:tavLst>
                                        <p:tav tm="0">
                                          <p:val>
                                            <p:strVal val="0-#ppt_w/2"/>
                                          </p:val>
                                        </p:tav>
                                        <p:tav tm="100000">
                                          <p:val>
                                            <p:strVal val="#ppt_x"/>
                                          </p:val>
                                        </p:tav>
                                      </p:tavLst>
                                    </p:anim>
                                    <p:anim calcmode="lin" valueType="num">
                                      <p:cBhvr additive="base">
                                        <p:cTn id="38" dur="500" fill="hold"/>
                                        <p:tgtEl>
                                          <p:spTgt spid="13315">
                                            <p:txEl>
                                              <p:pRg st="5" end="5"/>
                                            </p:txEl>
                                          </p:spTgt>
                                        </p:tgtEl>
                                        <p:attrNameLst>
                                          <p:attrName>ppt_y</p:attrName>
                                        </p:attrNameLst>
                                      </p:cBhvr>
                                      <p:tavLst>
                                        <p:tav tm="0">
                                          <p:val>
                                            <p:strVal val="#ppt_y"/>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8" fill="hold" grpId="0" nodeType="clickEffect">
                                  <p:stCondLst>
                                    <p:cond delay="0"/>
                                  </p:stCondLst>
                                  <p:childTnLst>
                                    <p:set>
                                      <p:cBhvr>
                                        <p:cTn id="42" dur="1" fill="hold">
                                          <p:stCondLst>
                                            <p:cond delay="0"/>
                                          </p:stCondLst>
                                        </p:cTn>
                                        <p:tgtEl>
                                          <p:spTgt spid="13315">
                                            <p:txEl>
                                              <p:pRg st="6" end="6"/>
                                            </p:txEl>
                                          </p:spTgt>
                                        </p:tgtEl>
                                        <p:attrNameLst>
                                          <p:attrName>style.visibility</p:attrName>
                                        </p:attrNameLst>
                                      </p:cBhvr>
                                      <p:to>
                                        <p:strVal val="visible"/>
                                      </p:to>
                                    </p:set>
                                    <p:anim calcmode="lin" valueType="num">
                                      <p:cBhvr additive="base">
                                        <p:cTn id="43" dur="500" fill="hold"/>
                                        <p:tgtEl>
                                          <p:spTgt spid="13315">
                                            <p:txEl>
                                              <p:pRg st="6" end="6"/>
                                            </p:txEl>
                                          </p:spTgt>
                                        </p:tgtEl>
                                        <p:attrNameLst>
                                          <p:attrName>ppt_x</p:attrName>
                                        </p:attrNameLst>
                                      </p:cBhvr>
                                      <p:tavLst>
                                        <p:tav tm="0">
                                          <p:val>
                                            <p:strVal val="0-#ppt_w/2"/>
                                          </p:val>
                                        </p:tav>
                                        <p:tav tm="100000">
                                          <p:val>
                                            <p:strVal val="#ppt_x"/>
                                          </p:val>
                                        </p:tav>
                                      </p:tavLst>
                                    </p:anim>
                                    <p:anim calcmode="lin" valueType="num">
                                      <p:cBhvr additive="base">
                                        <p:cTn id="44" dur="500" fill="hold"/>
                                        <p:tgtEl>
                                          <p:spTgt spid="13315">
                                            <p:txEl>
                                              <p:pRg st="6" end="6"/>
                                            </p:txEl>
                                          </p:spTgt>
                                        </p:tgtEl>
                                        <p:attrNameLst>
                                          <p:attrName>ppt_y</p:attrName>
                                        </p:attrNameLst>
                                      </p:cBhvr>
                                      <p:tavLst>
                                        <p:tav tm="0">
                                          <p:val>
                                            <p:strVal val="#ppt_y"/>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8" fill="hold" grpId="0" nodeType="clickEffect">
                                  <p:stCondLst>
                                    <p:cond delay="0"/>
                                  </p:stCondLst>
                                  <p:childTnLst>
                                    <p:set>
                                      <p:cBhvr>
                                        <p:cTn id="48" dur="1" fill="hold">
                                          <p:stCondLst>
                                            <p:cond delay="0"/>
                                          </p:stCondLst>
                                        </p:cTn>
                                        <p:tgtEl>
                                          <p:spTgt spid="13315">
                                            <p:txEl>
                                              <p:pRg st="7" end="7"/>
                                            </p:txEl>
                                          </p:spTgt>
                                        </p:tgtEl>
                                        <p:attrNameLst>
                                          <p:attrName>style.visibility</p:attrName>
                                        </p:attrNameLst>
                                      </p:cBhvr>
                                      <p:to>
                                        <p:strVal val="visible"/>
                                      </p:to>
                                    </p:set>
                                    <p:anim calcmode="lin" valueType="num">
                                      <p:cBhvr additive="base">
                                        <p:cTn id="49" dur="500" fill="hold"/>
                                        <p:tgtEl>
                                          <p:spTgt spid="13315">
                                            <p:txEl>
                                              <p:pRg st="7" end="7"/>
                                            </p:txEl>
                                          </p:spTgt>
                                        </p:tgtEl>
                                        <p:attrNameLst>
                                          <p:attrName>ppt_x</p:attrName>
                                        </p:attrNameLst>
                                      </p:cBhvr>
                                      <p:tavLst>
                                        <p:tav tm="0">
                                          <p:val>
                                            <p:strVal val="0-#ppt_w/2"/>
                                          </p:val>
                                        </p:tav>
                                        <p:tav tm="100000">
                                          <p:val>
                                            <p:strVal val="#ppt_x"/>
                                          </p:val>
                                        </p:tav>
                                      </p:tavLst>
                                    </p:anim>
                                    <p:anim calcmode="lin" valueType="num">
                                      <p:cBhvr additive="base">
                                        <p:cTn id="50" dur="500" fill="hold"/>
                                        <p:tgtEl>
                                          <p:spTgt spid="13315">
                                            <p:txEl>
                                              <p:pRg st="7" end="7"/>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315" grpId="0" build="p" bldLvl="2" autoUpdateAnimBg="0"/>
    </p:bldLst>
  </p:timing>
</p:sld>
</file>

<file path=ppt/slides/slide1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4338" name="Rectangle 2" descr="Large confetti"/>
          <p:cNvSpPr>
            <a:spLocks noGrp="1" noChangeArrowheads="1"/>
          </p:cNvSpPr>
          <p:nvPr>
            <p:ph type="title"/>
          </p:nvPr>
        </p:nvSpPr>
        <p:spPr/>
        <p:txBody>
          <a:bodyPr/>
          <a:lstStyle/>
          <a:p>
            <a:r>
              <a:rPr lang="en-US"/>
              <a:t>Provisions of NAFTA</a:t>
            </a:r>
          </a:p>
        </p:txBody>
      </p:sp>
      <p:sp>
        <p:nvSpPr>
          <p:cNvPr id="14339" name="Rectangle 3"/>
          <p:cNvSpPr>
            <a:spLocks noGrp="1" noChangeArrowheads="1"/>
          </p:cNvSpPr>
          <p:nvPr>
            <p:ph type="body" idx="1"/>
          </p:nvPr>
        </p:nvSpPr>
        <p:spPr/>
        <p:txBody>
          <a:bodyPr/>
          <a:lstStyle/>
          <a:p>
            <a:pPr>
              <a:lnSpc>
                <a:spcPct val="90000"/>
              </a:lnSpc>
            </a:pPr>
            <a:r>
              <a:rPr lang="en-US" sz="2800"/>
              <a:t>Elimination of tariffs</a:t>
            </a:r>
          </a:p>
          <a:p>
            <a:pPr lvl="1">
              <a:lnSpc>
                <a:spcPct val="90000"/>
              </a:lnSpc>
            </a:pPr>
            <a:r>
              <a:rPr lang="en-US" sz="2400"/>
              <a:t>Most tariffs will be eliminated by 2004</a:t>
            </a:r>
          </a:p>
          <a:p>
            <a:pPr lvl="1">
              <a:lnSpc>
                <a:spcPct val="90000"/>
              </a:lnSpc>
            </a:pPr>
            <a:r>
              <a:rPr lang="en-US" sz="2400"/>
              <a:t>The remaining by 2008</a:t>
            </a:r>
          </a:p>
          <a:p>
            <a:pPr>
              <a:lnSpc>
                <a:spcPct val="90000"/>
              </a:lnSpc>
            </a:pPr>
            <a:r>
              <a:rPr lang="en-US" sz="2800"/>
              <a:t>Elimination of nontariff barriers</a:t>
            </a:r>
          </a:p>
          <a:p>
            <a:pPr>
              <a:lnSpc>
                <a:spcPct val="90000"/>
              </a:lnSpc>
            </a:pPr>
            <a:r>
              <a:rPr lang="en-US" sz="2800"/>
              <a:t>Harmonization of trade rules (subsidies, antidumping, safety standards)</a:t>
            </a:r>
          </a:p>
          <a:p>
            <a:pPr>
              <a:lnSpc>
                <a:spcPct val="90000"/>
              </a:lnSpc>
            </a:pPr>
            <a:r>
              <a:rPr lang="en-US" sz="2800"/>
              <a:t>Liberalization of capital movement (FDI)</a:t>
            </a:r>
          </a:p>
          <a:p>
            <a:pPr>
              <a:lnSpc>
                <a:spcPct val="90000"/>
              </a:lnSpc>
            </a:pPr>
            <a:r>
              <a:rPr lang="en-US" sz="2800"/>
              <a:t>Protection of intellectual properties</a:t>
            </a:r>
          </a:p>
          <a:p>
            <a:pPr>
              <a:lnSpc>
                <a:spcPct val="90000"/>
              </a:lnSpc>
            </a:pPr>
            <a:r>
              <a:rPr lang="en-US" sz="2800"/>
              <a:t>Dispute settlement</a:t>
            </a:r>
          </a:p>
          <a:p>
            <a:pPr>
              <a:lnSpc>
                <a:spcPct val="90000"/>
              </a:lnSpc>
            </a:pPr>
            <a:r>
              <a:rPr lang="en-US" sz="2800"/>
              <a:t>Provisions on labor and environmental standards </a:t>
            </a:r>
          </a:p>
          <a:p>
            <a:pPr>
              <a:lnSpc>
                <a:spcPct val="90000"/>
              </a:lnSpc>
            </a:pPr>
            <a:endParaRPr lang="en-US" sz="2800"/>
          </a:p>
          <a:p>
            <a:pPr>
              <a:lnSpc>
                <a:spcPct val="90000"/>
              </a:lnSpc>
            </a:pPr>
            <a:endParaRPr lang="en-US" sz="2800"/>
          </a:p>
        </p:txBody>
      </p:sp>
    </p:spTree>
  </p:cSld>
  <p:clrMapOvr>
    <a:masterClrMapping/>
  </p:clrMapOvr>
  <p:transition>
    <p:zoom dir="in"/>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4339">
                                            <p:txEl>
                                              <p:pRg st="0" end="0"/>
                                            </p:txEl>
                                          </p:spTgt>
                                        </p:tgtEl>
                                        <p:attrNameLst>
                                          <p:attrName>style.visibility</p:attrName>
                                        </p:attrNameLst>
                                      </p:cBhvr>
                                      <p:to>
                                        <p:strVal val="visible"/>
                                      </p:to>
                                    </p:set>
                                    <p:anim calcmode="lin" valueType="num">
                                      <p:cBhvr additive="base">
                                        <p:cTn id="7" dur="500" fill="hold"/>
                                        <p:tgtEl>
                                          <p:spTgt spid="14339">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14339">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14339">
                                            <p:txEl>
                                              <p:pRg st="1" end="1"/>
                                            </p:txEl>
                                          </p:spTgt>
                                        </p:tgtEl>
                                        <p:attrNameLst>
                                          <p:attrName>style.visibility</p:attrName>
                                        </p:attrNameLst>
                                      </p:cBhvr>
                                      <p:to>
                                        <p:strVal val="visible"/>
                                      </p:to>
                                    </p:set>
                                    <p:anim calcmode="lin" valueType="num">
                                      <p:cBhvr additive="base">
                                        <p:cTn id="13" dur="500" fill="hold"/>
                                        <p:tgtEl>
                                          <p:spTgt spid="14339">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14339">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14339">
                                            <p:txEl>
                                              <p:pRg st="2" end="2"/>
                                            </p:txEl>
                                          </p:spTgt>
                                        </p:tgtEl>
                                        <p:attrNameLst>
                                          <p:attrName>style.visibility</p:attrName>
                                        </p:attrNameLst>
                                      </p:cBhvr>
                                      <p:to>
                                        <p:strVal val="visible"/>
                                      </p:to>
                                    </p:set>
                                    <p:anim calcmode="lin" valueType="num">
                                      <p:cBhvr additive="base">
                                        <p:cTn id="19" dur="500" fill="hold"/>
                                        <p:tgtEl>
                                          <p:spTgt spid="14339">
                                            <p:txEl>
                                              <p:pRg st="2" end="2"/>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14339">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14339">
                                            <p:txEl>
                                              <p:pRg st="3" end="3"/>
                                            </p:txEl>
                                          </p:spTgt>
                                        </p:tgtEl>
                                        <p:attrNameLst>
                                          <p:attrName>style.visibility</p:attrName>
                                        </p:attrNameLst>
                                      </p:cBhvr>
                                      <p:to>
                                        <p:strVal val="visible"/>
                                      </p:to>
                                    </p:set>
                                    <p:anim calcmode="lin" valueType="num">
                                      <p:cBhvr additive="base">
                                        <p:cTn id="25" dur="500" fill="hold"/>
                                        <p:tgtEl>
                                          <p:spTgt spid="14339">
                                            <p:txEl>
                                              <p:pRg st="3" end="3"/>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14339">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8" fill="hold" grpId="0" nodeType="clickEffect">
                                  <p:stCondLst>
                                    <p:cond delay="0"/>
                                  </p:stCondLst>
                                  <p:childTnLst>
                                    <p:set>
                                      <p:cBhvr>
                                        <p:cTn id="30" dur="1" fill="hold">
                                          <p:stCondLst>
                                            <p:cond delay="0"/>
                                          </p:stCondLst>
                                        </p:cTn>
                                        <p:tgtEl>
                                          <p:spTgt spid="14339">
                                            <p:txEl>
                                              <p:pRg st="4" end="4"/>
                                            </p:txEl>
                                          </p:spTgt>
                                        </p:tgtEl>
                                        <p:attrNameLst>
                                          <p:attrName>style.visibility</p:attrName>
                                        </p:attrNameLst>
                                      </p:cBhvr>
                                      <p:to>
                                        <p:strVal val="visible"/>
                                      </p:to>
                                    </p:set>
                                    <p:anim calcmode="lin" valueType="num">
                                      <p:cBhvr additive="base">
                                        <p:cTn id="31" dur="500" fill="hold"/>
                                        <p:tgtEl>
                                          <p:spTgt spid="14339">
                                            <p:txEl>
                                              <p:pRg st="4" end="4"/>
                                            </p:txEl>
                                          </p:spTgt>
                                        </p:tgtEl>
                                        <p:attrNameLst>
                                          <p:attrName>ppt_x</p:attrName>
                                        </p:attrNameLst>
                                      </p:cBhvr>
                                      <p:tavLst>
                                        <p:tav tm="0">
                                          <p:val>
                                            <p:strVal val="0-#ppt_w/2"/>
                                          </p:val>
                                        </p:tav>
                                        <p:tav tm="100000">
                                          <p:val>
                                            <p:strVal val="#ppt_x"/>
                                          </p:val>
                                        </p:tav>
                                      </p:tavLst>
                                    </p:anim>
                                    <p:anim calcmode="lin" valueType="num">
                                      <p:cBhvr additive="base">
                                        <p:cTn id="32" dur="500" fill="hold"/>
                                        <p:tgtEl>
                                          <p:spTgt spid="14339">
                                            <p:txEl>
                                              <p:pRg st="4" end="4"/>
                                            </p:txEl>
                                          </p:spTgt>
                                        </p:tgtEl>
                                        <p:attrNameLst>
                                          <p:attrName>ppt_y</p:attrName>
                                        </p:attrNameLst>
                                      </p:cBhvr>
                                      <p:tavLst>
                                        <p:tav tm="0">
                                          <p:val>
                                            <p:strVal val="#ppt_y"/>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8" fill="hold" grpId="0" nodeType="clickEffect">
                                  <p:stCondLst>
                                    <p:cond delay="0"/>
                                  </p:stCondLst>
                                  <p:childTnLst>
                                    <p:set>
                                      <p:cBhvr>
                                        <p:cTn id="36" dur="1" fill="hold">
                                          <p:stCondLst>
                                            <p:cond delay="0"/>
                                          </p:stCondLst>
                                        </p:cTn>
                                        <p:tgtEl>
                                          <p:spTgt spid="14339">
                                            <p:txEl>
                                              <p:pRg st="5" end="5"/>
                                            </p:txEl>
                                          </p:spTgt>
                                        </p:tgtEl>
                                        <p:attrNameLst>
                                          <p:attrName>style.visibility</p:attrName>
                                        </p:attrNameLst>
                                      </p:cBhvr>
                                      <p:to>
                                        <p:strVal val="visible"/>
                                      </p:to>
                                    </p:set>
                                    <p:anim calcmode="lin" valueType="num">
                                      <p:cBhvr additive="base">
                                        <p:cTn id="37" dur="500" fill="hold"/>
                                        <p:tgtEl>
                                          <p:spTgt spid="14339">
                                            <p:txEl>
                                              <p:pRg st="5" end="5"/>
                                            </p:txEl>
                                          </p:spTgt>
                                        </p:tgtEl>
                                        <p:attrNameLst>
                                          <p:attrName>ppt_x</p:attrName>
                                        </p:attrNameLst>
                                      </p:cBhvr>
                                      <p:tavLst>
                                        <p:tav tm="0">
                                          <p:val>
                                            <p:strVal val="0-#ppt_w/2"/>
                                          </p:val>
                                        </p:tav>
                                        <p:tav tm="100000">
                                          <p:val>
                                            <p:strVal val="#ppt_x"/>
                                          </p:val>
                                        </p:tav>
                                      </p:tavLst>
                                    </p:anim>
                                    <p:anim calcmode="lin" valueType="num">
                                      <p:cBhvr additive="base">
                                        <p:cTn id="38" dur="500" fill="hold"/>
                                        <p:tgtEl>
                                          <p:spTgt spid="14339">
                                            <p:txEl>
                                              <p:pRg st="5" end="5"/>
                                            </p:txEl>
                                          </p:spTgt>
                                        </p:tgtEl>
                                        <p:attrNameLst>
                                          <p:attrName>ppt_y</p:attrName>
                                        </p:attrNameLst>
                                      </p:cBhvr>
                                      <p:tavLst>
                                        <p:tav tm="0">
                                          <p:val>
                                            <p:strVal val="#ppt_y"/>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8" fill="hold" grpId="0" nodeType="clickEffect">
                                  <p:stCondLst>
                                    <p:cond delay="0"/>
                                  </p:stCondLst>
                                  <p:childTnLst>
                                    <p:set>
                                      <p:cBhvr>
                                        <p:cTn id="42" dur="1" fill="hold">
                                          <p:stCondLst>
                                            <p:cond delay="0"/>
                                          </p:stCondLst>
                                        </p:cTn>
                                        <p:tgtEl>
                                          <p:spTgt spid="14339">
                                            <p:txEl>
                                              <p:pRg st="6" end="6"/>
                                            </p:txEl>
                                          </p:spTgt>
                                        </p:tgtEl>
                                        <p:attrNameLst>
                                          <p:attrName>style.visibility</p:attrName>
                                        </p:attrNameLst>
                                      </p:cBhvr>
                                      <p:to>
                                        <p:strVal val="visible"/>
                                      </p:to>
                                    </p:set>
                                    <p:anim calcmode="lin" valueType="num">
                                      <p:cBhvr additive="base">
                                        <p:cTn id="43" dur="500" fill="hold"/>
                                        <p:tgtEl>
                                          <p:spTgt spid="14339">
                                            <p:txEl>
                                              <p:pRg st="6" end="6"/>
                                            </p:txEl>
                                          </p:spTgt>
                                        </p:tgtEl>
                                        <p:attrNameLst>
                                          <p:attrName>ppt_x</p:attrName>
                                        </p:attrNameLst>
                                      </p:cBhvr>
                                      <p:tavLst>
                                        <p:tav tm="0">
                                          <p:val>
                                            <p:strVal val="0-#ppt_w/2"/>
                                          </p:val>
                                        </p:tav>
                                        <p:tav tm="100000">
                                          <p:val>
                                            <p:strVal val="#ppt_x"/>
                                          </p:val>
                                        </p:tav>
                                      </p:tavLst>
                                    </p:anim>
                                    <p:anim calcmode="lin" valueType="num">
                                      <p:cBhvr additive="base">
                                        <p:cTn id="44" dur="500" fill="hold"/>
                                        <p:tgtEl>
                                          <p:spTgt spid="14339">
                                            <p:txEl>
                                              <p:pRg st="6" end="6"/>
                                            </p:txEl>
                                          </p:spTgt>
                                        </p:tgtEl>
                                        <p:attrNameLst>
                                          <p:attrName>ppt_y</p:attrName>
                                        </p:attrNameLst>
                                      </p:cBhvr>
                                      <p:tavLst>
                                        <p:tav tm="0">
                                          <p:val>
                                            <p:strVal val="#ppt_y"/>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8" fill="hold" grpId="0" nodeType="clickEffect">
                                  <p:stCondLst>
                                    <p:cond delay="0"/>
                                  </p:stCondLst>
                                  <p:childTnLst>
                                    <p:set>
                                      <p:cBhvr>
                                        <p:cTn id="48" dur="1" fill="hold">
                                          <p:stCondLst>
                                            <p:cond delay="0"/>
                                          </p:stCondLst>
                                        </p:cTn>
                                        <p:tgtEl>
                                          <p:spTgt spid="14339">
                                            <p:txEl>
                                              <p:pRg st="7" end="7"/>
                                            </p:txEl>
                                          </p:spTgt>
                                        </p:tgtEl>
                                        <p:attrNameLst>
                                          <p:attrName>style.visibility</p:attrName>
                                        </p:attrNameLst>
                                      </p:cBhvr>
                                      <p:to>
                                        <p:strVal val="visible"/>
                                      </p:to>
                                    </p:set>
                                    <p:anim calcmode="lin" valueType="num">
                                      <p:cBhvr additive="base">
                                        <p:cTn id="49" dur="500" fill="hold"/>
                                        <p:tgtEl>
                                          <p:spTgt spid="14339">
                                            <p:txEl>
                                              <p:pRg st="7" end="7"/>
                                            </p:txEl>
                                          </p:spTgt>
                                        </p:tgtEl>
                                        <p:attrNameLst>
                                          <p:attrName>ppt_x</p:attrName>
                                        </p:attrNameLst>
                                      </p:cBhvr>
                                      <p:tavLst>
                                        <p:tav tm="0">
                                          <p:val>
                                            <p:strVal val="0-#ppt_w/2"/>
                                          </p:val>
                                        </p:tav>
                                        <p:tav tm="100000">
                                          <p:val>
                                            <p:strVal val="#ppt_x"/>
                                          </p:val>
                                        </p:tav>
                                      </p:tavLst>
                                    </p:anim>
                                    <p:anim calcmode="lin" valueType="num">
                                      <p:cBhvr additive="base">
                                        <p:cTn id="50" dur="500" fill="hold"/>
                                        <p:tgtEl>
                                          <p:spTgt spid="14339">
                                            <p:txEl>
                                              <p:pRg st="7" end="7"/>
                                            </p:txEl>
                                          </p:spTgt>
                                        </p:tgtEl>
                                        <p:attrNameLst>
                                          <p:attrName>ppt_y</p:attrName>
                                        </p:attrNameLst>
                                      </p:cBhvr>
                                      <p:tavLst>
                                        <p:tav tm="0">
                                          <p:val>
                                            <p:strVal val="#ppt_y"/>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 presetClass="entr" presetSubtype="8" fill="hold" grpId="0" nodeType="clickEffect">
                                  <p:stCondLst>
                                    <p:cond delay="0"/>
                                  </p:stCondLst>
                                  <p:childTnLst>
                                    <p:set>
                                      <p:cBhvr>
                                        <p:cTn id="54" dur="1" fill="hold">
                                          <p:stCondLst>
                                            <p:cond delay="0"/>
                                          </p:stCondLst>
                                        </p:cTn>
                                        <p:tgtEl>
                                          <p:spTgt spid="14339">
                                            <p:txEl>
                                              <p:pRg st="8" end="8"/>
                                            </p:txEl>
                                          </p:spTgt>
                                        </p:tgtEl>
                                        <p:attrNameLst>
                                          <p:attrName>style.visibility</p:attrName>
                                        </p:attrNameLst>
                                      </p:cBhvr>
                                      <p:to>
                                        <p:strVal val="visible"/>
                                      </p:to>
                                    </p:set>
                                    <p:anim calcmode="lin" valueType="num">
                                      <p:cBhvr additive="base">
                                        <p:cTn id="55" dur="500" fill="hold"/>
                                        <p:tgtEl>
                                          <p:spTgt spid="14339">
                                            <p:txEl>
                                              <p:pRg st="8" end="8"/>
                                            </p:txEl>
                                          </p:spTgt>
                                        </p:tgtEl>
                                        <p:attrNameLst>
                                          <p:attrName>ppt_x</p:attrName>
                                        </p:attrNameLst>
                                      </p:cBhvr>
                                      <p:tavLst>
                                        <p:tav tm="0">
                                          <p:val>
                                            <p:strVal val="0-#ppt_w/2"/>
                                          </p:val>
                                        </p:tav>
                                        <p:tav tm="100000">
                                          <p:val>
                                            <p:strVal val="#ppt_x"/>
                                          </p:val>
                                        </p:tav>
                                      </p:tavLst>
                                    </p:anim>
                                    <p:anim calcmode="lin" valueType="num">
                                      <p:cBhvr additive="base">
                                        <p:cTn id="56" dur="500" fill="hold"/>
                                        <p:tgtEl>
                                          <p:spTgt spid="14339">
                                            <p:txEl>
                                              <p:pRg st="8" end="8"/>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339" grpId="0" build="p" bldLvl="2" autoUpdateAnimBg="0"/>
    </p:bldLst>
  </p:timing>
</p:sld>
</file>

<file path=ppt/slides/slide1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5362" name="Rectangle 2" descr="Large confetti"/>
          <p:cNvSpPr>
            <a:spLocks noGrp="1" noChangeArrowheads="1"/>
          </p:cNvSpPr>
          <p:nvPr>
            <p:ph type="title"/>
          </p:nvPr>
        </p:nvSpPr>
        <p:spPr/>
        <p:txBody>
          <a:bodyPr/>
          <a:lstStyle/>
          <a:p>
            <a:r>
              <a:rPr lang="en-US"/>
              <a:t>Economic Effects of NAFTA</a:t>
            </a:r>
          </a:p>
        </p:txBody>
      </p:sp>
      <p:sp>
        <p:nvSpPr>
          <p:cNvPr id="15363" name="Rectangle 3"/>
          <p:cNvSpPr>
            <a:spLocks noGrp="1" noChangeArrowheads="1"/>
          </p:cNvSpPr>
          <p:nvPr>
            <p:ph type="body" idx="1"/>
          </p:nvPr>
        </p:nvSpPr>
        <p:spPr/>
        <p:txBody>
          <a:bodyPr/>
          <a:lstStyle/>
          <a:p>
            <a:pPr>
              <a:lnSpc>
                <a:spcPct val="90000"/>
              </a:lnSpc>
            </a:pPr>
            <a:r>
              <a:rPr lang="en-US" sz="2800"/>
              <a:t>Trade</a:t>
            </a:r>
          </a:p>
          <a:p>
            <a:pPr lvl="1">
              <a:lnSpc>
                <a:spcPct val="90000"/>
              </a:lnSpc>
            </a:pPr>
            <a:r>
              <a:rPr lang="en-US" sz="2400"/>
              <a:t>Trade among members increased faster than trade with the rest of world</a:t>
            </a:r>
          </a:p>
          <a:p>
            <a:pPr>
              <a:lnSpc>
                <a:spcPct val="90000"/>
              </a:lnSpc>
            </a:pPr>
            <a:r>
              <a:rPr lang="en-US" sz="2800"/>
              <a:t>Investment</a:t>
            </a:r>
          </a:p>
          <a:p>
            <a:pPr lvl="1">
              <a:lnSpc>
                <a:spcPct val="90000"/>
              </a:lnSpc>
            </a:pPr>
            <a:r>
              <a:rPr lang="en-US" sz="2400"/>
              <a:t>Mexico is the main beneficiary (FDI not only from the U.S. and Canada, but also from other countries)</a:t>
            </a:r>
          </a:p>
          <a:p>
            <a:pPr>
              <a:lnSpc>
                <a:spcPct val="90000"/>
              </a:lnSpc>
            </a:pPr>
            <a:r>
              <a:rPr lang="en-US" sz="2800"/>
              <a:t>Employment</a:t>
            </a:r>
          </a:p>
          <a:p>
            <a:pPr lvl="1">
              <a:lnSpc>
                <a:spcPct val="90000"/>
              </a:lnSpc>
            </a:pPr>
            <a:r>
              <a:rPr lang="en-US" sz="2400"/>
              <a:t>Difficult to measure because of too many confounding variables</a:t>
            </a:r>
          </a:p>
          <a:p>
            <a:pPr lvl="1">
              <a:lnSpc>
                <a:spcPct val="90000"/>
              </a:lnSpc>
            </a:pPr>
            <a:r>
              <a:rPr lang="en-US" sz="2400"/>
              <a:t>Overall employment effect in the area including the U.S. has been positive</a:t>
            </a:r>
          </a:p>
          <a:p>
            <a:pPr lvl="1">
              <a:lnSpc>
                <a:spcPct val="90000"/>
              </a:lnSpc>
            </a:pPr>
            <a:endParaRPr lang="en-US" sz="2400"/>
          </a:p>
        </p:txBody>
      </p:sp>
    </p:spTree>
  </p:cSld>
  <p:clrMapOvr>
    <a:masterClrMapping/>
  </p:clrMapOvr>
  <p:transition>
    <p:zoom dir="in"/>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5363">
                                            <p:txEl>
                                              <p:pRg st="0" end="0"/>
                                            </p:txEl>
                                          </p:spTgt>
                                        </p:tgtEl>
                                        <p:attrNameLst>
                                          <p:attrName>style.visibility</p:attrName>
                                        </p:attrNameLst>
                                      </p:cBhvr>
                                      <p:to>
                                        <p:strVal val="visible"/>
                                      </p:to>
                                    </p:set>
                                    <p:anim calcmode="lin" valueType="num">
                                      <p:cBhvr additive="base">
                                        <p:cTn id="7" dur="500" fill="hold"/>
                                        <p:tgtEl>
                                          <p:spTgt spid="15363">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15363">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15363">
                                            <p:txEl>
                                              <p:pRg st="1" end="1"/>
                                            </p:txEl>
                                          </p:spTgt>
                                        </p:tgtEl>
                                        <p:attrNameLst>
                                          <p:attrName>style.visibility</p:attrName>
                                        </p:attrNameLst>
                                      </p:cBhvr>
                                      <p:to>
                                        <p:strVal val="visible"/>
                                      </p:to>
                                    </p:set>
                                    <p:anim calcmode="lin" valueType="num">
                                      <p:cBhvr additive="base">
                                        <p:cTn id="13" dur="500" fill="hold"/>
                                        <p:tgtEl>
                                          <p:spTgt spid="15363">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15363">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15363">
                                            <p:txEl>
                                              <p:pRg st="2" end="2"/>
                                            </p:txEl>
                                          </p:spTgt>
                                        </p:tgtEl>
                                        <p:attrNameLst>
                                          <p:attrName>style.visibility</p:attrName>
                                        </p:attrNameLst>
                                      </p:cBhvr>
                                      <p:to>
                                        <p:strVal val="visible"/>
                                      </p:to>
                                    </p:set>
                                    <p:anim calcmode="lin" valueType="num">
                                      <p:cBhvr additive="base">
                                        <p:cTn id="19" dur="500" fill="hold"/>
                                        <p:tgtEl>
                                          <p:spTgt spid="15363">
                                            <p:txEl>
                                              <p:pRg st="2" end="2"/>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15363">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15363">
                                            <p:txEl>
                                              <p:pRg st="3" end="3"/>
                                            </p:txEl>
                                          </p:spTgt>
                                        </p:tgtEl>
                                        <p:attrNameLst>
                                          <p:attrName>style.visibility</p:attrName>
                                        </p:attrNameLst>
                                      </p:cBhvr>
                                      <p:to>
                                        <p:strVal val="visible"/>
                                      </p:to>
                                    </p:set>
                                    <p:anim calcmode="lin" valueType="num">
                                      <p:cBhvr additive="base">
                                        <p:cTn id="25" dur="500" fill="hold"/>
                                        <p:tgtEl>
                                          <p:spTgt spid="15363">
                                            <p:txEl>
                                              <p:pRg st="3" end="3"/>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15363">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8" fill="hold" grpId="0" nodeType="clickEffect">
                                  <p:stCondLst>
                                    <p:cond delay="0"/>
                                  </p:stCondLst>
                                  <p:childTnLst>
                                    <p:set>
                                      <p:cBhvr>
                                        <p:cTn id="30" dur="1" fill="hold">
                                          <p:stCondLst>
                                            <p:cond delay="0"/>
                                          </p:stCondLst>
                                        </p:cTn>
                                        <p:tgtEl>
                                          <p:spTgt spid="15363">
                                            <p:txEl>
                                              <p:pRg st="4" end="4"/>
                                            </p:txEl>
                                          </p:spTgt>
                                        </p:tgtEl>
                                        <p:attrNameLst>
                                          <p:attrName>style.visibility</p:attrName>
                                        </p:attrNameLst>
                                      </p:cBhvr>
                                      <p:to>
                                        <p:strVal val="visible"/>
                                      </p:to>
                                    </p:set>
                                    <p:anim calcmode="lin" valueType="num">
                                      <p:cBhvr additive="base">
                                        <p:cTn id="31" dur="500" fill="hold"/>
                                        <p:tgtEl>
                                          <p:spTgt spid="15363">
                                            <p:txEl>
                                              <p:pRg st="4" end="4"/>
                                            </p:txEl>
                                          </p:spTgt>
                                        </p:tgtEl>
                                        <p:attrNameLst>
                                          <p:attrName>ppt_x</p:attrName>
                                        </p:attrNameLst>
                                      </p:cBhvr>
                                      <p:tavLst>
                                        <p:tav tm="0">
                                          <p:val>
                                            <p:strVal val="0-#ppt_w/2"/>
                                          </p:val>
                                        </p:tav>
                                        <p:tav tm="100000">
                                          <p:val>
                                            <p:strVal val="#ppt_x"/>
                                          </p:val>
                                        </p:tav>
                                      </p:tavLst>
                                    </p:anim>
                                    <p:anim calcmode="lin" valueType="num">
                                      <p:cBhvr additive="base">
                                        <p:cTn id="32" dur="500" fill="hold"/>
                                        <p:tgtEl>
                                          <p:spTgt spid="15363">
                                            <p:txEl>
                                              <p:pRg st="4" end="4"/>
                                            </p:txEl>
                                          </p:spTgt>
                                        </p:tgtEl>
                                        <p:attrNameLst>
                                          <p:attrName>ppt_y</p:attrName>
                                        </p:attrNameLst>
                                      </p:cBhvr>
                                      <p:tavLst>
                                        <p:tav tm="0">
                                          <p:val>
                                            <p:strVal val="#ppt_y"/>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8" fill="hold" grpId="0" nodeType="clickEffect">
                                  <p:stCondLst>
                                    <p:cond delay="0"/>
                                  </p:stCondLst>
                                  <p:childTnLst>
                                    <p:set>
                                      <p:cBhvr>
                                        <p:cTn id="36" dur="1" fill="hold">
                                          <p:stCondLst>
                                            <p:cond delay="0"/>
                                          </p:stCondLst>
                                        </p:cTn>
                                        <p:tgtEl>
                                          <p:spTgt spid="15363">
                                            <p:txEl>
                                              <p:pRg st="5" end="5"/>
                                            </p:txEl>
                                          </p:spTgt>
                                        </p:tgtEl>
                                        <p:attrNameLst>
                                          <p:attrName>style.visibility</p:attrName>
                                        </p:attrNameLst>
                                      </p:cBhvr>
                                      <p:to>
                                        <p:strVal val="visible"/>
                                      </p:to>
                                    </p:set>
                                    <p:anim calcmode="lin" valueType="num">
                                      <p:cBhvr additive="base">
                                        <p:cTn id="37" dur="500" fill="hold"/>
                                        <p:tgtEl>
                                          <p:spTgt spid="15363">
                                            <p:txEl>
                                              <p:pRg st="5" end="5"/>
                                            </p:txEl>
                                          </p:spTgt>
                                        </p:tgtEl>
                                        <p:attrNameLst>
                                          <p:attrName>ppt_x</p:attrName>
                                        </p:attrNameLst>
                                      </p:cBhvr>
                                      <p:tavLst>
                                        <p:tav tm="0">
                                          <p:val>
                                            <p:strVal val="0-#ppt_w/2"/>
                                          </p:val>
                                        </p:tav>
                                        <p:tav tm="100000">
                                          <p:val>
                                            <p:strVal val="#ppt_x"/>
                                          </p:val>
                                        </p:tav>
                                      </p:tavLst>
                                    </p:anim>
                                    <p:anim calcmode="lin" valueType="num">
                                      <p:cBhvr additive="base">
                                        <p:cTn id="38" dur="500" fill="hold"/>
                                        <p:tgtEl>
                                          <p:spTgt spid="15363">
                                            <p:txEl>
                                              <p:pRg st="5" end="5"/>
                                            </p:txEl>
                                          </p:spTgt>
                                        </p:tgtEl>
                                        <p:attrNameLst>
                                          <p:attrName>ppt_y</p:attrName>
                                        </p:attrNameLst>
                                      </p:cBhvr>
                                      <p:tavLst>
                                        <p:tav tm="0">
                                          <p:val>
                                            <p:strVal val="#ppt_y"/>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8" fill="hold" grpId="0" nodeType="clickEffect">
                                  <p:stCondLst>
                                    <p:cond delay="0"/>
                                  </p:stCondLst>
                                  <p:childTnLst>
                                    <p:set>
                                      <p:cBhvr>
                                        <p:cTn id="42" dur="1" fill="hold">
                                          <p:stCondLst>
                                            <p:cond delay="0"/>
                                          </p:stCondLst>
                                        </p:cTn>
                                        <p:tgtEl>
                                          <p:spTgt spid="15363">
                                            <p:txEl>
                                              <p:pRg st="6" end="6"/>
                                            </p:txEl>
                                          </p:spTgt>
                                        </p:tgtEl>
                                        <p:attrNameLst>
                                          <p:attrName>style.visibility</p:attrName>
                                        </p:attrNameLst>
                                      </p:cBhvr>
                                      <p:to>
                                        <p:strVal val="visible"/>
                                      </p:to>
                                    </p:set>
                                    <p:anim calcmode="lin" valueType="num">
                                      <p:cBhvr additive="base">
                                        <p:cTn id="43" dur="500" fill="hold"/>
                                        <p:tgtEl>
                                          <p:spTgt spid="15363">
                                            <p:txEl>
                                              <p:pRg st="6" end="6"/>
                                            </p:txEl>
                                          </p:spTgt>
                                        </p:tgtEl>
                                        <p:attrNameLst>
                                          <p:attrName>ppt_x</p:attrName>
                                        </p:attrNameLst>
                                      </p:cBhvr>
                                      <p:tavLst>
                                        <p:tav tm="0">
                                          <p:val>
                                            <p:strVal val="0-#ppt_w/2"/>
                                          </p:val>
                                        </p:tav>
                                        <p:tav tm="100000">
                                          <p:val>
                                            <p:strVal val="#ppt_x"/>
                                          </p:val>
                                        </p:tav>
                                      </p:tavLst>
                                    </p:anim>
                                    <p:anim calcmode="lin" valueType="num">
                                      <p:cBhvr additive="base">
                                        <p:cTn id="44" dur="500" fill="hold"/>
                                        <p:tgtEl>
                                          <p:spTgt spid="15363">
                                            <p:txEl>
                                              <p:pRg st="6" end="6"/>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363" grpId="0" build="p" bldLvl="2" autoUpdateAnimBg="0"/>
    </p:bldLst>
  </p:timing>
</p:sld>
</file>

<file path=ppt/slides/slide1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6386" name="Rectangle 2" descr="Large confetti"/>
          <p:cNvSpPr>
            <a:spLocks noGrp="1" noChangeArrowheads="1"/>
          </p:cNvSpPr>
          <p:nvPr>
            <p:ph type="title"/>
          </p:nvPr>
        </p:nvSpPr>
        <p:spPr/>
        <p:txBody>
          <a:bodyPr/>
          <a:lstStyle/>
          <a:p>
            <a:r>
              <a:rPr lang="en-US"/>
              <a:t>Issues related to NAFTA</a:t>
            </a:r>
          </a:p>
        </p:txBody>
      </p:sp>
      <p:sp>
        <p:nvSpPr>
          <p:cNvPr id="16387" name="Rectangle 3"/>
          <p:cNvSpPr>
            <a:spLocks noGrp="1" noChangeArrowheads="1"/>
          </p:cNvSpPr>
          <p:nvPr>
            <p:ph type="body" idx="1"/>
          </p:nvPr>
        </p:nvSpPr>
        <p:spPr/>
        <p:txBody>
          <a:bodyPr/>
          <a:lstStyle/>
          <a:p>
            <a:pPr>
              <a:lnSpc>
                <a:spcPct val="90000"/>
              </a:lnSpc>
            </a:pPr>
            <a:r>
              <a:rPr lang="en-US" sz="2800"/>
              <a:t>Rule of origin and local content</a:t>
            </a:r>
          </a:p>
          <a:p>
            <a:pPr lvl="1">
              <a:lnSpc>
                <a:spcPct val="90000"/>
              </a:lnSpc>
            </a:pPr>
            <a:r>
              <a:rPr lang="en-US" sz="2400"/>
              <a:t>Rule of origin: products must originate from North America to get preferential treatment.</a:t>
            </a:r>
          </a:p>
          <a:p>
            <a:pPr lvl="1">
              <a:lnSpc>
                <a:spcPct val="90000"/>
              </a:lnSpc>
            </a:pPr>
            <a:r>
              <a:rPr lang="en-US" sz="2400"/>
              <a:t>Local content: the percentage of value of a product that must be from North America to be considered as North American origin</a:t>
            </a:r>
          </a:p>
          <a:p>
            <a:pPr lvl="1">
              <a:lnSpc>
                <a:spcPct val="90000"/>
              </a:lnSpc>
            </a:pPr>
            <a:r>
              <a:rPr lang="en-US" sz="2400"/>
              <a:t>Currently 50% for most products and 62.5% for autos.    Political pressure to increase this percentage </a:t>
            </a:r>
          </a:p>
          <a:p>
            <a:pPr>
              <a:lnSpc>
                <a:spcPct val="90000"/>
              </a:lnSpc>
            </a:pPr>
            <a:r>
              <a:rPr lang="en-US" sz="2800"/>
              <a:t>Expansion of membership</a:t>
            </a:r>
          </a:p>
          <a:p>
            <a:pPr lvl="1">
              <a:lnSpc>
                <a:spcPct val="90000"/>
              </a:lnSpc>
            </a:pPr>
            <a:r>
              <a:rPr lang="en-US" sz="2400"/>
              <a:t>Potential entry by Chile, and some central and south American countries</a:t>
            </a:r>
          </a:p>
          <a:p>
            <a:pPr lvl="1">
              <a:lnSpc>
                <a:spcPct val="90000"/>
              </a:lnSpc>
            </a:pPr>
            <a:r>
              <a:rPr lang="en-US" sz="2400"/>
              <a:t>FTAA (Free Trade Area of America) proposal in 2001</a:t>
            </a:r>
          </a:p>
        </p:txBody>
      </p:sp>
    </p:spTree>
  </p:cSld>
  <p:clrMapOvr>
    <a:masterClrMapping/>
  </p:clrMapOvr>
  <p:transition>
    <p:zoom dir="in"/>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6387">
                                            <p:txEl>
                                              <p:pRg st="0" end="0"/>
                                            </p:txEl>
                                          </p:spTgt>
                                        </p:tgtEl>
                                        <p:attrNameLst>
                                          <p:attrName>style.visibility</p:attrName>
                                        </p:attrNameLst>
                                      </p:cBhvr>
                                      <p:to>
                                        <p:strVal val="visible"/>
                                      </p:to>
                                    </p:set>
                                    <p:anim calcmode="lin" valueType="num">
                                      <p:cBhvr additive="base">
                                        <p:cTn id="7" dur="500" fill="hold"/>
                                        <p:tgtEl>
                                          <p:spTgt spid="16387">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16387">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16387">
                                            <p:txEl>
                                              <p:pRg st="1" end="1"/>
                                            </p:txEl>
                                          </p:spTgt>
                                        </p:tgtEl>
                                        <p:attrNameLst>
                                          <p:attrName>style.visibility</p:attrName>
                                        </p:attrNameLst>
                                      </p:cBhvr>
                                      <p:to>
                                        <p:strVal val="visible"/>
                                      </p:to>
                                    </p:set>
                                    <p:anim calcmode="lin" valueType="num">
                                      <p:cBhvr additive="base">
                                        <p:cTn id="13" dur="500" fill="hold"/>
                                        <p:tgtEl>
                                          <p:spTgt spid="16387">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16387">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16387">
                                            <p:txEl>
                                              <p:pRg st="2" end="2"/>
                                            </p:txEl>
                                          </p:spTgt>
                                        </p:tgtEl>
                                        <p:attrNameLst>
                                          <p:attrName>style.visibility</p:attrName>
                                        </p:attrNameLst>
                                      </p:cBhvr>
                                      <p:to>
                                        <p:strVal val="visible"/>
                                      </p:to>
                                    </p:set>
                                    <p:anim calcmode="lin" valueType="num">
                                      <p:cBhvr additive="base">
                                        <p:cTn id="19" dur="500" fill="hold"/>
                                        <p:tgtEl>
                                          <p:spTgt spid="16387">
                                            <p:txEl>
                                              <p:pRg st="2" end="2"/>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16387">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16387">
                                            <p:txEl>
                                              <p:pRg st="3" end="3"/>
                                            </p:txEl>
                                          </p:spTgt>
                                        </p:tgtEl>
                                        <p:attrNameLst>
                                          <p:attrName>style.visibility</p:attrName>
                                        </p:attrNameLst>
                                      </p:cBhvr>
                                      <p:to>
                                        <p:strVal val="visible"/>
                                      </p:to>
                                    </p:set>
                                    <p:anim calcmode="lin" valueType="num">
                                      <p:cBhvr additive="base">
                                        <p:cTn id="25" dur="500" fill="hold"/>
                                        <p:tgtEl>
                                          <p:spTgt spid="16387">
                                            <p:txEl>
                                              <p:pRg st="3" end="3"/>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16387">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8" fill="hold" grpId="0" nodeType="clickEffect">
                                  <p:stCondLst>
                                    <p:cond delay="0"/>
                                  </p:stCondLst>
                                  <p:childTnLst>
                                    <p:set>
                                      <p:cBhvr>
                                        <p:cTn id="30" dur="1" fill="hold">
                                          <p:stCondLst>
                                            <p:cond delay="0"/>
                                          </p:stCondLst>
                                        </p:cTn>
                                        <p:tgtEl>
                                          <p:spTgt spid="16387">
                                            <p:txEl>
                                              <p:pRg st="4" end="4"/>
                                            </p:txEl>
                                          </p:spTgt>
                                        </p:tgtEl>
                                        <p:attrNameLst>
                                          <p:attrName>style.visibility</p:attrName>
                                        </p:attrNameLst>
                                      </p:cBhvr>
                                      <p:to>
                                        <p:strVal val="visible"/>
                                      </p:to>
                                    </p:set>
                                    <p:anim calcmode="lin" valueType="num">
                                      <p:cBhvr additive="base">
                                        <p:cTn id="31" dur="500" fill="hold"/>
                                        <p:tgtEl>
                                          <p:spTgt spid="16387">
                                            <p:txEl>
                                              <p:pRg st="4" end="4"/>
                                            </p:txEl>
                                          </p:spTgt>
                                        </p:tgtEl>
                                        <p:attrNameLst>
                                          <p:attrName>ppt_x</p:attrName>
                                        </p:attrNameLst>
                                      </p:cBhvr>
                                      <p:tavLst>
                                        <p:tav tm="0">
                                          <p:val>
                                            <p:strVal val="0-#ppt_w/2"/>
                                          </p:val>
                                        </p:tav>
                                        <p:tav tm="100000">
                                          <p:val>
                                            <p:strVal val="#ppt_x"/>
                                          </p:val>
                                        </p:tav>
                                      </p:tavLst>
                                    </p:anim>
                                    <p:anim calcmode="lin" valueType="num">
                                      <p:cBhvr additive="base">
                                        <p:cTn id="32" dur="500" fill="hold"/>
                                        <p:tgtEl>
                                          <p:spTgt spid="16387">
                                            <p:txEl>
                                              <p:pRg st="4" end="4"/>
                                            </p:txEl>
                                          </p:spTgt>
                                        </p:tgtEl>
                                        <p:attrNameLst>
                                          <p:attrName>ppt_y</p:attrName>
                                        </p:attrNameLst>
                                      </p:cBhvr>
                                      <p:tavLst>
                                        <p:tav tm="0">
                                          <p:val>
                                            <p:strVal val="#ppt_y"/>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8" fill="hold" grpId="0" nodeType="clickEffect">
                                  <p:stCondLst>
                                    <p:cond delay="0"/>
                                  </p:stCondLst>
                                  <p:childTnLst>
                                    <p:set>
                                      <p:cBhvr>
                                        <p:cTn id="36" dur="1" fill="hold">
                                          <p:stCondLst>
                                            <p:cond delay="0"/>
                                          </p:stCondLst>
                                        </p:cTn>
                                        <p:tgtEl>
                                          <p:spTgt spid="16387">
                                            <p:txEl>
                                              <p:pRg st="5" end="5"/>
                                            </p:txEl>
                                          </p:spTgt>
                                        </p:tgtEl>
                                        <p:attrNameLst>
                                          <p:attrName>style.visibility</p:attrName>
                                        </p:attrNameLst>
                                      </p:cBhvr>
                                      <p:to>
                                        <p:strVal val="visible"/>
                                      </p:to>
                                    </p:set>
                                    <p:anim calcmode="lin" valueType="num">
                                      <p:cBhvr additive="base">
                                        <p:cTn id="37" dur="500" fill="hold"/>
                                        <p:tgtEl>
                                          <p:spTgt spid="16387">
                                            <p:txEl>
                                              <p:pRg st="5" end="5"/>
                                            </p:txEl>
                                          </p:spTgt>
                                        </p:tgtEl>
                                        <p:attrNameLst>
                                          <p:attrName>ppt_x</p:attrName>
                                        </p:attrNameLst>
                                      </p:cBhvr>
                                      <p:tavLst>
                                        <p:tav tm="0">
                                          <p:val>
                                            <p:strVal val="0-#ppt_w/2"/>
                                          </p:val>
                                        </p:tav>
                                        <p:tav tm="100000">
                                          <p:val>
                                            <p:strVal val="#ppt_x"/>
                                          </p:val>
                                        </p:tav>
                                      </p:tavLst>
                                    </p:anim>
                                    <p:anim calcmode="lin" valueType="num">
                                      <p:cBhvr additive="base">
                                        <p:cTn id="38" dur="500" fill="hold"/>
                                        <p:tgtEl>
                                          <p:spTgt spid="16387">
                                            <p:txEl>
                                              <p:pRg st="5" end="5"/>
                                            </p:txEl>
                                          </p:spTgt>
                                        </p:tgtEl>
                                        <p:attrNameLst>
                                          <p:attrName>ppt_y</p:attrName>
                                        </p:attrNameLst>
                                      </p:cBhvr>
                                      <p:tavLst>
                                        <p:tav tm="0">
                                          <p:val>
                                            <p:strVal val="#ppt_y"/>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8" fill="hold" grpId="0" nodeType="clickEffect">
                                  <p:stCondLst>
                                    <p:cond delay="0"/>
                                  </p:stCondLst>
                                  <p:childTnLst>
                                    <p:set>
                                      <p:cBhvr>
                                        <p:cTn id="42" dur="1" fill="hold">
                                          <p:stCondLst>
                                            <p:cond delay="0"/>
                                          </p:stCondLst>
                                        </p:cTn>
                                        <p:tgtEl>
                                          <p:spTgt spid="16387">
                                            <p:txEl>
                                              <p:pRg st="6" end="6"/>
                                            </p:txEl>
                                          </p:spTgt>
                                        </p:tgtEl>
                                        <p:attrNameLst>
                                          <p:attrName>style.visibility</p:attrName>
                                        </p:attrNameLst>
                                      </p:cBhvr>
                                      <p:to>
                                        <p:strVal val="visible"/>
                                      </p:to>
                                    </p:set>
                                    <p:anim calcmode="lin" valueType="num">
                                      <p:cBhvr additive="base">
                                        <p:cTn id="43" dur="500" fill="hold"/>
                                        <p:tgtEl>
                                          <p:spTgt spid="16387">
                                            <p:txEl>
                                              <p:pRg st="6" end="6"/>
                                            </p:txEl>
                                          </p:spTgt>
                                        </p:tgtEl>
                                        <p:attrNameLst>
                                          <p:attrName>ppt_x</p:attrName>
                                        </p:attrNameLst>
                                      </p:cBhvr>
                                      <p:tavLst>
                                        <p:tav tm="0">
                                          <p:val>
                                            <p:strVal val="0-#ppt_w/2"/>
                                          </p:val>
                                        </p:tav>
                                        <p:tav tm="100000">
                                          <p:val>
                                            <p:strVal val="#ppt_x"/>
                                          </p:val>
                                        </p:tav>
                                      </p:tavLst>
                                    </p:anim>
                                    <p:anim calcmode="lin" valueType="num">
                                      <p:cBhvr additive="base">
                                        <p:cTn id="44" dur="500" fill="hold"/>
                                        <p:tgtEl>
                                          <p:spTgt spid="16387">
                                            <p:txEl>
                                              <p:pRg st="6" end="6"/>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387" grpId="0" build="p" bldLvl="2" autoUpdateAnimBg="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Rectangle 2"/>
          <p:cNvSpPr>
            <a:spLocks noChangeArrowheads="1"/>
          </p:cNvSpPr>
          <p:nvPr/>
        </p:nvSpPr>
        <p:spPr bwMode="auto">
          <a:xfrm>
            <a:off x="685800" y="457200"/>
            <a:ext cx="7772400" cy="5486400"/>
          </a:xfrm>
          <a:prstGeom prst="rect">
            <a:avLst/>
          </a:prstGeom>
          <a:noFill/>
          <a:ln w="9525">
            <a:noFill/>
            <a:miter lim="800000"/>
            <a:headEnd/>
            <a:tailEnd/>
          </a:ln>
        </p:spPr>
        <p:txBody>
          <a:bodyPr/>
          <a:lstStyle/>
          <a:p>
            <a:pPr marL="476250" lvl="1" fontAlgn="auto">
              <a:spcBef>
                <a:spcPct val="20000"/>
              </a:spcBef>
              <a:spcAft>
                <a:spcPts val="0"/>
              </a:spcAft>
              <a:buClr>
                <a:schemeClr val="folHlink"/>
              </a:buClr>
              <a:defRPr/>
            </a:pPr>
            <a:r>
              <a:rPr lang="pt-BR" sz="3600" b="1" dirty="0">
                <a:solidFill>
                  <a:schemeClr val="tx1">
                    <a:lumMod val="85000"/>
                    <a:lumOff val="15000"/>
                  </a:schemeClr>
                </a:solidFill>
                <a:effectLst>
                  <a:outerShdw blurRad="38100" dist="38100" dir="2700000" algn="tl">
                    <a:srgbClr val="000000"/>
                  </a:outerShdw>
                </a:effectLst>
                <a:latin typeface="Times New Roman" pitchFamily="18" charset="0"/>
                <a:cs typeface="Times New Roman" pitchFamily="18" charset="0"/>
              </a:rPr>
              <a:t>Arguments against NAFTA</a:t>
            </a:r>
            <a:r>
              <a:rPr lang="pt-BR" sz="2400" b="1" dirty="0">
                <a:solidFill>
                  <a:schemeClr val="tx1">
                    <a:lumMod val="85000"/>
                    <a:lumOff val="15000"/>
                  </a:schemeClr>
                </a:solidFill>
                <a:effectLst>
                  <a:outerShdw blurRad="38100" dist="38100" dir="2700000" algn="tl">
                    <a:srgbClr val="000000"/>
                  </a:outerShdw>
                </a:effectLst>
                <a:latin typeface="Times New Roman" pitchFamily="18" charset="0"/>
                <a:cs typeface="Times New Roman" pitchFamily="18" charset="0"/>
              </a:rPr>
              <a:t>: </a:t>
            </a:r>
          </a:p>
          <a:p>
            <a:pPr fontAlgn="auto">
              <a:spcBef>
                <a:spcPct val="20000"/>
              </a:spcBef>
              <a:spcAft>
                <a:spcPts val="0"/>
              </a:spcAft>
              <a:buClr>
                <a:schemeClr val="folHlink"/>
              </a:buClr>
              <a:buSzPct val="75000"/>
              <a:buFont typeface="Monotype Sorts" pitchFamily="2" charset="2"/>
              <a:buNone/>
              <a:defRPr/>
            </a:pPr>
            <a:endParaRPr lang="pt-BR" sz="2400" b="1" dirty="0">
              <a:solidFill>
                <a:schemeClr val="tx1">
                  <a:lumMod val="85000"/>
                  <a:lumOff val="15000"/>
                </a:schemeClr>
              </a:solidFill>
              <a:effectLst>
                <a:outerShdw blurRad="38100" dist="38100" dir="2700000" algn="tl">
                  <a:srgbClr val="000000"/>
                </a:outerShdw>
              </a:effectLst>
              <a:latin typeface="Times New Roman" pitchFamily="18" charset="0"/>
              <a:cs typeface="Times New Roman" pitchFamily="18" charset="0"/>
            </a:endParaRPr>
          </a:p>
          <a:p>
            <a:pPr marL="476250" lvl="1" algn="just" fontAlgn="auto">
              <a:spcBef>
                <a:spcPct val="20000"/>
              </a:spcBef>
              <a:spcAft>
                <a:spcPts val="0"/>
              </a:spcAft>
              <a:buClr>
                <a:schemeClr val="folHlink"/>
              </a:buClr>
              <a:buFont typeface="Monotype Sorts" pitchFamily="2" charset="2"/>
              <a:buNone/>
              <a:defRPr/>
            </a:pPr>
            <a:endParaRPr lang="pt-BR" sz="2400" b="1" dirty="0" smtClean="0">
              <a:solidFill>
                <a:schemeClr val="tx1">
                  <a:lumMod val="85000"/>
                  <a:lumOff val="15000"/>
                </a:schemeClr>
              </a:solidFill>
              <a:effectLst>
                <a:outerShdw blurRad="38100" dist="38100" dir="2700000" algn="tl">
                  <a:srgbClr val="000000"/>
                </a:outerShdw>
              </a:effectLst>
              <a:latin typeface="Times New Roman" pitchFamily="18" charset="0"/>
              <a:cs typeface="Times New Roman" pitchFamily="18" charset="0"/>
            </a:endParaRPr>
          </a:p>
          <a:p>
            <a:pPr marL="476250" lvl="1" algn="just" fontAlgn="auto">
              <a:spcBef>
                <a:spcPct val="20000"/>
              </a:spcBef>
              <a:spcAft>
                <a:spcPts val="0"/>
              </a:spcAft>
              <a:buClr>
                <a:schemeClr val="folHlink"/>
              </a:buClr>
              <a:buFont typeface="Monotype Sorts" pitchFamily="2" charset="2"/>
              <a:buNone/>
              <a:defRPr/>
            </a:pPr>
            <a:r>
              <a:rPr lang="pt-BR" sz="2400" b="1" dirty="0" smtClean="0">
                <a:solidFill>
                  <a:schemeClr val="tx1">
                    <a:lumMod val="85000"/>
                    <a:lumOff val="15000"/>
                  </a:schemeClr>
                </a:solidFill>
                <a:effectLst>
                  <a:outerShdw blurRad="38100" dist="38100" dir="2700000" algn="tl">
                    <a:srgbClr val="000000"/>
                  </a:outerShdw>
                </a:effectLst>
                <a:latin typeface="Times New Roman" pitchFamily="18" charset="0"/>
                <a:cs typeface="Times New Roman" pitchFamily="18" charset="0"/>
              </a:rPr>
              <a:t>- </a:t>
            </a:r>
            <a:r>
              <a:rPr lang="pt-BR" sz="2400" b="1" dirty="0">
                <a:solidFill>
                  <a:schemeClr val="tx1">
                    <a:lumMod val="85000"/>
                    <a:lumOff val="15000"/>
                  </a:schemeClr>
                </a:solidFill>
                <a:effectLst>
                  <a:outerShdw blurRad="38100" dist="38100" dir="2700000" algn="tl">
                    <a:srgbClr val="000000"/>
                  </a:outerShdw>
                </a:effectLst>
                <a:latin typeface="Times New Roman" pitchFamily="18" charset="0"/>
                <a:cs typeface="Times New Roman" pitchFamily="18" charset="0"/>
              </a:rPr>
              <a:t>mass exodus of jobs from the US and Canda (Perot’s  “Sucking Sound”)</a:t>
            </a:r>
          </a:p>
          <a:p>
            <a:pPr fontAlgn="auto">
              <a:spcBef>
                <a:spcPct val="20000"/>
              </a:spcBef>
              <a:spcAft>
                <a:spcPts val="0"/>
              </a:spcAft>
              <a:buClr>
                <a:schemeClr val="folHlink"/>
              </a:buClr>
              <a:buSzPct val="75000"/>
              <a:buFont typeface="Monotype Sorts" pitchFamily="2" charset="2"/>
              <a:buNone/>
              <a:defRPr/>
            </a:pPr>
            <a:endParaRPr lang="pt-BR" sz="2400" b="1" dirty="0">
              <a:solidFill>
                <a:schemeClr val="tx1">
                  <a:lumMod val="85000"/>
                  <a:lumOff val="15000"/>
                </a:schemeClr>
              </a:solidFill>
              <a:effectLst>
                <a:outerShdw blurRad="38100" dist="38100" dir="2700000" algn="tl">
                  <a:srgbClr val="000000"/>
                </a:outerShdw>
              </a:effectLst>
              <a:latin typeface="Times New Roman" pitchFamily="18" charset="0"/>
              <a:cs typeface="Times New Roman" pitchFamily="18" charset="0"/>
            </a:endParaRPr>
          </a:p>
          <a:p>
            <a:pPr marL="476250" lvl="1" algn="just" fontAlgn="auto">
              <a:spcBef>
                <a:spcPct val="20000"/>
              </a:spcBef>
              <a:spcAft>
                <a:spcPts val="0"/>
              </a:spcAft>
              <a:buClr>
                <a:schemeClr val="folHlink"/>
              </a:buClr>
              <a:buFont typeface="Monotype Sorts" pitchFamily="2" charset="2"/>
              <a:buNone/>
              <a:defRPr/>
            </a:pPr>
            <a:r>
              <a:rPr lang="pt-BR" sz="2400" b="1" dirty="0">
                <a:solidFill>
                  <a:schemeClr val="tx1">
                    <a:lumMod val="85000"/>
                    <a:lumOff val="15000"/>
                  </a:schemeClr>
                </a:solidFill>
                <a:effectLst>
                  <a:outerShdw blurRad="38100" dist="38100" dir="2700000" algn="tl">
                    <a:srgbClr val="000000"/>
                  </a:outerShdw>
                </a:effectLst>
                <a:latin typeface="Times New Roman" pitchFamily="18" charset="0"/>
                <a:cs typeface="Times New Roman" pitchFamily="18" charset="0"/>
              </a:rPr>
              <a:t>- Expose Mexican firms to highly efficient Canadian and American firms. </a:t>
            </a:r>
          </a:p>
          <a:p>
            <a:pPr fontAlgn="auto">
              <a:spcBef>
                <a:spcPct val="20000"/>
              </a:spcBef>
              <a:spcAft>
                <a:spcPts val="0"/>
              </a:spcAft>
              <a:buClr>
                <a:schemeClr val="folHlink"/>
              </a:buClr>
              <a:buSzPct val="75000"/>
              <a:buFont typeface="Monotype Sorts" pitchFamily="2" charset="2"/>
              <a:buNone/>
              <a:defRPr/>
            </a:pPr>
            <a:endParaRPr lang="pt-BR" sz="2400" b="1" dirty="0">
              <a:solidFill>
                <a:schemeClr val="tx1">
                  <a:lumMod val="85000"/>
                  <a:lumOff val="15000"/>
                </a:schemeClr>
              </a:solidFill>
              <a:effectLst>
                <a:outerShdw blurRad="38100" dist="38100" dir="2700000" algn="tl">
                  <a:srgbClr val="000000"/>
                </a:outerShdw>
              </a:effectLst>
              <a:latin typeface="Times New Roman" pitchFamily="18" charset="0"/>
              <a:cs typeface="Times New Roman" pitchFamily="18" charset="0"/>
            </a:endParaRPr>
          </a:p>
          <a:p>
            <a:pPr marL="476250" lvl="1" algn="just" fontAlgn="auto">
              <a:spcBef>
                <a:spcPct val="20000"/>
              </a:spcBef>
              <a:spcAft>
                <a:spcPts val="0"/>
              </a:spcAft>
              <a:buClr>
                <a:schemeClr val="folHlink"/>
              </a:buClr>
              <a:buFont typeface="Monotype Sorts" pitchFamily="2" charset="2"/>
              <a:buNone/>
              <a:defRPr/>
            </a:pPr>
            <a:r>
              <a:rPr lang="pt-BR" sz="2400" b="1" dirty="0">
                <a:solidFill>
                  <a:schemeClr val="tx1">
                    <a:lumMod val="85000"/>
                    <a:lumOff val="15000"/>
                  </a:schemeClr>
                </a:solidFill>
                <a:effectLst>
                  <a:outerShdw blurRad="38100" dist="38100" dir="2700000" algn="tl">
                    <a:srgbClr val="000000"/>
                  </a:outerShdw>
                </a:effectLst>
                <a:latin typeface="Times New Roman" pitchFamily="18" charset="0"/>
                <a:cs typeface="Times New Roman" pitchFamily="18" charset="0"/>
              </a:rPr>
              <a:t>- Painful Economic Restructuring and Unemployment in Mexico</a:t>
            </a:r>
          </a:p>
          <a:p>
            <a:pPr fontAlgn="auto">
              <a:spcBef>
                <a:spcPct val="20000"/>
              </a:spcBef>
              <a:spcAft>
                <a:spcPts val="0"/>
              </a:spcAft>
              <a:buClr>
                <a:schemeClr val="folHlink"/>
              </a:buClr>
              <a:buSzPct val="75000"/>
              <a:buFont typeface="Monotype Sorts" pitchFamily="2" charset="2"/>
              <a:buNone/>
              <a:defRPr/>
            </a:pPr>
            <a:endParaRPr lang="pt-BR" sz="2400" b="1" dirty="0">
              <a:solidFill>
                <a:schemeClr val="tx1">
                  <a:lumMod val="85000"/>
                  <a:lumOff val="15000"/>
                </a:schemeClr>
              </a:solidFill>
              <a:effectLst>
                <a:outerShdw blurRad="38100" dist="38100" dir="2700000" algn="tl">
                  <a:srgbClr val="000000"/>
                </a:outerShdw>
              </a:effectLst>
              <a:latin typeface="Times New Roman" pitchFamily="18" charset="0"/>
              <a:cs typeface="Times New Roman" pitchFamily="18" charset="0"/>
            </a:endParaRPr>
          </a:p>
          <a:p>
            <a:pPr marL="476250" lvl="1" algn="just" fontAlgn="auto">
              <a:spcBef>
                <a:spcPct val="20000"/>
              </a:spcBef>
              <a:spcAft>
                <a:spcPts val="0"/>
              </a:spcAft>
              <a:buClr>
                <a:schemeClr val="folHlink"/>
              </a:buClr>
              <a:buFont typeface="Monotype Sorts" pitchFamily="2" charset="2"/>
              <a:buNone/>
              <a:defRPr/>
            </a:pPr>
            <a:r>
              <a:rPr lang="pt-BR" sz="2400" b="1" dirty="0">
                <a:solidFill>
                  <a:schemeClr val="tx1">
                    <a:lumMod val="85000"/>
                    <a:lumOff val="15000"/>
                  </a:schemeClr>
                </a:solidFill>
                <a:effectLst>
                  <a:outerShdw blurRad="38100" dist="38100" dir="2700000" algn="tl">
                    <a:srgbClr val="000000"/>
                  </a:outerShdw>
                </a:effectLst>
                <a:latin typeface="Times New Roman" pitchFamily="18" charset="0"/>
                <a:cs typeface="Times New Roman" pitchFamily="18" charset="0"/>
              </a:rPr>
              <a:t>- Loss of National Sovereignty</a:t>
            </a:r>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7410" name="Rectangle 2" descr="Large confetti"/>
          <p:cNvSpPr>
            <a:spLocks noGrp="1" noChangeArrowheads="1"/>
          </p:cNvSpPr>
          <p:nvPr>
            <p:ph type="title"/>
          </p:nvPr>
        </p:nvSpPr>
        <p:spPr/>
        <p:txBody>
          <a:bodyPr/>
          <a:lstStyle/>
          <a:p>
            <a:r>
              <a:rPr lang="en-US"/>
              <a:t>Other Regional Trade Blocs</a:t>
            </a:r>
          </a:p>
        </p:txBody>
      </p:sp>
      <p:sp>
        <p:nvSpPr>
          <p:cNvPr id="17411" name="Rectangle 3"/>
          <p:cNvSpPr>
            <a:spLocks noGrp="1" noChangeArrowheads="1"/>
          </p:cNvSpPr>
          <p:nvPr>
            <p:ph type="body" idx="1"/>
          </p:nvPr>
        </p:nvSpPr>
        <p:spPr/>
        <p:txBody>
          <a:bodyPr/>
          <a:lstStyle/>
          <a:p>
            <a:pPr>
              <a:lnSpc>
                <a:spcPct val="90000"/>
              </a:lnSpc>
            </a:pPr>
            <a:r>
              <a:rPr lang="en-US"/>
              <a:t>ASEAN and AFTA </a:t>
            </a:r>
          </a:p>
          <a:p>
            <a:pPr lvl="1">
              <a:lnSpc>
                <a:spcPct val="90000"/>
              </a:lnSpc>
            </a:pPr>
            <a:r>
              <a:rPr lang="en-US"/>
              <a:t>Originated in 1967</a:t>
            </a:r>
          </a:p>
          <a:p>
            <a:pPr lvl="1">
              <a:lnSpc>
                <a:spcPct val="90000"/>
              </a:lnSpc>
            </a:pPr>
            <a:r>
              <a:rPr lang="en-US"/>
              <a:t>Formation of AFTA in 1993</a:t>
            </a:r>
          </a:p>
          <a:p>
            <a:pPr lvl="1">
              <a:lnSpc>
                <a:spcPct val="90000"/>
              </a:lnSpc>
            </a:pPr>
            <a:r>
              <a:rPr lang="en-US"/>
              <a:t>Reduction of intrazone tariffs to a maximum of 5% by 2008 (by 2004 for some countries)</a:t>
            </a:r>
          </a:p>
          <a:p>
            <a:pPr>
              <a:lnSpc>
                <a:spcPct val="90000"/>
              </a:lnSpc>
            </a:pPr>
            <a:r>
              <a:rPr lang="en-US"/>
              <a:t>Mercosur (Southern Common Market)</a:t>
            </a:r>
          </a:p>
          <a:p>
            <a:pPr lvl="1">
              <a:lnSpc>
                <a:spcPct val="90000"/>
              </a:lnSpc>
            </a:pPr>
            <a:r>
              <a:rPr lang="en-US"/>
              <a:t>Formed in 1991 by Brazil, Argentina, Paraguay and Uruguay.</a:t>
            </a:r>
          </a:p>
          <a:p>
            <a:pPr lvl="1">
              <a:lnSpc>
                <a:spcPct val="90000"/>
              </a:lnSpc>
            </a:pPr>
            <a:r>
              <a:rPr lang="en-US"/>
              <a:t>Aim for a customs union, but not yet</a:t>
            </a:r>
          </a:p>
        </p:txBody>
      </p:sp>
    </p:spTree>
  </p:cSld>
  <p:clrMapOvr>
    <a:masterClrMapping/>
  </p:clrMapOvr>
  <p:transition>
    <p:zoom dir="in"/>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7411">
                                            <p:txEl>
                                              <p:pRg st="0" end="0"/>
                                            </p:txEl>
                                          </p:spTgt>
                                        </p:tgtEl>
                                        <p:attrNameLst>
                                          <p:attrName>style.visibility</p:attrName>
                                        </p:attrNameLst>
                                      </p:cBhvr>
                                      <p:to>
                                        <p:strVal val="visible"/>
                                      </p:to>
                                    </p:set>
                                    <p:anim calcmode="lin" valueType="num">
                                      <p:cBhvr additive="base">
                                        <p:cTn id="7" dur="500" fill="hold"/>
                                        <p:tgtEl>
                                          <p:spTgt spid="17411">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17411">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17411">
                                            <p:txEl>
                                              <p:pRg st="1" end="1"/>
                                            </p:txEl>
                                          </p:spTgt>
                                        </p:tgtEl>
                                        <p:attrNameLst>
                                          <p:attrName>style.visibility</p:attrName>
                                        </p:attrNameLst>
                                      </p:cBhvr>
                                      <p:to>
                                        <p:strVal val="visible"/>
                                      </p:to>
                                    </p:set>
                                    <p:anim calcmode="lin" valueType="num">
                                      <p:cBhvr additive="base">
                                        <p:cTn id="13" dur="500" fill="hold"/>
                                        <p:tgtEl>
                                          <p:spTgt spid="17411">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17411">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17411">
                                            <p:txEl>
                                              <p:pRg st="2" end="2"/>
                                            </p:txEl>
                                          </p:spTgt>
                                        </p:tgtEl>
                                        <p:attrNameLst>
                                          <p:attrName>style.visibility</p:attrName>
                                        </p:attrNameLst>
                                      </p:cBhvr>
                                      <p:to>
                                        <p:strVal val="visible"/>
                                      </p:to>
                                    </p:set>
                                    <p:anim calcmode="lin" valueType="num">
                                      <p:cBhvr additive="base">
                                        <p:cTn id="19" dur="500" fill="hold"/>
                                        <p:tgtEl>
                                          <p:spTgt spid="17411">
                                            <p:txEl>
                                              <p:pRg st="2" end="2"/>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17411">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17411">
                                            <p:txEl>
                                              <p:pRg st="3" end="3"/>
                                            </p:txEl>
                                          </p:spTgt>
                                        </p:tgtEl>
                                        <p:attrNameLst>
                                          <p:attrName>style.visibility</p:attrName>
                                        </p:attrNameLst>
                                      </p:cBhvr>
                                      <p:to>
                                        <p:strVal val="visible"/>
                                      </p:to>
                                    </p:set>
                                    <p:anim calcmode="lin" valueType="num">
                                      <p:cBhvr additive="base">
                                        <p:cTn id="25" dur="500" fill="hold"/>
                                        <p:tgtEl>
                                          <p:spTgt spid="17411">
                                            <p:txEl>
                                              <p:pRg st="3" end="3"/>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17411">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8" fill="hold" grpId="0" nodeType="clickEffect">
                                  <p:stCondLst>
                                    <p:cond delay="0"/>
                                  </p:stCondLst>
                                  <p:childTnLst>
                                    <p:set>
                                      <p:cBhvr>
                                        <p:cTn id="30" dur="1" fill="hold">
                                          <p:stCondLst>
                                            <p:cond delay="0"/>
                                          </p:stCondLst>
                                        </p:cTn>
                                        <p:tgtEl>
                                          <p:spTgt spid="17411">
                                            <p:txEl>
                                              <p:pRg st="4" end="4"/>
                                            </p:txEl>
                                          </p:spTgt>
                                        </p:tgtEl>
                                        <p:attrNameLst>
                                          <p:attrName>style.visibility</p:attrName>
                                        </p:attrNameLst>
                                      </p:cBhvr>
                                      <p:to>
                                        <p:strVal val="visible"/>
                                      </p:to>
                                    </p:set>
                                    <p:anim calcmode="lin" valueType="num">
                                      <p:cBhvr additive="base">
                                        <p:cTn id="31" dur="500" fill="hold"/>
                                        <p:tgtEl>
                                          <p:spTgt spid="17411">
                                            <p:txEl>
                                              <p:pRg st="4" end="4"/>
                                            </p:txEl>
                                          </p:spTgt>
                                        </p:tgtEl>
                                        <p:attrNameLst>
                                          <p:attrName>ppt_x</p:attrName>
                                        </p:attrNameLst>
                                      </p:cBhvr>
                                      <p:tavLst>
                                        <p:tav tm="0">
                                          <p:val>
                                            <p:strVal val="0-#ppt_w/2"/>
                                          </p:val>
                                        </p:tav>
                                        <p:tav tm="100000">
                                          <p:val>
                                            <p:strVal val="#ppt_x"/>
                                          </p:val>
                                        </p:tav>
                                      </p:tavLst>
                                    </p:anim>
                                    <p:anim calcmode="lin" valueType="num">
                                      <p:cBhvr additive="base">
                                        <p:cTn id="32" dur="500" fill="hold"/>
                                        <p:tgtEl>
                                          <p:spTgt spid="17411">
                                            <p:txEl>
                                              <p:pRg st="4" end="4"/>
                                            </p:txEl>
                                          </p:spTgt>
                                        </p:tgtEl>
                                        <p:attrNameLst>
                                          <p:attrName>ppt_y</p:attrName>
                                        </p:attrNameLst>
                                      </p:cBhvr>
                                      <p:tavLst>
                                        <p:tav tm="0">
                                          <p:val>
                                            <p:strVal val="#ppt_y"/>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8" fill="hold" grpId="0" nodeType="clickEffect">
                                  <p:stCondLst>
                                    <p:cond delay="0"/>
                                  </p:stCondLst>
                                  <p:childTnLst>
                                    <p:set>
                                      <p:cBhvr>
                                        <p:cTn id="36" dur="1" fill="hold">
                                          <p:stCondLst>
                                            <p:cond delay="0"/>
                                          </p:stCondLst>
                                        </p:cTn>
                                        <p:tgtEl>
                                          <p:spTgt spid="17411">
                                            <p:txEl>
                                              <p:pRg st="5" end="5"/>
                                            </p:txEl>
                                          </p:spTgt>
                                        </p:tgtEl>
                                        <p:attrNameLst>
                                          <p:attrName>style.visibility</p:attrName>
                                        </p:attrNameLst>
                                      </p:cBhvr>
                                      <p:to>
                                        <p:strVal val="visible"/>
                                      </p:to>
                                    </p:set>
                                    <p:anim calcmode="lin" valueType="num">
                                      <p:cBhvr additive="base">
                                        <p:cTn id="37" dur="500" fill="hold"/>
                                        <p:tgtEl>
                                          <p:spTgt spid="17411">
                                            <p:txEl>
                                              <p:pRg st="5" end="5"/>
                                            </p:txEl>
                                          </p:spTgt>
                                        </p:tgtEl>
                                        <p:attrNameLst>
                                          <p:attrName>ppt_x</p:attrName>
                                        </p:attrNameLst>
                                      </p:cBhvr>
                                      <p:tavLst>
                                        <p:tav tm="0">
                                          <p:val>
                                            <p:strVal val="0-#ppt_w/2"/>
                                          </p:val>
                                        </p:tav>
                                        <p:tav tm="100000">
                                          <p:val>
                                            <p:strVal val="#ppt_x"/>
                                          </p:val>
                                        </p:tav>
                                      </p:tavLst>
                                    </p:anim>
                                    <p:anim calcmode="lin" valueType="num">
                                      <p:cBhvr additive="base">
                                        <p:cTn id="38" dur="500" fill="hold"/>
                                        <p:tgtEl>
                                          <p:spTgt spid="17411">
                                            <p:txEl>
                                              <p:pRg st="5" end="5"/>
                                            </p:txEl>
                                          </p:spTgt>
                                        </p:tgtEl>
                                        <p:attrNameLst>
                                          <p:attrName>ppt_y</p:attrName>
                                        </p:attrNameLst>
                                      </p:cBhvr>
                                      <p:tavLst>
                                        <p:tav tm="0">
                                          <p:val>
                                            <p:strVal val="#ppt_y"/>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8" fill="hold" grpId="0" nodeType="clickEffect">
                                  <p:stCondLst>
                                    <p:cond delay="0"/>
                                  </p:stCondLst>
                                  <p:childTnLst>
                                    <p:set>
                                      <p:cBhvr>
                                        <p:cTn id="42" dur="1" fill="hold">
                                          <p:stCondLst>
                                            <p:cond delay="0"/>
                                          </p:stCondLst>
                                        </p:cTn>
                                        <p:tgtEl>
                                          <p:spTgt spid="17411">
                                            <p:txEl>
                                              <p:pRg st="6" end="6"/>
                                            </p:txEl>
                                          </p:spTgt>
                                        </p:tgtEl>
                                        <p:attrNameLst>
                                          <p:attrName>style.visibility</p:attrName>
                                        </p:attrNameLst>
                                      </p:cBhvr>
                                      <p:to>
                                        <p:strVal val="visible"/>
                                      </p:to>
                                    </p:set>
                                    <p:anim calcmode="lin" valueType="num">
                                      <p:cBhvr additive="base">
                                        <p:cTn id="43" dur="500" fill="hold"/>
                                        <p:tgtEl>
                                          <p:spTgt spid="17411">
                                            <p:txEl>
                                              <p:pRg st="6" end="6"/>
                                            </p:txEl>
                                          </p:spTgt>
                                        </p:tgtEl>
                                        <p:attrNameLst>
                                          <p:attrName>ppt_x</p:attrName>
                                        </p:attrNameLst>
                                      </p:cBhvr>
                                      <p:tavLst>
                                        <p:tav tm="0">
                                          <p:val>
                                            <p:strVal val="0-#ppt_w/2"/>
                                          </p:val>
                                        </p:tav>
                                        <p:tav tm="100000">
                                          <p:val>
                                            <p:strVal val="#ppt_x"/>
                                          </p:val>
                                        </p:tav>
                                      </p:tavLst>
                                    </p:anim>
                                    <p:anim calcmode="lin" valueType="num">
                                      <p:cBhvr additive="base">
                                        <p:cTn id="44" dur="500" fill="hold"/>
                                        <p:tgtEl>
                                          <p:spTgt spid="17411">
                                            <p:txEl>
                                              <p:pRg st="6" end="6"/>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411" grpId="0" build="p" bldLvl="2" autoUpdateAnimBg="0"/>
    </p:bldLst>
  </p:timing>
</p:sld>
</file>

<file path=ppt/slides/slide2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8434" name="Rectangle 2" descr="Large confetti"/>
          <p:cNvSpPr>
            <a:spLocks noGrp="1" noChangeArrowheads="1"/>
          </p:cNvSpPr>
          <p:nvPr>
            <p:ph type="title"/>
          </p:nvPr>
        </p:nvSpPr>
        <p:spPr/>
        <p:txBody>
          <a:bodyPr/>
          <a:lstStyle/>
          <a:p>
            <a:r>
              <a:rPr lang="en-US"/>
              <a:t>Other Regional Trade Blocs</a:t>
            </a:r>
          </a:p>
        </p:txBody>
      </p:sp>
      <p:sp>
        <p:nvSpPr>
          <p:cNvPr id="18435" name="Rectangle 3"/>
          <p:cNvSpPr>
            <a:spLocks noGrp="1" noChangeArrowheads="1"/>
          </p:cNvSpPr>
          <p:nvPr>
            <p:ph type="body" idx="1"/>
          </p:nvPr>
        </p:nvSpPr>
        <p:spPr/>
        <p:txBody>
          <a:bodyPr/>
          <a:lstStyle/>
          <a:p>
            <a:r>
              <a:rPr lang="en-US"/>
              <a:t>Others</a:t>
            </a:r>
          </a:p>
          <a:p>
            <a:pPr lvl="1"/>
            <a:r>
              <a:rPr lang="en-US"/>
              <a:t>Andean group (Andean Common Market)</a:t>
            </a:r>
          </a:p>
          <a:p>
            <a:pPr lvl="1"/>
            <a:r>
              <a:rPr lang="en-US"/>
              <a:t>ALADI (Latin American Integration Association)</a:t>
            </a:r>
          </a:p>
          <a:p>
            <a:pPr lvl="1"/>
            <a:r>
              <a:rPr lang="en-US"/>
              <a:t>CARICOM (Caribbean Community and Common Market)</a:t>
            </a:r>
          </a:p>
          <a:p>
            <a:pPr lvl="1"/>
            <a:r>
              <a:rPr lang="en-US"/>
              <a:t>CACM (Central American Common Market)</a:t>
            </a:r>
          </a:p>
        </p:txBody>
      </p:sp>
    </p:spTree>
  </p:cSld>
  <p:clrMapOvr>
    <a:masterClrMapping/>
  </p:clrMapOvr>
  <p:transition>
    <p:zoom dir="in"/>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8435">
                                            <p:txEl>
                                              <p:pRg st="0" end="0"/>
                                            </p:txEl>
                                          </p:spTgt>
                                        </p:tgtEl>
                                        <p:attrNameLst>
                                          <p:attrName>style.visibility</p:attrName>
                                        </p:attrNameLst>
                                      </p:cBhvr>
                                      <p:to>
                                        <p:strVal val="visible"/>
                                      </p:to>
                                    </p:set>
                                    <p:anim calcmode="lin" valueType="num">
                                      <p:cBhvr additive="base">
                                        <p:cTn id="7" dur="500" fill="hold"/>
                                        <p:tgtEl>
                                          <p:spTgt spid="18435">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18435">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18435">
                                            <p:txEl>
                                              <p:pRg st="1" end="1"/>
                                            </p:txEl>
                                          </p:spTgt>
                                        </p:tgtEl>
                                        <p:attrNameLst>
                                          <p:attrName>style.visibility</p:attrName>
                                        </p:attrNameLst>
                                      </p:cBhvr>
                                      <p:to>
                                        <p:strVal val="visible"/>
                                      </p:to>
                                    </p:set>
                                    <p:anim calcmode="lin" valueType="num">
                                      <p:cBhvr additive="base">
                                        <p:cTn id="13" dur="500" fill="hold"/>
                                        <p:tgtEl>
                                          <p:spTgt spid="18435">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18435">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18435">
                                            <p:txEl>
                                              <p:pRg st="2" end="2"/>
                                            </p:txEl>
                                          </p:spTgt>
                                        </p:tgtEl>
                                        <p:attrNameLst>
                                          <p:attrName>style.visibility</p:attrName>
                                        </p:attrNameLst>
                                      </p:cBhvr>
                                      <p:to>
                                        <p:strVal val="visible"/>
                                      </p:to>
                                    </p:set>
                                    <p:anim calcmode="lin" valueType="num">
                                      <p:cBhvr additive="base">
                                        <p:cTn id="19" dur="500" fill="hold"/>
                                        <p:tgtEl>
                                          <p:spTgt spid="18435">
                                            <p:txEl>
                                              <p:pRg st="2" end="2"/>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18435">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18435">
                                            <p:txEl>
                                              <p:pRg st="3" end="3"/>
                                            </p:txEl>
                                          </p:spTgt>
                                        </p:tgtEl>
                                        <p:attrNameLst>
                                          <p:attrName>style.visibility</p:attrName>
                                        </p:attrNameLst>
                                      </p:cBhvr>
                                      <p:to>
                                        <p:strVal val="visible"/>
                                      </p:to>
                                    </p:set>
                                    <p:anim calcmode="lin" valueType="num">
                                      <p:cBhvr additive="base">
                                        <p:cTn id="25" dur="500" fill="hold"/>
                                        <p:tgtEl>
                                          <p:spTgt spid="18435">
                                            <p:txEl>
                                              <p:pRg st="3" end="3"/>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18435">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8" fill="hold" grpId="0" nodeType="clickEffect">
                                  <p:stCondLst>
                                    <p:cond delay="0"/>
                                  </p:stCondLst>
                                  <p:childTnLst>
                                    <p:set>
                                      <p:cBhvr>
                                        <p:cTn id="30" dur="1" fill="hold">
                                          <p:stCondLst>
                                            <p:cond delay="0"/>
                                          </p:stCondLst>
                                        </p:cTn>
                                        <p:tgtEl>
                                          <p:spTgt spid="18435">
                                            <p:txEl>
                                              <p:pRg st="4" end="4"/>
                                            </p:txEl>
                                          </p:spTgt>
                                        </p:tgtEl>
                                        <p:attrNameLst>
                                          <p:attrName>style.visibility</p:attrName>
                                        </p:attrNameLst>
                                      </p:cBhvr>
                                      <p:to>
                                        <p:strVal val="visible"/>
                                      </p:to>
                                    </p:set>
                                    <p:anim calcmode="lin" valueType="num">
                                      <p:cBhvr additive="base">
                                        <p:cTn id="31" dur="500" fill="hold"/>
                                        <p:tgtEl>
                                          <p:spTgt spid="18435">
                                            <p:txEl>
                                              <p:pRg st="4" end="4"/>
                                            </p:txEl>
                                          </p:spTgt>
                                        </p:tgtEl>
                                        <p:attrNameLst>
                                          <p:attrName>ppt_x</p:attrName>
                                        </p:attrNameLst>
                                      </p:cBhvr>
                                      <p:tavLst>
                                        <p:tav tm="0">
                                          <p:val>
                                            <p:strVal val="0-#ppt_w/2"/>
                                          </p:val>
                                        </p:tav>
                                        <p:tav tm="100000">
                                          <p:val>
                                            <p:strVal val="#ppt_x"/>
                                          </p:val>
                                        </p:tav>
                                      </p:tavLst>
                                    </p:anim>
                                    <p:anim calcmode="lin" valueType="num">
                                      <p:cBhvr additive="base">
                                        <p:cTn id="32" dur="500" fill="hold"/>
                                        <p:tgtEl>
                                          <p:spTgt spid="18435">
                                            <p:txEl>
                                              <p:pRg st="4" end="4"/>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435" grpId="0" build="p" bldLvl="2" autoUpdateAnimBg="0"/>
    </p:bldLst>
  </p:timing>
</p:sld>
</file>

<file path=ppt/slides/slide2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9458" name="Rectangle 2" descr="Large confetti"/>
          <p:cNvSpPr>
            <a:spLocks noGrp="1" noChangeArrowheads="1"/>
          </p:cNvSpPr>
          <p:nvPr>
            <p:ph type="title"/>
          </p:nvPr>
        </p:nvSpPr>
        <p:spPr/>
        <p:txBody>
          <a:bodyPr/>
          <a:lstStyle/>
          <a:p>
            <a:r>
              <a:rPr lang="en-US"/>
              <a:t>APEC</a:t>
            </a:r>
          </a:p>
        </p:txBody>
      </p:sp>
      <p:sp>
        <p:nvSpPr>
          <p:cNvPr id="19459" name="Rectangle 3"/>
          <p:cNvSpPr>
            <a:spLocks noGrp="1" noChangeArrowheads="1"/>
          </p:cNvSpPr>
          <p:nvPr>
            <p:ph type="body" idx="1"/>
          </p:nvPr>
        </p:nvSpPr>
        <p:spPr/>
        <p:txBody>
          <a:bodyPr/>
          <a:lstStyle/>
          <a:p>
            <a:pPr>
              <a:lnSpc>
                <a:spcPct val="90000"/>
              </a:lnSpc>
            </a:pPr>
            <a:r>
              <a:rPr lang="en-US" sz="2800"/>
              <a:t>Asia Pacific Economic cooperation</a:t>
            </a:r>
          </a:p>
          <a:p>
            <a:pPr>
              <a:lnSpc>
                <a:spcPct val="90000"/>
              </a:lnSpc>
            </a:pPr>
            <a:r>
              <a:rPr lang="en-US" sz="2800"/>
              <a:t>Formed in 1989 to promote trade and investment</a:t>
            </a:r>
          </a:p>
          <a:p>
            <a:pPr>
              <a:lnSpc>
                <a:spcPct val="90000"/>
              </a:lnSpc>
            </a:pPr>
            <a:r>
              <a:rPr lang="en-US" sz="2800"/>
              <a:t>21 member countries that border the Pacific Rim</a:t>
            </a:r>
          </a:p>
          <a:p>
            <a:pPr>
              <a:lnSpc>
                <a:spcPct val="90000"/>
              </a:lnSpc>
            </a:pPr>
            <a:r>
              <a:rPr lang="en-US" sz="2800"/>
              <a:t>APEC is not a trading bloc</a:t>
            </a:r>
          </a:p>
          <a:p>
            <a:pPr>
              <a:lnSpc>
                <a:spcPct val="90000"/>
              </a:lnSpc>
            </a:pPr>
            <a:r>
              <a:rPr lang="en-US" sz="2800"/>
              <a:t>For trade liberalization and against protectionism</a:t>
            </a:r>
          </a:p>
          <a:p>
            <a:pPr>
              <a:lnSpc>
                <a:spcPct val="90000"/>
              </a:lnSpc>
            </a:pPr>
            <a:r>
              <a:rPr lang="en-US" sz="2800"/>
              <a:t>Prefer open regionalism over closed regionalism</a:t>
            </a:r>
          </a:p>
          <a:p>
            <a:pPr>
              <a:lnSpc>
                <a:spcPct val="90000"/>
              </a:lnSpc>
            </a:pPr>
            <a:r>
              <a:rPr lang="en-US" sz="2800"/>
              <a:t>Goal: Free and open trade </a:t>
            </a:r>
          </a:p>
          <a:p>
            <a:pPr lvl="1">
              <a:lnSpc>
                <a:spcPct val="90000"/>
              </a:lnSpc>
            </a:pPr>
            <a:r>
              <a:rPr lang="en-US" sz="2400"/>
              <a:t>by 2010 for the industrialized countries</a:t>
            </a:r>
          </a:p>
          <a:p>
            <a:pPr lvl="1">
              <a:lnSpc>
                <a:spcPct val="90000"/>
              </a:lnSpc>
            </a:pPr>
            <a:r>
              <a:rPr lang="en-US" sz="2400"/>
              <a:t> by 2020 for the rest of the members</a:t>
            </a:r>
          </a:p>
        </p:txBody>
      </p:sp>
    </p:spTree>
  </p:cSld>
  <p:clrMapOvr>
    <a:masterClrMapping/>
  </p:clrMapOvr>
  <p:transition>
    <p:zoom dir="in"/>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9459">
                                            <p:txEl>
                                              <p:pRg st="0" end="0"/>
                                            </p:txEl>
                                          </p:spTgt>
                                        </p:tgtEl>
                                        <p:attrNameLst>
                                          <p:attrName>style.visibility</p:attrName>
                                        </p:attrNameLst>
                                      </p:cBhvr>
                                      <p:to>
                                        <p:strVal val="visible"/>
                                      </p:to>
                                    </p:set>
                                    <p:anim calcmode="lin" valueType="num">
                                      <p:cBhvr additive="base">
                                        <p:cTn id="7" dur="500" fill="hold"/>
                                        <p:tgtEl>
                                          <p:spTgt spid="19459">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19459">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19459">
                                            <p:txEl>
                                              <p:pRg st="1" end="1"/>
                                            </p:txEl>
                                          </p:spTgt>
                                        </p:tgtEl>
                                        <p:attrNameLst>
                                          <p:attrName>style.visibility</p:attrName>
                                        </p:attrNameLst>
                                      </p:cBhvr>
                                      <p:to>
                                        <p:strVal val="visible"/>
                                      </p:to>
                                    </p:set>
                                    <p:anim calcmode="lin" valueType="num">
                                      <p:cBhvr additive="base">
                                        <p:cTn id="13" dur="500" fill="hold"/>
                                        <p:tgtEl>
                                          <p:spTgt spid="19459">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19459">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19459">
                                            <p:txEl>
                                              <p:pRg st="2" end="2"/>
                                            </p:txEl>
                                          </p:spTgt>
                                        </p:tgtEl>
                                        <p:attrNameLst>
                                          <p:attrName>style.visibility</p:attrName>
                                        </p:attrNameLst>
                                      </p:cBhvr>
                                      <p:to>
                                        <p:strVal val="visible"/>
                                      </p:to>
                                    </p:set>
                                    <p:anim calcmode="lin" valueType="num">
                                      <p:cBhvr additive="base">
                                        <p:cTn id="19" dur="500" fill="hold"/>
                                        <p:tgtEl>
                                          <p:spTgt spid="19459">
                                            <p:txEl>
                                              <p:pRg st="2" end="2"/>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19459">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19459">
                                            <p:txEl>
                                              <p:pRg st="3" end="3"/>
                                            </p:txEl>
                                          </p:spTgt>
                                        </p:tgtEl>
                                        <p:attrNameLst>
                                          <p:attrName>style.visibility</p:attrName>
                                        </p:attrNameLst>
                                      </p:cBhvr>
                                      <p:to>
                                        <p:strVal val="visible"/>
                                      </p:to>
                                    </p:set>
                                    <p:anim calcmode="lin" valueType="num">
                                      <p:cBhvr additive="base">
                                        <p:cTn id="25" dur="500" fill="hold"/>
                                        <p:tgtEl>
                                          <p:spTgt spid="19459">
                                            <p:txEl>
                                              <p:pRg st="3" end="3"/>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19459">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8" fill="hold" grpId="0" nodeType="clickEffect">
                                  <p:stCondLst>
                                    <p:cond delay="0"/>
                                  </p:stCondLst>
                                  <p:childTnLst>
                                    <p:set>
                                      <p:cBhvr>
                                        <p:cTn id="30" dur="1" fill="hold">
                                          <p:stCondLst>
                                            <p:cond delay="0"/>
                                          </p:stCondLst>
                                        </p:cTn>
                                        <p:tgtEl>
                                          <p:spTgt spid="19459">
                                            <p:txEl>
                                              <p:pRg st="4" end="4"/>
                                            </p:txEl>
                                          </p:spTgt>
                                        </p:tgtEl>
                                        <p:attrNameLst>
                                          <p:attrName>style.visibility</p:attrName>
                                        </p:attrNameLst>
                                      </p:cBhvr>
                                      <p:to>
                                        <p:strVal val="visible"/>
                                      </p:to>
                                    </p:set>
                                    <p:anim calcmode="lin" valueType="num">
                                      <p:cBhvr additive="base">
                                        <p:cTn id="31" dur="500" fill="hold"/>
                                        <p:tgtEl>
                                          <p:spTgt spid="19459">
                                            <p:txEl>
                                              <p:pRg st="4" end="4"/>
                                            </p:txEl>
                                          </p:spTgt>
                                        </p:tgtEl>
                                        <p:attrNameLst>
                                          <p:attrName>ppt_x</p:attrName>
                                        </p:attrNameLst>
                                      </p:cBhvr>
                                      <p:tavLst>
                                        <p:tav tm="0">
                                          <p:val>
                                            <p:strVal val="0-#ppt_w/2"/>
                                          </p:val>
                                        </p:tav>
                                        <p:tav tm="100000">
                                          <p:val>
                                            <p:strVal val="#ppt_x"/>
                                          </p:val>
                                        </p:tav>
                                      </p:tavLst>
                                    </p:anim>
                                    <p:anim calcmode="lin" valueType="num">
                                      <p:cBhvr additive="base">
                                        <p:cTn id="32" dur="500" fill="hold"/>
                                        <p:tgtEl>
                                          <p:spTgt spid="19459">
                                            <p:txEl>
                                              <p:pRg st="4" end="4"/>
                                            </p:txEl>
                                          </p:spTgt>
                                        </p:tgtEl>
                                        <p:attrNameLst>
                                          <p:attrName>ppt_y</p:attrName>
                                        </p:attrNameLst>
                                      </p:cBhvr>
                                      <p:tavLst>
                                        <p:tav tm="0">
                                          <p:val>
                                            <p:strVal val="#ppt_y"/>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8" fill="hold" grpId="0" nodeType="clickEffect">
                                  <p:stCondLst>
                                    <p:cond delay="0"/>
                                  </p:stCondLst>
                                  <p:childTnLst>
                                    <p:set>
                                      <p:cBhvr>
                                        <p:cTn id="36" dur="1" fill="hold">
                                          <p:stCondLst>
                                            <p:cond delay="0"/>
                                          </p:stCondLst>
                                        </p:cTn>
                                        <p:tgtEl>
                                          <p:spTgt spid="19459">
                                            <p:txEl>
                                              <p:pRg st="5" end="5"/>
                                            </p:txEl>
                                          </p:spTgt>
                                        </p:tgtEl>
                                        <p:attrNameLst>
                                          <p:attrName>style.visibility</p:attrName>
                                        </p:attrNameLst>
                                      </p:cBhvr>
                                      <p:to>
                                        <p:strVal val="visible"/>
                                      </p:to>
                                    </p:set>
                                    <p:anim calcmode="lin" valueType="num">
                                      <p:cBhvr additive="base">
                                        <p:cTn id="37" dur="500" fill="hold"/>
                                        <p:tgtEl>
                                          <p:spTgt spid="19459">
                                            <p:txEl>
                                              <p:pRg st="5" end="5"/>
                                            </p:txEl>
                                          </p:spTgt>
                                        </p:tgtEl>
                                        <p:attrNameLst>
                                          <p:attrName>ppt_x</p:attrName>
                                        </p:attrNameLst>
                                      </p:cBhvr>
                                      <p:tavLst>
                                        <p:tav tm="0">
                                          <p:val>
                                            <p:strVal val="0-#ppt_w/2"/>
                                          </p:val>
                                        </p:tav>
                                        <p:tav tm="100000">
                                          <p:val>
                                            <p:strVal val="#ppt_x"/>
                                          </p:val>
                                        </p:tav>
                                      </p:tavLst>
                                    </p:anim>
                                    <p:anim calcmode="lin" valueType="num">
                                      <p:cBhvr additive="base">
                                        <p:cTn id="38" dur="500" fill="hold"/>
                                        <p:tgtEl>
                                          <p:spTgt spid="19459">
                                            <p:txEl>
                                              <p:pRg st="5" end="5"/>
                                            </p:txEl>
                                          </p:spTgt>
                                        </p:tgtEl>
                                        <p:attrNameLst>
                                          <p:attrName>ppt_y</p:attrName>
                                        </p:attrNameLst>
                                      </p:cBhvr>
                                      <p:tavLst>
                                        <p:tav tm="0">
                                          <p:val>
                                            <p:strVal val="#ppt_y"/>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8" fill="hold" grpId="0" nodeType="clickEffect">
                                  <p:stCondLst>
                                    <p:cond delay="0"/>
                                  </p:stCondLst>
                                  <p:childTnLst>
                                    <p:set>
                                      <p:cBhvr>
                                        <p:cTn id="42" dur="1" fill="hold">
                                          <p:stCondLst>
                                            <p:cond delay="0"/>
                                          </p:stCondLst>
                                        </p:cTn>
                                        <p:tgtEl>
                                          <p:spTgt spid="19459">
                                            <p:txEl>
                                              <p:pRg st="6" end="6"/>
                                            </p:txEl>
                                          </p:spTgt>
                                        </p:tgtEl>
                                        <p:attrNameLst>
                                          <p:attrName>style.visibility</p:attrName>
                                        </p:attrNameLst>
                                      </p:cBhvr>
                                      <p:to>
                                        <p:strVal val="visible"/>
                                      </p:to>
                                    </p:set>
                                    <p:anim calcmode="lin" valueType="num">
                                      <p:cBhvr additive="base">
                                        <p:cTn id="43" dur="500" fill="hold"/>
                                        <p:tgtEl>
                                          <p:spTgt spid="19459">
                                            <p:txEl>
                                              <p:pRg st="6" end="6"/>
                                            </p:txEl>
                                          </p:spTgt>
                                        </p:tgtEl>
                                        <p:attrNameLst>
                                          <p:attrName>ppt_x</p:attrName>
                                        </p:attrNameLst>
                                      </p:cBhvr>
                                      <p:tavLst>
                                        <p:tav tm="0">
                                          <p:val>
                                            <p:strVal val="0-#ppt_w/2"/>
                                          </p:val>
                                        </p:tav>
                                        <p:tav tm="100000">
                                          <p:val>
                                            <p:strVal val="#ppt_x"/>
                                          </p:val>
                                        </p:tav>
                                      </p:tavLst>
                                    </p:anim>
                                    <p:anim calcmode="lin" valueType="num">
                                      <p:cBhvr additive="base">
                                        <p:cTn id="44" dur="500" fill="hold"/>
                                        <p:tgtEl>
                                          <p:spTgt spid="19459">
                                            <p:txEl>
                                              <p:pRg st="6" end="6"/>
                                            </p:txEl>
                                          </p:spTgt>
                                        </p:tgtEl>
                                        <p:attrNameLst>
                                          <p:attrName>ppt_y</p:attrName>
                                        </p:attrNameLst>
                                      </p:cBhvr>
                                      <p:tavLst>
                                        <p:tav tm="0">
                                          <p:val>
                                            <p:strVal val="#ppt_y"/>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8" fill="hold" grpId="0" nodeType="clickEffect">
                                  <p:stCondLst>
                                    <p:cond delay="0"/>
                                  </p:stCondLst>
                                  <p:childTnLst>
                                    <p:set>
                                      <p:cBhvr>
                                        <p:cTn id="48" dur="1" fill="hold">
                                          <p:stCondLst>
                                            <p:cond delay="0"/>
                                          </p:stCondLst>
                                        </p:cTn>
                                        <p:tgtEl>
                                          <p:spTgt spid="19459">
                                            <p:txEl>
                                              <p:pRg st="7" end="7"/>
                                            </p:txEl>
                                          </p:spTgt>
                                        </p:tgtEl>
                                        <p:attrNameLst>
                                          <p:attrName>style.visibility</p:attrName>
                                        </p:attrNameLst>
                                      </p:cBhvr>
                                      <p:to>
                                        <p:strVal val="visible"/>
                                      </p:to>
                                    </p:set>
                                    <p:anim calcmode="lin" valueType="num">
                                      <p:cBhvr additive="base">
                                        <p:cTn id="49" dur="500" fill="hold"/>
                                        <p:tgtEl>
                                          <p:spTgt spid="19459">
                                            <p:txEl>
                                              <p:pRg st="7" end="7"/>
                                            </p:txEl>
                                          </p:spTgt>
                                        </p:tgtEl>
                                        <p:attrNameLst>
                                          <p:attrName>ppt_x</p:attrName>
                                        </p:attrNameLst>
                                      </p:cBhvr>
                                      <p:tavLst>
                                        <p:tav tm="0">
                                          <p:val>
                                            <p:strVal val="0-#ppt_w/2"/>
                                          </p:val>
                                        </p:tav>
                                        <p:tav tm="100000">
                                          <p:val>
                                            <p:strVal val="#ppt_x"/>
                                          </p:val>
                                        </p:tav>
                                      </p:tavLst>
                                    </p:anim>
                                    <p:anim calcmode="lin" valueType="num">
                                      <p:cBhvr additive="base">
                                        <p:cTn id="50" dur="500" fill="hold"/>
                                        <p:tgtEl>
                                          <p:spTgt spid="19459">
                                            <p:txEl>
                                              <p:pRg st="7" end="7"/>
                                            </p:txEl>
                                          </p:spTgt>
                                        </p:tgtEl>
                                        <p:attrNameLst>
                                          <p:attrName>ppt_y</p:attrName>
                                        </p:attrNameLst>
                                      </p:cBhvr>
                                      <p:tavLst>
                                        <p:tav tm="0">
                                          <p:val>
                                            <p:strVal val="#ppt_y"/>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 presetClass="entr" presetSubtype="8" fill="hold" grpId="0" nodeType="clickEffect">
                                  <p:stCondLst>
                                    <p:cond delay="0"/>
                                  </p:stCondLst>
                                  <p:childTnLst>
                                    <p:set>
                                      <p:cBhvr>
                                        <p:cTn id="54" dur="1" fill="hold">
                                          <p:stCondLst>
                                            <p:cond delay="0"/>
                                          </p:stCondLst>
                                        </p:cTn>
                                        <p:tgtEl>
                                          <p:spTgt spid="19459">
                                            <p:txEl>
                                              <p:pRg st="8" end="8"/>
                                            </p:txEl>
                                          </p:spTgt>
                                        </p:tgtEl>
                                        <p:attrNameLst>
                                          <p:attrName>style.visibility</p:attrName>
                                        </p:attrNameLst>
                                      </p:cBhvr>
                                      <p:to>
                                        <p:strVal val="visible"/>
                                      </p:to>
                                    </p:set>
                                    <p:anim calcmode="lin" valueType="num">
                                      <p:cBhvr additive="base">
                                        <p:cTn id="55" dur="500" fill="hold"/>
                                        <p:tgtEl>
                                          <p:spTgt spid="19459">
                                            <p:txEl>
                                              <p:pRg st="8" end="8"/>
                                            </p:txEl>
                                          </p:spTgt>
                                        </p:tgtEl>
                                        <p:attrNameLst>
                                          <p:attrName>ppt_x</p:attrName>
                                        </p:attrNameLst>
                                      </p:cBhvr>
                                      <p:tavLst>
                                        <p:tav tm="0">
                                          <p:val>
                                            <p:strVal val="0-#ppt_w/2"/>
                                          </p:val>
                                        </p:tav>
                                        <p:tav tm="100000">
                                          <p:val>
                                            <p:strVal val="#ppt_x"/>
                                          </p:val>
                                        </p:tav>
                                      </p:tavLst>
                                    </p:anim>
                                    <p:anim calcmode="lin" valueType="num">
                                      <p:cBhvr additive="base">
                                        <p:cTn id="56" dur="500" fill="hold"/>
                                        <p:tgtEl>
                                          <p:spTgt spid="19459">
                                            <p:txEl>
                                              <p:pRg st="8" end="8"/>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459" grpId="0" build="p" bldLvl="2" autoUpdateAnimBg="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371600" y="284163"/>
            <a:ext cx="7772400" cy="1143000"/>
          </a:xfrm>
        </p:spPr>
        <p:txBody>
          <a:bodyPr/>
          <a:lstStyle/>
          <a:p>
            <a:endParaRPr lang="en-US" dirty="0"/>
          </a:p>
        </p:txBody>
      </p:sp>
      <p:sp>
        <p:nvSpPr>
          <p:cNvPr id="3" name="Content Placeholder 2"/>
          <p:cNvSpPr>
            <a:spLocks noGrp="1"/>
          </p:cNvSpPr>
          <p:nvPr>
            <p:ph idx="4294967295"/>
          </p:nvPr>
        </p:nvSpPr>
        <p:spPr>
          <a:xfrm>
            <a:off x="0" y="1905000"/>
            <a:ext cx="7772400" cy="4191000"/>
          </a:xfrm>
        </p:spPr>
        <p:txBody>
          <a:bodyPr/>
          <a:lstStyle/>
          <a:p>
            <a:r>
              <a:rPr lang="en-US" b="1" dirty="0" smtClean="0"/>
              <a:t>UNCTAD: </a:t>
            </a:r>
            <a:r>
              <a:rPr lang="en-US" b="1" dirty="0" smtClean="0"/>
              <a:t>1964</a:t>
            </a:r>
            <a:endParaRPr lang="en-US" b="1" dirty="0" smtClean="0"/>
          </a:p>
          <a:p>
            <a:pPr>
              <a:buNone/>
            </a:pPr>
            <a:r>
              <a:rPr lang="en-US" b="1" i="1" dirty="0" smtClean="0"/>
              <a:t>	</a:t>
            </a:r>
            <a:r>
              <a:rPr lang="en-US" sz="3600" i="1" dirty="0" smtClean="0"/>
              <a:t> </a:t>
            </a:r>
            <a:r>
              <a:rPr lang="en-US" sz="3600" i="1" dirty="0" smtClean="0"/>
              <a:t>UNITED </a:t>
            </a:r>
            <a:r>
              <a:rPr lang="en-US" sz="3600" i="1" dirty="0" smtClean="0"/>
              <a:t>NATIONS CONFERENCE ON TRADE AND CONFERENCE ON TRADE AND </a:t>
            </a:r>
            <a:r>
              <a:rPr lang="en-US" sz="3600" i="1" dirty="0" smtClean="0"/>
              <a:t>DEVELOPMENT</a:t>
            </a:r>
            <a:endParaRPr lang="en-US" sz="3600" dirty="0" smtClean="0"/>
          </a:p>
          <a:p>
            <a:pPr>
              <a:buNone/>
            </a:pPr>
            <a:r>
              <a:rPr lang="en-US" b="1" dirty="0" smtClean="0"/>
              <a:t>	</a:t>
            </a:r>
            <a:r>
              <a:rPr lang="en-US" b="1" dirty="0" smtClean="0"/>
              <a:t>		</a:t>
            </a:r>
            <a:endParaRPr lang="en-US" dirty="0" smtClean="0"/>
          </a:p>
          <a:p>
            <a:endParaRPr lang="en-US" dirty="0"/>
          </a:p>
        </p:txBody>
      </p:sp>
      <p:sp>
        <p:nvSpPr>
          <p:cNvPr id="1025" name="Rectangle 1"/>
          <p:cNvSpPr>
            <a:spLocks noChangeArrowheads="1"/>
          </p:cNvSpPr>
          <p:nvPr/>
        </p:nvSpPr>
        <p:spPr bwMode="auto">
          <a:xfrm>
            <a:off x="0" y="0"/>
            <a:ext cx="0" cy="0"/>
          </a:xfrm>
          <a:prstGeom prst="rect">
            <a:avLst/>
          </a:prstGeom>
          <a:solidFill>
            <a:srgbClr val="FFFFFF"/>
          </a:solidFill>
          <a:ln w="9525">
            <a:noFill/>
            <a:miter lim="800000"/>
            <a:headEnd/>
            <a:tailEnd/>
          </a:ln>
          <a:effectLst/>
        </p:spPr>
        <p:txBody>
          <a:bodyPr vert="horz" wrap="none" lIns="0" tIns="0" rIns="0" bIns="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7100" b="0" i="0" u="none" strike="noStrike" cap="none" normalizeH="0" baseline="0" smtClean="0">
                <a:ln>
                  <a:noFill/>
                </a:ln>
                <a:solidFill>
                  <a:srgbClr val="006633"/>
                </a:solidFill>
                <a:effectLst/>
                <a:latin typeface="ff14"/>
              </a:rPr>
              <a:t>Organisation of UNCTAD</a:t>
            </a:r>
            <a:endParaRPr kumimoji="0" lang="en-US" sz="1200" b="0" i="0" u="none" strike="noStrike" cap="none" normalizeH="0" baseline="0" smtClean="0">
              <a:ln>
                <a:noFill/>
              </a:ln>
              <a:solidFill>
                <a:srgbClr val="000000"/>
              </a:solidFill>
              <a:effectLst/>
              <a:latin typeface="Proxima Nova"/>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sz="3700" b="0" i="0" u="none" strike="noStrike" cap="none" normalizeH="0" baseline="0" smtClean="0">
                <a:ln>
                  <a:noFill/>
                </a:ln>
                <a:solidFill>
                  <a:srgbClr val="CC9900"/>
                </a:solidFill>
                <a:effectLst/>
                <a:latin typeface="ff0"/>
              </a:rPr>
              <a:t></a:t>
            </a:r>
            <a:endParaRPr kumimoji="0" lang="en-US" sz="1200" b="0" i="0" u="none" strike="noStrike" cap="none" normalizeH="0" baseline="0" smtClean="0">
              <a:ln>
                <a:noFill/>
              </a:ln>
              <a:solidFill>
                <a:srgbClr val="000000"/>
              </a:solidFill>
              <a:effectLst/>
              <a:latin typeface="Proxima Nova"/>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sz="9300" b="0" i="0" u="none" strike="noStrike" cap="none" normalizeH="0" baseline="0" smtClean="0">
                <a:ln>
                  <a:noFill/>
                </a:ln>
                <a:solidFill>
                  <a:srgbClr val="000000"/>
                </a:solidFill>
                <a:effectLst/>
                <a:latin typeface="ff13"/>
              </a:rPr>
              <a:t>It is established as a permanent organ of General Assembly of theUnited Nation.</a:t>
            </a:r>
            <a:endParaRPr kumimoji="0" lang="en-US" sz="1200" b="0" i="0" u="none" strike="noStrike" cap="none" normalizeH="0" baseline="0" smtClean="0">
              <a:ln>
                <a:noFill/>
              </a:ln>
              <a:solidFill>
                <a:srgbClr val="000000"/>
              </a:solidFill>
              <a:effectLst/>
              <a:latin typeface="Proxima Nova"/>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sz="3700" b="0" i="0" u="none" strike="noStrike" cap="none" normalizeH="0" baseline="0" smtClean="0">
                <a:ln>
                  <a:noFill/>
                </a:ln>
                <a:solidFill>
                  <a:srgbClr val="CC9900"/>
                </a:solidFill>
                <a:effectLst/>
                <a:latin typeface="ff0"/>
              </a:rPr>
              <a:t></a:t>
            </a:r>
            <a:endParaRPr kumimoji="0" lang="en-US" sz="1200" b="0" i="0" u="none" strike="noStrike" cap="none" normalizeH="0" baseline="0" smtClean="0">
              <a:ln>
                <a:noFill/>
              </a:ln>
              <a:solidFill>
                <a:srgbClr val="000000"/>
              </a:solidFill>
              <a:effectLst/>
              <a:latin typeface="Proxima Nova"/>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sz="9300" b="0" i="0" u="none" strike="noStrike" cap="none" normalizeH="0" baseline="0" smtClean="0">
                <a:ln>
                  <a:noFill/>
                </a:ln>
                <a:solidFill>
                  <a:srgbClr val="000000"/>
                </a:solidFill>
                <a:effectLst/>
                <a:latin typeface="ff13"/>
              </a:rPr>
              <a:t>It has a permanent organ called ³Trade and Development Board´ asthe main executive body.</a:t>
            </a:r>
            <a:endParaRPr kumimoji="0" lang="en-US" sz="1200" b="0" i="0" u="none" strike="noStrike" cap="none" normalizeH="0" baseline="0" smtClean="0">
              <a:ln>
                <a:noFill/>
              </a:ln>
              <a:solidFill>
                <a:srgbClr val="000000"/>
              </a:solidFill>
              <a:effectLst/>
              <a:latin typeface="Proxima Nova"/>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sz="3700" b="0" i="0" u="none" strike="noStrike" cap="none" normalizeH="0" baseline="0" smtClean="0">
                <a:ln>
                  <a:noFill/>
                </a:ln>
                <a:solidFill>
                  <a:srgbClr val="CC9900"/>
                </a:solidFill>
                <a:effectLst/>
                <a:latin typeface="ff0"/>
              </a:rPr>
              <a:t></a:t>
            </a:r>
            <a:endParaRPr kumimoji="0" lang="en-US" sz="1200" b="0" i="0" u="none" strike="noStrike" cap="none" normalizeH="0" baseline="0" smtClean="0">
              <a:ln>
                <a:noFill/>
              </a:ln>
              <a:solidFill>
                <a:srgbClr val="000000"/>
              </a:solidFill>
              <a:effectLst/>
              <a:latin typeface="Proxima Nova"/>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sz="9300" b="0" i="0" u="none" strike="noStrike" cap="none" normalizeH="0" baseline="0" smtClean="0">
                <a:ln>
                  <a:noFill/>
                </a:ln>
                <a:solidFill>
                  <a:srgbClr val="000000"/>
                </a:solidFill>
                <a:effectLst/>
                <a:latin typeface="ff13"/>
              </a:rPr>
              <a:t>The plenary session of the Conference meets twice annually which iscomposed of 55 members, elected by the conference from among itsmembers on the basis of equitable geographical distribution.</a:t>
            </a:r>
            <a:endParaRPr kumimoji="0" lang="en-US" sz="900" b="0" i="0" u="none" strike="noStrike" cap="none" normalizeH="0" baseline="0" smtClean="0">
              <a:ln>
                <a:noFill/>
              </a:ln>
              <a:solidFill>
                <a:schemeClr val="tx1"/>
              </a:solidFill>
              <a:effectLst/>
              <a:latin typeface="Arial"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sz="1200" b="0" i="0" u="none" strike="noStrike" cap="none" normalizeH="0" baseline="0" smtClean="0">
                <a:ln>
                  <a:noFill/>
                </a:ln>
                <a:solidFill>
                  <a:srgbClr val="000000"/>
                </a:solidFill>
                <a:effectLst/>
                <a:latin typeface="Proxima Nova"/>
              </a:rPr>
              <a:t>  </a:t>
            </a:r>
            <a:r>
              <a:rPr kumimoji="0" lang="en-US" sz="38900" b="0" i="0" u="none" strike="noStrike" cap="none" normalizeH="0" baseline="0" smtClean="0">
                <a:ln>
                  <a:noFill/>
                </a:ln>
                <a:solidFill>
                  <a:srgbClr val="000000"/>
                </a:solidFill>
                <a:effectLst/>
                <a:latin typeface="Proxima Nova"/>
              </a:rPr>
              <a:t> </a:t>
            </a:r>
            <a:r>
              <a:rPr kumimoji="0" lang="en-US" sz="1200" b="0" i="0" u="none" strike="noStrike" cap="none" normalizeH="0" baseline="0" smtClean="0">
                <a:ln>
                  <a:noFill/>
                </a:ln>
                <a:solidFill>
                  <a:srgbClr val="000000"/>
                </a:solidFill>
                <a:effectLst/>
                <a:latin typeface="Proxima Nova"/>
              </a:rPr>
              <a:t>                                                                                                                                                                                               </a:t>
            </a:r>
          </a:p>
        </p:txBody>
      </p:sp>
      <p:pic>
        <p:nvPicPr>
          <p:cNvPr id="1026" name="Picture 2" descr="http://htmlimg2.scribdassets.com/2rk6leiw8wtfjnt/images/2-682822a9b2.jpg"/>
          <p:cNvPicPr>
            <a:picLocks noChangeAspect="1" noChangeArrowheads="1"/>
          </p:cNvPicPr>
          <p:nvPr/>
        </p:nvPicPr>
        <p:blipFill>
          <a:blip r:embed="rId2"/>
          <a:srcRect/>
          <a:stretch>
            <a:fillRect/>
          </a:stretch>
        </p:blipFill>
        <p:spPr bwMode="auto">
          <a:xfrm>
            <a:off x="42863" y="8994775"/>
            <a:ext cx="8229600" cy="6181725"/>
          </a:xfrm>
          <a:prstGeom prst="rect">
            <a:avLst/>
          </a:prstGeom>
          <a:noFill/>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3" name="Rectangle 1"/>
          <p:cNvSpPr>
            <a:spLocks noChangeArrowheads="1"/>
          </p:cNvSpPr>
          <p:nvPr/>
        </p:nvSpPr>
        <p:spPr bwMode="auto">
          <a:xfrm>
            <a:off x="0" y="0"/>
            <a:ext cx="0" cy="0"/>
          </a:xfrm>
          <a:prstGeom prst="rect">
            <a:avLst/>
          </a:prstGeom>
          <a:solidFill>
            <a:srgbClr val="FFFFFF"/>
          </a:solidFill>
          <a:ln w="9525">
            <a:noFill/>
            <a:miter lim="800000"/>
            <a:headEnd/>
            <a:tailEnd/>
          </a:ln>
          <a:effectLst/>
        </p:spPr>
        <p:txBody>
          <a:bodyPr vert="horz" wrap="none" lIns="0" tIns="0" rIns="0" bIns="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7100" b="0" i="0" u="none" strike="noStrike" cap="none" normalizeH="0" baseline="0" smtClean="0">
                <a:ln>
                  <a:noFill/>
                </a:ln>
                <a:solidFill>
                  <a:srgbClr val="006633"/>
                </a:solidFill>
                <a:effectLst/>
                <a:latin typeface="ff14"/>
              </a:rPr>
              <a:t>Organisation of UNCTAD</a:t>
            </a:r>
            <a:endParaRPr kumimoji="0" lang="en-US" sz="1200" b="0" i="0" u="none" strike="noStrike" cap="none" normalizeH="0" baseline="0" smtClean="0">
              <a:ln>
                <a:noFill/>
              </a:ln>
              <a:solidFill>
                <a:srgbClr val="000000"/>
              </a:solidFill>
              <a:effectLst/>
              <a:latin typeface="Proxima Nova"/>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sz="3700" b="0" i="0" u="none" strike="noStrike" cap="none" normalizeH="0" baseline="0" smtClean="0">
                <a:ln>
                  <a:noFill/>
                </a:ln>
                <a:solidFill>
                  <a:srgbClr val="CC9900"/>
                </a:solidFill>
                <a:effectLst/>
                <a:latin typeface="ff0"/>
              </a:rPr>
              <a:t></a:t>
            </a:r>
            <a:endParaRPr kumimoji="0" lang="en-US" sz="1200" b="0" i="0" u="none" strike="noStrike" cap="none" normalizeH="0" baseline="0" smtClean="0">
              <a:ln>
                <a:noFill/>
              </a:ln>
              <a:solidFill>
                <a:srgbClr val="000000"/>
              </a:solidFill>
              <a:effectLst/>
              <a:latin typeface="Proxima Nova"/>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sz="9300" b="0" i="0" u="none" strike="noStrike" cap="none" normalizeH="0" baseline="0" smtClean="0">
                <a:ln>
                  <a:noFill/>
                </a:ln>
                <a:solidFill>
                  <a:srgbClr val="000000"/>
                </a:solidFill>
                <a:effectLst/>
                <a:latin typeface="ff13"/>
              </a:rPr>
              <a:t>It is established as a permanent organ of General Assembly of theUnited Nation.</a:t>
            </a:r>
            <a:endParaRPr kumimoji="0" lang="en-US" sz="1200" b="0" i="0" u="none" strike="noStrike" cap="none" normalizeH="0" baseline="0" smtClean="0">
              <a:ln>
                <a:noFill/>
              </a:ln>
              <a:solidFill>
                <a:srgbClr val="000000"/>
              </a:solidFill>
              <a:effectLst/>
              <a:latin typeface="Proxima Nova"/>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sz="3700" b="0" i="0" u="none" strike="noStrike" cap="none" normalizeH="0" baseline="0" smtClean="0">
                <a:ln>
                  <a:noFill/>
                </a:ln>
                <a:solidFill>
                  <a:srgbClr val="CC9900"/>
                </a:solidFill>
                <a:effectLst/>
                <a:latin typeface="ff0"/>
              </a:rPr>
              <a:t></a:t>
            </a:r>
            <a:endParaRPr kumimoji="0" lang="en-US" sz="1200" b="0" i="0" u="none" strike="noStrike" cap="none" normalizeH="0" baseline="0" smtClean="0">
              <a:ln>
                <a:noFill/>
              </a:ln>
              <a:solidFill>
                <a:srgbClr val="000000"/>
              </a:solidFill>
              <a:effectLst/>
              <a:latin typeface="Proxima Nova"/>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sz="9300" b="0" i="0" u="none" strike="noStrike" cap="none" normalizeH="0" baseline="0" smtClean="0">
                <a:ln>
                  <a:noFill/>
                </a:ln>
                <a:solidFill>
                  <a:srgbClr val="000000"/>
                </a:solidFill>
                <a:effectLst/>
                <a:latin typeface="ff13"/>
              </a:rPr>
              <a:t>It has a permanent organ called ³Trade and Development Board´ asthe main executive body.</a:t>
            </a:r>
            <a:endParaRPr kumimoji="0" lang="en-US" sz="1200" b="0" i="0" u="none" strike="noStrike" cap="none" normalizeH="0" baseline="0" smtClean="0">
              <a:ln>
                <a:noFill/>
              </a:ln>
              <a:solidFill>
                <a:srgbClr val="000000"/>
              </a:solidFill>
              <a:effectLst/>
              <a:latin typeface="Proxima Nova"/>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sz="3700" b="0" i="0" u="none" strike="noStrike" cap="none" normalizeH="0" baseline="0" smtClean="0">
                <a:ln>
                  <a:noFill/>
                </a:ln>
                <a:solidFill>
                  <a:srgbClr val="CC9900"/>
                </a:solidFill>
                <a:effectLst/>
                <a:latin typeface="ff0"/>
              </a:rPr>
              <a:t></a:t>
            </a:r>
            <a:endParaRPr kumimoji="0" lang="en-US" sz="1200" b="0" i="0" u="none" strike="noStrike" cap="none" normalizeH="0" baseline="0" smtClean="0">
              <a:ln>
                <a:noFill/>
              </a:ln>
              <a:solidFill>
                <a:srgbClr val="000000"/>
              </a:solidFill>
              <a:effectLst/>
              <a:latin typeface="Proxima Nova"/>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sz="9300" b="0" i="0" u="none" strike="noStrike" cap="none" normalizeH="0" baseline="0" smtClean="0">
                <a:ln>
                  <a:noFill/>
                </a:ln>
                <a:solidFill>
                  <a:srgbClr val="000000"/>
                </a:solidFill>
                <a:effectLst/>
                <a:latin typeface="ff13"/>
              </a:rPr>
              <a:t>The plenary session of the Conference meets twice annually which iscomposed of 55 members, elected by the conference from among itsmembers on the basis of equitable geographical distribution.</a:t>
            </a:r>
            <a:endParaRPr kumimoji="0" lang="en-US" sz="900" b="0" i="0" u="none" strike="noStrike" cap="none" normalizeH="0" baseline="0" smtClean="0">
              <a:ln>
                <a:noFill/>
              </a:ln>
              <a:solidFill>
                <a:schemeClr val="tx1"/>
              </a:solidFill>
              <a:effectLst/>
              <a:latin typeface="Arial"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sz="1200" b="0" i="0" u="none" strike="noStrike" cap="none" normalizeH="0" baseline="0" smtClean="0">
                <a:ln>
                  <a:noFill/>
                </a:ln>
                <a:solidFill>
                  <a:srgbClr val="000000"/>
                </a:solidFill>
                <a:effectLst/>
                <a:latin typeface="Proxima Nova"/>
              </a:rPr>
              <a:t>  </a:t>
            </a:r>
            <a:r>
              <a:rPr kumimoji="0" lang="en-US" sz="38900" b="0" i="0" u="none" strike="noStrike" cap="none" normalizeH="0" baseline="0" smtClean="0">
                <a:ln>
                  <a:noFill/>
                </a:ln>
                <a:solidFill>
                  <a:srgbClr val="000000"/>
                </a:solidFill>
                <a:effectLst/>
                <a:latin typeface="Proxima Nova"/>
              </a:rPr>
              <a:t> </a:t>
            </a:r>
            <a:r>
              <a:rPr kumimoji="0" lang="en-US" sz="1200" b="0" i="0" u="none" strike="noStrike" cap="none" normalizeH="0" baseline="0" smtClean="0">
                <a:ln>
                  <a:noFill/>
                </a:ln>
                <a:solidFill>
                  <a:srgbClr val="000000"/>
                </a:solidFill>
                <a:effectLst/>
                <a:latin typeface="Proxima Nova"/>
              </a:rPr>
              <a:t>                                                                                                                                                                                               </a:t>
            </a:r>
          </a:p>
        </p:txBody>
      </p:sp>
      <p:pic>
        <p:nvPicPr>
          <p:cNvPr id="38914" name="Picture 2" descr="http://htmlimg2.scribdassets.com/2rk6leiw8wtfjnt/images/2-682822a9b2.jpg"/>
          <p:cNvPicPr>
            <a:picLocks noChangeAspect="1" noChangeArrowheads="1"/>
          </p:cNvPicPr>
          <p:nvPr/>
        </p:nvPicPr>
        <p:blipFill>
          <a:blip r:embed="rId2"/>
          <a:srcRect/>
          <a:stretch>
            <a:fillRect/>
          </a:stretch>
        </p:blipFill>
        <p:spPr bwMode="auto">
          <a:xfrm>
            <a:off x="42863" y="8994775"/>
            <a:ext cx="8229600" cy="6181725"/>
          </a:xfrm>
          <a:prstGeom prst="rect">
            <a:avLst/>
          </a:prstGeom>
          <a:noFill/>
        </p:spPr>
      </p:pic>
      <p:sp>
        <p:nvSpPr>
          <p:cNvPr id="7" name="Title 6"/>
          <p:cNvSpPr>
            <a:spLocks noGrp="1"/>
          </p:cNvSpPr>
          <p:nvPr>
            <p:ph type="title"/>
          </p:nvPr>
        </p:nvSpPr>
        <p:spPr/>
        <p:txBody>
          <a:bodyPr/>
          <a:lstStyle/>
          <a:p>
            <a:r>
              <a:rPr lang="en-US" dirty="0" err="1" smtClean="0"/>
              <a:t>Organisation</a:t>
            </a:r>
            <a:r>
              <a:rPr lang="en-US" dirty="0" smtClean="0"/>
              <a:t> of UNCTAD</a:t>
            </a:r>
            <a:endParaRPr lang="en-US" dirty="0"/>
          </a:p>
        </p:txBody>
      </p:sp>
      <p:sp>
        <p:nvSpPr>
          <p:cNvPr id="8" name="Content Placeholder 7"/>
          <p:cNvSpPr>
            <a:spLocks noGrp="1"/>
          </p:cNvSpPr>
          <p:nvPr>
            <p:ph idx="1"/>
          </p:nvPr>
        </p:nvSpPr>
        <p:spPr/>
        <p:txBody>
          <a:bodyPr/>
          <a:lstStyle/>
          <a:p>
            <a:pPr algn="just"/>
            <a:r>
              <a:rPr lang="en-US" sz="2800" dirty="0" smtClean="0"/>
              <a:t>It is established as a permanent organ of General Assembly of </a:t>
            </a:r>
            <a:r>
              <a:rPr lang="en-US" sz="2800" dirty="0" smtClean="0"/>
              <a:t>the United </a:t>
            </a:r>
            <a:r>
              <a:rPr lang="en-US" sz="2800" dirty="0" smtClean="0"/>
              <a:t>Nation</a:t>
            </a:r>
            <a:r>
              <a:rPr lang="en-US" sz="2800" dirty="0" smtClean="0"/>
              <a:t>.</a:t>
            </a:r>
            <a:endParaRPr lang="en-US" sz="2800" dirty="0" smtClean="0"/>
          </a:p>
          <a:p>
            <a:pPr algn="just"/>
            <a:r>
              <a:rPr lang="en-US" sz="2800" dirty="0" smtClean="0"/>
              <a:t>It has a permanent organ called </a:t>
            </a:r>
            <a:r>
              <a:rPr lang="en-US" sz="2800" dirty="0" smtClean="0"/>
              <a:t>Trade </a:t>
            </a:r>
            <a:r>
              <a:rPr lang="en-US" sz="2800" dirty="0" smtClean="0"/>
              <a:t>and Development Board´ </a:t>
            </a:r>
            <a:r>
              <a:rPr lang="en-US" sz="2800" dirty="0" smtClean="0"/>
              <a:t>as the </a:t>
            </a:r>
            <a:r>
              <a:rPr lang="en-US" sz="2800" dirty="0" smtClean="0"/>
              <a:t>main executive body</a:t>
            </a:r>
            <a:r>
              <a:rPr lang="en-US" sz="2800" dirty="0" smtClean="0"/>
              <a:t>.</a:t>
            </a:r>
            <a:endParaRPr lang="en-US" sz="2800" dirty="0" smtClean="0"/>
          </a:p>
          <a:p>
            <a:pPr algn="just"/>
            <a:r>
              <a:rPr lang="en-US" sz="2800" dirty="0" smtClean="0"/>
              <a:t>The plenary session of the Conference meets twice annually which </a:t>
            </a:r>
            <a:r>
              <a:rPr lang="en-US" sz="2800" dirty="0" smtClean="0"/>
              <a:t>is composed </a:t>
            </a:r>
            <a:r>
              <a:rPr lang="en-US" sz="2800" dirty="0" smtClean="0"/>
              <a:t>of 55 members, elected by the conference from among </a:t>
            </a:r>
            <a:r>
              <a:rPr lang="en-US" sz="2800" dirty="0" smtClean="0"/>
              <a:t>its members </a:t>
            </a:r>
            <a:r>
              <a:rPr lang="en-US" sz="2800" dirty="0" smtClean="0"/>
              <a:t>on the basis of equitable geographical distribution.</a:t>
            </a:r>
          </a:p>
          <a:p>
            <a:endParaRPr lang="en-US"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p:cNvSpPr>
            <a:spLocks noGrp="1" noChangeArrowheads="1"/>
          </p:cNvSpPr>
          <p:nvPr>
            <p:ph type="title"/>
          </p:nvPr>
        </p:nvSpPr>
        <p:spPr>
          <a:xfrm>
            <a:off x="684213" y="188913"/>
            <a:ext cx="7772400" cy="863600"/>
          </a:xfrm>
        </p:spPr>
        <p:txBody>
          <a:bodyPr/>
          <a:lstStyle/>
          <a:p>
            <a:endParaRPr lang="en-US" sz="3600" dirty="0"/>
          </a:p>
        </p:txBody>
      </p:sp>
      <p:sp>
        <p:nvSpPr>
          <p:cNvPr id="22531" name="Rectangle 3"/>
          <p:cNvSpPr>
            <a:spLocks noGrp="1" noChangeArrowheads="1"/>
          </p:cNvSpPr>
          <p:nvPr>
            <p:ph type="body" sz="half" idx="1"/>
          </p:nvPr>
        </p:nvSpPr>
        <p:spPr>
          <a:xfrm>
            <a:off x="323850" y="1268413"/>
            <a:ext cx="3810000" cy="4114800"/>
          </a:xfrm>
          <a:solidFill>
            <a:srgbClr val="FFFF11"/>
          </a:solidFill>
          <a:ln w="57150" cmpd="thickThin">
            <a:solidFill>
              <a:schemeClr val="tx1"/>
            </a:solidFill>
          </a:ln>
          <a:effectLst>
            <a:outerShdw dist="107763" dir="13500000" algn="ctr" rotWithShape="0">
              <a:schemeClr val="bg2">
                <a:alpha val="50000"/>
              </a:schemeClr>
            </a:outerShdw>
          </a:effectLst>
        </p:spPr>
        <p:txBody>
          <a:bodyPr/>
          <a:lstStyle/>
          <a:p>
            <a:pPr algn="ctr">
              <a:buFontTx/>
              <a:buNone/>
            </a:pPr>
            <a:endParaRPr lang="en-US" sz="2000" b="1" dirty="0"/>
          </a:p>
        </p:txBody>
      </p:sp>
      <p:sp>
        <p:nvSpPr>
          <p:cNvPr id="22532" name="Rectangle 4"/>
          <p:cNvSpPr>
            <a:spLocks noGrp="1" noChangeArrowheads="1"/>
          </p:cNvSpPr>
          <p:nvPr>
            <p:ph type="body" sz="half" idx="2"/>
          </p:nvPr>
        </p:nvSpPr>
        <p:spPr>
          <a:xfrm>
            <a:off x="304800" y="1295400"/>
            <a:ext cx="8515350" cy="5029200"/>
          </a:xfrm>
          <a:solidFill>
            <a:srgbClr val="66CCFF"/>
          </a:solidFill>
          <a:ln w="57150" cmpd="thinThick">
            <a:solidFill>
              <a:schemeClr val="tx1"/>
            </a:solidFill>
          </a:ln>
          <a:effectLst>
            <a:outerShdw dist="107763" dir="2700000" algn="ctr" rotWithShape="0">
              <a:schemeClr val="bg2">
                <a:alpha val="50000"/>
              </a:schemeClr>
            </a:outerShdw>
          </a:effectLst>
        </p:spPr>
        <p:txBody>
          <a:bodyPr/>
          <a:lstStyle/>
          <a:p>
            <a:pPr algn="ctr">
              <a:buFontTx/>
              <a:buNone/>
            </a:pPr>
            <a:r>
              <a:rPr lang="en-US" sz="2400" b="1" dirty="0">
                <a:effectLst>
                  <a:outerShdw blurRad="38100" dist="38100" dir="2700000" algn="tl">
                    <a:srgbClr val="FFFFFF"/>
                  </a:outerShdw>
                </a:effectLst>
              </a:rPr>
              <a:t>UNCTAD</a:t>
            </a:r>
          </a:p>
          <a:p>
            <a:pPr algn="ctr">
              <a:buFontTx/>
              <a:buNone/>
            </a:pPr>
            <a:endParaRPr lang="en-US" sz="2400" b="1" dirty="0">
              <a:effectLst>
                <a:outerShdw blurRad="38100" dist="38100" dir="2700000" algn="tl">
                  <a:srgbClr val="FFFFFF"/>
                </a:outerShdw>
              </a:effectLst>
            </a:endParaRPr>
          </a:p>
          <a:p>
            <a:r>
              <a:rPr lang="en-US" sz="3600" b="1" dirty="0"/>
              <a:t>Trust and credibility among developing countries</a:t>
            </a:r>
          </a:p>
          <a:p>
            <a:r>
              <a:rPr lang="en-US" sz="3600" b="1" dirty="0"/>
              <a:t>Independent research </a:t>
            </a:r>
          </a:p>
          <a:p>
            <a:pPr>
              <a:buFontTx/>
              <a:buNone/>
            </a:pPr>
            <a:r>
              <a:rPr lang="en-US" sz="3600" b="1" i="1" dirty="0"/>
              <a:t>BUT</a:t>
            </a:r>
          </a:p>
          <a:p>
            <a:r>
              <a:rPr lang="en-US" sz="3600" b="1" dirty="0"/>
              <a:t>Only a political role (no “teeth”)</a:t>
            </a:r>
          </a:p>
          <a:p>
            <a:r>
              <a:rPr lang="en-US" sz="3600" b="1" dirty="0"/>
              <a:t>Limited human and financial resources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nodePh="1">
                                  <p:stCondLst>
                                    <p:cond delay="0"/>
                                  </p:stCondLst>
                                  <p:endCondLst>
                                    <p:cond evt="begin" delay="0">
                                      <p:tn val="5"/>
                                    </p:cond>
                                  </p:endCondLst>
                                  <p:childTnLst>
                                    <p:set>
                                      <p:cBhvr>
                                        <p:cTn id="6" dur="1" fill="hold">
                                          <p:stCondLst>
                                            <p:cond delay="0"/>
                                          </p:stCondLst>
                                        </p:cTn>
                                        <p:tgtEl>
                                          <p:spTgt spid="22531">
                                            <p:txEl>
                                              <p:pRg st="0" end="0"/>
                                            </p:txEl>
                                          </p:spTgt>
                                        </p:tgtEl>
                                        <p:attrNameLst>
                                          <p:attrName>style.visibility</p:attrName>
                                        </p:attrNameLst>
                                      </p:cBhvr>
                                      <p:to>
                                        <p:strVal val="visible"/>
                                      </p:to>
                                    </p:set>
                                    <p:animEffect transition="in" filter="blinds(horizontal)">
                                      <p:cBhvr>
                                        <p:cTn id="7" dur="500"/>
                                        <p:tgtEl>
                                          <p:spTgt spid="22531">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22532">
                                            <p:txEl>
                                              <p:pRg st="0" end="0"/>
                                            </p:txEl>
                                          </p:spTgt>
                                        </p:tgtEl>
                                        <p:attrNameLst>
                                          <p:attrName>style.visibility</p:attrName>
                                        </p:attrNameLst>
                                      </p:cBhvr>
                                      <p:to>
                                        <p:strVal val="visible"/>
                                      </p:to>
                                    </p:set>
                                    <p:animEffect transition="in" filter="blinds(horizontal)">
                                      <p:cBhvr>
                                        <p:cTn id="12" dur="500"/>
                                        <p:tgtEl>
                                          <p:spTgt spid="22532">
                                            <p:txEl>
                                              <p:pRg st="0" end="0"/>
                                            </p:txEl>
                                          </p:spTgt>
                                        </p:tgtEl>
                                      </p:cBhvr>
                                    </p:animEffect>
                                  </p:childTnLst>
                                </p:cTn>
                              </p:par>
                              <p:par>
                                <p:cTn id="13" presetID="3" presetClass="entr" presetSubtype="10" fill="hold" nodeType="withEffect">
                                  <p:stCondLst>
                                    <p:cond delay="0"/>
                                  </p:stCondLst>
                                  <p:childTnLst>
                                    <p:set>
                                      <p:cBhvr>
                                        <p:cTn id="14" dur="1" fill="hold">
                                          <p:stCondLst>
                                            <p:cond delay="0"/>
                                          </p:stCondLst>
                                        </p:cTn>
                                        <p:tgtEl>
                                          <p:spTgt spid="22532">
                                            <p:txEl>
                                              <p:pRg st="2" end="2"/>
                                            </p:txEl>
                                          </p:spTgt>
                                        </p:tgtEl>
                                        <p:attrNameLst>
                                          <p:attrName>style.visibility</p:attrName>
                                        </p:attrNameLst>
                                      </p:cBhvr>
                                      <p:to>
                                        <p:strVal val="visible"/>
                                      </p:to>
                                    </p:set>
                                    <p:animEffect transition="in" filter="blinds(horizontal)">
                                      <p:cBhvr>
                                        <p:cTn id="15" dur="500"/>
                                        <p:tgtEl>
                                          <p:spTgt spid="22532">
                                            <p:txEl>
                                              <p:pRg st="2" end="2"/>
                                            </p:txEl>
                                          </p:spTgt>
                                        </p:tgtEl>
                                      </p:cBhvr>
                                    </p:animEffect>
                                  </p:childTnLst>
                                </p:cTn>
                              </p:par>
                              <p:par>
                                <p:cTn id="16" presetID="3" presetClass="entr" presetSubtype="10" fill="hold" nodeType="withEffect">
                                  <p:stCondLst>
                                    <p:cond delay="0"/>
                                  </p:stCondLst>
                                  <p:childTnLst>
                                    <p:set>
                                      <p:cBhvr>
                                        <p:cTn id="17" dur="1" fill="hold">
                                          <p:stCondLst>
                                            <p:cond delay="0"/>
                                          </p:stCondLst>
                                        </p:cTn>
                                        <p:tgtEl>
                                          <p:spTgt spid="22532">
                                            <p:txEl>
                                              <p:pRg st="3" end="3"/>
                                            </p:txEl>
                                          </p:spTgt>
                                        </p:tgtEl>
                                        <p:attrNameLst>
                                          <p:attrName>style.visibility</p:attrName>
                                        </p:attrNameLst>
                                      </p:cBhvr>
                                      <p:to>
                                        <p:strVal val="visible"/>
                                      </p:to>
                                    </p:set>
                                    <p:animEffect transition="in" filter="blinds(horizontal)">
                                      <p:cBhvr>
                                        <p:cTn id="18" dur="500"/>
                                        <p:tgtEl>
                                          <p:spTgt spid="22532">
                                            <p:txEl>
                                              <p:pRg st="3" end="3"/>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3" presetClass="entr" presetSubtype="10" fill="hold" nodeType="clickEffect">
                                  <p:stCondLst>
                                    <p:cond delay="0"/>
                                  </p:stCondLst>
                                  <p:childTnLst>
                                    <p:set>
                                      <p:cBhvr>
                                        <p:cTn id="22" dur="1" fill="hold">
                                          <p:stCondLst>
                                            <p:cond delay="0"/>
                                          </p:stCondLst>
                                        </p:cTn>
                                        <p:tgtEl>
                                          <p:spTgt spid="22532">
                                            <p:txEl>
                                              <p:pRg st="4" end="4"/>
                                            </p:txEl>
                                          </p:spTgt>
                                        </p:tgtEl>
                                        <p:attrNameLst>
                                          <p:attrName>style.visibility</p:attrName>
                                        </p:attrNameLst>
                                      </p:cBhvr>
                                      <p:to>
                                        <p:strVal val="visible"/>
                                      </p:to>
                                    </p:set>
                                    <p:animEffect transition="in" filter="blinds(horizontal)">
                                      <p:cBhvr>
                                        <p:cTn id="23" dur="500"/>
                                        <p:tgtEl>
                                          <p:spTgt spid="22532">
                                            <p:txEl>
                                              <p:pRg st="4" end="4"/>
                                            </p:txEl>
                                          </p:spTgt>
                                        </p:tgtEl>
                                      </p:cBhvr>
                                    </p:animEffect>
                                  </p:childTnLst>
                                </p:cTn>
                              </p:par>
                              <p:par>
                                <p:cTn id="24" presetID="3" presetClass="entr" presetSubtype="10" fill="hold" nodeType="withEffect">
                                  <p:stCondLst>
                                    <p:cond delay="0"/>
                                  </p:stCondLst>
                                  <p:childTnLst>
                                    <p:set>
                                      <p:cBhvr>
                                        <p:cTn id="25" dur="1" fill="hold">
                                          <p:stCondLst>
                                            <p:cond delay="0"/>
                                          </p:stCondLst>
                                        </p:cTn>
                                        <p:tgtEl>
                                          <p:spTgt spid="22532">
                                            <p:txEl>
                                              <p:pRg st="5" end="5"/>
                                            </p:txEl>
                                          </p:spTgt>
                                        </p:tgtEl>
                                        <p:attrNameLst>
                                          <p:attrName>style.visibility</p:attrName>
                                        </p:attrNameLst>
                                      </p:cBhvr>
                                      <p:to>
                                        <p:strVal val="visible"/>
                                      </p:to>
                                    </p:set>
                                    <p:animEffect transition="in" filter="blinds(horizontal)">
                                      <p:cBhvr>
                                        <p:cTn id="26" dur="500"/>
                                        <p:tgtEl>
                                          <p:spTgt spid="22532">
                                            <p:txEl>
                                              <p:pRg st="5" end="5"/>
                                            </p:txEl>
                                          </p:spTgt>
                                        </p:tgtEl>
                                      </p:cBhvr>
                                    </p:animEffect>
                                  </p:childTnLst>
                                </p:cTn>
                              </p:par>
                              <p:par>
                                <p:cTn id="27" presetID="3" presetClass="entr" presetSubtype="10" fill="hold" nodeType="withEffect">
                                  <p:stCondLst>
                                    <p:cond delay="0"/>
                                  </p:stCondLst>
                                  <p:childTnLst>
                                    <p:set>
                                      <p:cBhvr>
                                        <p:cTn id="28" dur="1" fill="hold">
                                          <p:stCondLst>
                                            <p:cond delay="0"/>
                                          </p:stCondLst>
                                        </p:cTn>
                                        <p:tgtEl>
                                          <p:spTgt spid="22532">
                                            <p:txEl>
                                              <p:pRg st="6" end="6"/>
                                            </p:txEl>
                                          </p:spTgt>
                                        </p:tgtEl>
                                        <p:attrNameLst>
                                          <p:attrName>style.visibility</p:attrName>
                                        </p:attrNameLst>
                                      </p:cBhvr>
                                      <p:to>
                                        <p:strVal val="visible"/>
                                      </p:to>
                                    </p:set>
                                    <p:animEffect transition="in" filter="blinds(horizontal)">
                                      <p:cBhvr>
                                        <p:cTn id="29" dur="500"/>
                                        <p:tgtEl>
                                          <p:spTgt spid="22532">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a:xfrm>
            <a:off x="611188" y="115888"/>
            <a:ext cx="7772400" cy="792162"/>
          </a:xfrm>
        </p:spPr>
        <p:txBody>
          <a:bodyPr/>
          <a:lstStyle/>
          <a:p>
            <a:r>
              <a:rPr lang="en-US" b="1" dirty="0" smtClean="0">
                <a:solidFill>
                  <a:srgbClr val="002060"/>
                </a:solidFill>
                <a:effectLst>
                  <a:outerShdw blurRad="38100" dist="38100" dir="2700000" algn="tl">
                    <a:srgbClr val="C0C0C0"/>
                  </a:outerShdw>
                </a:effectLst>
              </a:rPr>
              <a:t>    UNCTAD </a:t>
            </a:r>
            <a:r>
              <a:rPr lang="en-US" b="1" dirty="0">
                <a:solidFill>
                  <a:srgbClr val="002060"/>
                </a:solidFill>
                <a:effectLst>
                  <a:outerShdw blurRad="38100" dist="38100" dir="2700000" algn="tl">
                    <a:srgbClr val="C0C0C0"/>
                  </a:outerShdw>
                </a:effectLst>
              </a:rPr>
              <a:t>ideas</a:t>
            </a:r>
            <a:r>
              <a:rPr lang="en-US" dirty="0">
                <a:solidFill>
                  <a:srgbClr val="002060"/>
                </a:solidFill>
              </a:rPr>
              <a:t> </a:t>
            </a:r>
          </a:p>
        </p:txBody>
      </p:sp>
      <p:sp>
        <p:nvSpPr>
          <p:cNvPr id="23555" name="Rectangle 3"/>
          <p:cNvSpPr>
            <a:spLocks noGrp="1" noChangeArrowheads="1"/>
          </p:cNvSpPr>
          <p:nvPr>
            <p:ph type="body" idx="1"/>
          </p:nvPr>
        </p:nvSpPr>
        <p:spPr>
          <a:xfrm>
            <a:off x="457200" y="1052513"/>
            <a:ext cx="8229600" cy="5329237"/>
          </a:xfrm>
          <a:solidFill>
            <a:schemeClr val="bg1"/>
          </a:solidFill>
          <a:ln w="28575">
            <a:solidFill>
              <a:schemeClr val="tx1"/>
            </a:solidFill>
          </a:ln>
        </p:spPr>
        <p:txBody>
          <a:bodyPr/>
          <a:lstStyle/>
          <a:p>
            <a:r>
              <a:rPr lang="en-US" sz="2400" b="1" dirty="0"/>
              <a:t>Influenced by development theories of center/periphery</a:t>
            </a:r>
          </a:p>
          <a:p>
            <a:r>
              <a:rPr lang="en-US" sz="2400" b="1" dirty="0"/>
              <a:t>Deterioration of the terms of trade       </a:t>
            </a:r>
          </a:p>
          <a:p>
            <a:r>
              <a:rPr lang="en-US" sz="2400" b="1" dirty="0"/>
              <a:t>Unfair and asymmetric international economic relations</a:t>
            </a:r>
          </a:p>
          <a:p>
            <a:r>
              <a:rPr lang="en-US" sz="2400" b="1" dirty="0"/>
              <a:t>Need for international policies and rules to address these asymmetries: Special and differential treatment (</a:t>
            </a:r>
            <a:r>
              <a:rPr lang="en-US" sz="2000" b="1" dirty="0"/>
              <a:t>trade preferences, exceptions, longer periods of adjustment…)</a:t>
            </a:r>
          </a:p>
          <a:p>
            <a:r>
              <a:rPr lang="en-US" sz="2400" b="1" dirty="0"/>
              <a:t>Non-tariff barriers </a:t>
            </a:r>
          </a:p>
          <a:p>
            <a:r>
              <a:rPr lang="en-US" sz="2400" b="1" dirty="0"/>
              <a:t>External debt : sustainability, reduction formulas</a:t>
            </a:r>
          </a:p>
          <a:p>
            <a:r>
              <a:rPr lang="en-US" sz="2400" b="1" dirty="0"/>
              <a:t>Trade in services </a:t>
            </a:r>
          </a:p>
          <a:p>
            <a:r>
              <a:rPr lang="en-US" sz="2400" b="1" dirty="0"/>
              <a:t>Positive agenda in trade negotiations</a:t>
            </a:r>
          </a:p>
          <a:p>
            <a:r>
              <a:rPr lang="en-US" sz="2400" b="1" dirty="0"/>
              <a:t>Policy space  </a:t>
            </a:r>
          </a:p>
          <a:p>
            <a:r>
              <a:rPr lang="en-US" sz="2400" b="1" dirty="0"/>
              <a:t>No one size fits all</a:t>
            </a:r>
          </a:p>
          <a:p>
            <a:pPr lvl="1">
              <a:buFontTx/>
              <a:buNone/>
            </a:pPr>
            <a:endParaRPr lang="en-US" sz="2000" b="1" dirty="0"/>
          </a:p>
        </p:txBody>
      </p:sp>
    </p:spTree>
  </p:cSld>
  <p:clrMapOvr>
    <a:masterClrMapping/>
  </p:clrMapOvr>
</p:sld>
</file>

<file path=ppt/theme/theme1.xml><?xml version="1.0" encoding="utf-8"?>
<a:theme xmlns:a="http://schemas.openxmlformats.org/drawingml/2006/main" name="Ricepaper">
  <a:themeElements>
    <a:clrScheme name="Ricepaper 2">
      <a:dk1>
        <a:srgbClr val="00264C"/>
      </a:dk1>
      <a:lt1>
        <a:srgbClr val="FFFFE9"/>
      </a:lt1>
      <a:dk2>
        <a:srgbClr val="333333"/>
      </a:dk2>
      <a:lt2>
        <a:srgbClr val="333333"/>
      </a:lt2>
      <a:accent1>
        <a:srgbClr val="78C0B2"/>
      </a:accent1>
      <a:accent2>
        <a:srgbClr val="262D4C"/>
      </a:accent2>
      <a:accent3>
        <a:srgbClr val="FFFFF2"/>
      </a:accent3>
      <a:accent4>
        <a:srgbClr val="001F40"/>
      </a:accent4>
      <a:accent5>
        <a:srgbClr val="BEDCD5"/>
      </a:accent5>
      <a:accent6>
        <a:srgbClr val="212844"/>
      </a:accent6>
      <a:hlink>
        <a:srgbClr val="598BBD"/>
      </a:hlink>
      <a:folHlink>
        <a:srgbClr val="4D4D4D"/>
      </a:folHlink>
    </a:clrScheme>
    <a:fontScheme name="Ricepaper">
      <a:majorFont>
        <a:latin typeface="Times New Roman"/>
        <a:ea typeface=""/>
        <a:cs typeface=""/>
      </a:majorFont>
      <a:minorFont>
        <a:latin typeface="Times New Roman"/>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non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Times New Roman" pitchFamily="18"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non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Times New Roman" pitchFamily="18" charset="0"/>
          </a:defRPr>
        </a:defPPr>
      </a:lstStyle>
    </a:lnDef>
  </a:objectDefaults>
  <a:extraClrSchemeLst>
    <a:extraClrScheme>
      <a:clrScheme name="Ricepaper 1">
        <a:dk1>
          <a:srgbClr val="9D9475"/>
        </a:dk1>
        <a:lt1>
          <a:srgbClr val="333333"/>
        </a:lt1>
        <a:dk2>
          <a:srgbClr val="333300"/>
        </a:dk2>
        <a:lt2>
          <a:srgbClr val="333333"/>
        </a:lt2>
        <a:accent1>
          <a:srgbClr val="B3C39F"/>
        </a:accent1>
        <a:accent2>
          <a:srgbClr val="DCD9CE"/>
        </a:accent2>
        <a:accent3>
          <a:srgbClr val="ADADAA"/>
        </a:accent3>
        <a:accent4>
          <a:srgbClr val="2A2A2A"/>
        </a:accent4>
        <a:accent5>
          <a:srgbClr val="D6DECD"/>
        </a:accent5>
        <a:accent6>
          <a:srgbClr val="C7C4BA"/>
        </a:accent6>
        <a:hlink>
          <a:srgbClr val="CC9900"/>
        </a:hlink>
        <a:folHlink>
          <a:srgbClr val="ADA68B"/>
        </a:folHlink>
      </a:clrScheme>
      <a:clrMap bg1="dk2" tx1="lt1" bg2="dk1" tx2="lt2" accent1="accent1" accent2="accent2" accent3="accent3" accent4="accent4" accent5="accent5" accent6="accent6" hlink="hlink" folHlink="folHlink"/>
    </a:extraClrScheme>
    <a:extraClrScheme>
      <a:clrScheme name="Ricepaper 2">
        <a:dk1>
          <a:srgbClr val="00264C"/>
        </a:dk1>
        <a:lt1>
          <a:srgbClr val="FFFFE9"/>
        </a:lt1>
        <a:dk2>
          <a:srgbClr val="333333"/>
        </a:dk2>
        <a:lt2>
          <a:srgbClr val="333333"/>
        </a:lt2>
        <a:accent1>
          <a:srgbClr val="78C0B2"/>
        </a:accent1>
        <a:accent2>
          <a:srgbClr val="262D4C"/>
        </a:accent2>
        <a:accent3>
          <a:srgbClr val="FFFFF2"/>
        </a:accent3>
        <a:accent4>
          <a:srgbClr val="001F40"/>
        </a:accent4>
        <a:accent5>
          <a:srgbClr val="BEDCD5"/>
        </a:accent5>
        <a:accent6>
          <a:srgbClr val="212844"/>
        </a:accent6>
        <a:hlink>
          <a:srgbClr val="598BBD"/>
        </a:hlink>
        <a:folHlink>
          <a:srgbClr val="4D4D4D"/>
        </a:folHlink>
      </a:clrScheme>
      <a:clrMap bg1="lt1" tx1="dk1" bg2="lt2" tx2="dk2" accent1="accent1" accent2="accent2" accent3="accent3" accent4="accent4" accent5="accent5" accent6="accent6" hlink="hlink" folHlink="folHlink"/>
    </a:extraClrScheme>
    <a:extraClrScheme>
      <a:clrScheme name="Ricepaper 3">
        <a:dk1>
          <a:srgbClr val="000000"/>
        </a:dk1>
        <a:lt1>
          <a:srgbClr val="F8F8F8"/>
        </a:lt1>
        <a:dk2>
          <a:srgbClr val="333333"/>
        </a:dk2>
        <a:lt2>
          <a:srgbClr val="5F5F5F"/>
        </a:lt2>
        <a:accent1>
          <a:srgbClr val="DDDDDD"/>
        </a:accent1>
        <a:accent2>
          <a:srgbClr val="808080"/>
        </a:accent2>
        <a:accent3>
          <a:srgbClr val="FBFBFB"/>
        </a:accent3>
        <a:accent4>
          <a:srgbClr val="000000"/>
        </a:accent4>
        <a:accent5>
          <a:srgbClr val="EBEBEB"/>
        </a:accent5>
        <a:accent6>
          <a:srgbClr val="737373"/>
        </a:accent6>
        <a:hlink>
          <a:srgbClr val="5F5F5F"/>
        </a:hlink>
        <a:folHlink>
          <a:srgbClr val="969696"/>
        </a:folHlink>
      </a:clrScheme>
      <a:clrMap bg1="lt1" tx1="dk1" bg2="lt2" tx2="dk2" accent1="accent1" accent2="accent2" accent3="accent3" accent4="accent4" accent5="accent5" accent6="accent6" hlink="hlink" folHlink="folHlink"/>
    </a:extraClrScheme>
    <a:extraClrScheme>
      <a:clrScheme name="Ricepaper 4">
        <a:dk1>
          <a:srgbClr val="00264C"/>
        </a:dk1>
        <a:lt1>
          <a:srgbClr val="FFFFFF"/>
        </a:lt1>
        <a:dk2>
          <a:srgbClr val="333333"/>
        </a:dk2>
        <a:lt2>
          <a:srgbClr val="2E697E"/>
        </a:lt2>
        <a:accent1>
          <a:srgbClr val="BAC8AA"/>
        </a:accent1>
        <a:accent2>
          <a:srgbClr val="6E9883"/>
        </a:accent2>
        <a:accent3>
          <a:srgbClr val="FFFFFF"/>
        </a:accent3>
        <a:accent4>
          <a:srgbClr val="001F40"/>
        </a:accent4>
        <a:accent5>
          <a:srgbClr val="D9E0D2"/>
        </a:accent5>
        <a:accent6>
          <a:srgbClr val="638976"/>
        </a:accent6>
        <a:hlink>
          <a:srgbClr val="CC9900"/>
        </a:hlink>
        <a:folHlink>
          <a:srgbClr val="7DAECF"/>
        </a:folHlink>
      </a:clrScheme>
      <a:clrMap bg1="lt1" tx1="dk1" bg2="lt2" tx2="dk2" accent1="accent1" accent2="accent2" accent3="accent3" accent4="accent4" accent5="accent5" accent6="accent6" hlink="hlink" folHlink="folHlink"/>
    </a:extraClrScheme>
    <a:extraClrScheme>
      <a:clrScheme name="Ricepaper 5">
        <a:dk1>
          <a:srgbClr val="20374E"/>
        </a:dk1>
        <a:lt1>
          <a:srgbClr val="DCE4D2"/>
        </a:lt1>
        <a:dk2>
          <a:srgbClr val="333333"/>
        </a:dk2>
        <a:lt2>
          <a:srgbClr val="524C46"/>
        </a:lt2>
        <a:accent1>
          <a:srgbClr val="C9C491"/>
        </a:accent1>
        <a:accent2>
          <a:srgbClr val="8A776A"/>
        </a:accent2>
        <a:accent3>
          <a:srgbClr val="EBEFE5"/>
        </a:accent3>
        <a:accent4>
          <a:srgbClr val="1A2D41"/>
        </a:accent4>
        <a:accent5>
          <a:srgbClr val="E1DEC7"/>
        </a:accent5>
        <a:accent6>
          <a:srgbClr val="7D6B5F"/>
        </a:accent6>
        <a:hlink>
          <a:srgbClr val="67895F"/>
        </a:hlink>
        <a:folHlink>
          <a:srgbClr val="4D4D4D"/>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C:\Program Files\Microsoft Office\Templates\Presentation Designs\Ricepaper.pot</Template>
  <TotalTime>316</TotalTime>
  <Words>1443</Words>
  <Application>Microsoft PowerPoint</Application>
  <PresentationFormat>On-screen Show (4:3)</PresentationFormat>
  <Paragraphs>214</Paragraphs>
  <Slides>25</Slides>
  <Notes>2</Notes>
  <HiddenSlides>0</HiddenSlides>
  <MMClips>0</MMClips>
  <ScaleCrop>false</ScaleCrop>
  <HeadingPairs>
    <vt:vector size="4" baseType="variant">
      <vt:variant>
        <vt:lpstr>Theme</vt:lpstr>
      </vt:variant>
      <vt:variant>
        <vt:i4>1</vt:i4>
      </vt:variant>
      <vt:variant>
        <vt:lpstr>Slide Titles</vt:lpstr>
      </vt:variant>
      <vt:variant>
        <vt:i4>25</vt:i4>
      </vt:variant>
    </vt:vector>
  </HeadingPairs>
  <TitlesOfParts>
    <vt:vector size="26" baseType="lpstr">
      <vt:lpstr>Ricepaper</vt:lpstr>
      <vt:lpstr>Economic Integration</vt:lpstr>
      <vt:lpstr>Slide 2</vt:lpstr>
      <vt:lpstr>Levels of Economic Integration</vt:lpstr>
      <vt:lpstr>Six stages (types) of  economic integration</vt:lpstr>
      <vt:lpstr>Six stages (types) of  economic integration</vt:lpstr>
      <vt:lpstr>Economic effects of economic integration</vt:lpstr>
      <vt:lpstr>History of EU</vt:lpstr>
      <vt:lpstr>History of EU Continued</vt:lpstr>
      <vt:lpstr>Organization of EU</vt:lpstr>
      <vt:lpstr>Organization of EU Continued</vt:lpstr>
      <vt:lpstr>     Special focus of EU</vt:lpstr>
      <vt:lpstr>EMU (Economic &amp; Monetary Union)</vt:lpstr>
      <vt:lpstr>Remaining Issues of EU</vt:lpstr>
      <vt:lpstr>NAFTA</vt:lpstr>
      <vt:lpstr>Provisions of NAFTA</vt:lpstr>
      <vt:lpstr>Economic Effects of NAFTA</vt:lpstr>
      <vt:lpstr>Issues related to NAFTA</vt:lpstr>
      <vt:lpstr>Slide 18</vt:lpstr>
      <vt:lpstr>Other Regional Trade Blocs</vt:lpstr>
      <vt:lpstr>Other Regional Trade Blocs</vt:lpstr>
      <vt:lpstr>APEC</vt:lpstr>
      <vt:lpstr>Slide 22</vt:lpstr>
      <vt:lpstr>Organisation of UNCTAD</vt:lpstr>
      <vt:lpstr>Slide 24</vt:lpstr>
      <vt:lpstr>    UNCTAD ideas </vt:lpstr>
    </vt:vector>
  </TitlesOfParts>
  <Company>Southeast Missouri State University</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Regional Economic Integration</dc:title>
  <dc:creator>Kang H. Park</dc:creator>
  <cp:lastModifiedBy>user</cp:lastModifiedBy>
  <cp:revision>17</cp:revision>
  <dcterms:created xsi:type="dcterms:W3CDTF">2001-07-12T19:40:02Z</dcterms:created>
  <dcterms:modified xsi:type="dcterms:W3CDTF">2013-05-18T17:12:32Z</dcterms:modified>
</cp:coreProperties>
</file>